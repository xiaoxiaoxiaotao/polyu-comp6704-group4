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3"/>
    <p:sldMasterId id="214748367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6858000" cx="12192000"/>
  <p:notesSz cx="6858000" cy="9144000"/>
  <p:embeddedFontLst>
    <p:embeddedFont>
      <p:font typeface="Cambria Math"/>
      <p:regular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font" Target="fonts/CambriaMath-regular.fntdata"/><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h7cbb6ff1274a79b6_3_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h7cbb6ff1274a79b6_3_1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 everyone. I will explain how fraud-detection costs become a convex SVM model, then connect its primal and dual forms to weighted stochastic updates.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h7cbb6ff1274a79b6_3_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h7cbb6ff1274a79b6_3_1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ULB dataset contains 492 labelled frauds among 284,807 transactions, a fraud rate of about 0.173 percent. Always predicting legitimate achieves 99.827 percent accuracy but zero fraud recall, so accuracy alone hides complete failure to detect fraud. A false negative misses fraud, whereas a false positive raises an alarm on a legitimate transaction. Our proposal considers several error-cost ratios, including twenty to one, as illustrative experimental settings rather than measured bank losses, and we will vary these ratios in sensitivity analysis. This means that, under that setting, we assign twenty times more cost to missing a fraud than to raising a false alarm.</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h7cbb6ff1274a79b6_3_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h7cbb6ff1274a79b6_3_1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label fraud as positive one and legitimate transactions as negative one, then assign each example a weight based on its true class's error cost. Dividing by the training-data average cost, computed using training proportions only, makes the average sample weight one, while preserving the twenty-to-one ratio in this setting. Each sample's penalty, C i, is the common C multiplied by its weight, a i. The weight controls relative importance, while C controls the overall balance between regularization and loss. This is cost weighting, not an automatic correction for class frequency.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h7cbb6ff1274a79b6_3_1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h7cbb6ff1274a79b6_3_1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our main linear model, the score is w transpose x plus b: a positive score predicts fraud, and a negative score predicts legitimate. Multiplying this score by the true label gives the margin, so a positive margin means the prediction is on the correct side, while a margin of at least one also satisfies the desired separation. The primal objective combines a squared-norm regularizer with weighted slack penalties, balancing a wider margin against violations of that margin, with each cost entering through its sample-specific penalty coefficient, C i. At the optimum, each slack equals the hinge loss, the maximum of zero and one minus the margin. Crucially, positive slack does not always mean a wrong prediction: a margin of 0.6 gives slack 0.4 but is still correctly classified, whereas a margin of minus 0.4 gives slack 1.4 and is misclassified.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h7cbb6ff1274a79b6_3_1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6" name="Google Shape;296;h7cbb6ff1274a79b6_3_1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dual solves the same model using sample coefficients between zero and their cost-dependent upper bounds, with label-weighted coefficients summing to zero. At an optimum, zero alpha means a margin of at least one, and an interior alpha means a margin of exactly one. Alpha at its upper bound means a margin of at most one, so the point can still be correctly classified. These KKT conditions connect the coefficients to sample positions; a higher cost allows a higher bound, rather than forcing a coefficient to be larger. Convexity and Slater's condition let us use the full KKT conditions to certify optimality.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h7cbb6ff1274a79b6_3_2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h7cbb6ff1274a79b6_3_2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first eliminate the slack variables and divide the primal objective by n times C, obtaining regularization plus the average weighted hinge loss, with lambda equal to one over n C and the same minimizer. At each iteration, we sample one example uniformly and check its current margin, then shrink w and add a weighted correction only if that margin is below one. The bias receives a corresponding correction without shrinkage, because it is unregularized, and the step size decreases as one over lambda t. A larger weight gives a stronger correction under otherwise identical conditions; each linear update costs order d, while a full pass costs order n d. We use an empirical Pegasos-style variant with an unregularized bias and no projection in the displayed rule, so its behavior must be validated and the original convergence guarantees cannot simply be assumed.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h7cbb6ff1274a79b6_3_2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h7cbb6ff1274a79b6_3_2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Application costs become class weights and then one convex SVM objective, whose dual coefficients and stochastic updates provide different routes to a solution. Weighted updates are a proposed warm start for PA-ADMM, with any speedup still to be tested; next, Member Two will explain how SMO solves the dual using these cost-dependent bounds.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h7cbb6ff1274a79b6_3_2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h7cbb6ff1274a79b6_3_2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dual follows by minimizing the Lagrangian over the primal variables and keeping the resulting feasibility conditions on the multipliers. Because the constraints admit a strictly feasible point, convexity and Slater support the KKT characterization used here.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h7cbb6ff1274a79b6_3_2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7" name="Google Shape;377;h7cbb6ff1274a79b6_3_2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normalize weights over the training samples and align the stochastic objective through lambda equal to one over n C. The bias is unregularized, so this weighted Pegasos-style implementation does not automatically inherit the original strong-convexity convergence rate.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Calibri"/>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h14e179780a55c938_9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h14e179780a55c938_9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第 1 页｜25 秒｜ADMM and PA-ADMM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这一章节讲解如何求解同一个成本敏感线性 SVM，依次介绍变量拆分、ADMM 的三步更新，以及 PA-ADMM 的初始化和更新控制。这里 PA 指 Pegasos-warm-started adaptive ADMM。样本成本 C_i 和 SVM 目标保持不变。</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来源：Proposal §§2.3, 3.2 · src/svm_admm.py · WP3 implementation</a:t>
            </a:r>
            <a:endParaRPr/>
          </a:p>
        </p:txBody>
      </p:sp>
      <p:sp>
        <p:nvSpPr>
          <p:cNvPr id="404" name="Google Shape;404;h14e179780a55c938_9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h14e179780a55c938_9_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4" name="Google Shape;424;h14e179780a55c938_9_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第 2 页｜40 秒｜Split global rules from samplewise margins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θ 包含所有交易共用的权重 w 和截距 b。模型给交易打分 f，乘上真实标签 y 后得到 signed margin m：正数表示相对零分类阈值方向正确，达到 1 表示没有 hinge 惩罚。引入 z 作为训练期间辅助变量，它暂时可以不同于 m，但 ADMM 要求二者最终一致。z 不是给每笔交易单独训练一个永久预测规则；新交易仍由同一个 w、b 计算。</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来源：Proposal §2.3 · docs/WP3/WP3_ADMM.md: model and linear system</a:t>
            </a:r>
            <a:endParaRPr/>
          </a:p>
        </p:txBody>
      </p:sp>
      <p:sp>
        <p:nvSpPr>
          <p:cNvPr id="425" name="Google Shape;425;h14e179780a55c938_9_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h14e179780a55c938_9_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 name="Google Shape;449;h14e179780a55c938_9_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第 3 页｜55 秒｜ADMM alternates three simple updates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ADMM 全称是交替方向乘子法。为了统一正负号，我们写约束 z−Aθ=0，并定义缩放对偶变量 q=u/ρ。第一步固定 z 和 q，更新全局规则 θ，相当于解带正则项的最小二乘方程。第二步逐样本更新 z，处理不可微 hinge。第三步把二者不一致的误差累积进 q；它不是标签，而是协调修正量。这里 R 最后一项为零，保证不惩罚截距。固定 ρ 的标准 ADMM 取 α=1。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来源：src/svm_admm.py: ADMMSVM._fit · constraint z − Aθ = 0; scaled dual q = u/ρ</a:t>
            </a:r>
            <a:endParaRPr/>
          </a:p>
        </p:txBody>
      </p:sp>
      <p:sp>
        <p:nvSpPr>
          <p:cNvPr id="450" name="Google Shape;450;h14e179780a55c938_9_4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h14e179780a55c938_9_6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h14e179780a55c938_9_6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第 4 页｜45 秒｜The hinge step has a closed-form solution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近端更新就是在降低 hinge 惩罚和靠近当前模型给出的值之间折中。a 是当前模型 margin 扣除协调修正 q。若 a 已经达到 1，hinge 为零，不需要再推；若不足 1，就向 1 推进 C_i/ρ，但最多推到 1。举例 a=0.2：C_i/ρ 为 0.3 得到 z=0.5，为 0.8 则得到 z=1。较大的样本成本产生较强的修正。这只是辅助 z 的变化，不能直接把它当作模型预测的变化。</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来源：Proposal §2.3 · src/svm_admm.py: _hinge_prox · illustrative values, not measured data</a:t>
            </a:r>
            <a:endParaRPr/>
          </a:p>
        </p:txBody>
      </p:sp>
      <p:sp>
        <p:nvSpPr>
          <p:cNvPr id="472" name="Google Shape;472;h14e179780a55c938_9_6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h14e179780a55c938_9_9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 name="Google Shape;499;h14e179780a55c938_9_9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第 5 页｜50 秒｜PA-ADMM adds a warm start and two controls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PA-ADMM 不是改变 SVM 目标，而是在同一个 ADMM 循环外加三个可以独立开关的组件。先做 K 遍加权 Pegasos 随机次梯度，期望快速获得粗略解。为保证与原目标一致，令 S=ΣC_i、λ=1/S、a_i=C_i/mean(C)，则 P/S=λ||w||²/2+(1/n)Σa_i hinge，学习率 η_t=1/(λt)，偏置不做收缩。每个 epoch 记录目标，把零模型也作为候选，取最好检查点初始化 θ、z=Aθ、q=0。随后在 ADMM 内启用自适应 ρ 和过松弛。K=0 只关热启动；还要关闭自适应并令 α=1 才完全等同冷启动。</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来源：Proposal §3.2 · src/svm_admm.py: PAADMMSVM · Pegasos scaling in WP3_ADMM.md</a:t>
            </a:r>
            <a:endParaRPr/>
          </a:p>
        </p:txBody>
      </p:sp>
      <p:sp>
        <p:nvSpPr>
          <p:cNvPr id="500" name="Google Shape;500;h14e179780a55c938_9_9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h14e179780a55c938_9_1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8" name="Google Shape;528;h14e179780a55c938_9_1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第 6 页｜50 秒｜Adaptive ρ balances two residuals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ρ 是协调强度，不是训练成本 C。原始残差 r=z−Aθ 衡量辅助变量和真实模型是否一致。对偶残差 s=ρAᵀ(z_new−z_old) 是最优性相关的诊断量。代码使用标准的启发式规则：r 范数超过 s 十倍，就把 ρ 加倍；s 超过 r 十倍，就把 ρ 减半；否则保持。增加 ρ 会更强调一致性，但不保证更快。因为 q 是缩放变量，改变 ρ 时必须令 q 反向缩放，保持 u=ρq 不变。系统矩阵也依赖 ρ，所以必须重新分解，这会带来开销。这里比较的是原始范数，阈值是启发式，会受数据尺度影响。</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来源：src/svm_admm.py: residual / rho updates · Boyd et al. (2011), §3.4.1</a:t>
            </a:r>
            <a:endParaRPr/>
          </a:p>
        </p:txBody>
      </p:sp>
      <p:sp>
        <p:nvSpPr>
          <p:cNvPr id="529" name="Google Shape;529;h14e179780a55c938_9_1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h14e179780a55c938_9_1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8" name="Google Shape;558;h14e179780a55c938_9_1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第 7 页｜45 秒｜Over-relaxation extrapolates the model margin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过松弛可以理解为顺着新 margin 的方向多走一点。先算 m=Aθ_new，再从旧 z 出发，用 α 倍的位移得到 m_hat。α=1 就是普通 ADMM；1&lt;α&lt;2 是过松弛。示例 z_old=0.2、新 m=0.4，α=1.6 时得到 0.52，比新 m 稍向前。这个 0.52 是中间计算值，不是永久改变模型的预测。实现中必须在 z 的近端更新和 q 的更新里一致使用 m_hat；残差 r 仍用真实 m。α 控制外推幅度，不能预设越大越好。</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来源：src/svm_admm.py: relaxed / z / q updates · Boyd et al. (2011), §3.4.3</a:t>
            </a:r>
            <a:endParaRPr/>
          </a:p>
        </p:txBody>
      </p:sp>
      <p:sp>
        <p:nvSpPr>
          <p:cNvPr id="559" name="Google Shape;559;h14e179780a55c938_9_15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h14e179780a55c938_9_17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1" name="Google Shape;581;h14e179780a55c938_9_1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第 8 页｜40 秒｜Efficient solves, with explicit convergence checks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设模型有 d 个特征，加一个偏置后，模型更新只需求解 (d+1)×(d+1) 的线性系统。我们缓存 Gram 矩阵，用 Cholesky 解方程而不显式求逆；固定 ρ 可复用分解。停止条件不是目标值看起来不变，而是原始残差、对偶残差、可行对偶下界产生的相对 gap 三者都达标。对偶变量由 clip(ρq,0,C_i) 后缩小质量较大的一类，满足 yᵀν=0；这给出合法下界 D=Σν_i−||Xᵀ(y⊙ν)||²/2。用 ν 避免和过松弛 α 混淆。到预算则返回已记录最好模型，明确标未收敛。完整内存包含 O(nd+n+d²)，不是只有 O(d²)。</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来源：src/svm_admm.py · diagnostics and complexity: WP3_ADMM.md</a:t>
            </a:r>
            <a:endParaRPr/>
          </a:p>
        </p:txBody>
      </p:sp>
      <p:sp>
        <p:nvSpPr>
          <p:cNvPr id="582" name="Google Shape;582;h14e179780a55c938_9_17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h14e179780a55c938_9_19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1" name="Google Shape;601;h14e179780a55c938_9_19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第 9 页｜30 秒｜Method summary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ADMM 通过变量拆分，将成本敏感 SVM 的求解分成全局模型更新、逐样本 hinge 近端更新和对偶更新。PA-ADMM 在同一目标下加入加权 Pegasos 热启动、自适应惩罚参数 ρ 和过松弛参数 α。实现时缓存 Gram 矩阵，在 ρ 不变时复用 Cholesky 分解，同时检查原始残差、对偶残差和原始—对偶 gap。两种流程改变的是初始化和更新方式，SVM 目标与给定的样本成本保持不变。</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来源：src/svm_admm.py · WP3_ADMM.md · WP3_REPORT.md</a:t>
            </a:r>
            <a:endParaRPr/>
          </a:p>
        </p:txBody>
      </p:sp>
      <p:sp>
        <p:nvSpPr>
          <p:cNvPr id="602" name="Google Shape;602;h14e179780a55c938_9_19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Opening (15s): Parts I-III defined the cost-sensitive objective and the four solvers. My part is the measurement: what data we used, how we made the comparison fair, and what the runs actually show.</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~50s: introduce ULB, the deduplication decision and why it matters for leakage, the 29-feature protocol, and that every run is tied to a recorded SHA-256 so the audience knows the data cannot drift underneath a result.</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~50s: emphasise the two decisions that make the ranking honest — every method sees exactly the same rows (no per-method caps) and the objective comparison is only ever made at a shared C, because a different C is a different QP.</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~50s: explain the curve plot: lower is the objective relative to the group best, the dashed line is the 0.1% tolerance, and the crossing time is the headline number in the next slides.</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~45s: this slide answers 'are your solvers even correct?' — 3 independent algorithms agreeing to four decimals, plus each member's external reference check.</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~45s: walk the ladder from 7k to 198k rows. Mention the reuse flag: earlier runs are kept when data and hyper-parameters match, so adding a solver never refits the others.</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~55s: this is the solver-ranking slide. Two numbers matter: who reaches the 0.1% band at all (only the ADMM pair), and who can certify a solve at 50:1 (PA-ADMM 3/5, cold ADMM 0/5). Time-to-tolerance differences inside the band are not significant at 5 seeds.</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~40s: this is the table the audience should photograph. Point at one column (say 20:1) and compare across solvers: the objective and PR-AUC agree, the certified count and the wall time are where they differ.</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~50s: state clearly that the fraud-detection performance is essentially the same across solvers; the interesting quantity for the group is which solver gets there reliably and how fast.</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~55s: close on the honest framing. The contribution is the measurement protocol: same QP, same rows, same budget. The solvers separate on certified time-to-solution and on reliability, not on detection quality, and 5 seeds put a floor of 0.0625 on any paired p-value.</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Backup for questions about fairness. Every row here came from a concrete review finding on our own harness, and each one is covered by a regression test.</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Backup for 'how do I reproduce this?'. Emphasise that the deck itself is generated from the run JSONs, so slides and results cannot drift apart.</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3.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1.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2.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15" name="Shape 15"/>
        <p:cNvGrpSpPr/>
        <p:nvPr/>
      </p:nvGrpSpPr>
      <p:grpSpPr>
        <a:xfrm>
          <a:off x="0" y="0"/>
          <a:ext cx="0" cy="0"/>
          <a:chOff x="0" y="0"/>
          <a:chExt cx="0" cy="0"/>
        </a:xfrm>
      </p:grpSpPr>
      <p:sp>
        <p:nvSpPr>
          <p:cNvPr id="16" name="Google Shape;16;p2"/>
          <p:cNvSpPr/>
          <p:nvPr/>
        </p:nvSpPr>
        <p:spPr>
          <a:xfrm>
            <a:off x="0" y="1709738"/>
            <a:ext cx="12192000" cy="4379912"/>
          </a:xfrm>
          <a:prstGeom prst="rect">
            <a:avLst/>
          </a:prstGeom>
          <a:solidFill>
            <a:srgbClr val="A0233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pic>
        <p:nvPicPr>
          <p:cNvPr id="17" name="Google Shape;17;p2"/>
          <p:cNvPicPr preferRelativeResize="0"/>
          <p:nvPr/>
        </p:nvPicPr>
        <p:blipFill rotWithShape="1">
          <a:blip r:embed="rId2">
            <a:alphaModFix amt="7000"/>
          </a:blip>
          <a:srcRect b="0" l="0" r="0" t="0"/>
          <a:stretch/>
        </p:blipFill>
        <p:spPr>
          <a:xfrm>
            <a:off x="7477128" y="1702437"/>
            <a:ext cx="4379911" cy="4379911"/>
          </a:xfrm>
          <a:prstGeom prst="rect">
            <a:avLst/>
          </a:prstGeom>
          <a:noFill/>
          <a:ln>
            <a:noFill/>
          </a:ln>
        </p:spPr>
      </p:pic>
      <p:sp>
        <p:nvSpPr>
          <p:cNvPr id="18" name="Google Shape;18;p2"/>
          <p:cNvSpPr txBox="1"/>
          <p:nvPr>
            <p:ph type="ctrTitle"/>
          </p:nvPr>
        </p:nvSpPr>
        <p:spPr>
          <a:xfrm>
            <a:off x="334963" y="908897"/>
            <a:ext cx="3779837" cy="2520103"/>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3600"/>
              <a:buFont typeface="Calibri"/>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txBox="1"/>
          <p:nvPr>
            <p:ph idx="1" type="subTitle"/>
          </p:nvPr>
        </p:nvSpPr>
        <p:spPr>
          <a:xfrm>
            <a:off x="334963" y="3447257"/>
            <a:ext cx="3779837" cy="2207418"/>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Clr>
                <a:schemeClr val="lt1"/>
              </a:buClr>
              <a:buSzPts val="1800"/>
              <a:buNone/>
              <a:defRPr sz="1800">
                <a:solidFill>
                  <a:schemeClr val="lt1"/>
                </a:solidFill>
              </a:defRPr>
            </a:lvl1pPr>
            <a:lvl2pPr lvl="1" algn="ctr">
              <a:spcBef>
                <a:spcPts val="400"/>
              </a:spcBef>
              <a:spcAft>
                <a:spcPts val="0"/>
              </a:spcAft>
              <a:buClr>
                <a:schemeClr val="dk1"/>
              </a:buClr>
              <a:buSzPts val="2000"/>
              <a:buNone/>
              <a:defRPr sz="2000"/>
            </a:lvl2pPr>
            <a:lvl3pPr lvl="2" algn="ctr">
              <a:spcBef>
                <a:spcPts val="360"/>
              </a:spcBef>
              <a:spcAft>
                <a:spcPts val="0"/>
              </a:spcAft>
              <a:buClr>
                <a:schemeClr val="dk1"/>
              </a:buClr>
              <a:buSzPts val="1800"/>
              <a:buNone/>
              <a:defRPr sz="1800"/>
            </a:lvl3pPr>
            <a:lvl4pPr lvl="3" algn="ctr">
              <a:spcBef>
                <a:spcPts val="320"/>
              </a:spcBef>
              <a:spcAft>
                <a:spcPts val="0"/>
              </a:spcAft>
              <a:buClr>
                <a:schemeClr val="dk1"/>
              </a:buClr>
              <a:buSzPts val="1600"/>
              <a:buNone/>
              <a:defRPr sz="1600"/>
            </a:lvl4pPr>
            <a:lvl5pPr lvl="4" algn="ctr">
              <a:spcBef>
                <a:spcPts val="320"/>
              </a:spcBef>
              <a:spcAft>
                <a:spcPts val="0"/>
              </a:spcAft>
              <a:buClr>
                <a:schemeClr val="dk1"/>
              </a:buClr>
              <a:buSzPts val="1600"/>
              <a:buNone/>
              <a:defRPr sz="1600"/>
            </a:lvl5pPr>
            <a:lvl6pPr lvl="5" algn="ctr">
              <a:spcBef>
                <a:spcPts val="320"/>
              </a:spcBef>
              <a:spcAft>
                <a:spcPts val="0"/>
              </a:spcAft>
              <a:buClr>
                <a:schemeClr val="dk1"/>
              </a:buClr>
              <a:buSzPts val="1600"/>
              <a:buNone/>
              <a:defRPr sz="1600"/>
            </a:lvl6pPr>
            <a:lvl7pPr lvl="6" algn="ctr">
              <a:spcBef>
                <a:spcPts val="320"/>
              </a:spcBef>
              <a:spcAft>
                <a:spcPts val="0"/>
              </a:spcAft>
              <a:buClr>
                <a:schemeClr val="dk1"/>
              </a:buClr>
              <a:buSzPts val="1600"/>
              <a:buNone/>
              <a:defRPr sz="1600"/>
            </a:lvl7pPr>
            <a:lvl8pPr lvl="7" algn="ctr">
              <a:spcBef>
                <a:spcPts val="320"/>
              </a:spcBef>
              <a:spcAft>
                <a:spcPts val="0"/>
              </a:spcAft>
              <a:buClr>
                <a:schemeClr val="dk1"/>
              </a:buClr>
              <a:buSzPts val="1600"/>
              <a:buNone/>
              <a:defRPr sz="1600"/>
            </a:lvl8pPr>
            <a:lvl9pPr lvl="8" algn="ctr">
              <a:spcBef>
                <a:spcPts val="320"/>
              </a:spcBef>
              <a:spcAft>
                <a:spcPts val="0"/>
              </a:spcAft>
              <a:buClr>
                <a:schemeClr val="dk1"/>
              </a:buClr>
              <a:buSzPts val="1600"/>
              <a:buNone/>
              <a:defRPr sz="1600"/>
            </a:lvl9pPr>
          </a:lstStyle>
          <a:p/>
        </p:txBody>
      </p:sp>
      <p:sp>
        <p:nvSpPr>
          <p:cNvPr id="20" name="Google Shape;20;p2"/>
          <p:cNvSpPr txBox="1"/>
          <p:nvPr>
            <p:ph idx="12" type="sldNum"/>
          </p:nvPr>
        </p:nvSpPr>
        <p:spPr>
          <a:xfrm>
            <a:off x="9113837" y="6492875"/>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Clr>
                <a:srgbClr val="888888"/>
              </a:buClr>
              <a:buSzPts val="1000"/>
              <a:buFont typeface="Calibri"/>
              <a:buNone/>
              <a:defRPr sz="1000"/>
            </a:lvl1pPr>
            <a:lvl2pPr indent="0" lvl="1" marL="0" algn="r">
              <a:spcBef>
                <a:spcPts val="0"/>
              </a:spcBef>
              <a:buClr>
                <a:srgbClr val="888888"/>
              </a:buClr>
              <a:buSzPts val="1000"/>
              <a:buFont typeface="Calibri"/>
              <a:buNone/>
              <a:defRPr sz="1000"/>
            </a:lvl2pPr>
            <a:lvl3pPr indent="0" lvl="2" marL="0" algn="r">
              <a:spcBef>
                <a:spcPts val="0"/>
              </a:spcBef>
              <a:buClr>
                <a:srgbClr val="888888"/>
              </a:buClr>
              <a:buSzPts val="1000"/>
              <a:buFont typeface="Calibri"/>
              <a:buNone/>
              <a:defRPr sz="1000"/>
            </a:lvl3pPr>
            <a:lvl4pPr indent="0" lvl="3" marL="0" algn="r">
              <a:spcBef>
                <a:spcPts val="0"/>
              </a:spcBef>
              <a:buClr>
                <a:srgbClr val="888888"/>
              </a:buClr>
              <a:buSzPts val="1000"/>
              <a:buFont typeface="Calibri"/>
              <a:buNone/>
              <a:defRPr sz="1000"/>
            </a:lvl4pPr>
            <a:lvl5pPr indent="0" lvl="4" marL="0" algn="r">
              <a:spcBef>
                <a:spcPts val="0"/>
              </a:spcBef>
              <a:buClr>
                <a:srgbClr val="888888"/>
              </a:buClr>
              <a:buSzPts val="1000"/>
              <a:buFont typeface="Calibri"/>
              <a:buNone/>
              <a:defRPr sz="1000"/>
            </a:lvl5pPr>
            <a:lvl6pPr indent="0" lvl="5" marL="0" algn="r">
              <a:spcBef>
                <a:spcPts val="0"/>
              </a:spcBef>
              <a:buClr>
                <a:srgbClr val="888888"/>
              </a:buClr>
              <a:buSzPts val="1000"/>
              <a:buFont typeface="Calibri"/>
              <a:buNone/>
              <a:defRPr sz="1000"/>
            </a:lvl6pPr>
            <a:lvl7pPr indent="0" lvl="6" marL="0" algn="r">
              <a:spcBef>
                <a:spcPts val="0"/>
              </a:spcBef>
              <a:buClr>
                <a:srgbClr val="888888"/>
              </a:buClr>
              <a:buSzPts val="1000"/>
              <a:buFont typeface="Calibri"/>
              <a:buNone/>
              <a:defRPr sz="1000"/>
            </a:lvl7pPr>
            <a:lvl8pPr indent="0" lvl="7" marL="0" algn="r">
              <a:spcBef>
                <a:spcPts val="0"/>
              </a:spcBef>
              <a:buClr>
                <a:srgbClr val="888888"/>
              </a:buClr>
              <a:buSzPts val="1000"/>
              <a:buFont typeface="Calibri"/>
              <a:buNone/>
              <a:defRPr sz="1000"/>
            </a:lvl8pPr>
            <a:lvl9pPr indent="0" lvl="8" marL="0" algn="r">
              <a:spcBef>
                <a:spcPts val="0"/>
              </a:spcBef>
              <a:buClr>
                <a:srgbClr val="888888"/>
              </a:buClr>
              <a:buSzPts val="1000"/>
              <a:buFont typeface="Calibri"/>
              <a:buNone/>
              <a:defRPr sz="1000"/>
            </a:lvl9pPr>
          </a:lstStyle>
          <a:p>
            <a:pPr indent="0" lvl="0" marL="0" rtl="0" algn="r">
              <a:spcBef>
                <a:spcPts val="0"/>
              </a:spcBef>
              <a:spcAft>
                <a:spcPts val="0"/>
              </a:spcAft>
              <a:buNone/>
            </a:pPr>
            <a:fld id="{00000000-1234-1234-1234-123412341234}" type="slidenum">
              <a:rPr lang="en-US"/>
              <a:t>‹#›</a:t>
            </a:fld>
            <a:endParaRPr>
              <a:solidFill>
                <a:srgbClr val="888888"/>
              </a:solidFill>
              <a:latin typeface="Calibri"/>
              <a:ea typeface="Calibri"/>
              <a:cs typeface="Calibri"/>
              <a:sym typeface="Calibri"/>
            </a:endParaRPr>
          </a:p>
        </p:txBody>
      </p:sp>
      <p:pic>
        <p:nvPicPr>
          <p:cNvPr id="21" name="Google Shape;21;p2"/>
          <p:cNvPicPr preferRelativeResize="0"/>
          <p:nvPr/>
        </p:nvPicPr>
        <p:blipFill rotWithShape="1">
          <a:blip r:embed="rId3">
            <a:alphaModFix/>
          </a:blip>
          <a:srcRect b="0" l="0" r="0" t="0"/>
          <a:stretch/>
        </p:blipFill>
        <p:spPr>
          <a:xfrm>
            <a:off x="334963" y="383309"/>
            <a:ext cx="2743200" cy="52558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 Header">
  <p:cSld name="2_Section Header">
    <p:spTree>
      <p:nvGrpSpPr>
        <p:cNvPr id="22" name="Shape 22"/>
        <p:cNvGrpSpPr/>
        <p:nvPr/>
      </p:nvGrpSpPr>
      <p:grpSpPr>
        <a:xfrm>
          <a:off x="0" y="0"/>
          <a:ext cx="0" cy="0"/>
          <a:chOff x="0" y="0"/>
          <a:chExt cx="0" cy="0"/>
        </a:xfrm>
      </p:grpSpPr>
      <p:sp>
        <p:nvSpPr>
          <p:cNvPr id="23" name="Google Shape;23;p3"/>
          <p:cNvSpPr txBox="1"/>
          <p:nvPr>
            <p:ph idx="12" type="sldNum"/>
          </p:nvPr>
        </p:nvSpPr>
        <p:spPr>
          <a:xfrm>
            <a:off x="9113837" y="6492875"/>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Clr>
                <a:srgbClr val="888888"/>
              </a:buClr>
              <a:buSzPts val="1000"/>
              <a:buFont typeface="Calibri"/>
              <a:buNone/>
              <a:defRPr sz="1000"/>
            </a:lvl1pPr>
            <a:lvl2pPr indent="0" lvl="1" marL="0" algn="r">
              <a:spcBef>
                <a:spcPts val="0"/>
              </a:spcBef>
              <a:buClr>
                <a:srgbClr val="888888"/>
              </a:buClr>
              <a:buSzPts val="1000"/>
              <a:buFont typeface="Calibri"/>
              <a:buNone/>
              <a:defRPr sz="1000"/>
            </a:lvl2pPr>
            <a:lvl3pPr indent="0" lvl="2" marL="0" algn="r">
              <a:spcBef>
                <a:spcPts val="0"/>
              </a:spcBef>
              <a:buClr>
                <a:srgbClr val="888888"/>
              </a:buClr>
              <a:buSzPts val="1000"/>
              <a:buFont typeface="Calibri"/>
              <a:buNone/>
              <a:defRPr sz="1000"/>
            </a:lvl3pPr>
            <a:lvl4pPr indent="0" lvl="3" marL="0" algn="r">
              <a:spcBef>
                <a:spcPts val="0"/>
              </a:spcBef>
              <a:buClr>
                <a:srgbClr val="888888"/>
              </a:buClr>
              <a:buSzPts val="1000"/>
              <a:buFont typeface="Calibri"/>
              <a:buNone/>
              <a:defRPr sz="1000"/>
            </a:lvl4pPr>
            <a:lvl5pPr indent="0" lvl="4" marL="0" algn="r">
              <a:spcBef>
                <a:spcPts val="0"/>
              </a:spcBef>
              <a:buClr>
                <a:srgbClr val="888888"/>
              </a:buClr>
              <a:buSzPts val="1000"/>
              <a:buFont typeface="Calibri"/>
              <a:buNone/>
              <a:defRPr sz="1000"/>
            </a:lvl5pPr>
            <a:lvl6pPr indent="0" lvl="5" marL="0" algn="r">
              <a:spcBef>
                <a:spcPts val="0"/>
              </a:spcBef>
              <a:buClr>
                <a:srgbClr val="888888"/>
              </a:buClr>
              <a:buSzPts val="1000"/>
              <a:buFont typeface="Calibri"/>
              <a:buNone/>
              <a:defRPr sz="1000"/>
            </a:lvl6pPr>
            <a:lvl7pPr indent="0" lvl="6" marL="0" algn="r">
              <a:spcBef>
                <a:spcPts val="0"/>
              </a:spcBef>
              <a:buClr>
                <a:srgbClr val="888888"/>
              </a:buClr>
              <a:buSzPts val="1000"/>
              <a:buFont typeface="Calibri"/>
              <a:buNone/>
              <a:defRPr sz="1000"/>
            </a:lvl7pPr>
            <a:lvl8pPr indent="0" lvl="7" marL="0" algn="r">
              <a:spcBef>
                <a:spcPts val="0"/>
              </a:spcBef>
              <a:buClr>
                <a:srgbClr val="888888"/>
              </a:buClr>
              <a:buSzPts val="1000"/>
              <a:buFont typeface="Calibri"/>
              <a:buNone/>
              <a:defRPr sz="1000"/>
            </a:lvl8pPr>
            <a:lvl9pPr indent="0" lvl="8" marL="0" algn="r">
              <a:spcBef>
                <a:spcPts val="0"/>
              </a:spcBef>
              <a:buClr>
                <a:srgbClr val="888888"/>
              </a:buClr>
              <a:buSzPts val="1000"/>
              <a:buFont typeface="Calibri"/>
              <a:buNone/>
              <a:defRPr sz="1000"/>
            </a:lvl9pPr>
          </a:lstStyle>
          <a:p>
            <a:pPr indent="0" lvl="0" marL="0" rtl="0" algn="r">
              <a:spcBef>
                <a:spcPts val="0"/>
              </a:spcBef>
              <a:spcAft>
                <a:spcPts val="0"/>
              </a:spcAft>
              <a:buNone/>
            </a:pPr>
            <a:fld id="{00000000-1234-1234-1234-123412341234}" type="slidenum">
              <a:rPr lang="en-US"/>
              <a:t>‹#›</a:t>
            </a:fld>
            <a:endParaRPr>
              <a:solidFill>
                <a:srgbClr val="888888"/>
              </a:solidFill>
              <a:latin typeface="Calibri"/>
              <a:ea typeface="Calibri"/>
              <a:cs typeface="Calibri"/>
              <a:sym typeface="Calibri"/>
            </a:endParaRPr>
          </a:p>
        </p:txBody>
      </p:sp>
      <p:sp>
        <p:nvSpPr>
          <p:cNvPr id="24" name="Google Shape;24;p3"/>
          <p:cNvSpPr/>
          <p:nvPr/>
        </p:nvSpPr>
        <p:spPr>
          <a:xfrm>
            <a:off x="0" y="0"/>
            <a:ext cx="12192000" cy="800100"/>
          </a:xfrm>
          <a:prstGeom prst="rect">
            <a:avLst/>
          </a:prstGeom>
          <a:solidFill>
            <a:srgbClr val="A0233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pic>
        <p:nvPicPr>
          <p:cNvPr id="25" name="Google Shape;25;p3"/>
          <p:cNvPicPr preferRelativeResize="0"/>
          <p:nvPr/>
        </p:nvPicPr>
        <p:blipFill rotWithShape="1">
          <a:blip r:embed="rId2">
            <a:alphaModFix/>
          </a:blip>
          <a:srcRect b="0" l="0" r="0" t="0"/>
          <a:stretch/>
        </p:blipFill>
        <p:spPr>
          <a:xfrm>
            <a:off x="11335762" y="156642"/>
            <a:ext cx="521276" cy="521276"/>
          </a:xfrm>
          <a:prstGeom prst="rect">
            <a:avLst/>
          </a:prstGeom>
          <a:noFill/>
          <a:ln>
            <a:noFill/>
          </a:ln>
        </p:spPr>
      </p:pic>
      <p:sp>
        <p:nvSpPr>
          <p:cNvPr id="26" name="Google Shape;26;p3"/>
          <p:cNvSpPr txBox="1"/>
          <p:nvPr>
            <p:ph type="title"/>
          </p:nvPr>
        </p:nvSpPr>
        <p:spPr>
          <a:xfrm>
            <a:off x="334963" y="-2026"/>
            <a:ext cx="10637838" cy="802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lt1"/>
              </a:buClr>
              <a:buSzPts val="3200"/>
              <a:buFont typeface="Calibri"/>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
          <p:cNvSpPr txBox="1"/>
          <p:nvPr>
            <p:ph idx="1" type="body"/>
          </p:nvPr>
        </p:nvSpPr>
        <p:spPr>
          <a:xfrm>
            <a:off x="334962" y="1032641"/>
            <a:ext cx="11522075" cy="5321684"/>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8" name="Shape 28"/>
        <p:cNvGrpSpPr/>
        <p:nvPr/>
      </p:nvGrpSpPr>
      <p:grpSpPr>
        <a:xfrm>
          <a:off x="0" y="0"/>
          <a:ext cx="0" cy="0"/>
          <a:chOff x="0" y="0"/>
          <a:chExt cx="0" cy="0"/>
        </a:xfrm>
      </p:grpSpPr>
      <p:sp>
        <p:nvSpPr>
          <p:cNvPr id="29" name="Google Shape;29;p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1" name="Google Shape;31;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32" name="Google Shape;32;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33" name="Google Shape;33;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Clr>
                <a:srgbClr val="888888"/>
              </a:buClr>
              <a:buSzPts val="1200"/>
              <a:buFont typeface="Calibri"/>
              <a:buNone/>
              <a:defRPr sz="1200">
                <a:solidFill>
                  <a:srgbClr val="888888"/>
                </a:solidFill>
              </a:defRPr>
            </a:lvl1pPr>
            <a:lvl2pPr indent="0" lvl="1" marL="0" algn="r">
              <a:spcBef>
                <a:spcPts val="0"/>
              </a:spcBef>
              <a:buClr>
                <a:srgbClr val="888888"/>
              </a:buClr>
              <a:buSzPts val="1200"/>
              <a:buFont typeface="Calibri"/>
              <a:buNone/>
              <a:defRPr sz="1200">
                <a:solidFill>
                  <a:srgbClr val="888888"/>
                </a:solidFill>
              </a:defRPr>
            </a:lvl2pPr>
            <a:lvl3pPr indent="0" lvl="2" marL="0" algn="r">
              <a:spcBef>
                <a:spcPts val="0"/>
              </a:spcBef>
              <a:buClr>
                <a:srgbClr val="888888"/>
              </a:buClr>
              <a:buSzPts val="1200"/>
              <a:buFont typeface="Calibri"/>
              <a:buNone/>
              <a:defRPr sz="1200">
                <a:solidFill>
                  <a:srgbClr val="888888"/>
                </a:solidFill>
              </a:defRPr>
            </a:lvl3pPr>
            <a:lvl4pPr indent="0" lvl="3" marL="0" algn="r">
              <a:spcBef>
                <a:spcPts val="0"/>
              </a:spcBef>
              <a:buClr>
                <a:srgbClr val="888888"/>
              </a:buClr>
              <a:buSzPts val="1200"/>
              <a:buFont typeface="Calibri"/>
              <a:buNone/>
              <a:defRPr sz="1200">
                <a:solidFill>
                  <a:srgbClr val="888888"/>
                </a:solidFill>
              </a:defRPr>
            </a:lvl4pPr>
            <a:lvl5pPr indent="0" lvl="4" marL="0" algn="r">
              <a:spcBef>
                <a:spcPts val="0"/>
              </a:spcBef>
              <a:buClr>
                <a:srgbClr val="888888"/>
              </a:buClr>
              <a:buSzPts val="1200"/>
              <a:buFont typeface="Calibri"/>
              <a:buNone/>
              <a:defRPr sz="1200">
                <a:solidFill>
                  <a:srgbClr val="888888"/>
                </a:solidFill>
              </a:defRPr>
            </a:lvl5pPr>
            <a:lvl6pPr indent="0" lvl="5" marL="0" algn="r">
              <a:spcBef>
                <a:spcPts val="0"/>
              </a:spcBef>
              <a:buClr>
                <a:srgbClr val="888888"/>
              </a:buClr>
              <a:buSzPts val="1200"/>
              <a:buFont typeface="Calibri"/>
              <a:buNone/>
              <a:defRPr sz="1200">
                <a:solidFill>
                  <a:srgbClr val="888888"/>
                </a:solidFill>
              </a:defRPr>
            </a:lvl6pPr>
            <a:lvl7pPr indent="0" lvl="6" marL="0" algn="r">
              <a:spcBef>
                <a:spcPts val="0"/>
              </a:spcBef>
              <a:buClr>
                <a:srgbClr val="888888"/>
              </a:buClr>
              <a:buSzPts val="1200"/>
              <a:buFont typeface="Calibri"/>
              <a:buNone/>
              <a:defRPr sz="1200">
                <a:solidFill>
                  <a:srgbClr val="888888"/>
                </a:solidFill>
              </a:defRPr>
            </a:lvl7pPr>
            <a:lvl8pPr indent="0" lvl="7" marL="0" algn="r">
              <a:spcBef>
                <a:spcPts val="0"/>
              </a:spcBef>
              <a:buClr>
                <a:srgbClr val="888888"/>
              </a:buClr>
              <a:buSzPts val="1200"/>
              <a:buFont typeface="Calibri"/>
              <a:buNone/>
              <a:defRPr sz="1200">
                <a:solidFill>
                  <a:srgbClr val="888888"/>
                </a:solidFill>
              </a:defRPr>
            </a:lvl8pPr>
            <a:lvl9pPr indent="0" lvl="8" marL="0" algn="r">
              <a:spcBef>
                <a:spcPts val="0"/>
              </a:spcBef>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4" name="Shape 34"/>
        <p:cNvGrpSpPr/>
        <p:nvPr/>
      </p:nvGrpSpPr>
      <p:grpSpPr>
        <a:xfrm>
          <a:off x="0" y="0"/>
          <a:ext cx="0" cy="0"/>
          <a:chOff x="0" y="0"/>
          <a:chExt cx="0" cy="0"/>
        </a:xfrm>
      </p:grpSpPr>
      <p:sp>
        <p:nvSpPr>
          <p:cNvPr id="35" name="Google Shape;35;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7" name="Google Shape;37;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38" name="Google Shape;38;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39" name="Google Shape;39;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Clr>
                <a:srgbClr val="888888"/>
              </a:buClr>
              <a:buSzPts val="1200"/>
              <a:buFont typeface="Calibri"/>
              <a:buNone/>
              <a:defRPr sz="1200">
                <a:solidFill>
                  <a:srgbClr val="888888"/>
                </a:solidFill>
              </a:defRPr>
            </a:lvl1pPr>
            <a:lvl2pPr indent="0" lvl="1" marL="0" algn="r">
              <a:spcBef>
                <a:spcPts val="0"/>
              </a:spcBef>
              <a:buClr>
                <a:srgbClr val="888888"/>
              </a:buClr>
              <a:buSzPts val="1200"/>
              <a:buFont typeface="Calibri"/>
              <a:buNone/>
              <a:defRPr sz="1200">
                <a:solidFill>
                  <a:srgbClr val="888888"/>
                </a:solidFill>
              </a:defRPr>
            </a:lvl2pPr>
            <a:lvl3pPr indent="0" lvl="2" marL="0" algn="r">
              <a:spcBef>
                <a:spcPts val="0"/>
              </a:spcBef>
              <a:buClr>
                <a:srgbClr val="888888"/>
              </a:buClr>
              <a:buSzPts val="1200"/>
              <a:buFont typeface="Calibri"/>
              <a:buNone/>
              <a:defRPr sz="1200">
                <a:solidFill>
                  <a:srgbClr val="888888"/>
                </a:solidFill>
              </a:defRPr>
            </a:lvl3pPr>
            <a:lvl4pPr indent="0" lvl="3" marL="0" algn="r">
              <a:spcBef>
                <a:spcPts val="0"/>
              </a:spcBef>
              <a:buClr>
                <a:srgbClr val="888888"/>
              </a:buClr>
              <a:buSzPts val="1200"/>
              <a:buFont typeface="Calibri"/>
              <a:buNone/>
              <a:defRPr sz="1200">
                <a:solidFill>
                  <a:srgbClr val="888888"/>
                </a:solidFill>
              </a:defRPr>
            </a:lvl4pPr>
            <a:lvl5pPr indent="0" lvl="4" marL="0" algn="r">
              <a:spcBef>
                <a:spcPts val="0"/>
              </a:spcBef>
              <a:buClr>
                <a:srgbClr val="888888"/>
              </a:buClr>
              <a:buSzPts val="1200"/>
              <a:buFont typeface="Calibri"/>
              <a:buNone/>
              <a:defRPr sz="1200">
                <a:solidFill>
                  <a:srgbClr val="888888"/>
                </a:solidFill>
              </a:defRPr>
            </a:lvl5pPr>
            <a:lvl6pPr indent="0" lvl="5" marL="0" algn="r">
              <a:spcBef>
                <a:spcPts val="0"/>
              </a:spcBef>
              <a:buClr>
                <a:srgbClr val="888888"/>
              </a:buClr>
              <a:buSzPts val="1200"/>
              <a:buFont typeface="Calibri"/>
              <a:buNone/>
              <a:defRPr sz="1200">
                <a:solidFill>
                  <a:srgbClr val="888888"/>
                </a:solidFill>
              </a:defRPr>
            </a:lvl6pPr>
            <a:lvl7pPr indent="0" lvl="6" marL="0" algn="r">
              <a:spcBef>
                <a:spcPts val="0"/>
              </a:spcBef>
              <a:buClr>
                <a:srgbClr val="888888"/>
              </a:buClr>
              <a:buSzPts val="1200"/>
              <a:buFont typeface="Calibri"/>
              <a:buNone/>
              <a:defRPr sz="1200">
                <a:solidFill>
                  <a:srgbClr val="888888"/>
                </a:solidFill>
              </a:defRPr>
            </a:lvl7pPr>
            <a:lvl8pPr indent="0" lvl="7" marL="0" algn="r">
              <a:spcBef>
                <a:spcPts val="0"/>
              </a:spcBef>
              <a:buClr>
                <a:srgbClr val="888888"/>
              </a:buClr>
              <a:buSzPts val="1200"/>
              <a:buFont typeface="Calibri"/>
              <a:buNone/>
              <a:defRPr sz="1200">
                <a:solidFill>
                  <a:srgbClr val="888888"/>
                </a:solidFill>
              </a:defRPr>
            </a:lvl8pPr>
            <a:lvl9pPr indent="0" lvl="8" marL="0" algn="r">
              <a:spcBef>
                <a:spcPts val="0"/>
              </a:spcBef>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43" name="Google Shape;43;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44" name="Google Shape;44;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45" name="Google Shape;45;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Clr>
                <a:srgbClr val="888888"/>
              </a:buClr>
              <a:buSzPts val="1200"/>
              <a:buFont typeface="Calibri"/>
              <a:buNone/>
              <a:defRPr sz="1200">
                <a:solidFill>
                  <a:srgbClr val="888888"/>
                </a:solidFill>
              </a:defRPr>
            </a:lvl1pPr>
            <a:lvl2pPr indent="0" lvl="1" marL="0" algn="r">
              <a:spcBef>
                <a:spcPts val="0"/>
              </a:spcBef>
              <a:buClr>
                <a:srgbClr val="888888"/>
              </a:buClr>
              <a:buSzPts val="1200"/>
              <a:buFont typeface="Calibri"/>
              <a:buNone/>
              <a:defRPr sz="1200">
                <a:solidFill>
                  <a:srgbClr val="888888"/>
                </a:solidFill>
              </a:defRPr>
            </a:lvl2pPr>
            <a:lvl3pPr indent="0" lvl="2" marL="0" algn="r">
              <a:spcBef>
                <a:spcPts val="0"/>
              </a:spcBef>
              <a:buClr>
                <a:srgbClr val="888888"/>
              </a:buClr>
              <a:buSzPts val="1200"/>
              <a:buFont typeface="Calibri"/>
              <a:buNone/>
              <a:defRPr sz="1200">
                <a:solidFill>
                  <a:srgbClr val="888888"/>
                </a:solidFill>
              </a:defRPr>
            </a:lvl3pPr>
            <a:lvl4pPr indent="0" lvl="3" marL="0" algn="r">
              <a:spcBef>
                <a:spcPts val="0"/>
              </a:spcBef>
              <a:buClr>
                <a:srgbClr val="888888"/>
              </a:buClr>
              <a:buSzPts val="1200"/>
              <a:buFont typeface="Calibri"/>
              <a:buNone/>
              <a:defRPr sz="1200">
                <a:solidFill>
                  <a:srgbClr val="888888"/>
                </a:solidFill>
              </a:defRPr>
            </a:lvl4pPr>
            <a:lvl5pPr indent="0" lvl="4" marL="0" algn="r">
              <a:spcBef>
                <a:spcPts val="0"/>
              </a:spcBef>
              <a:buClr>
                <a:srgbClr val="888888"/>
              </a:buClr>
              <a:buSzPts val="1200"/>
              <a:buFont typeface="Calibri"/>
              <a:buNone/>
              <a:defRPr sz="1200">
                <a:solidFill>
                  <a:srgbClr val="888888"/>
                </a:solidFill>
              </a:defRPr>
            </a:lvl5pPr>
            <a:lvl6pPr indent="0" lvl="5" marL="0" algn="r">
              <a:spcBef>
                <a:spcPts val="0"/>
              </a:spcBef>
              <a:buClr>
                <a:srgbClr val="888888"/>
              </a:buClr>
              <a:buSzPts val="1200"/>
              <a:buFont typeface="Calibri"/>
              <a:buNone/>
              <a:defRPr sz="1200">
                <a:solidFill>
                  <a:srgbClr val="888888"/>
                </a:solidFill>
              </a:defRPr>
            </a:lvl6pPr>
            <a:lvl7pPr indent="0" lvl="6" marL="0" algn="r">
              <a:spcBef>
                <a:spcPts val="0"/>
              </a:spcBef>
              <a:buClr>
                <a:srgbClr val="888888"/>
              </a:buClr>
              <a:buSzPts val="1200"/>
              <a:buFont typeface="Calibri"/>
              <a:buNone/>
              <a:defRPr sz="1200">
                <a:solidFill>
                  <a:srgbClr val="888888"/>
                </a:solidFill>
              </a:defRPr>
            </a:lvl7pPr>
            <a:lvl8pPr indent="0" lvl="7" marL="0" algn="r">
              <a:spcBef>
                <a:spcPts val="0"/>
              </a:spcBef>
              <a:buClr>
                <a:srgbClr val="888888"/>
              </a:buClr>
              <a:buSzPts val="1200"/>
              <a:buFont typeface="Calibri"/>
              <a:buNone/>
              <a:defRPr sz="1200">
                <a:solidFill>
                  <a:srgbClr val="888888"/>
                </a:solidFill>
              </a:defRPr>
            </a:lvl8pPr>
            <a:lvl9pPr indent="0" lvl="8" marL="0" algn="r">
              <a:spcBef>
                <a:spcPts val="0"/>
              </a:spcBef>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sp>
        <p:nvSpPr>
          <p:cNvPr id="47" name="Google Shape;47;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228600" lvl="0" marL="457200" algn="l">
              <a:spcBef>
                <a:spcPts val="560"/>
              </a:spcBef>
              <a:spcAft>
                <a:spcPts val="0"/>
              </a:spcAft>
              <a:buClr>
                <a:schemeClr val="dk1"/>
              </a:buClr>
              <a:buSzPts val="2800"/>
              <a:buNone/>
              <a:defRPr sz="2800"/>
            </a:lvl1pPr>
            <a:lvl2pPr indent="-228600" lvl="1" marL="914400" algn="l">
              <a:spcBef>
                <a:spcPts val="480"/>
              </a:spcBef>
              <a:spcAft>
                <a:spcPts val="0"/>
              </a:spcAft>
              <a:buClr>
                <a:schemeClr val="dk1"/>
              </a:buClr>
              <a:buSzPts val="2400"/>
              <a:buNone/>
              <a:defRPr sz="2400"/>
            </a:lvl2pPr>
            <a:lvl3pPr indent="-228600" lvl="2" marL="1371600" algn="l">
              <a:spcBef>
                <a:spcPts val="400"/>
              </a:spcBef>
              <a:spcAft>
                <a:spcPts val="0"/>
              </a:spcAft>
              <a:buClr>
                <a:schemeClr val="dk1"/>
              </a:buClr>
              <a:buSzPts val="2000"/>
              <a:buNone/>
              <a:defRPr sz="2000"/>
            </a:lvl3pPr>
            <a:lvl4pPr indent="-228600" lvl="3" marL="1828800" algn="l">
              <a:spcBef>
                <a:spcPts val="360"/>
              </a:spcBef>
              <a:spcAft>
                <a:spcPts val="0"/>
              </a:spcAft>
              <a:buClr>
                <a:schemeClr val="dk1"/>
              </a:buClr>
              <a:buSzPts val="1800"/>
              <a:buNone/>
              <a:defRPr sz="1800"/>
            </a:lvl4pPr>
            <a:lvl5pPr indent="-228600" lvl="4" marL="2286000" algn="l">
              <a:spcBef>
                <a:spcPts val="360"/>
              </a:spcBef>
              <a:spcAft>
                <a:spcPts val="0"/>
              </a:spcAft>
              <a:buClr>
                <a:schemeClr val="dk1"/>
              </a:buClr>
              <a:buSzPts val="1800"/>
              <a:buNone/>
              <a:defRPr sz="1800"/>
            </a:lvl5pPr>
            <a:lvl6pPr indent="-228600" lvl="5" marL="2743200" algn="l">
              <a:spcBef>
                <a:spcPts val="360"/>
              </a:spcBef>
              <a:spcAft>
                <a:spcPts val="0"/>
              </a:spcAft>
              <a:buClr>
                <a:schemeClr val="dk1"/>
              </a:buClr>
              <a:buSzPts val="1800"/>
              <a:buNone/>
              <a:defRPr sz="1800"/>
            </a:lvl6pPr>
            <a:lvl7pPr indent="-228600" lvl="6" marL="3200400" algn="l">
              <a:spcBef>
                <a:spcPts val="360"/>
              </a:spcBef>
              <a:spcAft>
                <a:spcPts val="0"/>
              </a:spcAft>
              <a:buClr>
                <a:schemeClr val="dk1"/>
              </a:buClr>
              <a:buSzPts val="1800"/>
              <a:buNone/>
              <a:defRPr sz="1800"/>
            </a:lvl7pPr>
            <a:lvl8pPr indent="-228600" lvl="7" marL="3657600" algn="l">
              <a:spcBef>
                <a:spcPts val="360"/>
              </a:spcBef>
              <a:spcAft>
                <a:spcPts val="0"/>
              </a:spcAft>
              <a:buClr>
                <a:schemeClr val="dk1"/>
              </a:buClr>
              <a:buSzPts val="1800"/>
              <a:buNone/>
              <a:defRPr sz="1800"/>
            </a:lvl8pPr>
            <a:lvl9pPr indent="-228600" lvl="8" marL="4114800" algn="l">
              <a:spcBef>
                <a:spcPts val="360"/>
              </a:spcBef>
              <a:spcAft>
                <a:spcPts val="0"/>
              </a:spcAft>
              <a:buClr>
                <a:schemeClr val="dk1"/>
              </a:buClr>
              <a:buSzPts val="1800"/>
              <a:buNone/>
              <a:defRPr sz="1800"/>
            </a:lvl9pPr>
          </a:lstStyle>
          <a:p/>
        </p:txBody>
      </p:sp>
      <p:sp>
        <p:nvSpPr>
          <p:cNvPr id="49" name="Google Shape;49;p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228600" lvl="0" marL="457200" algn="l">
              <a:spcBef>
                <a:spcPts val="560"/>
              </a:spcBef>
              <a:spcAft>
                <a:spcPts val="0"/>
              </a:spcAft>
              <a:buClr>
                <a:schemeClr val="dk1"/>
              </a:buClr>
              <a:buSzPts val="2800"/>
              <a:buNone/>
              <a:defRPr sz="2800"/>
            </a:lvl1pPr>
            <a:lvl2pPr indent="-228600" lvl="1" marL="914400" algn="l">
              <a:spcBef>
                <a:spcPts val="480"/>
              </a:spcBef>
              <a:spcAft>
                <a:spcPts val="0"/>
              </a:spcAft>
              <a:buClr>
                <a:schemeClr val="dk1"/>
              </a:buClr>
              <a:buSzPts val="2400"/>
              <a:buNone/>
              <a:defRPr sz="2400"/>
            </a:lvl2pPr>
            <a:lvl3pPr indent="-228600" lvl="2" marL="1371600" algn="l">
              <a:spcBef>
                <a:spcPts val="400"/>
              </a:spcBef>
              <a:spcAft>
                <a:spcPts val="0"/>
              </a:spcAft>
              <a:buClr>
                <a:schemeClr val="dk1"/>
              </a:buClr>
              <a:buSzPts val="2000"/>
              <a:buNone/>
              <a:defRPr sz="2000"/>
            </a:lvl3pPr>
            <a:lvl4pPr indent="-228600" lvl="3" marL="1828800" algn="l">
              <a:spcBef>
                <a:spcPts val="360"/>
              </a:spcBef>
              <a:spcAft>
                <a:spcPts val="0"/>
              </a:spcAft>
              <a:buClr>
                <a:schemeClr val="dk1"/>
              </a:buClr>
              <a:buSzPts val="1800"/>
              <a:buNone/>
              <a:defRPr sz="1800"/>
            </a:lvl4pPr>
            <a:lvl5pPr indent="-228600" lvl="4" marL="2286000" algn="l">
              <a:spcBef>
                <a:spcPts val="360"/>
              </a:spcBef>
              <a:spcAft>
                <a:spcPts val="0"/>
              </a:spcAft>
              <a:buClr>
                <a:schemeClr val="dk1"/>
              </a:buClr>
              <a:buSzPts val="1800"/>
              <a:buNone/>
              <a:defRPr sz="1800"/>
            </a:lvl5pPr>
            <a:lvl6pPr indent="-228600" lvl="5" marL="2743200" algn="l">
              <a:spcBef>
                <a:spcPts val="360"/>
              </a:spcBef>
              <a:spcAft>
                <a:spcPts val="0"/>
              </a:spcAft>
              <a:buClr>
                <a:schemeClr val="dk1"/>
              </a:buClr>
              <a:buSzPts val="1800"/>
              <a:buNone/>
              <a:defRPr sz="1800"/>
            </a:lvl6pPr>
            <a:lvl7pPr indent="-228600" lvl="6" marL="3200400" algn="l">
              <a:spcBef>
                <a:spcPts val="360"/>
              </a:spcBef>
              <a:spcAft>
                <a:spcPts val="0"/>
              </a:spcAft>
              <a:buClr>
                <a:schemeClr val="dk1"/>
              </a:buClr>
              <a:buSzPts val="1800"/>
              <a:buNone/>
              <a:defRPr sz="1800"/>
            </a:lvl7pPr>
            <a:lvl8pPr indent="-228600" lvl="7" marL="3657600" algn="l">
              <a:spcBef>
                <a:spcPts val="360"/>
              </a:spcBef>
              <a:spcAft>
                <a:spcPts val="0"/>
              </a:spcAft>
              <a:buClr>
                <a:schemeClr val="dk1"/>
              </a:buClr>
              <a:buSzPts val="1800"/>
              <a:buNone/>
              <a:defRPr sz="1800"/>
            </a:lvl8pPr>
            <a:lvl9pPr indent="-228600" lvl="8" marL="4114800" algn="l">
              <a:spcBef>
                <a:spcPts val="360"/>
              </a:spcBef>
              <a:spcAft>
                <a:spcPts val="0"/>
              </a:spcAft>
              <a:buClr>
                <a:schemeClr val="dk1"/>
              </a:buClr>
              <a:buSzPts val="1800"/>
              <a:buNone/>
              <a:defRPr sz="18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Clr>
                <a:srgbClr val="888888"/>
              </a:buClr>
              <a:buSzPts val="1200"/>
              <a:buFont typeface="Calibri"/>
              <a:buNone/>
              <a:defRPr sz="1200">
                <a:solidFill>
                  <a:srgbClr val="888888"/>
                </a:solidFill>
              </a:defRPr>
            </a:lvl1pPr>
            <a:lvl2pPr indent="0" lvl="1" marL="0" algn="r">
              <a:spcBef>
                <a:spcPts val="0"/>
              </a:spcBef>
              <a:buClr>
                <a:srgbClr val="888888"/>
              </a:buClr>
              <a:buSzPts val="1200"/>
              <a:buFont typeface="Calibri"/>
              <a:buNone/>
              <a:defRPr sz="1200">
                <a:solidFill>
                  <a:srgbClr val="888888"/>
                </a:solidFill>
              </a:defRPr>
            </a:lvl2pPr>
            <a:lvl3pPr indent="0" lvl="2" marL="0" algn="r">
              <a:spcBef>
                <a:spcPts val="0"/>
              </a:spcBef>
              <a:buClr>
                <a:srgbClr val="888888"/>
              </a:buClr>
              <a:buSzPts val="1200"/>
              <a:buFont typeface="Calibri"/>
              <a:buNone/>
              <a:defRPr sz="1200">
                <a:solidFill>
                  <a:srgbClr val="888888"/>
                </a:solidFill>
              </a:defRPr>
            </a:lvl3pPr>
            <a:lvl4pPr indent="0" lvl="3" marL="0" algn="r">
              <a:spcBef>
                <a:spcPts val="0"/>
              </a:spcBef>
              <a:buClr>
                <a:srgbClr val="888888"/>
              </a:buClr>
              <a:buSzPts val="1200"/>
              <a:buFont typeface="Calibri"/>
              <a:buNone/>
              <a:defRPr sz="1200">
                <a:solidFill>
                  <a:srgbClr val="888888"/>
                </a:solidFill>
              </a:defRPr>
            </a:lvl4pPr>
            <a:lvl5pPr indent="0" lvl="4" marL="0" algn="r">
              <a:spcBef>
                <a:spcPts val="0"/>
              </a:spcBef>
              <a:buClr>
                <a:srgbClr val="888888"/>
              </a:buClr>
              <a:buSzPts val="1200"/>
              <a:buFont typeface="Calibri"/>
              <a:buNone/>
              <a:defRPr sz="1200">
                <a:solidFill>
                  <a:srgbClr val="888888"/>
                </a:solidFill>
              </a:defRPr>
            </a:lvl5pPr>
            <a:lvl6pPr indent="0" lvl="5" marL="0" algn="r">
              <a:spcBef>
                <a:spcPts val="0"/>
              </a:spcBef>
              <a:buClr>
                <a:srgbClr val="888888"/>
              </a:buClr>
              <a:buSzPts val="1200"/>
              <a:buFont typeface="Calibri"/>
              <a:buNone/>
              <a:defRPr sz="1200">
                <a:solidFill>
                  <a:srgbClr val="888888"/>
                </a:solidFill>
              </a:defRPr>
            </a:lvl6pPr>
            <a:lvl7pPr indent="0" lvl="6" marL="0" algn="r">
              <a:spcBef>
                <a:spcPts val="0"/>
              </a:spcBef>
              <a:buClr>
                <a:srgbClr val="888888"/>
              </a:buClr>
              <a:buSzPts val="1200"/>
              <a:buFont typeface="Calibri"/>
              <a:buNone/>
              <a:defRPr sz="1200">
                <a:solidFill>
                  <a:srgbClr val="888888"/>
                </a:solidFill>
              </a:defRPr>
            </a:lvl7pPr>
            <a:lvl8pPr indent="0" lvl="7" marL="0" algn="r">
              <a:spcBef>
                <a:spcPts val="0"/>
              </a:spcBef>
              <a:buClr>
                <a:srgbClr val="888888"/>
              </a:buClr>
              <a:buSzPts val="1200"/>
              <a:buFont typeface="Calibri"/>
              <a:buNone/>
              <a:defRPr sz="1200">
                <a:solidFill>
                  <a:srgbClr val="888888"/>
                </a:solidFill>
              </a:defRPr>
            </a:lvl8pPr>
            <a:lvl9pPr indent="0" lvl="8" marL="0" algn="r">
              <a:spcBef>
                <a:spcPts val="0"/>
              </a:spcBef>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6" name="Google Shape;56;p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Clr>
                <a:schemeClr val="dk1"/>
              </a:buClr>
              <a:buSzPts val="2400"/>
              <a:buNone/>
              <a:defRPr sz="2400"/>
            </a:lvl1pPr>
            <a:lvl2pPr indent="-228600" lvl="1" marL="914400" algn="l">
              <a:spcBef>
                <a:spcPts val="400"/>
              </a:spcBef>
              <a:spcAft>
                <a:spcPts val="0"/>
              </a:spcAft>
              <a:buClr>
                <a:schemeClr val="dk1"/>
              </a:buClr>
              <a:buSzPts val="2000"/>
              <a:buNone/>
              <a:defRPr sz="2000"/>
            </a:lvl2pPr>
            <a:lvl3pPr indent="-228600" lvl="2" marL="1371600" algn="l">
              <a:spcBef>
                <a:spcPts val="360"/>
              </a:spcBef>
              <a:spcAft>
                <a:spcPts val="0"/>
              </a:spcAft>
              <a:buClr>
                <a:schemeClr val="dk1"/>
              </a:buClr>
              <a:buSzPts val="1800"/>
              <a:buNone/>
              <a:defRPr sz="1800"/>
            </a:lvl3pPr>
            <a:lvl4pPr indent="-228600" lvl="3" marL="1828800" algn="l">
              <a:spcBef>
                <a:spcPts val="320"/>
              </a:spcBef>
              <a:spcAft>
                <a:spcPts val="0"/>
              </a:spcAft>
              <a:buClr>
                <a:schemeClr val="dk1"/>
              </a:buClr>
              <a:buSzPts val="1600"/>
              <a:buNone/>
              <a:defRPr sz="1600"/>
            </a:lvl4pPr>
            <a:lvl5pPr indent="-228600" lvl="4" marL="2286000" algn="l">
              <a:spcBef>
                <a:spcPts val="320"/>
              </a:spcBef>
              <a:spcAft>
                <a:spcPts val="0"/>
              </a:spcAft>
              <a:buClr>
                <a:schemeClr val="dk1"/>
              </a:buClr>
              <a:buSzPts val="1600"/>
              <a:buNone/>
              <a:defRPr sz="1600"/>
            </a:lvl5pPr>
            <a:lvl6pPr indent="-228600" lvl="5" marL="2743200" algn="l">
              <a:spcBef>
                <a:spcPts val="320"/>
              </a:spcBef>
              <a:spcAft>
                <a:spcPts val="0"/>
              </a:spcAft>
              <a:buClr>
                <a:schemeClr val="dk1"/>
              </a:buClr>
              <a:buSzPts val="1600"/>
              <a:buNone/>
              <a:defRPr sz="1600"/>
            </a:lvl6pPr>
            <a:lvl7pPr indent="-228600" lvl="6" marL="3200400" algn="l">
              <a:spcBef>
                <a:spcPts val="320"/>
              </a:spcBef>
              <a:spcAft>
                <a:spcPts val="0"/>
              </a:spcAft>
              <a:buClr>
                <a:schemeClr val="dk1"/>
              </a:buClr>
              <a:buSzPts val="1600"/>
              <a:buNone/>
              <a:defRPr sz="1600"/>
            </a:lvl7pPr>
            <a:lvl8pPr indent="-228600" lvl="7" marL="3657600" algn="l">
              <a:spcBef>
                <a:spcPts val="320"/>
              </a:spcBef>
              <a:spcAft>
                <a:spcPts val="0"/>
              </a:spcAft>
              <a:buClr>
                <a:schemeClr val="dk1"/>
              </a:buClr>
              <a:buSzPts val="1600"/>
              <a:buNone/>
              <a:defRPr sz="1600"/>
            </a:lvl8pPr>
            <a:lvl9pPr indent="-228600" lvl="8" marL="4114800" algn="l">
              <a:spcBef>
                <a:spcPts val="320"/>
              </a:spcBef>
              <a:spcAft>
                <a:spcPts val="0"/>
              </a:spcAft>
              <a:buClr>
                <a:schemeClr val="dk1"/>
              </a:buClr>
              <a:buSzPts val="1600"/>
              <a:buNone/>
              <a:defRPr sz="1600"/>
            </a:lvl9pPr>
          </a:lstStyle>
          <a:p/>
        </p:txBody>
      </p:sp>
      <p:sp>
        <p:nvSpPr>
          <p:cNvPr id="57" name="Google Shape;57;p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8" name="Google Shape;58;p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Clr>
                <a:schemeClr val="dk1"/>
              </a:buClr>
              <a:buSzPts val="2400"/>
              <a:buNone/>
              <a:defRPr sz="2400"/>
            </a:lvl1pPr>
            <a:lvl2pPr indent="-228600" lvl="1" marL="914400" algn="l">
              <a:spcBef>
                <a:spcPts val="400"/>
              </a:spcBef>
              <a:spcAft>
                <a:spcPts val="0"/>
              </a:spcAft>
              <a:buClr>
                <a:schemeClr val="dk1"/>
              </a:buClr>
              <a:buSzPts val="2000"/>
              <a:buNone/>
              <a:defRPr sz="2000"/>
            </a:lvl2pPr>
            <a:lvl3pPr indent="-228600" lvl="2" marL="1371600" algn="l">
              <a:spcBef>
                <a:spcPts val="360"/>
              </a:spcBef>
              <a:spcAft>
                <a:spcPts val="0"/>
              </a:spcAft>
              <a:buClr>
                <a:schemeClr val="dk1"/>
              </a:buClr>
              <a:buSzPts val="1800"/>
              <a:buNone/>
              <a:defRPr sz="1800"/>
            </a:lvl3pPr>
            <a:lvl4pPr indent="-228600" lvl="3" marL="1828800" algn="l">
              <a:spcBef>
                <a:spcPts val="320"/>
              </a:spcBef>
              <a:spcAft>
                <a:spcPts val="0"/>
              </a:spcAft>
              <a:buClr>
                <a:schemeClr val="dk1"/>
              </a:buClr>
              <a:buSzPts val="1600"/>
              <a:buNone/>
              <a:defRPr sz="1600"/>
            </a:lvl4pPr>
            <a:lvl5pPr indent="-228600" lvl="4" marL="2286000" algn="l">
              <a:spcBef>
                <a:spcPts val="320"/>
              </a:spcBef>
              <a:spcAft>
                <a:spcPts val="0"/>
              </a:spcAft>
              <a:buClr>
                <a:schemeClr val="dk1"/>
              </a:buClr>
              <a:buSzPts val="1600"/>
              <a:buNone/>
              <a:defRPr sz="1600"/>
            </a:lvl5pPr>
            <a:lvl6pPr indent="-228600" lvl="5" marL="2743200" algn="l">
              <a:spcBef>
                <a:spcPts val="320"/>
              </a:spcBef>
              <a:spcAft>
                <a:spcPts val="0"/>
              </a:spcAft>
              <a:buClr>
                <a:schemeClr val="dk1"/>
              </a:buClr>
              <a:buSzPts val="1600"/>
              <a:buNone/>
              <a:defRPr sz="1600"/>
            </a:lvl6pPr>
            <a:lvl7pPr indent="-228600" lvl="6" marL="3200400" algn="l">
              <a:spcBef>
                <a:spcPts val="320"/>
              </a:spcBef>
              <a:spcAft>
                <a:spcPts val="0"/>
              </a:spcAft>
              <a:buClr>
                <a:schemeClr val="dk1"/>
              </a:buClr>
              <a:buSzPts val="1600"/>
              <a:buNone/>
              <a:defRPr sz="1600"/>
            </a:lvl7pPr>
            <a:lvl8pPr indent="-228600" lvl="7" marL="3657600" algn="l">
              <a:spcBef>
                <a:spcPts val="320"/>
              </a:spcBef>
              <a:spcAft>
                <a:spcPts val="0"/>
              </a:spcAft>
              <a:buClr>
                <a:schemeClr val="dk1"/>
              </a:buClr>
              <a:buSzPts val="1600"/>
              <a:buNone/>
              <a:defRPr sz="1600"/>
            </a:lvl8pPr>
            <a:lvl9pPr indent="-228600" lvl="8" marL="4114800" algn="l">
              <a:spcBef>
                <a:spcPts val="320"/>
              </a:spcBef>
              <a:spcAft>
                <a:spcPts val="0"/>
              </a:spcAft>
              <a:buClr>
                <a:schemeClr val="dk1"/>
              </a:buClr>
              <a:buSzPts val="1600"/>
              <a:buNone/>
              <a:defRPr sz="1600"/>
            </a:lvl9pPr>
          </a:lstStyle>
          <a:p/>
        </p:txBody>
      </p:sp>
      <p:sp>
        <p:nvSpPr>
          <p:cNvPr id="59" name="Google Shape;59;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60" name="Google Shape;60;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61" name="Google Shape;61;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Clr>
                <a:srgbClr val="888888"/>
              </a:buClr>
              <a:buSzPts val="1200"/>
              <a:buFont typeface="Calibri"/>
              <a:buNone/>
              <a:defRPr sz="1200">
                <a:solidFill>
                  <a:srgbClr val="888888"/>
                </a:solidFill>
              </a:defRPr>
            </a:lvl1pPr>
            <a:lvl2pPr indent="0" lvl="1" marL="0" algn="r">
              <a:spcBef>
                <a:spcPts val="0"/>
              </a:spcBef>
              <a:buClr>
                <a:srgbClr val="888888"/>
              </a:buClr>
              <a:buSzPts val="1200"/>
              <a:buFont typeface="Calibri"/>
              <a:buNone/>
              <a:defRPr sz="1200">
                <a:solidFill>
                  <a:srgbClr val="888888"/>
                </a:solidFill>
              </a:defRPr>
            </a:lvl2pPr>
            <a:lvl3pPr indent="0" lvl="2" marL="0" algn="r">
              <a:spcBef>
                <a:spcPts val="0"/>
              </a:spcBef>
              <a:buClr>
                <a:srgbClr val="888888"/>
              </a:buClr>
              <a:buSzPts val="1200"/>
              <a:buFont typeface="Calibri"/>
              <a:buNone/>
              <a:defRPr sz="1200">
                <a:solidFill>
                  <a:srgbClr val="888888"/>
                </a:solidFill>
              </a:defRPr>
            </a:lvl3pPr>
            <a:lvl4pPr indent="0" lvl="3" marL="0" algn="r">
              <a:spcBef>
                <a:spcPts val="0"/>
              </a:spcBef>
              <a:buClr>
                <a:srgbClr val="888888"/>
              </a:buClr>
              <a:buSzPts val="1200"/>
              <a:buFont typeface="Calibri"/>
              <a:buNone/>
              <a:defRPr sz="1200">
                <a:solidFill>
                  <a:srgbClr val="888888"/>
                </a:solidFill>
              </a:defRPr>
            </a:lvl4pPr>
            <a:lvl5pPr indent="0" lvl="4" marL="0" algn="r">
              <a:spcBef>
                <a:spcPts val="0"/>
              </a:spcBef>
              <a:buClr>
                <a:srgbClr val="888888"/>
              </a:buClr>
              <a:buSzPts val="1200"/>
              <a:buFont typeface="Calibri"/>
              <a:buNone/>
              <a:defRPr sz="1200">
                <a:solidFill>
                  <a:srgbClr val="888888"/>
                </a:solidFill>
              </a:defRPr>
            </a:lvl5pPr>
            <a:lvl6pPr indent="0" lvl="5" marL="0" algn="r">
              <a:spcBef>
                <a:spcPts val="0"/>
              </a:spcBef>
              <a:buClr>
                <a:srgbClr val="888888"/>
              </a:buClr>
              <a:buSzPts val="1200"/>
              <a:buFont typeface="Calibri"/>
              <a:buNone/>
              <a:defRPr sz="1200">
                <a:solidFill>
                  <a:srgbClr val="888888"/>
                </a:solidFill>
              </a:defRPr>
            </a:lvl6pPr>
            <a:lvl7pPr indent="0" lvl="6" marL="0" algn="r">
              <a:spcBef>
                <a:spcPts val="0"/>
              </a:spcBef>
              <a:buClr>
                <a:srgbClr val="888888"/>
              </a:buClr>
              <a:buSzPts val="1200"/>
              <a:buFont typeface="Calibri"/>
              <a:buNone/>
              <a:defRPr sz="1200">
                <a:solidFill>
                  <a:srgbClr val="888888"/>
                </a:solidFill>
              </a:defRPr>
            </a:lvl7pPr>
            <a:lvl8pPr indent="0" lvl="7" marL="0" algn="r">
              <a:spcBef>
                <a:spcPts val="0"/>
              </a:spcBef>
              <a:buClr>
                <a:srgbClr val="888888"/>
              </a:buClr>
              <a:buSzPts val="1200"/>
              <a:buFont typeface="Calibri"/>
              <a:buNone/>
              <a:defRPr sz="1200">
                <a:solidFill>
                  <a:srgbClr val="888888"/>
                </a:solidFill>
              </a:defRPr>
            </a:lvl8pPr>
            <a:lvl9pPr indent="0" lvl="8" marL="0" algn="r">
              <a:spcBef>
                <a:spcPts val="0"/>
              </a:spcBef>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65" name="Google Shape;65;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66" name="Google Shape;66;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Clr>
                <a:srgbClr val="888888"/>
              </a:buClr>
              <a:buSzPts val="1200"/>
              <a:buFont typeface="Calibri"/>
              <a:buNone/>
              <a:defRPr sz="1200">
                <a:solidFill>
                  <a:srgbClr val="888888"/>
                </a:solidFill>
              </a:defRPr>
            </a:lvl1pPr>
            <a:lvl2pPr indent="0" lvl="1" marL="0" algn="r">
              <a:spcBef>
                <a:spcPts val="0"/>
              </a:spcBef>
              <a:buClr>
                <a:srgbClr val="888888"/>
              </a:buClr>
              <a:buSzPts val="1200"/>
              <a:buFont typeface="Calibri"/>
              <a:buNone/>
              <a:defRPr sz="1200">
                <a:solidFill>
                  <a:srgbClr val="888888"/>
                </a:solidFill>
              </a:defRPr>
            </a:lvl2pPr>
            <a:lvl3pPr indent="0" lvl="2" marL="0" algn="r">
              <a:spcBef>
                <a:spcPts val="0"/>
              </a:spcBef>
              <a:buClr>
                <a:srgbClr val="888888"/>
              </a:buClr>
              <a:buSzPts val="1200"/>
              <a:buFont typeface="Calibri"/>
              <a:buNone/>
              <a:defRPr sz="1200">
                <a:solidFill>
                  <a:srgbClr val="888888"/>
                </a:solidFill>
              </a:defRPr>
            </a:lvl3pPr>
            <a:lvl4pPr indent="0" lvl="3" marL="0" algn="r">
              <a:spcBef>
                <a:spcPts val="0"/>
              </a:spcBef>
              <a:buClr>
                <a:srgbClr val="888888"/>
              </a:buClr>
              <a:buSzPts val="1200"/>
              <a:buFont typeface="Calibri"/>
              <a:buNone/>
              <a:defRPr sz="1200">
                <a:solidFill>
                  <a:srgbClr val="888888"/>
                </a:solidFill>
              </a:defRPr>
            </a:lvl4pPr>
            <a:lvl5pPr indent="0" lvl="4" marL="0" algn="r">
              <a:spcBef>
                <a:spcPts val="0"/>
              </a:spcBef>
              <a:buClr>
                <a:srgbClr val="888888"/>
              </a:buClr>
              <a:buSzPts val="1200"/>
              <a:buFont typeface="Calibri"/>
              <a:buNone/>
              <a:defRPr sz="1200">
                <a:solidFill>
                  <a:srgbClr val="888888"/>
                </a:solidFill>
              </a:defRPr>
            </a:lvl5pPr>
            <a:lvl6pPr indent="0" lvl="5" marL="0" algn="r">
              <a:spcBef>
                <a:spcPts val="0"/>
              </a:spcBef>
              <a:buClr>
                <a:srgbClr val="888888"/>
              </a:buClr>
              <a:buSzPts val="1200"/>
              <a:buFont typeface="Calibri"/>
              <a:buNone/>
              <a:defRPr sz="1200">
                <a:solidFill>
                  <a:srgbClr val="888888"/>
                </a:solidFill>
              </a:defRPr>
            </a:lvl6pPr>
            <a:lvl7pPr indent="0" lvl="6" marL="0" algn="r">
              <a:spcBef>
                <a:spcPts val="0"/>
              </a:spcBef>
              <a:buClr>
                <a:srgbClr val="888888"/>
              </a:buClr>
              <a:buSzPts val="1200"/>
              <a:buFont typeface="Calibri"/>
              <a:buNone/>
              <a:defRPr sz="1200">
                <a:solidFill>
                  <a:srgbClr val="888888"/>
                </a:solidFill>
              </a:defRPr>
            </a:lvl7pPr>
            <a:lvl8pPr indent="0" lvl="7" marL="0" algn="r">
              <a:spcBef>
                <a:spcPts val="0"/>
              </a:spcBef>
              <a:buClr>
                <a:srgbClr val="888888"/>
              </a:buClr>
              <a:buSzPts val="1200"/>
              <a:buFont typeface="Calibri"/>
              <a:buNone/>
              <a:defRPr sz="1200">
                <a:solidFill>
                  <a:srgbClr val="888888"/>
                </a:solidFill>
              </a:defRPr>
            </a:lvl8pPr>
            <a:lvl9pPr indent="0" lvl="8" marL="0" algn="r">
              <a:spcBef>
                <a:spcPts val="0"/>
              </a:spcBef>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7" name="Shape 67"/>
        <p:cNvGrpSpPr/>
        <p:nvPr/>
      </p:nvGrpSpPr>
      <p:grpSpPr>
        <a:xfrm>
          <a:off x="0" y="0"/>
          <a:ext cx="0" cy="0"/>
          <a:chOff x="0" y="0"/>
          <a:chExt cx="0" cy="0"/>
        </a:xfrm>
      </p:grpSpPr>
      <p:sp>
        <p:nvSpPr>
          <p:cNvPr id="68" name="Google Shape;6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69" name="Google Shape;6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70" name="Google Shape;7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Clr>
                <a:srgbClr val="888888"/>
              </a:buClr>
              <a:buSzPts val="1200"/>
              <a:buFont typeface="Calibri"/>
              <a:buNone/>
              <a:defRPr sz="1200">
                <a:solidFill>
                  <a:srgbClr val="888888"/>
                </a:solidFill>
              </a:defRPr>
            </a:lvl1pPr>
            <a:lvl2pPr indent="0" lvl="1" marL="0" algn="r">
              <a:spcBef>
                <a:spcPts val="0"/>
              </a:spcBef>
              <a:buClr>
                <a:srgbClr val="888888"/>
              </a:buClr>
              <a:buSzPts val="1200"/>
              <a:buFont typeface="Calibri"/>
              <a:buNone/>
              <a:defRPr sz="1200">
                <a:solidFill>
                  <a:srgbClr val="888888"/>
                </a:solidFill>
              </a:defRPr>
            </a:lvl2pPr>
            <a:lvl3pPr indent="0" lvl="2" marL="0" algn="r">
              <a:spcBef>
                <a:spcPts val="0"/>
              </a:spcBef>
              <a:buClr>
                <a:srgbClr val="888888"/>
              </a:buClr>
              <a:buSzPts val="1200"/>
              <a:buFont typeface="Calibri"/>
              <a:buNone/>
              <a:defRPr sz="1200">
                <a:solidFill>
                  <a:srgbClr val="888888"/>
                </a:solidFill>
              </a:defRPr>
            </a:lvl3pPr>
            <a:lvl4pPr indent="0" lvl="3" marL="0" algn="r">
              <a:spcBef>
                <a:spcPts val="0"/>
              </a:spcBef>
              <a:buClr>
                <a:srgbClr val="888888"/>
              </a:buClr>
              <a:buSzPts val="1200"/>
              <a:buFont typeface="Calibri"/>
              <a:buNone/>
              <a:defRPr sz="1200">
                <a:solidFill>
                  <a:srgbClr val="888888"/>
                </a:solidFill>
              </a:defRPr>
            </a:lvl4pPr>
            <a:lvl5pPr indent="0" lvl="4" marL="0" algn="r">
              <a:spcBef>
                <a:spcPts val="0"/>
              </a:spcBef>
              <a:buClr>
                <a:srgbClr val="888888"/>
              </a:buClr>
              <a:buSzPts val="1200"/>
              <a:buFont typeface="Calibri"/>
              <a:buNone/>
              <a:defRPr sz="1200">
                <a:solidFill>
                  <a:srgbClr val="888888"/>
                </a:solidFill>
              </a:defRPr>
            </a:lvl5pPr>
            <a:lvl6pPr indent="0" lvl="5" marL="0" algn="r">
              <a:spcBef>
                <a:spcPts val="0"/>
              </a:spcBef>
              <a:buClr>
                <a:srgbClr val="888888"/>
              </a:buClr>
              <a:buSzPts val="1200"/>
              <a:buFont typeface="Calibri"/>
              <a:buNone/>
              <a:defRPr sz="1200">
                <a:solidFill>
                  <a:srgbClr val="888888"/>
                </a:solidFill>
              </a:defRPr>
            </a:lvl6pPr>
            <a:lvl7pPr indent="0" lvl="6" marL="0" algn="r">
              <a:spcBef>
                <a:spcPts val="0"/>
              </a:spcBef>
              <a:buClr>
                <a:srgbClr val="888888"/>
              </a:buClr>
              <a:buSzPts val="1200"/>
              <a:buFont typeface="Calibri"/>
              <a:buNone/>
              <a:defRPr sz="1200">
                <a:solidFill>
                  <a:srgbClr val="888888"/>
                </a:solidFill>
              </a:defRPr>
            </a:lvl7pPr>
            <a:lvl8pPr indent="0" lvl="7" marL="0" algn="r">
              <a:spcBef>
                <a:spcPts val="0"/>
              </a:spcBef>
              <a:buClr>
                <a:srgbClr val="888888"/>
              </a:buClr>
              <a:buSzPts val="1200"/>
              <a:buFont typeface="Calibri"/>
              <a:buNone/>
              <a:defRPr sz="1200">
                <a:solidFill>
                  <a:srgbClr val="888888"/>
                </a:solidFill>
              </a:defRPr>
            </a:lvl8pPr>
            <a:lvl9pPr indent="0" lvl="8" marL="0" algn="r">
              <a:spcBef>
                <a:spcPts val="0"/>
              </a:spcBef>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1" name="Shape 71"/>
        <p:cNvGrpSpPr/>
        <p:nvPr/>
      </p:nvGrpSpPr>
      <p:grpSpPr>
        <a:xfrm>
          <a:off x="0" y="0"/>
          <a:ext cx="0" cy="0"/>
          <a:chOff x="0" y="0"/>
          <a:chExt cx="0" cy="0"/>
        </a:xfrm>
      </p:grpSpPr>
      <p:sp>
        <p:nvSpPr>
          <p:cNvPr id="72" name="Google Shape;72;p1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228600" lvl="0" marL="457200" algn="l">
              <a:spcBef>
                <a:spcPts val="640"/>
              </a:spcBef>
              <a:spcAft>
                <a:spcPts val="0"/>
              </a:spcAft>
              <a:buClr>
                <a:schemeClr val="dk1"/>
              </a:buClr>
              <a:buSzPts val="3200"/>
              <a:buNone/>
              <a:defRPr sz="3200"/>
            </a:lvl1pPr>
            <a:lvl2pPr indent="-228600" lvl="1" marL="914400" algn="l">
              <a:spcBef>
                <a:spcPts val="560"/>
              </a:spcBef>
              <a:spcAft>
                <a:spcPts val="0"/>
              </a:spcAft>
              <a:buClr>
                <a:schemeClr val="dk1"/>
              </a:buClr>
              <a:buSzPts val="2800"/>
              <a:buNone/>
              <a:defRPr sz="2800"/>
            </a:lvl2pPr>
            <a:lvl3pPr indent="-228600" lvl="2" marL="1371600" algn="l">
              <a:spcBef>
                <a:spcPts val="480"/>
              </a:spcBef>
              <a:spcAft>
                <a:spcPts val="0"/>
              </a:spcAft>
              <a:buClr>
                <a:schemeClr val="dk1"/>
              </a:buClr>
              <a:buSzPts val="2400"/>
              <a:buNone/>
              <a:defRPr sz="2400"/>
            </a:lvl3pPr>
            <a:lvl4pPr indent="-228600" lvl="3" marL="1828800" algn="l">
              <a:spcBef>
                <a:spcPts val="400"/>
              </a:spcBef>
              <a:spcAft>
                <a:spcPts val="0"/>
              </a:spcAft>
              <a:buClr>
                <a:schemeClr val="dk1"/>
              </a:buClr>
              <a:buSzPts val="2000"/>
              <a:buNone/>
              <a:defRPr sz="2000"/>
            </a:lvl4pPr>
            <a:lvl5pPr indent="-228600" lvl="4" marL="2286000" algn="l">
              <a:spcBef>
                <a:spcPts val="400"/>
              </a:spcBef>
              <a:spcAft>
                <a:spcPts val="0"/>
              </a:spcAft>
              <a:buClr>
                <a:schemeClr val="dk1"/>
              </a:buClr>
              <a:buSzPts val="2000"/>
              <a:buNone/>
              <a:defRPr sz="2000"/>
            </a:lvl5pPr>
            <a:lvl6pPr indent="-228600" lvl="5" marL="2743200" algn="l">
              <a:spcBef>
                <a:spcPts val="400"/>
              </a:spcBef>
              <a:spcAft>
                <a:spcPts val="0"/>
              </a:spcAft>
              <a:buClr>
                <a:schemeClr val="dk1"/>
              </a:buClr>
              <a:buSzPts val="2000"/>
              <a:buNone/>
              <a:defRPr sz="2000"/>
            </a:lvl6pPr>
            <a:lvl7pPr indent="-228600" lvl="6" marL="3200400" algn="l">
              <a:spcBef>
                <a:spcPts val="400"/>
              </a:spcBef>
              <a:spcAft>
                <a:spcPts val="0"/>
              </a:spcAft>
              <a:buClr>
                <a:schemeClr val="dk1"/>
              </a:buClr>
              <a:buSzPts val="2000"/>
              <a:buNone/>
              <a:defRPr sz="2000"/>
            </a:lvl7pPr>
            <a:lvl8pPr indent="-228600" lvl="7" marL="3657600" algn="l">
              <a:spcBef>
                <a:spcPts val="400"/>
              </a:spcBef>
              <a:spcAft>
                <a:spcPts val="0"/>
              </a:spcAft>
              <a:buClr>
                <a:schemeClr val="dk1"/>
              </a:buClr>
              <a:buSzPts val="2000"/>
              <a:buNone/>
              <a:defRPr sz="2000"/>
            </a:lvl8pPr>
            <a:lvl9pPr indent="-228600" lvl="8" marL="4114800" algn="l">
              <a:spcBef>
                <a:spcPts val="400"/>
              </a:spcBef>
              <a:spcAft>
                <a:spcPts val="0"/>
              </a:spcAft>
              <a:buClr>
                <a:schemeClr val="dk1"/>
              </a:buClr>
              <a:buSzPts val="2000"/>
              <a:buNone/>
              <a:defRPr sz="2000"/>
            </a:lvl9pPr>
          </a:lstStyle>
          <a:p/>
        </p:txBody>
      </p:sp>
      <p:sp>
        <p:nvSpPr>
          <p:cNvPr id="74" name="Google Shape;74;p1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Clr>
                <a:srgbClr val="888888"/>
              </a:buClr>
              <a:buSzPts val="1200"/>
              <a:buFont typeface="Calibri"/>
              <a:buNone/>
              <a:defRPr sz="1200">
                <a:solidFill>
                  <a:srgbClr val="888888"/>
                </a:solidFill>
              </a:defRPr>
            </a:lvl1pPr>
            <a:lvl2pPr indent="0" lvl="1" marL="0" algn="r">
              <a:spcBef>
                <a:spcPts val="0"/>
              </a:spcBef>
              <a:buClr>
                <a:srgbClr val="888888"/>
              </a:buClr>
              <a:buSzPts val="1200"/>
              <a:buFont typeface="Calibri"/>
              <a:buNone/>
              <a:defRPr sz="1200">
                <a:solidFill>
                  <a:srgbClr val="888888"/>
                </a:solidFill>
              </a:defRPr>
            </a:lvl2pPr>
            <a:lvl3pPr indent="0" lvl="2" marL="0" algn="r">
              <a:spcBef>
                <a:spcPts val="0"/>
              </a:spcBef>
              <a:buClr>
                <a:srgbClr val="888888"/>
              </a:buClr>
              <a:buSzPts val="1200"/>
              <a:buFont typeface="Calibri"/>
              <a:buNone/>
              <a:defRPr sz="1200">
                <a:solidFill>
                  <a:srgbClr val="888888"/>
                </a:solidFill>
              </a:defRPr>
            </a:lvl3pPr>
            <a:lvl4pPr indent="0" lvl="3" marL="0" algn="r">
              <a:spcBef>
                <a:spcPts val="0"/>
              </a:spcBef>
              <a:buClr>
                <a:srgbClr val="888888"/>
              </a:buClr>
              <a:buSzPts val="1200"/>
              <a:buFont typeface="Calibri"/>
              <a:buNone/>
              <a:defRPr sz="1200">
                <a:solidFill>
                  <a:srgbClr val="888888"/>
                </a:solidFill>
              </a:defRPr>
            </a:lvl4pPr>
            <a:lvl5pPr indent="0" lvl="4" marL="0" algn="r">
              <a:spcBef>
                <a:spcPts val="0"/>
              </a:spcBef>
              <a:buClr>
                <a:srgbClr val="888888"/>
              </a:buClr>
              <a:buSzPts val="1200"/>
              <a:buFont typeface="Calibri"/>
              <a:buNone/>
              <a:defRPr sz="1200">
                <a:solidFill>
                  <a:srgbClr val="888888"/>
                </a:solidFill>
              </a:defRPr>
            </a:lvl5pPr>
            <a:lvl6pPr indent="0" lvl="5" marL="0" algn="r">
              <a:spcBef>
                <a:spcPts val="0"/>
              </a:spcBef>
              <a:buClr>
                <a:srgbClr val="888888"/>
              </a:buClr>
              <a:buSzPts val="1200"/>
              <a:buFont typeface="Calibri"/>
              <a:buNone/>
              <a:defRPr sz="1200">
                <a:solidFill>
                  <a:srgbClr val="888888"/>
                </a:solidFill>
              </a:defRPr>
            </a:lvl6pPr>
            <a:lvl7pPr indent="0" lvl="6" marL="0" algn="r">
              <a:spcBef>
                <a:spcPts val="0"/>
              </a:spcBef>
              <a:buClr>
                <a:srgbClr val="888888"/>
              </a:buClr>
              <a:buSzPts val="1200"/>
              <a:buFont typeface="Calibri"/>
              <a:buNone/>
              <a:defRPr sz="1200">
                <a:solidFill>
                  <a:srgbClr val="888888"/>
                </a:solidFill>
              </a:defRPr>
            </a:lvl7pPr>
            <a:lvl8pPr indent="0" lvl="7" marL="0" algn="r">
              <a:spcBef>
                <a:spcPts val="0"/>
              </a:spcBef>
              <a:buClr>
                <a:srgbClr val="888888"/>
              </a:buClr>
              <a:buSzPts val="1200"/>
              <a:buFont typeface="Calibri"/>
              <a:buNone/>
              <a:defRPr sz="1200">
                <a:solidFill>
                  <a:srgbClr val="888888"/>
                </a:solidFill>
              </a:defRPr>
            </a:lvl8pPr>
            <a:lvl9pPr indent="0" lvl="8" marL="0" algn="r">
              <a:spcBef>
                <a:spcPts val="0"/>
              </a:spcBef>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8" name="Shape 78"/>
        <p:cNvGrpSpPr/>
        <p:nvPr/>
      </p:nvGrpSpPr>
      <p:grpSpPr>
        <a:xfrm>
          <a:off x="0" y="0"/>
          <a:ext cx="0" cy="0"/>
          <a:chOff x="0" y="0"/>
          <a:chExt cx="0" cy="0"/>
        </a:xfrm>
      </p:grpSpPr>
      <p:sp>
        <p:nvSpPr>
          <p:cNvPr id="79" name="Google Shape;79;p1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p:nvPr>
            <p:ph idx="2" type="pic"/>
          </p:nvPr>
        </p:nvSpPr>
        <p:spPr>
          <a:xfrm>
            <a:off x="1792288" y="612775"/>
            <a:ext cx="5486400" cy="4114800"/>
          </a:xfrm>
          <a:prstGeom prst="rect">
            <a:avLst/>
          </a:prstGeom>
          <a:noFill/>
          <a:ln>
            <a:noFill/>
          </a:ln>
        </p:spPr>
      </p:sp>
      <p:sp>
        <p:nvSpPr>
          <p:cNvPr id="81" name="Google Shape;81;p1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2" name="Google Shape;8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83" name="Google Shape;8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84" name="Google Shape;8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Clr>
                <a:srgbClr val="888888"/>
              </a:buClr>
              <a:buSzPts val="1200"/>
              <a:buFont typeface="Calibri"/>
              <a:buNone/>
              <a:defRPr sz="1200">
                <a:solidFill>
                  <a:srgbClr val="888888"/>
                </a:solidFill>
              </a:defRPr>
            </a:lvl1pPr>
            <a:lvl2pPr indent="0" lvl="1" marL="0" algn="r">
              <a:spcBef>
                <a:spcPts val="0"/>
              </a:spcBef>
              <a:buClr>
                <a:srgbClr val="888888"/>
              </a:buClr>
              <a:buSzPts val="1200"/>
              <a:buFont typeface="Calibri"/>
              <a:buNone/>
              <a:defRPr sz="1200">
                <a:solidFill>
                  <a:srgbClr val="888888"/>
                </a:solidFill>
              </a:defRPr>
            </a:lvl2pPr>
            <a:lvl3pPr indent="0" lvl="2" marL="0" algn="r">
              <a:spcBef>
                <a:spcPts val="0"/>
              </a:spcBef>
              <a:buClr>
                <a:srgbClr val="888888"/>
              </a:buClr>
              <a:buSzPts val="1200"/>
              <a:buFont typeface="Calibri"/>
              <a:buNone/>
              <a:defRPr sz="1200">
                <a:solidFill>
                  <a:srgbClr val="888888"/>
                </a:solidFill>
              </a:defRPr>
            </a:lvl3pPr>
            <a:lvl4pPr indent="0" lvl="3" marL="0" algn="r">
              <a:spcBef>
                <a:spcPts val="0"/>
              </a:spcBef>
              <a:buClr>
                <a:srgbClr val="888888"/>
              </a:buClr>
              <a:buSzPts val="1200"/>
              <a:buFont typeface="Calibri"/>
              <a:buNone/>
              <a:defRPr sz="1200">
                <a:solidFill>
                  <a:srgbClr val="888888"/>
                </a:solidFill>
              </a:defRPr>
            </a:lvl4pPr>
            <a:lvl5pPr indent="0" lvl="4" marL="0" algn="r">
              <a:spcBef>
                <a:spcPts val="0"/>
              </a:spcBef>
              <a:buClr>
                <a:srgbClr val="888888"/>
              </a:buClr>
              <a:buSzPts val="1200"/>
              <a:buFont typeface="Calibri"/>
              <a:buNone/>
              <a:defRPr sz="1200">
                <a:solidFill>
                  <a:srgbClr val="888888"/>
                </a:solidFill>
              </a:defRPr>
            </a:lvl5pPr>
            <a:lvl6pPr indent="0" lvl="5" marL="0" algn="r">
              <a:spcBef>
                <a:spcPts val="0"/>
              </a:spcBef>
              <a:buClr>
                <a:srgbClr val="888888"/>
              </a:buClr>
              <a:buSzPts val="1200"/>
              <a:buFont typeface="Calibri"/>
              <a:buNone/>
              <a:defRPr sz="1200">
                <a:solidFill>
                  <a:srgbClr val="888888"/>
                </a:solidFill>
              </a:defRPr>
            </a:lvl6pPr>
            <a:lvl7pPr indent="0" lvl="6" marL="0" algn="r">
              <a:spcBef>
                <a:spcPts val="0"/>
              </a:spcBef>
              <a:buClr>
                <a:srgbClr val="888888"/>
              </a:buClr>
              <a:buSzPts val="1200"/>
              <a:buFont typeface="Calibri"/>
              <a:buNone/>
              <a:defRPr sz="1200">
                <a:solidFill>
                  <a:srgbClr val="888888"/>
                </a:solidFill>
              </a:defRPr>
            </a:lvl7pPr>
            <a:lvl8pPr indent="0" lvl="7" marL="0" algn="r">
              <a:spcBef>
                <a:spcPts val="0"/>
              </a:spcBef>
              <a:buClr>
                <a:srgbClr val="888888"/>
              </a:buClr>
              <a:buSzPts val="1200"/>
              <a:buFont typeface="Calibri"/>
              <a:buNone/>
              <a:defRPr sz="1200">
                <a:solidFill>
                  <a:srgbClr val="888888"/>
                </a:solidFill>
              </a:defRPr>
            </a:lvl8pPr>
            <a:lvl9pPr indent="0" lvl="8" marL="0" algn="r">
              <a:spcBef>
                <a:spcPts val="0"/>
              </a:spcBef>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5" name="Shape 85"/>
        <p:cNvGrpSpPr/>
        <p:nvPr/>
      </p:nvGrpSpPr>
      <p:grpSpPr>
        <a:xfrm>
          <a:off x="0" y="0"/>
          <a:ext cx="0" cy="0"/>
          <a:chOff x="0" y="0"/>
          <a:chExt cx="0" cy="0"/>
        </a:xfrm>
      </p:grpSpPr>
      <p:sp>
        <p:nvSpPr>
          <p:cNvPr id="86" name="Google Shape;8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8" name="Google Shape;8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89" name="Google Shape;8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90" name="Google Shape;9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Clr>
                <a:srgbClr val="888888"/>
              </a:buClr>
              <a:buSzPts val="1200"/>
              <a:buFont typeface="Calibri"/>
              <a:buNone/>
              <a:defRPr sz="1200">
                <a:solidFill>
                  <a:srgbClr val="888888"/>
                </a:solidFill>
              </a:defRPr>
            </a:lvl1pPr>
            <a:lvl2pPr indent="0" lvl="1" marL="0" algn="r">
              <a:spcBef>
                <a:spcPts val="0"/>
              </a:spcBef>
              <a:buClr>
                <a:srgbClr val="888888"/>
              </a:buClr>
              <a:buSzPts val="1200"/>
              <a:buFont typeface="Calibri"/>
              <a:buNone/>
              <a:defRPr sz="1200">
                <a:solidFill>
                  <a:srgbClr val="888888"/>
                </a:solidFill>
              </a:defRPr>
            </a:lvl2pPr>
            <a:lvl3pPr indent="0" lvl="2" marL="0" algn="r">
              <a:spcBef>
                <a:spcPts val="0"/>
              </a:spcBef>
              <a:buClr>
                <a:srgbClr val="888888"/>
              </a:buClr>
              <a:buSzPts val="1200"/>
              <a:buFont typeface="Calibri"/>
              <a:buNone/>
              <a:defRPr sz="1200">
                <a:solidFill>
                  <a:srgbClr val="888888"/>
                </a:solidFill>
              </a:defRPr>
            </a:lvl3pPr>
            <a:lvl4pPr indent="0" lvl="3" marL="0" algn="r">
              <a:spcBef>
                <a:spcPts val="0"/>
              </a:spcBef>
              <a:buClr>
                <a:srgbClr val="888888"/>
              </a:buClr>
              <a:buSzPts val="1200"/>
              <a:buFont typeface="Calibri"/>
              <a:buNone/>
              <a:defRPr sz="1200">
                <a:solidFill>
                  <a:srgbClr val="888888"/>
                </a:solidFill>
              </a:defRPr>
            </a:lvl4pPr>
            <a:lvl5pPr indent="0" lvl="4" marL="0" algn="r">
              <a:spcBef>
                <a:spcPts val="0"/>
              </a:spcBef>
              <a:buClr>
                <a:srgbClr val="888888"/>
              </a:buClr>
              <a:buSzPts val="1200"/>
              <a:buFont typeface="Calibri"/>
              <a:buNone/>
              <a:defRPr sz="1200">
                <a:solidFill>
                  <a:srgbClr val="888888"/>
                </a:solidFill>
              </a:defRPr>
            </a:lvl5pPr>
            <a:lvl6pPr indent="0" lvl="5" marL="0" algn="r">
              <a:spcBef>
                <a:spcPts val="0"/>
              </a:spcBef>
              <a:buClr>
                <a:srgbClr val="888888"/>
              </a:buClr>
              <a:buSzPts val="1200"/>
              <a:buFont typeface="Calibri"/>
              <a:buNone/>
              <a:defRPr sz="1200">
                <a:solidFill>
                  <a:srgbClr val="888888"/>
                </a:solidFill>
              </a:defRPr>
            </a:lvl6pPr>
            <a:lvl7pPr indent="0" lvl="6" marL="0" algn="r">
              <a:spcBef>
                <a:spcPts val="0"/>
              </a:spcBef>
              <a:buClr>
                <a:srgbClr val="888888"/>
              </a:buClr>
              <a:buSzPts val="1200"/>
              <a:buFont typeface="Calibri"/>
              <a:buNone/>
              <a:defRPr sz="1200">
                <a:solidFill>
                  <a:srgbClr val="888888"/>
                </a:solidFill>
              </a:defRPr>
            </a:lvl7pPr>
            <a:lvl8pPr indent="0" lvl="7" marL="0" algn="r">
              <a:spcBef>
                <a:spcPts val="0"/>
              </a:spcBef>
              <a:buClr>
                <a:srgbClr val="888888"/>
              </a:buClr>
              <a:buSzPts val="1200"/>
              <a:buFont typeface="Calibri"/>
              <a:buNone/>
              <a:defRPr sz="1200">
                <a:solidFill>
                  <a:srgbClr val="888888"/>
                </a:solidFill>
              </a:defRPr>
            </a:lvl8pPr>
            <a:lvl9pPr indent="0" lvl="8" marL="0" algn="r">
              <a:spcBef>
                <a:spcPts val="0"/>
              </a:spcBef>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1" name="Shape 91"/>
        <p:cNvGrpSpPr/>
        <p:nvPr/>
      </p:nvGrpSpPr>
      <p:grpSpPr>
        <a:xfrm>
          <a:off x="0" y="0"/>
          <a:ext cx="0" cy="0"/>
          <a:chOff x="0" y="0"/>
          <a:chExt cx="0" cy="0"/>
        </a:xfrm>
      </p:grpSpPr>
      <p:sp>
        <p:nvSpPr>
          <p:cNvPr id="92" name="Google Shape;92;p1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4" name="Google Shape;9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95" name="Google Shape;9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p:txBody>
      </p:sp>
      <p:sp>
        <p:nvSpPr>
          <p:cNvPr id="96" name="Google Shape;9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Clr>
                <a:srgbClr val="888888"/>
              </a:buClr>
              <a:buSzPts val="1200"/>
              <a:buFont typeface="Calibri"/>
              <a:buNone/>
              <a:defRPr sz="1200">
                <a:solidFill>
                  <a:srgbClr val="888888"/>
                </a:solidFill>
              </a:defRPr>
            </a:lvl1pPr>
            <a:lvl2pPr indent="0" lvl="1" marL="0" algn="r">
              <a:spcBef>
                <a:spcPts val="0"/>
              </a:spcBef>
              <a:buClr>
                <a:srgbClr val="888888"/>
              </a:buClr>
              <a:buSzPts val="1200"/>
              <a:buFont typeface="Calibri"/>
              <a:buNone/>
              <a:defRPr sz="1200">
                <a:solidFill>
                  <a:srgbClr val="888888"/>
                </a:solidFill>
              </a:defRPr>
            </a:lvl2pPr>
            <a:lvl3pPr indent="0" lvl="2" marL="0" algn="r">
              <a:spcBef>
                <a:spcPts val="0"/>
              </a:spcBef>
              <a:buClr>
                <a:srgbClr val="888888"/>
              </a:buClr>
              <a:buSzPts val="1200"/>
              <a:buFont typeface="Calibri"/>
              <a:buNone/>
              <a:defRPr sz="1200">
                <a:solidFill>
                  <a:srgbClr val="888888"/>
                </a:solidFill>
              </a:defRPr>
            </a:lvl3pPr>
            <a:lvl4pPr indent="0" lvl="3" marL="0" algn="r">
              <a:spcBef>
                <a:spcPts val="0"/>
              </a:spcBef>
              <a:buClr>
                <a:srgbClr val="888888"/>
              </a:buClr>
              <a:buSzPts val="1200"/>
              <a:buFont typeface="Calibri"/>
              <a:buNone/>
              <a:defRPr sz="1200">
                <a:solidFill>
                  <a:srgbClr val="888888"/>
                </a:solidFill>
              </a:defRPr>
            </a:lvl4pPr>
            <a:lvl5pPr indent="0" lvl="4" marL="0" algn="r">
              <a:spcBef>
                <a:spcPts val="0"/>
              </a:spcBef>
              <a:buClr>
                <a:srgbClr val="888888"/>
              </a:buClr>
              <a:buSzPts val="1200"/>
              <a:buFont typeface="Calibri"/>
              <a:buNone/>
              <a:defRPr sz="1200">
                <a:solidFill>
                  <a:srgbClr val="888888"/>
                </a:solidFill>
              </a:defRPr>
            </a:lvl5pPr>
            <a:lvl6pPr indent="0" lvl="5" marL="0" algn="r">
              <a:spcBef>
                <a:spcPts val="0"/>
              </a:spcBef>
              <a:buClr>
                <a:srgbClr val="888888"/>
              </a:buClr>
              <a:buSzPts val="1200"/>
              <a:buFont typeface="Calibri"/>
              <a:buNone/>
              <a:defRPr sz="1200">
                <a:solidFill>
                  <a:srgbClr val="888888"/>
                </a:solidFill>
              </a:defRPr>
            </a:lvl6pPr>
            <a:lvl7pPr indent="0" lvl="6" marL="0" algn="r">
              <a:spcBef>
                <a:spcPts val="0"/>
              </a:spcBef>
              <a:buClr>
                <a:srgbClr val="888888"/>
              </a:buClr>
              <a:buSzPts val="1200"/>
              <a:buFont typeface="Calibri"/>
              <a:buNone/>
              <a:defRPr sz="1200">
                <a:solidFill>
                  <a:srgbClr val="888888"/>
                </a:solidFill>
              </a:defRPr>
            </a:lvl7pPr>
            <a:lvl8pPr indent="0" lvl="7" marL="0" algn="r">
              <a:spcBef>
                <a:spcPts val="0"/>
              </a:spcBef>
              <a:buClr>
                <a:srgbClr val="888888"/>
              </a:buClr>
              <a:buSzPts val="1200"/>
              <a:buFont typeface="Calibri"/>
              <a:buNone/>
              <a:defRPr sz="1200">
                <a:solidFill>
                  <a:srgbClr val="888888"/>
                </a:solidFill>
              </a:defRPr>
            </a:lvl8pPr>
            <a:lvl9pPr indent="0" lvl="8" marL="0" algn="r">
              <a:spcBef>
                <a:spcPts val="0"/>
              </a:spcBef>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03" name="Shape 103"/>
        <p:cNvGrpSpPr/>
        <p:nvPr/>
      </p:nvGrpSpPr>
      <p:grpSpPr>
        <a:xfrm>
          <a:off x="0" y="0"/>
          <a:ext cx="0" cy="0"/>
          <a:chOff x="0" y="0"/>
          <a:chExt cx="0" cy="0"/>
        </a:xfrm>
      </p:grpSpPr>
      <p:sp>
        <p:nvSpPr>
          <p:cNvPr id="104" name="Google Shape;104;p16"/>
          <p:cNvSpPr/>
          <p:nvPr/>
        </p:nvSpPr>
        <p:spPr>
          <a:xfrm>
            <a:off x="0" y="0"/>
            <a:ext cx="6096000" cy="6858000"/>
          </a:xfrm>
          <a:prstGeom prst="rect">
            <a:avLst/>
          </a:prstGeom>
          <a:solidFill>
            <a:srgbClr val="A023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 name="Google Shape;105;p16"/>
          <p:cNvSpPr txBox="1"/>
          <p:nvPr>
            <p:ph type="ctrTitle"/>
          </p:nvPr>
        </p:nvSpPr>
        <p:spPr>
          <a:xfrm>
            <a:off x="334963" y="908897"/>
            <a:ext cx="3779837" cy="252010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6"/>
          <p:cNvSpPr txBox="1"/>
          <p:nvPr>
            <p:ph idx="1" type="subTitle"/>
          </p:nvPr>
        </p:nvSpPr>
        <p:spPr>
          <a:xfrm>
            <a:off x="334963" y="3447257"/>
            <a:ext cx="3779837" cy="2207418"/>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1800"/>
              <a:buNone/>
              <a:defRPr sz="18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07" name="Google Shape;107;p16"/>
          <p:cNvPicPr preferRelativeResize="0"/>
          <p:nvPr/>
        </p:nvPicPr>
        <p:blipFill rotWithShape="1">
          <a:blip r:embed="rId2">
            <a:alphaModFix/>
          </a:blip>
          <a:srcRect b="0" l="0" r="0" t="0"/>
          <a:stretch/>
        </p:blipFill>
        <p:spPr>
          <a:xfrm>
            <a:off x="334963" y="323971"/>
            <a:ext cx="2957614" cy="566669"/>
          </a:xfrm>
          <a:prstGeom prst="rect">
            <a:avLst/>
          </a:prstGeom>
          <a:noFill/>
          <a:ln>
            <a:noFill/>
          </a:ln>
        </p:spPr>
      </p:pic>
      <p:pic>
        <p:nvPicPr>
          <p:cNvPr descr="A high angle view of a city&#10;&#10;Description automatically generated" id="108" name="Google Shape;108;p16"/>
          <p:cNvPicPr preferRelativeResize="0"/>
          <p:nvPr/>
        </p:nvPicPr>
        <p:blipFill rotWithShape="1">
          <a:blip r:embed="rId3">
            <a:alphaModFix/>
          </a:blip>
          <a:srcRect b="0" l="0" r="0" t="0"/>
          <a:stretch/>
        </p:blipFill>
        <p:spPr>
          <a:xfrm>
            <a:off x="6096000" y="0"/>
            <a:ext cx="6096000" cy="68580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09" name="Shape 109"/>
        <p:cNvGrpSpPr/>
        <p:nvPr/>
      </p:nvGrpSpPr>
      <p:grpSpPr>
        <a:xfrm>
          <a:off x="0" y="0"/>
          <a:ext cx="0" cy="0"/>
          <a:chOff x="0" y="0"/>
          <a:chExt cx="0" cy="0"/>
        </a:xfrm>
      </p:grpSpPr>
      <p:sp>
        <p:nvSpPr>
          <p:cNvPr id="110" name="Google Shape;110;p17"/>
          <p:cNvSpPr txBox="1"/>
          <p:nvPr>
            <p:ph idx="12" type="sldNum"/>
          </p:nvPr>
        </p:nvSpPr>
        <p:spPr>
          <a:xfrm>
            <a:off x="9113837" y="6492875"/>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rgbClr val="757575"/>
                </a:solidFill>
                <a:latin typeface="Arial"/>
                <a:ea typeface="Arial"/>
                <a:cs typeface="Arial"/>
                <a:sym typeface="Arial"/>
              </a:defRPr>
            </a:lvl1pPr>
            <a:lvl2pPr indent="0" lvl="1" marL="0" algn="r">
              <a:spcBef>
                <a:spcPts val="0"/>
              </a:spcBef>
              <a:buNone/>
              <a:defRPr sz="1000">
                <a:solidFill>
                  <a:srgbClr val="757575"/>
                </a:solidFill>
                <a:latin typeface="Arial"/>
                <a:ea typeface="Arial"/>
                <a:cs typeface="Arial"/>
                <a:sym typeface="Arial"/>
              </a:defRPr>
            </a:lvl2pPr>
            <a:lvl3pPr indent="0" lvl="2" marL="0" algn="r">
              <a:spcBef>
                <a:spcPts val="0"/>
              </a:spcBef>
              <a:buNone/>
              <a:defRPr sz="1000">
                <a:solidFill>
                  <a:srgbClr val="757575"/>
                </a:solidFill>
                <a:latin typeface="Arial"/>
                <a:ea typeface="Arial"/>
                <a:cs typeface="Arial"/>
                <a:sym typeface="Arial"/>
              </a:defRPr>
            </a:lvl3pPr>
            <a:lvl4pPr indent="0" lvl="3" marL="0" algn="r">
              <a:spcBef>
                <a:spcPts val="0"/>
              </a:spcBef>
              <a:buNone/>
              <a:defRPr sz="1000">
                <a:solidFill>
                  <a:srgbClr val="757575"/>
                </a:solidFill>
                <a:latin typeface="Arial"/>
                <a:ea typeface="Arial"/>
                <a:cs typeface="Arial"/>
                <a:sym typeface="Arial"/>
              </a:defRPr>
            </a:lvl4pPr>
            <a:lvl5pPr indent="0" lvl="4" marL="0" algn="r">
              <a:spcBef>
                <a:spcPts val="0"/>
              </a:spcBef>
              <a:buNone/>
              <a:defRPr sz="1000">
                <a:solidFill>
                  <a:srgbClr val="757575"/>
                </a:solidFill>
                <a:latin typeface="Arial"/>
                <a:ea typeface="Arial"/>
                <a:cs typeface="Arial"/>
                <a:sym typeface="Arial"/>
              </a:defRPr>
            </a:lvl5pPr>
            <a:lvl6pPr indent="0" lvl="5" marL="0" algn="r">
              <a:spcBef>
                <a:spcPts val="0"/>
              </a:spcBef>
              <a:buNone/>
              <a:defRPr sz="1000">
                <a:solidFill>
                  <a:srgbClr val="757575"/>
                </a:solidFill>
                <a:latin typeface="Arial"/>
                <a:ea typeface="Arial"/>
                <a:cs typeface="Arial"/>
                <a:sym typeface="Arial"/>
              </a:defRPr>
            </a:lvl6pPr>
            <a:lvl7pPr indent="0" lvl="6" marL="0" algn="r">
              <a:spcBef>
                <a:spcPts val="0"/>
              </a:spcBef>
              <a:buNone/>
              <a:defRPr sz="1000">
                <a:solidFill>
                  <a:srgbClr val="757575"/>
                </a:solidFill>
                <a:latin typeface="Arial"/>
                <a:ea typeface="Arial"/>
                <a:cs typeface="Arial"/>
                <a:sym typeface="Arial"/>
              </a:defRPr>
            </a:lvl7pPr>
            <a:lvl8pPr indent="0" lvl="7" marL="0" algn="r">
              <a:spcBef>
                <a:spcPts val="0"/>
              </a:spcBef>
              <a:buNone/>
              <a:defRPr sz="1000">
                <a:solidFill>
                  <a:srgbClr val="757575"/>
                </a:solidFill>
                <a:latin typeface="Arial"/>
                <a:ea typeface="Arial"/>
                <a:cs typeface="Arial"/>
                <a:sym typeface="Arial"/>
              </a:defRPr>
            </a:lvl8pPr>
            <a:lvl9pPr indent="0" lvl="8" marL="0" algn="r">
              <a:spcBef>
                <a:spcPts val="0"/>
              </a:spcBef>
              <a:buNone/>
              <a:defRPr sz="1000">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11" name="Google Shape;111;p17"/>
          <p:cNvSpPr/>
          <p:nvPr/>
        </p:nvSpPr>
        <p:spPr>
          <a:xfrm>
            <a:off x="0" y="0"/>
            <a:ext cx="12192000" cy="800100"/>
          </a:xfrm>
          <a:prstGeom prst="rect">
            <a:avLst/>
          </a:prstGeom>
          <a:solidFill>
            <a:srgbClr val="A023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2" name="Google Shape;112;p17"/>
          <p:cNvPicPr preferRelativeResize="0"/>
          <p:nvPr/>
        </p:nvPicPr>
        <p:blipFill rotWithShape="1">
          <a:blip r:embed="rId2">
            <a:alphaModFix/>
          </a:blip>
          <a:srcRect b="0" l="0" r="0" t="0"/>
          <a:stretch/>
        </p:blipFill>
        <p:spPr>
          <a:xfrm>
            <a:off x="11335762" y="156642"/>
            <a:ext cx="521276" cy="521276"/>
          </a:xfrm>
          <a:prstGeom prst="rect">
            <a:avLst/>
          </a:prstGeom>
          <a:noFill/>
          <a:ln>
            <a:noFill/>
          </a:ln>
        </p:spPr>
      </p:pic>
      <p:sp>
        <p:nvSpPr>
          <p:cNvPr id="113" name="Google Shape;113;p17"/>
          <p:cNvSpPr txBox="1"/>
          <p:nvPr>
            <p:ph type="title"/>
          </p:nvPr>
        </p:nvSpPr>
        <p:spPr>
          <a:xfrm>
            <a:off x="334963" y="-2026"/>
            <a:ext cx="10637838" cy="80212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17"/>
          <p:cNvSpPr txBox="1"/>
          <p:nvPr>
            <p:ph idx="1" type="body"/>
          </p:nvPr>
        </p:nvSpPr>
        <p:spPr>
          <a:xfrm>
            <a:off x="334962" y="1032641"/>
            <a:ext cx="11522075" cy="53216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5" name="Shape 115"/>
        <p:cNvGrpSpPr/>
        <p:nvPr/>
      </p:nvGrpSpPr>
      <p:grpSpPr>
        <a:xfrm>
          <a:off x="0" y="0"/>
          <a:ext cx="0" cy="0"/>
          <a:chOff x="0" y="0"/>
          <a:chExt cx="0" cy="0"/>
        </a:xfrm>
      </p:grpSpPr>
      <p:pic>
        <p:nvPicPr>
          <p:cNvPr descr="A building with a sign in front of it&#10;&#10;Description automatically generated" id="116" name="Google Shape;116;p1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7" name="Google Shape;117;p18"/>
          <p:cNvSpPr/>
          <p:nvPr/>
        </p:nvSpPr>
        <p:spPr>
          <a:xfrm>
            <a:off x="-1" y="0"/>
            <a:ext cx="4548249" cy="6858000"/>
          </a:xfrm>
          <a:prstGeom prst="rect">
            <a:avLst/>
          </a:prstGeom>
          <a:solidFill>
            <a:schemeClr val="lt1">
              <a:alpha val="7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8" name="Google Shape;118;p18"/>
          <p:cNvSpPr txBox="1"/>
          <p:nvPr>
            <p:ph type="ctrTitle"/>
          </p:nvPr>
        </p:nvSpPr>
        <p:spPr>
          <a:xfrm>
            <a:off x="334963" y="908897"/>
            <a:ext cx="3779837" cy="260106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18"/>
          <p:cNvSpPr txBox="1"/>
          <p:nvPr>
            <p:ph idx="1" type="subTitle"/>
          </p:nvPr>
        </p:nvSpPr>
        <p:spPr>
          <a:xfrm>
            <a:off x="334963" y="3528219"/>
            <a:ext cx="3779837" cy="2207418"/>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20" name="Google Shape;120;p18"/>
          <p:cNvPicPr preferRelativeResize="0"/>
          <p:nvPr/>
        </p:nvPicPr>
        <p:blipFill rotWithShape="1">
          <a:blip r:embed="rId3">
            <a:alphaModFix/>
          </a:blip>
          <a:srcRect b="0" l="0" r="0" t="0"/>
          <a:stretch/>
        </p:blipFill>
        <p:spPr>
          <a:xfrm>
            <a:off x="334963" y="383309"/>
            <a:ext cx="2743200" cy="525588"/>
          </a:xfrm>
          <a:prstGeom prst="rect">
            <a:avLst/>
          </a:prstGeom>
          <a:noFill/>
          <a:ln>
            <a:noFill/>
          </a:ln>
        </p:spPr>
      </p:pic>
      <p:sp>
        <p:nvSpPr>
          <p:cNvPr id="121" name="Google Shape;121;p18"/>
          <p:cNvSpPr/>
          <p:nvPr/>
        </p:nvSpPr>
        <p:spPr>
          <a:xfrm>
            <a:off x="0" y="-1"/>
            <a:ext cx="12192000" cy="169843"/>
          </a:xfrm>
          <a:prstGeom prst="rect">
            <a:avLst/>
          </a:prstGeom>
          <a:solidFill>
            <a:srgbClr val="AB06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211">
          <p15:clr>
            <a:srgbClr val="FBAE40"/>
          </p15:clr>
        </p15:guide>
        <p15:guide id="4" orient="horz" pos="232">
          <p15:clr>
            <a:srgbClr val="FBAE40"/>
          </p15:clr>
        </p15:guide>
        <p15:guide id="5" pos="7469">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p:cSld name="4_Title Slide">
    <p:spTree>
      <p:nvGrpSpPr>
        <p:cNvPr id="122" name="Shape 122"/>
        <p:cNvGrpSpPr/>
        <p:nvPr/>
      </p:nvGrpSpPr>
      <p:grpSpPr>
        <a:xfrm>
          <a:off x="0" y="0"/>
          <a:ext cx="0" cy="0"/>
          <a:chOff x="0" y="0"/>
          <a:chExt cx="0" cy="0"/>
        </a:xfrm>
      </p:grpSpPr>
      <p:pic>
        <p:nvPicPr>
          <p:cNvPr descr="A building with a large round top&#10;&#10;Description automatically generated with medium confidence" id="123" name="Google Shape;123;p1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4" name="Google Shape;124;p19"/>
          <p:cNvSpPr/>
          <p:nvPr/>
        </p:nvSpPr>
        <p:spPr>
          <a:xfrm>
            <a:off x="-1" y="0"/>
            <a:ext cx="4548249" cy="6858000"/>
          </a:xfrm>
          <a:prstGeom prst="rect">
            <a:avLst/>
          </a:prstGeom>
          <a:solidFill>
            <a:schemeClr val="lt1">
              <a:alpha val="7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5" name="Google Shape;125;p19"/>
          <p:cNvSpPr txBox="1"/>
          <p:nvPr>
            <p:ph type="ctrTitle"/>
          </p:nvPr>
        </p:nvSpPr>
        <p:spPr>
          <a:xfrm>
            <a:off x="334963" y="908897"/>
            <a:ext cx="3779837" cy="260106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19"/>
          <p:cNvSpPr txBox="1"/>
          <p:nvPr>
            <p:ph idx="1" type="subTitle"/>
          </p:nvPr>
        </p:nvSpPr>
        <p:spPr>
          <a:xfrm>
            <a:off x="334963" y="3528219"/>
            <a:ext cx="3779837" cy="2207418"/>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27" name="Google Shape;127;p19"/>
          <p:cNvPicPr preferRelativeResize="0"/>
          <p:nvPr/>
        </p:nvPicPr>
        <p:blipFill rotWithShape="1">
          <a:blip r:embed="rId3">
            <a:alphaModFix/>
          </a:blip>
          <a:srcRect b="0" l="0" r="0" t="0"/>
          <a:stretch/>
        </p:blipFill>
        <p:spPr>
          <a:xfrm>
            <a:off x="334963" y="383309"/>
            <a:ext cx="2743200" cy="525588"/>
          </a:xfrm>
          <a:prstGeom prst="rect">
            <a:avLst/>
          </a:prstGeom>
          <a:noFill/>
          <a:ln>
            <a:noFill/>
          </a:ln>
        </p:spPr>
      </p:pic>
      <p:sp>
        <p:nvSpPr>
          <p:cNvPr id="128" name="Google Shape;128;p19"/>
          <p:cNvSpPr/>
          <p:nvPr/>
        </p:nvSpPr>
        <p:spPr>
          <a:xfrm>
            <a:off x="0" y="-1"/>
            <a:ext cx="12192000" cy="169843"/>
          </a:xfrm>
          <a:prstGeom prst="rect">
            <a:avLst/>
          </a:prstGeom>
          <a:solidFill>
            <a:srgbClr val="AB06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211">
          <p15:clr>
            <a:srgbClr val="FBAE40"/>
          </p15:clr>
        </p15:guide>
        <p15:guide id="4" orient="horz" pos="232">
          <p15:clr>
            <a:srgbClr val="FBAE40"/>
          </p15:clr>
        </p15:guide>
        <p15:guide id="5" pos="746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29" name="Shape 129"/>
        <p:cNvGrpSpPr/>
        <p:nvPr/>
      </p:nvGrpSpPr>
      <p:grpSpPr>
        <a:xfrm>
          <a:off x="0" y="0"/>
          <a:ext cx="0" cy="0"/>
          <a:chOff x="0" y="0"/>
          <a:chExt cx="0" cy="0"/>
        </a:xfrm>
      </p:grpSpPr>
      <p:pic>
        <p:nvPicPr>
          <p:cNvPr descr="A close-up of a logo&#10;&#10;Description automatically generated" id="130" name="Google Shape;130;p2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31" name="Google Shape;131;p20"/>
          <p:cNvSpPr/>
          <p:nvPr/>
        </p:nvSpPr>
        <p:spPr>
          <a:xfrm>
            <a:off x="-1" y="0"/>
            <a:ext cx="4548249" cy="6858000"/>
          </a:xfrm>
          <a:prstGeom prst="rect">
            <a:avLst/>
          </a:prstGeom>
          <a:solidFill>
            <a:schemeClr val="lt1">
              <a:alpha val="7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2" name="Google Shape;132;p20"/>
          <p:cNvSpPr txBox="1"/>
          <p:nvPr>
            <p:ph type="ctrTitle"/>
          </p:nvPr>
        </p:nvSpPr>
        <p:spPr>
          <a:xfrm>
            <a:off x="334963" y="908897"/>
            <a:ext cx="3779837" cy="260106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20"/>
          <p:cNvSpPr txBox="1"/>
          <p:nvPr>
            <p:ph idx="1" type="subTitle"/>
          </p:nvPr>
        </p:nvSpPr>
        <p:spPr>
          <a:xfrm>
            <a:off x="334963" y="3528219"/>
            <a:ext cx="3779837" cy="2207418"/>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34" name="Google Shape;134;p20"/>
          <p:cNvPicPr preferRelativeResize="0"/>
          <p:nvPr/>
        </p:nvPicPr>
        <p:blipFill rotWithShape="1">
          <a:blip r:embed="rId3">
            <a:alphaModFix/>
          </a:blip>
          <a:srcRect b="0" l="0" r="0" t="0"/>
          <a:stretch/>
        </p:blipFill>
        <p:spPr>
          <a:xfrm>
            <a:off x="334963" y="383309"/>
            <a:ext cx="2743200" cy="525588"/>
          </a:xfrm>
          <a:prstGeom prst="rect">
            <a:avLst/>
          </a:prstGeom>
          <a:noFill/>
          <a:ln>
            <a:noFill/>
          </a:ln>
        </p:spPr>
      </p:pic>
      <p:sp>
        <p:nvSpPr>
          <p:cNvPr id="135" name="Google Shape;135;p20"/>
          <p:cNvSpPr/>
          <p:nvPr/>
        </p:nvSpPr>
        <p:spPr>
          <a:xfrm>
            <a:off x="0" y="-1"/>
            <a:ext cx="12192000" cy="169843"/>
          </a:xfrm>
          <a:prstGeom prst="rect">
            <a:avLst/>
          </a:prstGeom>
          <a:solidFill>
            <a:srgbClr val="AB06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211">
          <p15:clr>
            <a:srgbClr val="FBAE40"/>
          </p15:clr>
        </p15:guide>
        <p15:guide id="4" orient="horz" pos="232">
          <p15:clr>
            <a:srgbClr val="FBAE40"/>
          </p15:clr>
        </p15:guide>
        <p15:guide id="5" pos="746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136" name="Shape 136"/>
        <p:cNvGrpSpPr/>
        <p:nvPr/>
      </p:nvGrpSpPr>
      <p:grpSpPr>
        <a:xfrm>
          <a:off x="0" y="0"/>
          <a:ext cx="0" cy="0"/>
          <a:chOff x="0" y="0"/>
          <a:chExt cx="0" cy="0"/>
        </a:xfrm>
      </p:grpSpPr>
      <p:pic>
        <p:nvPicPr>
          <p:cNvPr descr="A building with trees around it&#10;&#10;Description automatically generated" id="137" name="Google Shape;137;p2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38" name="Google Shape;138;p21"/>
          <p:cNvSpPr/>
          <p:nvPr/>
        </p:nvSpPr>
        <p:spPr>
          <a:xfrm>
            <a:off x="-1" y="0"/>
            <a:ext cx="4548249" cy="6858000"/>
          </a:xfrm>
          <a:prstGeom prst="rect">
            <a:avLst/>
          </a:prstGeom>
          <a:solidFill>
            <a:schemeClr val="lt1">
              <a:alpha val="7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9" name="Google Shape;139;p21"/>
          <p:cNvSpPr txBox="1"/>
          <p:nvPr>
            <p:ph type="ctrTitle"/>
          </p:nvPr>
        </p:nvSpPr>
        <p:spPr>
          <a:xfrm>
            <a:off x="334963" y="908897"/>
            <a:ext cx="3779837" cy="260106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21"/>
          <p:cNvSpPr txBox="1"/>
          <p:nvPr>
            <p:ph idx="1" type="subTitle"/>
          </p:nvPr>
        </p:nvSpPr>
        <p:spPr>
          <a:xfrm>
            <a:off x="334963" y="3528219"/>
            <a:ext cx="3779837" cy="2207418"/>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41" name="Google Shape;141;p21"/>
          <p:cNvPicPr preferRelativeResize="0"/>
          <p:nvPr/>
        </p:nvPicPr>
        <p:blipFill rotWithShape="1">
          <a:blip r:embed="rId3">
            <a:alphaModFix/>
          </a:blip>
          <a:srcRect b="0" l="0" r="0" t="0"/>
          <a:stretch/>
        </p:blipFill>
        <p:spPr>
          <a:xfrm>
            <a:off x="334963" y="383309"/>
            <a:ext cx="2743200" cy="525588"/>
          </a:xfrm>
          <a:prstGeom prst="rect">
            <a:avLst/>
          </a:prstGeom>
          <a:noFill/>
          <a:ln>
            <a:noFill/>
          </a:ln>
        </p:spPr>
      </p:pic>
      <p:sp>
        <p:nvSpPr>
          <p:cNvPr id="142" name="Google Shape;142;p21"/>
          <p:cNvSpPr/>
          <p:nvPr/>
        </p:nvSpPr>
        <p:spPr>
          <a:xfrm>
            <a:off x="0" y="-1"/>
            <a:ext cx="12192000" cy="169843"/>
          </a:xfrm>
          <a:prstGeom prst="rect">
            <a:avLst/>
          </a:prstGeom>
          <a:solidFill>
            <a:srgbClr val="AB06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211">
          <p15:clr>
            <a:srgbClr val="FBAE40"/>
          </p15:clr>
        </p15:guide>
        <p15:guide id="4" orient="horz" pos="232">
          <p15:clr>
            <a:srgbClr val="FBAE40"/>
          </p15:clr>
        </p15:guide>
        <p15:guide id="5" pos="746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143" name="Shape 143"/>
        <p:cNvGrpSpPr/>
        <p:nvPr/>
      </p:nvGrpSpPr>
      <p:grpSpPr>
        <a:xfrm>
          <a:off x="0" y="0"/>
          <a:ext cx="0" cy="0"/>
          <a:chOff x="0" y="0"/>
          <a:chExt cx="0" cy="0"/>
        </a:xfrm>
      </p:grpSpPr>
      <p:pic>
        <p:nvPicPr>
          <p:cNvPr descr="A building with a green lawn&#10;&#10;Description automatically generated" id="144" name="Google Shape;144;p2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45" name="Google Shape;145;p22"/>
          <p:cNvSpPr/>
          <p:nvPr/>
        </p:nvSpPr>
        <p:spPr>
          <a:xfrm>
            <a:off x="-1" y="0"/>
            <a:ext cx="4548249" cy="6858000"/>
          </a:xfrm>
          <a:prstGeom prst="rect">
            <a:avLst/>
          </a:prstGeom>
          <a:solidFill>
            <a:schemeClr val="lt1">
              <a:alpha val="7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6" name="Google Shape;146;p22"/>
          <p:cNvSpPr txBox="1"/>
          <p:nvPr>
            <p:ph type="ctrTitle"/>
          </p:nvPr>
        </p:nvSpPr>
        <p:spPr>
          <a:xfrm>
            <a:off x="334963" y="908897"/>
            <a:ext cx="3779837" cy="260106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22"/>
          <p:cNvSpPr txBox="1"/>
          <p:nvPr>
            <p:ph idx="1" type="subTitle"/>
          </p:nvPr>
        </p:nvSpPr>
        <p:spPr>
          <a:xfrm>
            <a:off x="334963" y="3528219"/>
            <a:ext cx="3779837" cy="2207418"/>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48" name="Google Shape;148;p22"/>
          <p:cNvPicPr preferRelativeResize="0"/>
          <p:nvPr/>
        </p:nvPicPr>
        <p:blipFill rotWithShape="1">
          <a:blip r:embed="rId3">
            <a:alphaModFix/>
          </a:blip>
          <a:srcRect b="0" l="0" r="0" t="0"/>
          <a:stretch/>
        </p:blipFill>
        <p:spPr>
          <a:xfrm>
            <a:off x="334963" y="383309"/>
            <a:ext cx="2743200" cy="525588"/>
          </a:xfrm>
          <a:prstGeom prst="rect">
            <a:avLst/>
          </a:prstGeom>
          <a:noFill/>
          <a:ln>
            <a:noFill/>
          </a:ln>
        </p:spPr>
      </p:pic>
      <p:sp>
        <p:nvSpPr>
          <p:cNvPr id="149" name="Google Shape;149;p22"/>
          <p:cNvSpPr/>
          <p:nvPr/>
        </p:nvSpPr>
        <p:spPr>
          <a:xfrm>
            <a:off x="0" y="-1"/>
            <a:ext cx="12192000" cy="169843"/>
          </a:xfrm>
          <a:prstGeom prst="rect">
            <a:avLst/>
          </a:prstGeom>
          <a:solidFill>
            <a:srgbClr val="AB06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211">
          <p15:clr>
            <a:srgbClr val="FBAE40"/>
          </p15:clr>
        </p15:guide>
        <p15:guide id="4" orient="horz" pos="232">
          <p15:clr>
            <a:srgbClr val="FBAE40"/>
          </p15:clr>
        </p15:guide>
        <p15:guide id="5" pos="746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50" name="Shape 150"/>
        <p:cNvGrpSpPr/>
        <p:nvPr/>
      </p:nvGrpSpPr>
      <p:grpSpPr>
        <a:xfrm>
          <a:off x="0" y="0"/>
          <a:ext cx="0" cy="0"/>
          <a:chOff x="0" y="0"/>
          <a:chExt cx="0" cy="0"/>
        </a:xfrm>
      </p:grpSpPr>
      <p:sp>
        <p:nvSpPr>
          <p:cNvPr id="151" name="Google Shape;151;p23"/>
          <p:cNvSpPr/>
          <p:nvPr/>
        </p:nvSpPr>
        <p:spPr>
          <a:xfrm>
            <a:off x="0" y="0"/>
            <a:ext cx="6096000" cy="6858000"/>
          </a:xfrm>
          <a:prstGeom prst="rect">
            <a:avLst/>
          </a:prstGeom>
          <a:solidFill>
            <a:srgbClr val="A023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2" name="Google Shape;152;p23"/>
          <p:cNvSpPr txBox="1"/>
          <p:nvPr>
            <p:ph type="ctrTitle"/>
          </p:nvPr>
        </p:nvSpPr>
        <p:spPr>
          <a:xfrm>
            <a:off x="334963" y="908897"/>
            <a:ext cx="3779837" cy="252010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p23"/>
          <p:cNvSpPr txBox="1"/>
          <p:nvPr>
            <p:ph idx="1" type="subTitle"/>
          </p:nvPr>
        </p:nvSpPr>
        <p:spPr>
          <a:xfrm>
            <a:off x="334963" y="3447257"/>
            <a:ext cx="3779837" cy="2207418"/>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1800"/>
              <a:buNone/>
              <a:defRPr sz="18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54" name="Google Shape;154;p23"/>
          <p:cNvPicPr preferRelativeResize="0"/>
          <p:nvPr/>
        </p:nvPicPr>
        <p:blipFill rotWithShape="1">
          <a:blip r:embed="rId2">
            <a:alphaModFix/>
          </a:blip>
          <a:srcRect b="0" l="0" r="0" t="0"/>
          <a:stretch/>
        </p:blipFill>
        <p:spPr>
          <a:xfrm>
            <a:off x="334963" y="323971"/>
            <a:ext cx="2957614" cy="566669"/>
          </a:xfrm>
          <a:prstGeom prst="rect">
            <a:avLst/>
          </a:prstGeom>
          <a:noFill/>
          <a:ln>
            <a:noFill/>
          </a:ln>
        </p:spPr>
      </p:pic>
      <p:pic>
        <p:nvPicPr>
          <p:cNvPr descr="A group of people walking in a hallway&#10;&#10;Description automatically generated" id="155" name="Google Shape;155;p23"/>
          <p:cNvPicPr preferRelativeResize="0"/>
          <p:nvPr/>
        </p:nvPicPr>
        <p:blipFill rotWithShape="1">
          <a:blip r:embed="rId3">
            <a:alphaModFix/>
          </a:blip>
          <a:srcRect b="0" l="0" r="0" t="0"/>
          <a:stretch/>
        </p:blipFill>
        <p:spPr>
          <a:xfrm>
            <a:off x="6096000" y="0"/>
            <a:ext cx="6096000" cy="68580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156" name="Shape 156"/>
        <p:cNvGrpSpPr/>
        <p:nvPr/>
      </p:nvGrpSpPr>
      <p:grpSpPr>
        <a:xfrm>
          <a:off x="0" y="0"/>
          <a:ext cx="0" cy="0"/>
          <a:chOff x="0" y="0"/>
          <a:chExt cx="0" cy="0"/>
        </a:xfrm>
      </p:grpSpPr>
      <p:sp>
        <p:nvSpPr>
          <p:cNvPr id="157" name="Google Shape;157;p24"/>
          <p:cNvSpPr/>
          <p:nvPr/>
        </p:nvSpPr>
        <p:spPr>
          <a:xfrm>
            <a:off x="0" y="0"/>
            <a:ext cx="6096000" cy="6858000"/>
          </a:xfrm>
          <a:prstGeom prst="rect">
            <a:avLst/>
          </a:prstGeom>
          <a:solidFill>
            <a:srgbClr val="A023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8" name="Google Shape;158;p24"/>
          <p:cNvSpPr txBox="1"/>
          <p:nvPr>
            <p:ph type="ctrTitle"/>
          </p:nvPr>
        </p:nvSpPr>
        <p:spPr>
          <a:xfrm>
            <a:off x="334963" y="908897"/>
            <a:ext cx="3779837" cy="252010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24"/>
          <p:cNvSpPr txBox="1"/>
          <p:nvPr>
            <p:ph idx="1" type="subTitle"/>
          </p:nvPr>
        </p:nvSpPr>
        <p:spPr>
          <a:xfrm>
            <a:off x="334963" y="3447257"/>
            <a:ext cx="3779837" cy="2207418"/>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1800"/>
              <a:buNone/>
              <a:defRPr sz="18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60" name="Google Shape;160;p24"/>
          <p:cNvPicPr preferRelativeResize="0"/>
          <p:nvPr/>
        </p:nvPicPr>
        <p:blipFill rotWithShape="1">
          <a:blip r:embed="rId2">
            <a:alphaModFix/>
          </a:blip>
          <a:srcRect b="0" l="0" r="0" t="0"/>
          <a:stretch/>
        </p:blipFill>
        <p:spPr>
          <a:xfrm>
            <a:off x="334963" y="323971"/>
            <a:ext cx="2957614" cy="566669"/>
          </a:xfrm>
          <a:prstGeom prst="rect">
            <a:avLst/>
          </a:prstGeom>
          <a:noFill/>
          <a:ln>
            <a:noFill/>
          </a:ln>
        </p:spPr>
      </p:pic>
      <p:pic>
        <p:nvPicPr>
          <p:cNvPr descr="A group of people standing outside of a building&#10;&#10;Description automatically generated" id="161" name="Google Shape;161;p24"/>
          <p:cNvPicPr preferRelativeResize="0"/>
          <p:nvPr/>
        </p:nvPicPr>
        <p:blipFill rotWithShape="1">
          <a:blip r:embed="rId3">
            <a:alphaModFix/>
          </a:blip>
          <a:srcRect b="0" l="0" r="0" t="0"/>
          <a:stretch/>
        </p:blipFill>
        <p:spPr>
          <a:xfrm>
            <a:off x="6096000" y="18257"/>
            <a:ext cx="6096000" cy="68580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162" name="Shape 162"/>
        <p:cNvGrpSpPr/>
        <p:nvPr/>
      </p:nvGrpSpPr>
      <p:grpSpPr>
        <a:xfrm>
          <a:off x="0" y="0"/>
          <a:ext cx="0" cy="0"/>
          <a:chOff x="0" y="0"/>
          <a:chExt cx="0" cy="0"/>
        </a:xfrm>
      </p:grpSpPr>
      <p:sp>
        <p:nvSpPr>
          <p:cNvPr id="163" name="Google Shape;163;p25"/>
          <p:cNvSpPr/>
          <p:nvPr/>
        </p:nvSpPr>
        <p:spPr>
          <a:xfrm>
            <a:off x="0" y="1709738"/>
            <a:ext cx="12192000" cy="4379912"/>
          </a:xfrm>
          <a:prstGeom prst="rect">
            <a:avLst/>
          </a:prstGeom>
          <a:solidFill>
            <a:srgbClr val="A023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64" name="Google Shape;164;p25"/>
          <p:cNvPicPr preferRelativeResize="0"/>
          <p:nvPr/>
        </p:nvPicPr>
        <p:blipFill rotWithShape="1">
          <a:blip r:embed="rId2">
            <a:alphaModFix amt="7000"/>
          </a:blip>
          <a:srcRect b="0" l="0" r="0" t="0"/>
          <a:stretch/>
        </p:blipFill>
        <p:spPr>
          <a:xfrm>
            <a:off x="7477128" y="1702437"/>
            <a:ext cx="4379911" cy="4379911"/>
          </a:xfrm>
          <a:prstGeom prst="rect">
            <a:avLst/>
          </a:prstGeom>
          <a:noFill/>
          <a:ln>
            <a:noFill/>
          </a:ln>
        </p:spPr>
      </p:pic>
      <p:sp>
        <p:nvSpPr>
          <p:cNvPr id="165" name="Google Shape;165;p25"/>
          <p:cNvSpPr txBox="1"/>
          <p:nvPr>
            <p:ph type="ctrTitle"/>
          </p:nvPr>
        </p:nvSpPr>
        <p:spPr>
          <a:xfrm>
            <a:off x="334963" y="908897"/>
            <a:ext cx="3779837" cy="252010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25"/>
          <p:cNvSpPr txBox="1"/>
          <p:nvPr>
            <p:ph idx="1" type="subTitle"/>
          </p:nvPr>
        </p:nvSpPr>
        <p:spPr>
          <a:xfrm>
            <a:off x="334963" y="3447257"/>
            <a:ext cx="3779837" cy="2207418"/>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1800"/>
              <a:buNone/>
              <a:defRPr sz="18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7" name="Google Shape;167;p25"/>
          <p:cNvSpPr txBox="1"/>
          <p:nvPr>
            <p:ph idx="12" type="sldNum"/>
          </p:nvPr>
        </p:nvSpPr>
        <p:spPr>
          <a:xfrm>
            <a:off x="9113837" y="6492875"/>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rgbClr val="757575"/>
                </a:solidFill>
                <a:latin typeface="Arial"/>
                <a:ea typeface="Arial"/>
                <a:cs typeface="Arial"/>
                <a:sym typeface="Arial"/>
              </a:defRPr>
            </a:lvl1pPr>
            <a:lvl2pPr indent="0" lvl="1" marL="0" algn="r">
              <a:spcBef>
                <a:spcPts val="0"/>
              </a:spcBef>
              <a:buNone/>
              <a:defRPr sz="1000">
                <a:solidFill>
                  <a:srgbClr val="757575"/>
                </a:solidFill>
                <a:latin typeface="Arial"/>
                <a:ea typeface="Arial"/>
                <a:cs typeface="Arial"/>
                <a:sym typeface="Arial"/>
              </a:defRPr>
            </a:lvl2pPr>
            <a:lvl3pPr indent="0" lvl="2" marL="0" algn="r">
              <a:spcBef>
                <a:spcPts val="0"/>
              </a:spcBef>
              <a:buNone/>
              <a:defRPr sz="1000">
                <a:solidFill>
                  <a:srgbClr val="757575"/>
                </a:solidFill>
                <a:latin typeface="Arial"/>
                <a:ea typeface="Arial"/>
                <a:cs typeface="Arial"/>
                <a:sym typeface="Arial"/>
              </a:defRPr>
            </a:lvl3pPr>
            <a:lvl4pPr indent="0" lvl="3" marL="0" algn="r">
              <a:spcBef>
                <a:spcPts val="0"/>
              </a:spcBef>
              <a:buNone/>
              <a:defRPr sz="1000">
                <a:solidFill>
                  <a:srgbClr val="757575"/>
                </a:solidFill>
                <a:latin typeface="Arial"/>
                <a:ea typeface="Arial"/>
                <a:cs typeface="Arial"/>
                <a:sym typeface="Arial"/>
              </a:defRPr>
            </a:lvl4pPr>
            <a:lvl5pPr indent="0" lvl="4" marL="0" algn="r">
              <a:spcBef>
                <a:spcPts val="0"/>
              </a:spcBef>
              <a:buNone/>
              <a:defRPr sz="1000">
                <a:solidFill>
                  <a:srgbClr val="757575"/>
                </a:solidFill>
                <a:latin typeface="Arial"/>
                <a:ea typeface="Arial"/>
                <a:cs typeface="Arial"/>
                <a:sym typeface="Arial"/>
              </a:defRPr>
            </a:lvl5pPr>
            <a:lvl6pPr indent="0" lvl="5" marL="0" algn="r">
              <a:spcBef>
                <a:spcPts val="0"/>
              </a:spcBef>
              <a:buNone/>
              <a:defRPr sz="1000">
                <a:solidFill>
                  <a:srgbClr val="757575"/>
                </a:solidFill>
                <a:latin typeface="Arial"/>
                <a:ea typeface="Arial"/>
                <a:cs typeface="Arial"/>
                <a:sym typeface="Arial"/>
              </a:defRPr>
            </a:lvl6pPr>
            <a:lvl7pPr indent="0" lvl="6" marL="0" algn="r">
              <a:spcBef>
                <a:spcPts val="0"/>
              </a:spcBef>
              <a:buNone/>
              <a:defRPr sz="1000">
                <a:solidFill>
                  <a:srgbClr val="757575"/>
                </a:solidFill>
                <a:latin typeface="Arial"/>
                <a:ea typeface="Arial"/>
                <a:cs typeface="Arial"/>
                <a:sym typeface="Arial"/>
              </a:defRPr>
            </a:lvl7pPr>
            <a:lvl8pPr indent="0" lvl="7" marL="0" algn="r">
              <a:spcBef>
                <a:spcPts val="0"/>
              </a:spcBef>
              <a:buNone/>
              <a:defRPr sz="1000">
                <a:solidFill>
                  <a:srgbClr val="757575"/>
                </a:solidFill>
                <a:latin typeface="Arial"/>
                <a:ea typeface="Arial"/>
                <a:cs typeface="Arial"/>
                <a:sym typeface="Arial"/>
              </a:defRPr>
            </a:lvl8pPr>
            <a:lvl9pPr indent="0" lvl="8" marL="0" algn="r">
              <a:spcBef>
                <a:spcPts val="0"/>
              </a:spcBef>
              <a:buNone/>
              <a:defRPr sz="1000">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68" name="Google Shape;168;p25"/>
          <p:cNvPicPr preferRelativeResize="0"/>
          <p:nvPr/>
        </p:nvPicPr>
        <p:blipFill rotWithShape="1">
          <a:blip r:embed="rId3">
            <a:alphaModFix/>
          </a:blip>
          <a:srcRect b="0" l="0" r="0" t="0"/>
          <a:stretch/>
        </p:blipFill>
        <p:spPr>
          <a:xfrm>
            <a:off x="334963" y="383309"/>
            <a:ext cx="2743200" cy="525588"/>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 Header">
  <p:cSld name="2_Section Header">
    <p:spTree>
      <p:nvGrpSpPr>
        <p:cNvPr id="169" name="Shape 169"/>
        <p:cNvGrpSpPr/>
        <p:nvPr/>
      </p:nvGrpSpPr>
      <p:grpSpPr>
        <a:xfrm>
          <a:off x="0" y="0"/>
          <a:ext cx="0" cy="0"/>
          <a:chOff x="0" y="0"/>
          <a:chExt cx="0" cy="0"/>
        </a:xfrm>
      </p:grpSpPr>
      <p:sp>
        <p:nvSpPr>
          <p:cNvPr id="170" name="Google Shape;170;p26"/>
          <p:cNvSpPr txBox="1"/>
          <p:nvPr>
            <p:ph idx="12" type="sldNum"/>
          </p:nvPr>
        </p:nvSpPr>
        <p:spPr>
          <a:xfrm>
            <a:off x="9113837" y="6492875"/>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rgbClr val="757575"/>
                </a:solidFill>
                <a:latin typeface="Arial"/>
                <a:ea typeface="Arial"/>
                <a:cs typeface="Arial"/>
                <a:sym typeface="Arial"/>
              </a:defRPr>
            </a:lvl1pPr>
            <a:lvl2pPr indent="0" lvl="1" marL="0" algn="r">
              <a:spcBef>
                <a:spcPts val="0"/>
              </a:spcBef>
              <a:buNone/>
              <a:defRPr sz="1000">
                <a:solidFill>
                  <a:srgbClr val="757575"/>
                </a:solidFill>
                <a:latin typeface="Arial"/>
                <a:ea typeface="Arial"/>
                <a:cs typeface="Arial"/>
                <a:sym typeface="Arial"/>
              </a:defRPr>
            </a:lvl2pPr>
            <a:lvl3pPr indent="0" lvl="2" marL="0" algn="r">
              <a:spcBef>
                <a:spcPts val="0"/>
              </a:spcBef>
              <a:buNone/>
              <a:defRPr sz="1000">
                <a:solidFill>
                  <a:srgbClr val="757575"/>
                </a:solidFill>
                <a:latin typeface="Arial"/>
                <a:ea typeface="Arial"/>
                <a:cs typeface="Arial"/>
                <a:sym typeface="Arial"/>
              </a:defRPr>
            </a:lvl3pPr>
            <a:lvl4pPr indent="0" lvl="3" marL="0" algn="r">
              <a:spcBef>
                <a:spcPts val="0"/>
              </a:spcBef>
              <a:buNone/>
              <a:defRPr sz="1000">
                <a:solidFill>
                  <a:srgbClr val="757575"/>
                </a:solidFill>
                <a:latin typeface="Arial"/>
                <a:ea typeface="Arial"/>
                <a:cs typeface="Arial"/>
                <a:sym typeface="Arial"/>
              </a:defRPr>
            </a:lvl4pPr>
            <a:lvl5pPr indent="0" lvl="4" marL="0" algn="r">
              <a:spcBef>
                <a:spcPts val="0"/>
              </a:spcBef>
              <a:buNone/>
              <a:defRPr sz="1000">
                <a:solidFill>
                  <a:srgbClr val="757575"/>
                </a:solidFill>
                <a:latin typeface="Arial"/>
                <a:ea typeface="Arial"/>
                <a:cs typeface="Arial"/>
                <a:sym typeface="Arial"/>
              </a:defRPr>
            </a:lvl5pPr>
            <a:lvl6pPr indent="0" lvl="5" marL="0" algn="r">
              <a:spcBef>
                <a:spcPts val="0"/>
              </a:spcBef>
              <a:buNone/>
              <a:defRPr sz="1000">
                <a:solidFill>
                  <a:srgbClr val="757575"/>
                </a:solidFill>
                <a:latin typeface="Arial"/>
                <a:ea typeface="Arial"/>
                <a:cs typeface="Arial"/>
                <a:sym typeface="Arial"/>
              </a:defRPr>
            </a:lvl6pPr>
            <a:lvl7pPr indent="0" lvl="6" marL="0" algn="r">
              <a:spcBef>
                <a:spcPts val="0"/>
              </a:spcBef>
              <a:buNone/>
              <a:defRPr sz="1000">
                <a:solidFill>
                  <a:srgbClr val="757575"/>
                </a:solidFill>
                <a:latin typeface="Arial"/>
                <a:ea typeface="Arial"/>
                <a:cs typeface="Arial"/>
                <a:sym typeface="Arial"/>
              </a:defRPr>
            </a:lvl7pPr>
            <a:lvl8pPr indent="0" lvl="7" marL="0" algn="r">
              <a:spcBef>
                <a:spcPts val="0"/>
              </a:spcBef>
              <a:buNone/>
              <a:defRPr sz="1000">
                <a:solidFill>
                  <a:srgbClr val="757575"/>
                </a:solidFill>
                <a:latin typeface="Arial"/>
                <a:ea typeface="Arial"/>
                <a:cs typeface="Arial"/>
                <a:sym typeface="Arial"/>
              </a:defRPr>
            </a:lvl8pPr>
            <a:lvl9pPr indent="0" lvl="8" marL="0" algn="r">
              <a:spcBef>
                <a:spcPts val="0"/>
              </a:spcBef>
              <a:buNone/>
              <a:defRPr sz="1000">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71" name="Google Shape;171;p26"/>
          <p:cNvSpPr/>
          <p:nvPr/>
        </p:nvSpPr>
        <p:spPr>
          <a:xfrm>
            <a:off x="0" y="0"/>
            <a:ext cx="12192000" cy="800100"/>
          </a:xfrm>
          <a:prstGeom prst="rect">
            <a:avLst/>
          </a:prstGeom>
          <a:solidFill>
            <a:srgbClr val="A023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72" name="Google Shape;172;p26"/>
          <p:cNvPicPr preferRelativeResize="0"/>
          <p:nvPr/>
        </p:nvPicPr>
        <p:blipFill rotWithShape="1">
          <a:blip r:embed="rId2">
            <a:alphaModFix/>
          </a:blip>
          <a:srcRect b="0" l="0" r="0" t="0"/>
          <a:stretch/>
        </p:blipFill>
        <p:spPr>
          <a:xfrm>
            <a:off x="11335762" y="156642"/>
            <a:ext cx="521276" cy="521276"/>
          </a:xfrm>
          <a:prstGeom prst="rect">
            <a:avLst/>
          </a:prstGeom>
          <a:noFill/>
          <a:ln>
            <a:noFill/>
          </a:ln>
        </p:spPr>
      </p:pic>
      <p:sp>
        <p:nvSpPr>
          <p:cNvPr id="173" name="Google Shape;173;p26"/>
          <p:cNvSpPr txBox="1"/>
          <p:nvPr>
            <p:ph type="title"/>
          </p:nvPr>
        </p:nvSpPr>
        <p:spPr>
          <a:xfrm>
            <a:off x="334963" y="-2026"/>
            <a:ext cx="10637838" cy="80212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p26"/>
          <p:cNvSpPr txBox="1"/>
          <p:nvPr>
            <p:ph idx="1" type="body"/>
          </p:nvPr>
        </p:nvSpPr>
        <p:spPr>
          <a:xfrm>
            <a:off x="334962" y="1253331"/>
            <a:ext cx="5506161"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 name="Google Shape;175;p26"/>
          <p:cNvSpPr txBox="1"/>
          <p:nvPr>
            <p:ph idx="2" type="body"/>
          </p:nvPr>
        </p:nvSpPr>
        <p:spPr>
          <a:xfrm>
            <a:off x="6350876" y="1250156"/>
            <a:ext cx="5506161"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ction Header">
  <p:cSld name="3_Section Header">
    <p:spTree>
      <p:nvGrpSpPr>
        <p:cNvPr id="176" name="Shape 176"/>
        <p:cNvGrpSpPr/>
        <p:nvPr/>
      </p:nvGrpSpPr>
      <p:grpSpPr>
        <a:xfrm>
          <a:off x="0" y="0"/>
          <a:ext cx="0" cy="0"/>
          <a:chOff x="0" y="0"/>
          <a:chExt cx="0" cy="0"/>
        </a:xfrm>
      </p:grpSpPr>
      <p:sp>
        <p:nvSpPr>
          <p:cNvPr id="177" name="Google Shape;177;p27"/>
          <p:cNvSpPr txBox="1"/>
          <p:nvPr>
            <p:ph idx="12" type="sldNum"/>
          </p:nvPr>
        </p:nvSpPr>
        <p:spPr>
          <a:xfrm>
            <a:off x="9113837" y="6492875"/>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rgbClr val="757575"/>
                </a:solidFill>
                <a:latin typeface="Arial"/>
                <a:ea typeface="Arial"/>
                <a:cs typeface="Arial"/>
                <a:sym typeface="Arial"/>
              </a:defRPr>
            </a:lvl1pPr>
            <a:lvl2pPr indent="0" lvl="1" marL="0" algn="r">
              <a:spcBef>
                <a:spcPts val="0"/>
              </a:spcBef>
              <a:buNone/>
              <a:defRPr sz="1000">
                <a:solidFill>
                  <a:srgbClr val="757575"/>
                </a:solidFill>
                <a:latin typeface="Arial"/>
                <a:ea typeface="Arial"/>
                <a:cs typeface="Arial"/>
                <a:sym typeface="Arial"/>
              </a:defRPr>
            </a:lvl2pPr>
            <a:lvl3pPr indent="0" lvl="2" marL="0" algn="r">
              <a:spcBef>
                <a:spcPts val="0"/>
              </a:spcBef>
              <a:buNone/>
              <a:defRPr sz="1000">
                <a:solidFill>
                  <a:srgbClr val="757575"/>
                </a:solidFill>
                <a:latin typeface="Arial"/>
                <a:ea typeface="Arial"/>
                <a:cs typeface="Arial"/>
                <a:sym typeface="Arial"/>
              </a:defRPr>
            </a:lvl3pPr>
            <a:lvl4pPr indent="0" lvl="3" marL="0" algn="r">
              <a:spcBef>
                <a:spcPts val="0"/>
              </a:spcBef>
              <a:buNone/>
              <a:defRPr sz="1000">
                <a:solidFill>
                  <a:srgbClr val="757575"/>
                </a:solidFill>
                <a:latin typeface="Arial"/>
                <a:ea typeface="Arial"/>
                <a:cs typeface="Arial"/>
                <a:sym typeface="Arial"/>
              </a:defRPr>
            </a:lvl4pPr>
            <a:lvl5pPr indent="0" lvl="4" marL="0" algn="r">
              <a:spcBef>
                <a:spcPts val="0"/>
              </a:spcBef>
              <a:buNone/>
              <a:defRPr sz="1000">
                <a:solidFill>
                  <a:srgbClr val="757575"/>
                </a:solidFill>
                <a:latin typeface="Arial"/>
                <a:ea typeface="Arial"/>
                <a:cs typeface="Arial"/>
                <a:sym typeface="Arial"/>
              </a:defRPr>
            </a:lvl5pPr>
            <a:lvl6pPr indent="0" lvl="5" marL="0" algn="r">
              <a:spcBef>
                <a:spcPts val="0"/>
              </a:spcBef>
              <a:buNone/>
              <a:defRPr sz="1000">
                <a:solidFill>
                  <a:srgbClr val="757575"/>
                </a:solidFill>
                <a:latin typeface="Arial"/>
                <a:ea typeface="Arial"/>
                <a:cs typeface="Arial"/>
                <a:sym typeface="Arial"/>
              </a:defRPr>
            </a:lvl6pPr>
            <a:lvl7pPr indent="0" lvl="6" marL="0" algn="r">
              <a:spcBef>
                <a:spcPts val="0"/>
              </a:spcBef>
              <a:buNone/>
              <a:defRPr sz="1000">
                <a:solidFill>
                  <a:srgbClr val="757575"/>
                </a:solidFill>
                <a:latin typeface="Arial"/>
                <a:ea typeface="Arial"/>
                <a:cs typeface="Arial"/>
                <a:sym typeface="Arial"/>
              </a:defRPr>
            </a:lvl7pPr>
            <a:lvl8pPr indent="0" lvl="7" marL="0" algn="r">
              <a:spcBef>
                <a:spcPts val="0"/>
              </a:spcBef>
              <a:buNone/>
              <a:defRPr sz="1000">
                <a:solidFill>
                  <a:srgbClr val="757575"/>
                </a:solidFill>
                <a:latin typeface="Arial"/>
                <a:ea typeface="Arial"/>
                <a:cs typeface="Arial"/>
                <a:sym typeface="Arial"/>
              </a:defRPr>
            </a:lvl8pPr>
            <a:lvl9pPr indent="0" lvl="8" marL="0" algn="r">
              <a:spcBef>
                <a:spcPts val="0"/>
              </a:spcBef>
              <a:buNone/>
              <a:defRPr sz="1000">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78" name="Google Shape;178;p27"/>
          <p:cNvSpPr/>
          <p:nvPr/>
        </p:nvSpPr>
        <p:spPr>
          <a:xfrm>
            <a:off x="0" y="0"/>
            <a:ext cx="12192000" cy="800100"/>
          </a:xfrm>
          <a:prstGeom prst="rect">
            <a:avLst/>
          </a:prstGeom>
          <a:solidFill>
            <a:srgbClr val="A023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79" name="Google Shape;179;p27"/>
          <p:cNvPicPr preferRelativeResize="0"/>
          <p:nvPr/>
        </p:nvPicPr>
        <p:blipFill rotWithShape="1">
          <a:blip r:embed="rId2">
            <a:alphaModFix/>
          </a:blip>
          <a:srcRect b="0" l="0" r="0" t="0"/>
          <a:stretch/>
        </p:blipFill>
        <p:spPr>
          <a:xfrm>
            <a:off x="11335762" y="156642"/>
            <a:ext cx="521276" cy="521276"/>
          </a:xfrm>
          <a:prstGeom prst="rect">
            <a:avLst/>
          </a:prstGeom>
          <a:noFill/>
          <a:ln>
            <a:noFill/>
          </a:ln>
        </p:spPr>
      </p:pic>
      <p:sp>
        <p:nvSpPr>
          <p:cNvPr id="180" name="Google Shape;180;p27"/>
          <p:cNvSpPr txBox="1"/>
          <p:nvPr>
            <p:ph type="title"/>
          </p:nvPr>
        </p:nvSpPr>
        <p:spPr>
          <a:xfrm>
            <a:off x="334963" y="-2026"/>
            <a:ext cx="10637838" cy="80212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7"/>
          <p:cNvSpPr txBox="1"/>
          <p:nvPr>
            <p:ph idx="1" type="body"/>
          </p:nvPr>
        </p:nvSpPr>
        <p:spPr>
          <a:xfrm>
            <a:off x="839788" y="980280"/>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2" name="Google Shape;182;p27"/>
          <p:cNvSpPr txBox="1"/>
          <p:nvPr>
            <p:ph idx="2" type="body"/>
          </p:nvPr>
        </p:nvSpPr>
        <p:spPr>
          <a:xfrm>
            <a:off x="839788" y="1804192"/>
            <a:ext cx="5157787" cy="46886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 name="Google Shape;183;p27"/>
          <p:cNvSpPr txBox="1"/>
          <p:nvPr>
            <p:ph idx="3" type="body"/>
          </p:nvPr>
        </p:nvSpPr>
        <p:spPr>
          <a:xfrm>
            <a:off x="6172200" y="980280"/>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4" name="Google Shape;184;p27"/>
          <p:cNvSpPr txBox="1"/>
          <p:nvPr>
            <p:ph idx="4" type="body"/>
          </p:nvPr>
        </p:nvSpPr>
        <p:spPr>
          <a:xfrm>
            <a:off x="6172200" y="1804192"/>
            <a:ext cx="5183188" cy="46886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Section Header">
  <p:cSld name="4_Section Header">
    <p:spTree>
      <p:nvGrpSpPr>
        <p:cNvPr id="185" name="Shape 185"/>
        <p:cNvGrpSpPr/>
        <p:nvPr/>
      </p:nvGrpSpPr>
      <p:grpSpPr>
        <a:xfrm>
          <a:off x="0" y="0"/>
          <a:ext cx="0" cy="0"/>
          <a:chOff x="0" y="0"/>
          <a:chExt cx="0" cy="0"/>
        </a:xfrm>
      </p:grpSpPr>
      <p:sp>
        <p:nvSpPr>
          <p:cNvPr id="186" name="Google Shape;186;p28"/>
          <p:cNvSpPr txBox="1"/>
          <p:nvPr>
            <p:ph idx="12" type="sldNum"/>
          </p:nvPr>
        </p:nvSpPr>
        <p:spPr>
          <a:xfrm>
            <a:off x="9113837" y="6492875"/>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rgbClr val="757575"/>
                </a:solidFill>
                <a:latin typeface="Arial"/>
                <a:ea typeface="Arial"/>
                <a:cs typeface="Arial"/>
                <a:sym typeface="Arial"/>
              </a:defRPr>
            </a:lvl1pPr>
            <a:lvl2pPr indent="0" lvl="1" marL="0" algn="r">
              <a:spcBef>
                <a:spcPts val="0"/>
              </a:spcBef>
              <a:buNone/>
              <a:defRPr sz="1000">
                <a:solidFill>
                  <a:srgbClr val="757575"/>
                </a:solidFill>
                <a:latin typeface="Arial"/>
                <a:ea typeface="Arial"/>
                <a:cs typeface="Arial"/>
                <a:sym typeface="Arial"/>
              </a:defRPr>
            </a:lvl2pPr>
            <a:lvl3pPr indent="0" lvl="2" marL="0" algn="r">
              <a:spcBef>
                <a:spcPts val="0"/>
              </a:spcBef>
              <a:buNone/>
              <a:defRPr sz="1000">
                <a:solidFill>
                  <a:srgbClr val="757575"/>
                </a:solidFill>
                <a:latin typeface="Arial"/>
                <a:ea typeface="Arial"/>
                <a:cs typeface="Arial"/>
                <a:sym typeface="Arial"/>
              </a:defRPr>
            </a:lvl3pPr>
            <a:lvl4pPr indent="0" lvl="3" marL="0" algn="r">
              <a:spcBef>
                <a:spcPts val="0"/>
              </a:spcBef>
              <a:buNone/>
              <a:defRPr sz="1000">
                <a:solidFill>
                  <a:srgbClr val="757575"/>
                </a:solidFill>
                <a:latin typeface="Arial"/>
                <a:ea typeface="Arial"/>
                <a:cs typeface="Arial"/>
                <a:sym typeface="Arial"/>
              </a:defRPr>
            </a:lvl4pPr>
            <a:lvl5pPr indent="0" lvl="4" marL="0" algn="r">
              <a:spcBef>
                <a:spcPts val="0"/>
              </a:spcBef>
              <a:buNone/>
              <a:defRPr sz="1000">
                <a:solidFill>
                  <a:srgbClr val="757575"/>
                </a:solidFill>
                <a:latin typeface="Arial"/>
                <a:ea typeface="Arial"/>
                <a:cs typeface="Arial"/>
                <a:sym typeface="Arial"/>
              </a:defRPr>
            </a:lvl5pPr>
            <a:lvl6pPr indent="0" lvl="5" marL="0" algn="r">
              <a:spcBef>
                <a:spcPts val="0"/>
              </a:spcBef>
              <a:buNone/>
              <a:defRPr sz="1000">
                <a:solidFill>
                  <a:srgbClr val="757575"/>
                </a:solidFill>
                <a:latin typeface="Arial"/>
                <a:ea typeface="Arial"/>
                <a:cs typeface="Arial"/>
                <a:sym typeface="Arial"/>
              </a:defRPr>
            </a:lvl6pPr>
            <a:lvl7pPr indent="0" lvl="6" marL="0" algn="r">
              <a:spcBef>
                <a:spcPts val="0"/>
              </a:spcBef>
              <a:buNone/>
              <a:defRPr sz="1000">
                <a:solidFill>
                  <a:srgbClr val="757575"/>
                </a:solidFill>
                <a:latin typeface="Arial"/>
                <a:ea typeface="Arial"/>
                <a:cs typeface="Arial"/>
                <a:sym typeface="Arial"/>
              </a:defRPr>
            </a:lvl7pPr>
            <a:lvl8pPr indent="0" lvl="7" marL="0" algn="r">
              <a:spcBef>
                <a:spcPts val="0"/>
              </a:spcBef>
              <a:buNone/>
              <a:defRPr sz="1000">
                <a:solidFill>
                  <a:srgbClr val="757575"/>
                </a:solidFill>
                <a:latin typeface="Arial"/>
                <a:ea typeface="Arial"/>
                <a:cs typeface="Arial"/>
                <a:sym typeface="Arial"/>
              </a:defRPr>
            </a:lvl8pPr>
            <a:lvl9pPr indent="0" lvl="8" marL="0" algn="r">
              <a:spcBef>
                <a:spcPts val="0"/>
              </a:spcBef>
              <a:buNone/>
              <a:defRPr sz="1000">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7" name="Google Shape;187;p28"/>
          <p:cNvSpPr/>
          <p:nvPr/>
        </p:nvSpPr>
        <p:spPr>
          <a:xfrm>
            <a:off x="0" y="0"/>
            <a:ext cx="12192000" cy="800100"/>
          </a:xfrm>
          <a:prstGeom prst="rect">
            <a:avLst/>
          </a:prstGeom>
          <a:solidFill>
            <a:srgbClr val="A023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88" name="Google Shape;188;p28"/>
          <p:cNvPicPr preferRelativeResize="0"/>
          <p:nvPr/>
        </p:nvPicPr>
        <p:blipFill rotWithShape="1">
          <a:blip r:embed="rId2">
            <a:alphaModFix/>
          </a:blip>
          <a:srcRect b="0" l="0" r="0" t="0"/>
          <a:stretch/>
        </p:blipFill>
        <p:spPr>
          <a:xfrm>
            <a:off x="11335762" y="156642"/>
            <a:ext cx="521276" cy="521276"/>
          </a:xfrm>
          <a:prstGeom prst="rect">
            <a:avLst/>
          </a:prstGeom>
          <a:noFill/>
          <a:ln>
            <a:noFill/>
          </a:ln>
        </p:spPr>
      </p:pic>
      <p:sp>
        <p:nvSpPr>
          <p:cNvPr id="189" name="Google Shape;189;p28"/>
          <p:cNvSpPr txBox="1"/>
          <p:nvPr>
            <p:ph type="title"/>
          </p:nvPr>
        </p:nvSpPr>
        <p:spPr>
          <a:xfrm>
            <a:off x="334963" y="-2026"/>
            <a:ext cx="10637838" cy="80212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0" name="Shape 190"/>
        <p:cNvGrpSpPr/>
        <p:nvPr/>
      </p:nvGrpSpPr>
      <p:grpSpPr>
        <a:xfrm>
          <a:off x="0" y="0"/>
          <a:ext cx="0" cy="0"/>
          <a:chOff x="0" y="0"/>
          <a:chExt cx="0" cy="0"/>
        </a:xfrm>
      </p:grpSpPr>
      <p:pic>
        <p:nvPicPr>
          <p:cNvPr id="191" name="Google Shape;191;p29"/>
          <p:cNvPicPr preferRelativeResize="0"/>
          <p:nvPr/>
        </p:nvPicPr>
        <p:blipFill rotWithShape="1">
          <a:blip r:embed="rId2">
            <a:alphaModFix/>
          </a:blip>
          <a:srcRect b="0" l="0" r="0" t="0"/>
          <a:stretch/>
        </p:blipFill>
        <p:spPr>
          <a:xfrm>
            <a:off x="11335762" y="156642"/>
            <a:ext cx="521276" cy="521276"/>
          </a:xfrm>
          <a:prstGeom prst="rect">
            <a:avLst/>
          </a:prstGeom>
          <a:noFill/>
          <a:ln>
            <a:noFill/>
          </a:ln>
        </p:spPr>
      </p:pic>
      <p:sp>
        <p:nvSpPr>
          <p:cNvPr id="192" name="Google Shape;192;p29"/>
          <p:cNvSpPr txBox="1"/>
          <p:nvPr>
            <p:ph idx="12" type="sldNum"/>
          </p:nvPr>
        </p:nvSpPr>
        <p:spPr>
          <a:xfrm>
            <a:off x="9113837" y="6492875"/>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rgbClr val="757575"/>
                </a:solidFill>
                <a:latin typeface="Arial"/>
                <a:ea typeface="Arial"/>
                <a:cs typeface="Arial"/>
                <a:sym typeface="Arial"/>
              </a:defRPr>
            </a:lvl1pPr>
            <a:lvl2pPr indent="0" lvl="1" marL="0" algn="r">
              <a:spcBef>
                <a:spcPts val="0"/>
              </a:spcBef>
              <a:buNone/>
              <a:defRPr sz="1000">
                <a:solidFill>
                  <a:srgbClr val="757575"/>
                </a:solidFill>
                <a:latin typeface="Arial"/>
                <a:ea typeface="Arial"/>
                <a:cs typeface="Arial"/>
                <a:sym typeface="Arial"/>
              </a:defRPr>
            </a:lvl2pPr>
            <a:lvl3pPr indent="0" lvl="2" marL="0" algn="r">
              <a:spcBef>
                <a:spcPts val="0"/>
              </a:spcBef>
              <a:buNone/>
              <a:defRPr sz="1000">
                <a:solidFill>
                  <a:srgbClr val="757575"/>
                </a:solidFill>
                <a:latin typeface="Arial"/>
                <a:ea typeface="Arial"/>
                <a:cs typeface="Arial"/>
                <a:sym typeface="Arial"/>
              </a:defRPr>
            </a:lvl3pPr>
            <a:lvl4pPr indent="0" lvl="3" marL="0" algn="r">
              <a:spcBef>
                <a:spcPts val="0"/>
              </a:spcBef>
              <a:buNone/>
              <a:defRPr sz="1000">
                <a:solidFill>
                  <a:srgbClr val="757575"/>
                </a:solidFill>
                <a:latin typeface="Arial"/>
                <a:ea typeface="Arial"/>
                <a:cs typeface="Arial"/>
                <a:sym typeface="Arial"/>
              </a:defRPr>
            </a:lvl4pPr>
            <a:lvl5pPr indent="0" lvl="4" marL="0" algn="r">
              <a:spcBef>
                <a:spcPts val="0"/>
              </a:spcBef>
              <a:buNone/>
              <a:defRPr sz="1000">
                <a:solidFill>
                  <a:srgbClr val="757575"/>
                </a:solidFill>
                <a:latin typeface="Arial"/>
                <a:ea typeface="Arial"/>
                <a:cs typeface="Arial"/>
                <a:sym typeface="Arial"/>
              </a:defRPr>
            </a:lvl5pPr>
            <a:lvl6pPr indent="0" lvl="5" marL="0" algn="r">
              <a:spcBef>
                <a:spcPts val="0"/>
              </a:spcBef>
              <a:buNone/>
              <a:defRPr sz="1000">
                <a:solidFill>
                  <a:srgbClr val="757575"/>
                </a:solidFill>
                <a:latin typeface="Arial"/>
                <a:ea typeface="Arial"/>
                <a:cs typeface="Arial"/>
                <a:sym typeface="Arial"/>
              </a:defRPr>
            </a:lvl6pPr>
            <a:lvl7pPr indent="0" lvl="6" marL="0" algn="r">
              <a:spcBef>
                <a:spcPts val="0"/>
              </a:spcBef>
              <a:buNone/>
              <a:defRPr sz="1000">
                <a:solidFill>
                  <a:srgbClr val="757575"/>
                </a:solidFill>
                <a:latin typeface="Arial"/>
                <a:ea typeface="Arial"/>
                <a:cs typeface="Arial"/>
                <a:sym typeface="Arial"/>
              </a:defRPr>
            </a:lvl7pPr>
            <a:lvl8pPr indent="0" lvl="7" marL="0" algn="r">
              <a:spcBef>
                <a:spcPts val="0"/>
              </a:spcBef>
              <a:buNone/>
              <a:defRPr sz="1000">
                <a:solidFill>
                  <a:srgbClr val="757575"/>
                </a:solidFill>
                <a:latin typeface="Arial"/>
                <a:ea typeface="Arial"/>
                <a:cs typeface="Arial"/>
                <a:sym typeface="Arial"/>
              </a:defRPr>
            </a:lvl8pPr>
            <a:lvl9pPr indent="0" lvl="8" marL="0" algn="r">
              <a:spcBef>
                <a:spcPts val="0"/>
              </a:spcBef>
              <a:buNone/>
              <a:defRPr sz="1000">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193" name="Shape 193"/>
        <p:cNvGrpSpPr/>
        <p:nvPr/>
      </p:nvGrpSpPr>
      <p:grpSpPr>
        <a:xfrm>
          <a:off x="0" y="0"/>
          <a:ext cx="0" cy="0"/>
          <a:chOff x="0" y="0"/>
          <a:chExt cx="0" cy="0"/>
        </a:xfrm>
      </p:grpSpPr>
      <p:pic>
        <p:nvPicPr>
          <p:cNvPr id="194" name="Google Shape;194;p30"/>
          <p:cNvPicPr preferRelativeResize="0"/>
          <p:nvPr/>
        </p:nvPicPr>
        <p:blipFill rotWithShape="1">
          <a:blip r:embed="rId2">
            <a:alphaModFix/>
          </a:blip>
          <a:srcRect b="0" l="0" r="0" t="0"/>
          <a:stretch/>
        </p:blipFill>
        <p:spPr>
          <a:xfrm>
            <a:off x="11335762" y="156642"/>
            <a:ext cx="521276" cy="521276"/>
          </a:xfrm>
          <a:prstGeom prst="rect">
            <a:avLst/>
          </a:prstGeom>
          <a:noFill/>
          <a:ln>
            <a:noFill/>
          </a:ln>
        </p:spPr>
      </p:pic>
      <p:sp>
        <p:nvSpPr>
          <p:cNvPr id="195" name="Google Shape;195;p30"/>
          <p:cNvSpPr txBox="1"/>
          <p:nvPr>
            <p:ph idx="12" type="sldNum"/>
          </p:nvPr>
        </p:nvSpPr>
        <p:spPr>
          <a:xfrm>
            <a:off x="9113837" y="6492875"/>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rgbClr val="757575"/>
                </a:solidFill>
                <a:latin typeface="Arial"/>
                <a:ea typeface="Arial"/>
                <a:cs typeface="Arial"/>
                <a:sym typeface="Arial"/>
              </a:defRPr>
            </a:lvl1pPr>
            <a:lvl2pPr indent="0" lvl="1" marL="0" algn="r">
              <a:spcBef>
                <a:spcPts val="0"/>
              </a:spcBef>
              <a:buNone/>
              <a:defRPr sz="1000">
                <a:solidFill>
                  <a:srgbClr val="757575"/>
                </a:solidFill>
                <a:latin typeface="Arial"/>
                <a:ea typeface="Arial"/>
                <a:cs typeface="Arial"/>
                <a:sym typeface="Arial"/>
              </a:defRPr>
            </a:lvl2pPr>
            <a:lvl3pPr indent="0" lvl="2" marL="0" algn="r">
              <a:spcBef>
                <a:spcPts val="0"/>
              </a:spcBef>
              <a:buNone/>
              <a:defRPr sz="1000">
                <a:solidFill>
                  <a:srgbClr val="757575"/>
                </a:solidFill>
                <a:latin typeface="Arial"/>
                <a:ea typeface="Arial"/>
                <a:cs typeface="Arial"/>
                <a:sym typeface="Arial"/>
              </a:defRPr>
            </a:lvl3pPr>
            <a:lvl4pPr indent="0" lvl="3" marL="0" algn="r">
              <a:spcBef>
                <a:spcPts val="0"/>
              </a:spcBef>
              <a:buNone/>
              <a:defRPr sz="1000">
                <a:solidFill>
                  <a:srgbClr val="757575"/>
                </a:solidFill>
                <a:latin typeface="Arial"/>
                <a:ea typeface="Arial"/>
                <a:cs typeface="Arial"/>
                <a:sym typeface="Arial"/>
              </a:defRPr>
            </a:lvl4pPr>
            <a:lvl5pPr indent="0" lvl="4" marL="0" algn="r">
              <a:spcBef>
                <a:spcPts val="0"/>
              </a:spcBef>
              <a:buNone/>
              <a:defRPr sz="1000">
                <a:solidFill>
                  <a:srgbClr val="757575"/>
                </a:solidFill>
                <a:latin typeface="Arial"/>
                <a:ea typeface="Arial"/>
                <a:cs typeface="Arial"/>
                <a:sym typeface="Arial"/>
              </a:defRPr>
            </a:lvl5pPr>
            <a:lvl6pPr indent="0" lvl="5" marL="0" algn="r">
              <a:spcBef>
                <a:spcPts val="0"/>
              </a:spcBef>
              <a:buNone/>
              <a:defRPr sz="1000">
                <a:solidFill>
                  <a:srgbClr val="757575"/>
                </a:solidFill>
                <a:latin typeface="Arial"/>
                <a:ea typeface="Arial"/>
                <a:cs typeface="Arial"/>
                <a:sym typeface="Arial"/>
              </a:defRPr>
            </a:lvl6pPr>
            <a:lvl7pPr indent="0" lvl="6" marL="0" algn="r">
              <a:spcBef>
                <a:spcPts val="0"/>
              </a:spcBef>
              <a:buNone/>
              <a:defRPr sz="1000">
                <a:solidFill>
                  <a:srgbClr val="757575"/>
                </a:solidFill>
                <a:latin typeface="Arial"/>
                <a:ea typeface="Arial"/>
                <a:cs typeface="Arial"/>
                <a:sym typeface="Arial"/>
              </a:defRPr>
            </a:lvl7pPr>
            <a:lvl8pPr indent="0" lvl="7" marL="0" algn="r">
              <a:spcBef>
                <a:spcPts val="0"/>
              </a:spcBef>
              <a:buNone/>
              <a:defRPr sz="1000">
                <a:solidFill>
                  <a:srgbClr val="757575"/>
                </a:solidFill>
                <a:latin typeface="Arial"/>
                <a:ea typeface="Arial"/>
                <a:cs typeface="Arial"/>
                <a:sym typeface="Arial"/>
              </a:defRPr>
            </a:lvl8pPr>
            <a:lvl9pPr indent="0" lvl="8" marL="0" algn="r">
              <a:spcBef>
                <a:spcPts val="0"/>
              </a:spcBef>
              <a:buNone/>
              <a:defRPr sz="1000">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96" name="Google Shape;19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3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98" name="Google Shape;198;p3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p:cSld name="2_Blank">
    <p:spTree>
      <p:nvGrpSpPr>
        <p:cNvPr id="199" name="Shape 199"/>
        <p:cNvGrpSpPr/>
        <p:nvPr/>
      </p:nvGrpSpPr>
      <p:grpSpPr>
        <a:xfrm>
          <a:off x="0" y="0"/>
          <a:ext cx="0" cy="0"/>
          <a:chOff x="0" y="0"/>
          <a:chExt cx="0" cy="0"/>
        </a:xfrm>
      </p:grpSpPr>
      <p:pic>
        <p:nvPicPr>
          <p:cNvPr id="200" name="Google Shape;200;p31"/>
          <p:cNvPicPr preferRelativeResize="0"/>
          <p:nvPr/>
        </p:nvPicPr>
        <p:blipFill rotWithShape="1">
          <a:blip r:embed="rId2">
            <a:alphaModFix/>
          </a:blip>
          <a:srcRect b="0" l="0" r="0" t="0"/>
          <a:stretch/>
        </p:blipFill>
        <p:spPr>
          <a:xfrm>
            <a:off x="11335762" y="156642"/>
            <a:ext cx="521276" cy="521276"/>
          </a:xfrm>
          <a:prstGeom prst="rect">
            <a:avLst/>
          </a:prstGeom>
          <a:noFill/>
          <a:ln>
            <a:noFill/>
          </a:ln>
        </p:spPr>
      </p:pic>
      <p:sp>
        <p:nvSpPr>
          <p:cNvPr id="201" name="Google Shape;201;p31"/>
          <p:cNvSpPr txBox="1"/>
          <p:nvPr>
            <p:ph idx="12" type="sldNum"/>
          </p:nvPr>
        </p:nvSpPr>
        <p:spPr>
          <a:xfrm>
            <a:off x="9113837" y="6492875"/>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rgbClr val="757575"/>
                </a:solidFill>
                <a:latin typeface="Arial"/>
                <a:ea typeface="Arial"/>
                <a:cs typeface="Arial"/>
                <a:sym typeface="Arial"/>
              </a:defRPr>
            </a:lvl1pPr>
            <a:lvl2pPr indent="0" lvl="1" marL="0" algn="r">
              <a:spcBef>
                <a:spcPts val="0"/>
              </a:spcBef>
              <a:buNone/>
              <a:defRPr sz="1000">
                <a:solidFill>
                  <a:srgbClr val="757575"/>
                </a:solidFill>
                <a:latin typeface="Arial"/>
                <a:ea typeface="Arial"/>
                <a:cs typeface="Arial"/>
                <a:sym typeface="Arial"/>
              </a:defRPr>
            </a:lvl2pPr>
            <a:lvl3pPr indent="0" lvl="2" marL="0" algn="r">
              <a:spcBef>
                <a:spcPts val="0"/>
              </a:spcBef>
              <a:buNone/>
              <a:defRPr sz="1000">
                <a:solidFill>
                  <a:srgbClr val="757575"/>
                </a:solidFill>
                <a:latin typeface="Arial"/>
                <a:ea typeface="Arial"/>
                <a:cs typeface="Arial"/>
                <a:sym typeface="Arial"/>
              </a:defRPr>
            </a:lvl3pPr>
            <a:lvl4pPr indent="0" lvl="3" marL="0" algn="r">
              <a:spcBef>
                <a:spcPts val="0"/>
              </a:spcBef>
              <a:buNone/>
              <a:defRPr sz="1000">
                <a:solidFill>
                  <a:srgbClr val="757575"/>
                </a:solidFill>
                <a:latin typeface="Arial"/>
                <a:ea typeface="Arial"/>
                <a:cs typeface="Arial"/>
                <a:sym typeface="Arial"/>
              </a:defRPr>
            </a:lvl4pPr>
            <a:lvl5pPr indent="0" lvl="4" marL="0" algn="r">
              <a:spcBef>
                <a:spcPts val="0"/>
              </a:spcBef>
              <a:buNone/>
              <a:defRPr sz="1000">
                <a:solidFill>
                  <a:srgbClr val="757575"/>
                </a:solidFill>
                <a:latin typeface="Arial"/>
                <a:ea typeface="Arial"/>
                <a:cs typeface="Arial"/>
                <a:sym typeface="Arial"/>
              </a:defRPr>
            </a:lvl5pPr>
            <a:lvl6pPr indent="0" lvl="5" marL="0" algn="r">
              <a:spcBef>
                <a:spcPts val="0"/>
              </a:spcBef>
              <a:buNone/>
              <a:defRPr sz="1000">
                <a:solidFill>
                  <a:srgbClr val="757575"/>
                </a:solidFill>
                <a:latin typeface="Arial"/>
                <a:ea typeface="Arial"/>
                <a:cs typeface="Arial"/>
                <a:sym typeface="Arial"/>
              </a:defRPr>
            </a:lvl6pPr>
            <a:lvl7pPr indent="0" lvl="6" marL="0" algn="r">
              <a:spcBef>
                <a:spcPts val="0"/>
              </a:spcBef>
              <a:buNone/>
              <a:defRPr sz="1000">
                <a:solidFill>
                  <a:srgbClr val="757575"/>
                </a:solidFill>
                <a:latin typeface="Arial"/>
                <a:ea typeface="Arial"/>
                <a:cs typeface="Arial"/>
                <a:sym typeface="Arial"/>
              </a:defRPr>
            </a:lvl7pPr>
            <a:lvl8pPr indent="0" lvl="7" marL="0" algn="r">
              <a:spcBef>
                <a:spcPts val="0"/>
              </a:spcBef>
              <a:buNone/>
              <a:defRPr sz="1000">
                <a:solidFill>
                  <a:srgbClr val="757575"/>
                </a:solidFill>
                <a:latin typeface="Arial"/>
                <a:ea typeface="Arial"/>
                <a:cs typeface="Arial"/>
                <a:sym typeface="Arial"/>
              </a:defRPr>
            </a:lvl8pPr>
            <a:lvl9pPr indent="0" lvl="8" marL="0" algn="r">
              <a:spcBef>
                <a:spcPts val="0"/>
              </a:spcBef>
              <a:buNone/>
              <a:defRPr sz="1000">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02" name="Google Shape;202;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31"/>
          <p:cNvSpPr/>
          <p:nvPr>
            <p:ph idx="2" type="pic"/>
          </p:nvPr>
        </p:nvSpPr>
        <p:spPr>
          <a:xfrm>
            <a:off x="5183188" y="987425"/>
            <a:ext cx="6172200" cy="4873625"/>
          </a:xfrm>
          <a:prstGeom prst="rect">
            <a:avLst/>
          </a:prstGeom>
          <a:noFill/>
          <a:ln>
            <a:noFill/>
          </a:ln>
        </p:spPr>
      </p:sp>
      <p:sp>
        <p:nvSpPr>
          <p:cNvPr id="204" name="Google Shape;204;p3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slideLayout" Target="../slideLayouts/slideLayout27.xml"/><Relationship Id="rId15" Type="http://schemas.openxmlformats.org/officeDocument/2006/relationships/slideLayout" Target="../slideLayouts/slideLayout28.xml"/><Relationship Id="rId16" Type="http://schemas.openxmlformats.org/officeDocument/2006/relationships/slideLayout" Target="../slideLayouts/slideLayout29.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1pPr>
            <a:lvl2pPr lvl="1"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1pPr>
            <a:lvl2pPr lvl="1"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Clr>
                <a:srgbClr val="888888"/>
              </a:buClr>
              <a:buSzPts val="1200"/>
              <a:buFont typeface="Calibri"/>
              <a:buNone/>
              <a:defRPr sz="1200">
                <a:solidFill>
                  <a:srgbClr val="888888"/>
                </a:solidFill>
                <a:latin typeface="Calibri"/>
                <a:ea typeface="Calibri"/>
                <a:cs typeface="Calibri"/>
                <a:sym typeface="Calibri"/>
              </a:defRPr>
            </a:lvl1pPr>
            <a:lvl2pPr indent="0" lvl="1" marL="0" marR="0" rtl="0" algn="r">
              <a:spcBef>
                <a:spcPts val="0"/>
              </a:spcBef>
              <a:buClr>
                <a:srgbClr val="888888"/>
              </a:buClr>
              <a:buSzPts val="1200"/>
              <a:buFont typeface="Calibri"/>
              <a:buNone/>
              <a:defRPr sz="1200">
                <a:solidFill>
                  <a:srgbClr val="888888"/>
                </a:solidFill>
                <a:latin typeface="Calibri"/>
                <a:ea typeface="Calibri"/>
                <a:cs typeface="Calibri"/>
                <a:sym typeface="Calibri"/>
              </a:defRPr>
            </a:lvl2pPr>
            <a:lvl3pPr indent="0" lvl="2" marL="0" marR="0" rtl="0" algn="r">
              <a:spcBef>
                <a:spcPts val="0"/>
              </a:spcBef>
              <a:buClr>
                <a:srgbClr val="888888"/>
              </a:buClr>
              <a:buSzPts val="1200"/>
              <a:buFont typeface="Calibri"/>
              <a:buNone/>
              <a:defRPr sz="1200">
                <a:solidFill>
                  <a:srgbClr val="888888"/>
                </a:solidFill>
                <a:latin typeface="Calibri"/>
                <a:ea typeface="Calibri"/>
                <a:cs typeface="Calibri"/>
                <a:sym typeface="Calibri"/>
              </a:defRPr>
            </a:lvl3pPr>
            <a:lvl4pPr indent="0" lvl="3" marL="0" marR="0" rtl="0" algn="r">
              <a:spcBef>
                <a:spcPts val="0"/>
              </a:spcBef>
              <a:buClr>
                <a:srgbClr val="888888"/>
              </a:buClr>
              <a:buSzPts val="1200"/>
              <a:buFont typeface="Calibri"/>
              <a:buNone/>
              <a:defRPr sz="1200">
                <a:solidFill>
                  <a:srgbClr val="888888"/>
                </a:solidFill>
                <a:latin typeface="Calibri"/>
                <a:ea typeface="Calibri"/>
                <a:cs typeface="Calibri"/>
                <a:sym typeface="Calibri"/>
              </a:defRPr>
            </a:lvl4pPr>
            <a:lvl5pPr indent="0" lvl="4" marL="0" marR="0" rtl="0" algn="r">
              <a:spcBef>
                <a:spcPts val="0"/>
              </a:spcBef>
              <a:buClr>
                <a:srgbClr val="888888"/>
              </a:buClr>
              <a:buSzPts val="1200"/>
              <a:buFont typeface="Calibri"/>
              <a:buNone/>
              <a:defRPr sz="1200">
                <a:solidFill>
                  <a:srgbClr val="888888"/>
                </a:solidFill>
                <a:latin typeface="Calibri"/>
                <a:ea typeface="Calibri"/>
                <a:cs typeface="Calibri"/>
                <a:sym typeface="Calibri"/>
              </a:defRPr>
            </a:lvl5pPr>
            <a:lvl6pPr indent="0" lvl="5" marL="0" marR="0" rtl="0" algn="r">
              <a:spcBef>
                <a:spcPts val="0"/>
              </a:spcBef>
              <a:buClr>
                <a:srgbClr val="888888"/>
              </a:buClr>
              <a:buSzPts val="1200"/>
              <a:buFont typeface="Calibri"/>
              <a:buNone/>
              <a:defRPr sz="1200">
                <a:solidFill>
                  <a:srgbClr val="888888"/>
                </a:solidFill>
                <a:latin typeface="Calibri"/>
                <a:ea typeface="Calibri"/>
                <a:cs typeface="Calibri"/>
                <a:sym typeface="Calibri"/>
              </a:defRPr>
            </a:lvl6pPr>
            <a:lvl7pPr indent="0" lvl="6" marL="0" marR="0" rtl="0" algn="r">
              <a:spcBef>
                <a:spcPts val="0"/>
              </a:spcBef>
              <a:buClr>
                <a:srgbClr val="888888"/>
              </a:buClr>
              <a:buSzPts val="1200"/>
              <a:buFont typeface="Calibri"/>
              <a:buNone/>
              <a:defRPr sz="1200">
                <a:solidFill>
                  <a:srgbClr val="888888"/>
                </a:solidFill>
                <a:latin typeface="Calibri"/>
                <a:ea typeface="Calibri"/>
                <a:cs typeface="Calibri"/>
                <a:sym typeface="Calibri"/>
              </a:defRPr>
            </a:lvl7pPr>
            <a:lvl8pPr indent="0" lvl="7" marL="0" marR="0" rtl="0" algn="r">
              <a:spcBef>
                <a:spcPts val="0"/>
              </a:spcBef>
              <a:buClr>
                <a:srgbClr val="888888"/>
              </a:buClr>
              <a:buSzPts val="1200"/>
              <a:buFont typeface="Calibri"/>
              <a:buNone/>
              <a:defRPr sz="1200">
                <a:solidFill>
                  <a:srgbClr val="888888"/>
                </a:solidFill>
                <a:latin typeface="Calibri"/>
                <a:ea typeface="Calibri"/>
                <a:cs typeface="Calibri"/>
                <a:sym typeface="Calibri"/>
              </a:defRPr>
            </a:lvl8pPr>
            <a:lvl9pPr indent="0" lvl="8" marL="0" marR="0" rtl="0" algn="r">
              <a:spcBef>
                <a:spcPts val="0"/>
              </a:spcBef>
              <a:buClr>
                <a:srgbClr val="888888"/>
              </a:buClr>
              <a:buSzPts val="1200"/>
              <a:buFont typeface="Calibri"/>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15"/>
          <p:cNvSpPr txBox="1"/>
          <p:nvPr>
            <p:ph type="title"/>
          </p:nvPr>
        </p:nvSpPr>
        <p:spPr>
          <a:xfrm>
            <a:off x="334963" y="365125"/>
            <a:ext cx="11522075"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9" name="Google Shape;99;p15"/>
          <p:cNvSpPr txBox="1"/>
          <p:nvPr>
            <p:ph idx="1" type="body"/>
          </p:nvPr>
        </p:nvSpPr>
        <p:spPr>
          <a:xfrm>
            <a:off x="334963" y="1825625"/>
            <a:ext cx="11522075" cy="4351338"/>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0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0" name="Google Shape;100;p15"/>
          <p:cNvSpPr txBox="1"/>
          <p:nvPr>
            <p:ph idx="10" type="dt"/>
          </p:nvPr>
        </p:nvSpPr>
        <p:spPr>
          <a:xfrm>
            <a:off x="334963"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1" name="Google Shape;10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2" name="Google Shape;102;p15"/>
          <p:cNvSpPr txBox="1"/>
          <p:nvPr>
            <p:ph idx="12" type="sldNum"/>
          </p:nvPr>
        </p:nvSpPr>
        <p:spPr>
          <a:xfrm>
            <a:off x="9113838"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000">
                <a:solidFill>
                  <a:srgbClr val="757575"/>
                </a:solidFill>
                <a:latin typeface="Arial"/>
                <a:ea typeface="Arial"/>
                <a:cs typeface="Arial"/>
                <a:sym typeface="Arial"/>
              </a:defRPr>
            </a:lvl1pPr>
            <a:lvl2pPr indent="0" lvl="1" marL="0" marR="0" rtl="0" algn="r">
              <a:spcBef>
                <a:spcPts val="0"/>
              </a:spcBef>
              <a:buNone/>
              <a:defRPr sz="1000">
                <a:solidFill>
                  <a:srgbClr val="757575"/>
                </a:solidFill>
                <a:latin typeface="Arial"/>
                <a:ea typeface="Arial"/>
                <a:cs typeface="Arial"/>
                <a:sym typeface="Arial"/>
              </a:defRPr>
            </a:lvl2pPr>
            <a:lvl3pPr indent="0" lvl="2" marL="0" marR="0" rtl="0" algn="r">
              <a:spcBef>
                <a:spcPts val="0"/>
              </a:spcBef>
              <a:buNone/>
              <a:defRPr sz="1000">
                <a:solidFill>
                  <a:srgbClr val="757575"/>
                </a:solidFill>
                <a:latin typeface="Arial"/>
                <a:ea typeface="Arial"/>
                <a:cs typeface="Arial"/>
                <a:sym typeface="Arial"/>
              </a:defRPr>
            </a:lvl3pPr>
            <a:lvl4pPr indent="0" lvl="3" marL="0" marR="0" rtl="0" algn="r">
              <a:spcBef>
                <a:spcPts val="0"/>
              </a:spcBef>
              <a:buNone/>
              <a:defRPr sz="1000">
                <a:solidFill>
                  <a:srgbClr val="757575"/>
                </a:solidFill>
                <a:latin typeface="Arial"/>
                <a:ea typeface="Arial"/>
                <a:cs typeface="Arial"/>
                <a:sym typeface="Arial"/>
              </a:defRPr>
            </a:lvl4pPr>
            <a:lvl5pPr indent="0" lvl="4" marL="0" marR="0" rtl="0" algn="r">
              <a:spcBef>
                <a:spcPts val="0"/>
              </a:spcBef>
              <a:buNone/>
              <a:defRPr sz="1000">
                <a:solidFill>
                  <a:srgbClr val="757575"/>
                </a:solidFill>
                <a:latin typeface="Arial"/>
                <a:ea typeface="Arial"/>
                <a:cs typeface="Arial"/>
                <a:sym typeface="Arial"/>
              </a:defRPr>
            </a:lvl5pPr>
            <a:lvl6pPr indent="0" lvl="5" marL="0" marR="0" rtl="0" algn="r">
              <a:spcBef>
                <a:spcPts val="0"/>
              </a:spcBef>
              <a:buNone/>
              <a:defRPr sz="1000">
                <a:solidFill>
                  <a:srgbClr val="757575"/>
                </a:solidFill>
                <a:latin typeface="Arial"/>
                <a:ea typeface="Arial"/>
                <a:cs typeface="Arial"/>
                <a:sym typeface="Arial"/>
              </a:defRPr>
            </a:lvl6pPr>
            <a:lvl7pPr indent="0" lvl="6" marL="0" marR="0" rtl="0" algn="r">
              <a:spcBef>
                <a:spcPts val="0"/>
              </a:spcBef>
              <a:buNone/>
              <a:defRPr sz="1000">
                <a:solidFill>
                  <a:srgbClr val="757575"/>
                </a:solidFill>
                <a:latin typeface="Arial"/>
                <a:ea typeface="Arial"/>
                <a:cs typeface="Arial"/>
                <a:sym typeface="Arial"/>
              </a:defRPr>
            </a:lvl7pPr>
            <a:lvl8pPr indent="0" lvl="7" marL="0" marR="0" rtl="0" algn="r">
              <a:spcBef>
                <a:spcPts val="0"/>
              </a:spcBef>
              <a:buNone/>
              <a:defRPr sz="1000">
                <a:solidFill>
                  <a:srgbClr val="757575"/>
                </a:solidFill>
                <a:latin typeface="Arial"/>
                <a:ea typeface="Arial"/>
                <a:cs typeface="Arial"/>
                <a:sym typeface="Arial"/>
              </a:defRPr>
            </a:lvl8pPr>
            <a:lvl9pPr indent="0" lvl="8" marL="0" marR="0" rtl="0" algn="r">
              <a:spcBef>
                <a:spcPts val="0"/>
              </a:spcBef>
              <a:buNone/>
              <a:defRPr sz="1000">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50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6.png"/><Relationship Id="rId4" Type="http://schemas.openxmlformats.org/officeDocument/2006/relationships/image" Target="../media/image18.png"/><Relationship Id="rId5"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21.png"/><Relationship Id="rId5"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grpSp>
        <p:nvGrpSpPr>
          <p:cNvPr id="209" name="Google Shape;209;p32"/>
          <p:cNvGrpSpPr/>
          <p:nvPr/>
        </p:nvGrpSpPr>
        <p:grpSpPr>
          <a:xfrm>
            <a:off x="438912" y="1744980"/>
            <a:ext cx="4668358" cy="1884521"/>
            <a:chOff x="438912" y="1744980"/>
            <a:chExt cx="4668358" cy="1884521"/>
          </a:xfrm>
        </p:grpSpPr>
        <p:sp>
          <p:nvSpPr>
            <p:cNvPr id="210" name="Google Shape;210;p32"/>
            <p:cNvSpPr txBox="1"/>
            <p:nvPr/>
          </p:nvSpPr>
          <p:spPr>
            <a:xfrm>
              <a:off x="438912" y="1744980"/>
              <a:ext cx="4668358" cy="7040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FFFFFF"/>
                  </a:solidFill>
                  <a:latin typeface="Arial"/>
                  <a:ea typeface="Arial"/>
                  <a:cs typeface="Arial"/>
                  <a:sym typeface="Arial"/>
                </a:rPr>
                <a:t>Cost-Sensitive SVM</a:t>
              </a:r>
              <a:endParaRPr/>
            </a:p>
          </p:txBody>
        </p:sp>
        <p:sp>
          <p:nvSpPr>
            <p:cNvPr id="211" name="Google Shape;211;p32"/>
            <p:cNvSpPr txBox="1"/>
            <p:nvPr/>
          </p:nvSpPr>
          <p:spPr>
            <a:xfrm>
              <a:off x="440055" y="2378869"/>
              <a:ext cx="3272931" cy="66008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380">
                  <a:solidFill>
                    <a:srgbClr val="FFFFFF"/>
                  </a:solidFill>
                  <a:latin typeface="Arial"/>
                  <a:ea typeface="Arial"/>
                  <a:cs typeface="Arial"/>
                  <a:sym typeface="Arial"/>
                </a:rPr>
                <a:t>for Credit Card</a:t>
              </a:r>
              <a:endParaRPr/>
            </a:p>
          </p:txBody>
        </p:sp>
        <p:sp>
          <p:nvSpPr>
            <p:cNvPr id="212" name="Google Shape;212;p32"/>
            <p:cNvSpPr txBox="1"/>
            <p:nvPr/>
          </p:nvSpPr>
          <p:spPr>
            <a:xfrm>
              <a:off x="440055" y="2969419"/>
              <a:ext cx="3525784" cy="66008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380">
                  <a:solidFill>
                    <a:srgbClr val="FFFFFF"/>
                  </a:solidFill>
                  <a:latin typeface="Arial"/>
                  <a:ea typeface="Arial"/>
                  <a:cs typeface="Arial"/>
                  <a:sym typeface="Arial"/>
                </a:rPr>
                <a:t>Fraud Detection</a:t>
              </a:r>
              <a:endParaRPr/>
            </a:p>
          </p:txBody>
        </p:sp>
      </p:grpSp>
      <p:grpSp>
        <p:nvGrpSpPr>
          <p:cNvPr id="213" name="Google Shape;213;p32"/>
          <p:cNvGrpSpPr/>
          <p:nvPr/>
        </p:nvGrpSpPr>
        <p:grpSpPr>
          <a:xfrm>
            <a:off x="447294" y="4361498"/>
            <a:ext cx="4834082" cy="1447514"/>
            <a:chOff x="447294" y="4361498"/>
            <a:chExt cx="4834082" cy="1447514"/>
          </a:xfrm>
        </p:grpSpPr>
        <p:sp>
          <p:nvSpPr>
            <p:cNvPr id="214" name="Google Shape;214;p32"/>
            <p:cNvSpPr txBox="1"/>
            <p:nvPr/>
          </p:nvSpPr>
          <p:spPr>
            <a:xfrm>
              <a:off x="447294" y="4361498"/>
              <a:ext cx="4834082" cy="38138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950">
                  <a:solidFill>
                    <a:srgbClr val="FFFFFF"/>
                  </a:solidFill>
                  <a:latin typeface="Arial"/>
                  <a:ea typeface="Arial"/>
                  <a:cs typeface="Arial"/>
                  <a:sym typeface="Arial"/>
                </a:rPr>
                <a:t>Application • Theory • Weighted Pegasos</a:t>
              </a:r>
              <a:endParaRPr/>
            </a:p>
          </p:txBody>
        </p:sp>
        <p:sp>
          <p:nvSpPr>
            <p:cNvPr id="215" name="Google Shape;215;p32"/>
            <p:cNvSpPr txBox="1"/>
            <p:nvPr/>
          </p:nvSpPr>
          <p:spPr>
            <a:xfrm>
              <a:off x="448056" y="4968240"/>
              <a:ext cx="3284757" cy="3520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FFFFFF"/>
                  </a:solidFill>
                  <a:latin typeface="Arial"/>
                  <a:ea typeface="Arial"/>
                  <a:cs typeface="Arial"/>
                  <a:sym typeface="Arial"/>
                </a:rPr>
                <a:t>COMP6704 | Group 4 | Part 1</a:t>
              </a:r>
              <a:endParaRPr/>
            </a:p>
          </p:txBody>
        </p:sp>
        <p:sp>
          <p:nvSpPr>
            <p:cNvPr id="216" name="Google Shape;216;p32"/>
            <p:cNvSpPr/>
            <p:nvPr/>
          </p:nvSpPr>
          <p:spPr>
            <a:xfrm>
              <a:off x="448437" y="5471636"/>
              <a:ext cx="2386012" cy="3373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720">
                  <a:solidFill>
                    <a:srgbClr val="FFFFFF"/>
                  </a:solidFill>
                  <a:latin typeface="Arial"/>
                  <a:ea typeface="Arial"/>
                  <a:cs typeface="Arial"/>
                  <a:sym typeface="Arial"/>
                </a:rPr>
                <a:t>7-minute presentation</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3"/>
          <p:cNvSpPr txBox="1"/>
          <p:nvPr/>
        </p:nvSpPr>
        <p:spPr>
          <a:xfrm>
            <a:off x="367284" y="241935"/>
            <a:ext cx="5512316" cy="5280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FFFFFF"/>
                </a:solidFill>
                <a:latin typeface="Arial"/>
                <a:ea typeface="Arial"/>
                <a:cs typeface="Arial"/>
                <a:sym typeface="Arial"/>
              </a:rPr>
              <a:t>Fraud detection and error costs</a:t>
            </a:r>
            <a:endParaRPr/>
          </a:p>
        </p:txBody>
      </p:sp>
      <p:grpSp>
        <p:nvGrpSpPr>
          <p:cNvPr id="222" name="Google Shape;222;p33"/>
          <p:cNvGrpSpPr/>
          <p:nvPr/>
        </p:nvGrpSpPr>
        <p:grpSpPr>
          <a:xfrm>
            <a:off x="393954" y="6499860"/>
            <a:ext cx="11280267" cy="234696"/>
            <a:chOff x="393954" y="6499860"/>
            <a:chExt cx="11280267" cy="234696"/>
          </a:xfrm>
        </p:grpSpPr>
        <p:sp>
          <p:nvSpPr>
            <p:cNvPr id="223" name="Google Shape;223;p33"/>
            <p:cNvSpPr txBox="1"/>
            <p:nvPr/>
          </p:nvSpPr>
          <p:spPr>
            <a:xfrm>
              <a:off x="393954" y="6499860"/>
              <a:ext cx="6522622" cy="2346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626262"/>
                  </a:solidFill>
                  <a:latin typeface="Arial"/>
                  <a:ea typeface="Arial"/>
                  <a:cs typeface="Arial"/>
                  <a:sym typeface="Arial"/>
                </a:rPr>
                <a:t>Source: Group 4 proposal, pp. 1–2 and §3.4. The cost ratio is an experimental assumption.</a:t>
              </a:r>
              <a:endParaRPr/>
            </a:p>
          </p:txBody>
        </p:sp>
        <p:sp>
          <p:nvSpPr>
            <p:cNvPr id="224" name="Google Shape;224;p33"/>
            <p:cNvSpPr txBox="1"/>
            <p:nvPr/>
          </p:nvSpPr>
          <p:spPr>
            <a:xfrm>
              <a:off x="11572178" y="6499860"/>
              <a:ext cx="102043" cy="23469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200">
                  <a:solidFill>
                    <a:srgbClr val="626262"/>
                  </a:solidFill>
                  <a:latin typeface="Arial"/>
                  <a:ea typeface="Arial"/>
                  <a:cs typeface="Arial"/>
                  <a:sym typeface="Arial"/>
                </a:rPr>
                <a:t>2</a:t>
              </a:r>
              <a:endParaRPr/>
            </a:p>
          </p:txBody>
        </p:sp>
      </p:grpSp>
      <p:grpSp>
        <p:nvGrpSpPr>
          <p:cNvPr id="225" name="Google Shape;225;p33"/>
          <p:cNvGrpSpPr/>
          <p:nvPr/>
        </p:nvGrpSpPr>
        <p:grpSpPr>
          <a:xfrm>
            <a:off x="556260" y="1278255"/>
            <a:ext cx="9788638" cy="1090327"/>
            <a:chOff x="556260" y="1278255"/>
            <a:chExt cx="9788638" cy="1090327"/>
          </a:xfrm>
        </p:grpSpPr>
        <p:sp>
          <p:nvSpPr>
            <p:cNvPr id="226" name="Google Shape;226;p33"/>
            <p:cNvSpPr txBox="1"/>
            <p:nvPr/>
          </p:nvSpPr>
          <p:spPr>
            <a:xfrm>
              <a:off x="560832" y="1278255"/>
              <a:ext cx="2624190" cy="41071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626262"/>
                  </a:solidFill>
                  <a:latin typeface="Arial"/>
                  <a:ea typeface="Arial"/>
                  <a:cs typeface="Arial"/>
                  <a:sym typeface="Arial"/>
                </a:rPr>
                <a:t>ULB credit card data</a:t>
              </a:r>
              <a:endParaRPr/>
            </a:p>
          </p:txBody>
        </p:sp>
        <p:sp>
          <p:nvSpPr>
            <p:cNvPr id="227" name="Google Shape;227;p33"/>
            <p:cNvSpPr txBox="1"/>
            <p:nvPr/>
          </p:nvSpPr>
          <p:spPr>
            <a:xfrm>
              <a:off x="556260" y="1781175"/>
              <a:ext cx="6361066" cy="586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A02337"/>
                  </a:solidFill>
                  <a:latin typeface="Arial"/>
                  <a:ea typeface="Arial"/>
                  <a:cs typeface="Arial"/>
                  <a:sym typeface="Arial"/>
                </a:rPr>
                <a:t>492 frauds / 284,807 transactions</a:t>
              </a:r>
              <a:endParaRPr/>
            </a:p>
          </p:txBody>
        </p:sp>
        <p:sp>
          <p:nvSpPr>
            <p:cNvPr id="228" name="Google Shape;228;p33"/>
            <p:cNvSpPr txBox="1"/>
            <p:nvPr/>
          </p:nvSpPr>
          <p:spPr>
            <a:xfrm>
              <a:off x="8841867" y="1737836"/>
              <a:ext cx="1503031" cy="63074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20">
                  <a:solidFill>
                    <a:srgbClr val="A02337"/>
                  </a:solidFill>
                  <a:latin typeface="Arial"/>
                  <a:ea typeface="Arial"/>
                  <a:cs typeface="Arial"/>
                  <a:sym typeface="Arial"/>
                </a:rPr>
                <a:t>0.173%</a:t>
              </a:r>
              <a:endParaRPr/>
            </a:p>
          </p:txBody>
        </p:sp>
      </p:grpSp>
      <p:grpSp>
        <p:nvGrpSpPr>
          <p:cNvPr id="229" name="Google Shape;229;p33"/>
          <p:cNvGrpSpPr/>
          <p:nvPr/>
        </p:nvGrpSpPr>
        <p:grpSpPr>
          <a:xfrm>
            <a:off x="555117" y="2716530"/>
            <a:ext cx="8831691" cy="1071277"/>
            <a:chOff x="555117" y="2716530"/>
            <a:chExt cx="8831691" cy="1071277"/>
          </a:xfrm>
        </p:grpSpPr>
        <p:sp>
          <p:nvSpPr>
            <p:cNvPr id="230" name="Google Shape;230;p33"/>
            <p:cNvSpPr txBox="1"/>
            <p:nvPr/>
          </p:nvSpPr>
          <p:spPr>
            <a:xfrm>
              <a:off x="560832" y="2716530"/>
              <a:ext cx="5921733" cy="41071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262626"/>
                  </a:solidFill>
                  <a:latin typeface="Arial"/>
                  <a:ea typeface="Arial"/>
                  <a:cs typeface="Arial"/>
                  <a:sym typeface="Arial"/>
                </a:rPr>
                <a:t>Predicting every transaction as legitimate gives</a:t>
              </a:r>
              <a:endParaRPr/>
            </a:p>
          </p:txBody>
        </p:sp>
        <p:sp>
          <p:nvSpPr>
            <p:cNvPr id="231" name="Google Shape;231;p33"/>
            <p:cNvSpPr txBox="1"/>
            <p:nvPr/>
          </p:nvSpPr>
          <p:spPr>
            <a:xfrm>
              <a:off x="555117" y="3157061"/>
              <a:ext cx="3744624" cy="63074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20">
                  <a:solidFill>
                    <a:srgbClr val="A02337"/>
                  </a:solidFill>
                  <a:latin typeface="Arial"/>
                  <a:ea typeface="Arial"/>
                  <a:cs typeface="Arial"/>
                  <a:sym typeface="Arial"/>
                </a:rPr>
                <a:t>99.827% accuracy</a:t>
              </a:r>
              <a:endParaRPr/>
            </a:p>
          </p:txBody>
        </p:sp>
        <p:sp>
          <p:nvSpPr>
            <p:cNvPr id="232" name="Google Shape;232;p33"/>
            <p:cNvSpPr txBox="1"/>
            <p:nvPr/>
          </p:nvSpPr>
          <p:spPr>
            <a:xfrm>
              <a:off x="6270117" y="3157061"/>
              <a:ext cx="3116691" cy="63074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20">
                  <a:solidFill>
                    <a:srgbClr val="A02337"/>
                  </a:solidFill>
                  <a:latin typeface="Arial"/>
                  <a:ea typeface="Arial"/>
                  <a:cs typeface="Arial"/>
                  <a:sym typeface="Arial"/>
                </a:rPr>
                <a:t>0% fraud recall</a:t>
              </a:r>
              <a:endParaRPr/>
            </a:p>
          </p:txBody>
        </p:sp>
      </p:grpSp>
      <p:grpSp>
        <p:nvGrpSpPr>
          <p:cNvPr id="233" name="Google Shape;233;p33"/>
          <p:cNvGrpSpPr/>
          <p:nvPr/>
        </p:nvGrpSpPr>
        <p:grpSpPr>
          <a:xfrm>
            <a:off x="557022" y="4233862"/>
            <a:ext cx="7916154" cy="1808703"/>
            <a:chOff x="557022" y="4233862"/>
            <a:chExt cx="7916154" cy="1808703"/>
          </a:xfrm>
        </p:grpSpPr>
        <p:sp>
          <p:nvSpPr>
            <p:cNvPr id="234" name="Google Shape;234;p33"/>
            <p:cNvSpPr txBox="1"/>
            <p:nvPr/>
          </p:nvSpPr>
          <p:spPr>
            <a:xfrm>
              <a:off x="560070" y="4233862"/>
              <a:ext cx="2518451" cy="4400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50">
                  <a:solidFill>
                    <a:srgbClr val="262626"/>
                  </a:solidFill>
                  <a:latin typeface="Arial"/>
                  <a:ea typeface="Arial"/>
                  <a:cs typeface="Arial"/>
                  <a:sym typeface="Arial"/>
                </a:rPr>
                <a:t>FN: missed fraud</a:t>
              </a:r>
              <a:endParaRPr/>
            </a:p>
          </p:txBody>
        </p:sp>
        <p:sp>
          <p:nvSpPr>
            <p:cNvPr id="235" name="Google Shape;235;p33"/>
            <p:cNvSpPr txBox="1"/>
            <p:nvPr/>
          </p:nvSpPr>
          <p:spPr>
            <a:xfrm>
              <a:off x="6275070" y="4233862"/>
              <a:ext cx="2198106" cy="4400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50">
                  <a:solidFill>
                    <a:srgbClr val="262626"/>
                  </a:solidFill>
                  <a:latin typeface="Arial"/>
                  <a:ea typeface="Arial"/>
                  <a:cs typeface="Arial"/>
                  <a:sym typeface="Arial"/>
                </a:rPr>
                <a:t>FP: false alarm</a:t>
              </a:r>
              <a:endParaRPr/>
            </a:p>
          </p:txBody>
        </p:sp>
        <p:sp>
          <p:nvSpPr>
            <p:cNvPr id="236" name="Google Shape;236;p33"/>
            <p:cNvSpPr txBox="1"/>
            <p:nvPr/>
          </p:nvSpPr>
          <p:spPr>
            <a:xfrm>
              <a:off x="557022" y="4835842"/>
              <a:ext cx="4919780" cy="55740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50">
                  <a:solidFill>
                    <a:srgbClr val="262626"/>
                  </a:solidFill>
                  <a:latin typeface="Cambria Math"/>
                  <a:ea typeface="Cambria Math"/>
                  <a:cs typeface="Cambria Math"/>
                  <a:sym typeface="Cambria Math"/>
                </a:rPr>
                <a:t>Cost = cFN · FN + cFP · FP</a:t>
              </a:r>
              <a:endParaRPr/>
            </a:p>
          </p:txBody>
        </p:sp>
        <p:sp>
          <p:nvSpPr>
            <p:cNvPr id="237" name="Google Shape;237;p33"/>
            <p:cNvSpPr txBox="1"/>
            <p:nvPr/>
          </p:nvSpPr>
          <p:spPr>
            <a:xfrm>
              <a:off x="559689" y="5587841"/>
              <a:ext cx="5277799" cy="45472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320">
                  <a:solidFill>
                    <a:srgbClr val="A02337"/>
                  </a:solidFill>
                  <a:latin typeface="Arial"/>
                  <a:ea typeface="Arial"/>
                  <a:cs typeface="Arial"/>
                  <a:sym typeface="Arial"/>
                </a:rPr>
                <a:t>Example setting: cFN : cFP = 20 : 1</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4"/>
          <p:cNvSpPr/>
          <p:nvPr/>
        </p:nvSpPr>
        <p:spPr>
          <a:xfrm>
            <a:off x="367284" y="241935"/>
            <a:ext cx="4907280" cy="5280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700">
                <a:solidFill>
                  <a:srgbClr val="FFFFFF"/>
                </a:solidFill>
                <a:latin typeface="Arial"/>
                <a:ea typeface="Arial"/>
                <a:cs typeface="Arial"/>
                <a:sym typeface="Arial"/>
              </a:rPr>
              <a:t>Cost-dependent penalties</a:t>
            </a:r>
            <a:endParaRPr/>
          </a:p>
        </p:txBody>
      </p:sp>
      <p:grpSp>
        <p:nvGrpSpPr>
          <p:cNvPr id="243" name="Google Shape;243;p34"/>
          <p:cNvGrpSpPr/>
          <p:nvPr/>
        </p:nvGrpSpPr>
        <p:grpSpPr>
          <a:xfrm>
            <a:off x="393954" y="6499860"/>
            <a:ext cx="11280267" cy="234696"/>
            <a:chOff x="393954" y="6499860"/>
            <a:chExt cx="11280267" cy="234696"/>
          </a:xfrm>
        </p:grpSpPr>
        <p:sp>
          <p:nvSpPr>
            <p:cNvPr id="244" name="Google Shape;244;p34"/>
            <p:cNvSpPr txBox="1"/>
            <p:nvPr/>
          </p:nvSpPr>
          <p:spPr>
            <a:xfrm>
              <a:off x="393954" y="6499860"/>
              <a:ext cx="5297566" cy="2346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626262"/>
                  </a:solidFill>
                  <a:latin typeface="Arial"/>
                  <a:ea typeface="Arial"/>
                  <a:cs typeface="Arial"/>
                  <a:sym typeface="Arial"/>
                </a:rPr>
                <a:t>Use training-set class proportions; C &gt; 0 and both error costs are positive.</a:t>
              </a:r>
              <a:endParaRPr/>
            </a:p>
          </p:txBody>
        </p:sp>
        <p:sp>
          <p:nvSpPr>
            <p:cNvPr id="245" name="Google Shape;245;p34"/>
            <p:cNvSpPr/>
            <p:nvPr/>
          </p:nvSpPr>
          <p:spPr>
            <a:xfrm>
              <a:off x="11572208" y="6499860"/>
              <a:ext cx="102013" cy="234696"/>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200">
                  <a:solidFill>
                    <a:srgbClr val="626262"/>
                  </a:solidFill>
                  <a:latin typeface="Arial"/>
                  <a:ea typeface="Arial"/>
                  <a:cs typeface="Arial"/>
                  <a:sym typeface="Arial"/>
                </a:rPr>
                <a:t>3</a:t>
              </a:r>
              <a:endParaRPr/>
            </a:p>
          </p:txBody>
        </p:sp>
      </p:grpSp>
      <p:grpSp>
        <p:nvGrpSpPr>
          <p:cNvPr id="246" name="Google Shape;246;p34"/>
          <p:cNvGrpSpPr/>
          <p:nvPr/>
        </p:nvGrpSpPr>
        <p:grpSpPr>
          <a:xfrm>
            <a:off x="555498" y="1312545"/>
            <a:ext cx="10035441" cy="1192340"/>
            <a:chOff x="555498" y="1312545"/>
            <a:chExt cx="10035441" cy="1192340"/>
          </a:xfrm>
        </p:grpSpPr>
        <p:sp>
          <p:nvSpPr>
            <p:cNvPr id="247" name="Google Shape;247;p34"/>
            <p:cNvSpPr txBox="1"/>
            <p:nvPr/>
          </p:nvSpPr>
          <p:spPr>
            <a:xfrm>
              <a:off x="559308" y="1312545"/>
              <a:ext cx="4809503" cy="4693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400">
                  <a:solidFill>
                    <a:srgbClr val="262626"/>
                  </a:solidFill>
                  <a:latin typeface="Arial"/>
                  <a:ea typeface="Arial"/>
                  <a:cs typeface="Arial"/>
                  <a:sym typeface="Arial"/>
                </a:rPr>
                <a:t>Fraud: y = +1 | Legitimate: y = −1</a:t>
              </a:r>
              <a:endParaRPr/>
            </a:p>
          </p:txBody>
        </p:sp>
        <p:sp>
          <p:nvSpPr>
            <p:cNvPr id="248" name="Google Shape;248;p34"/>
            <p:cNvSpPr txBox="1"/>
            <p:nvPr/>
          </p:nvSpPr>
          <p:spPr>
            <a:xfrm>
              <a:off x="555498" y="1888808"/>
              <a:ext cx="3934692" cy="6160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150">
                  <a:solidFill>
                    <a:srgbClr val="A02337"/>
                  </a:solidFill>
                  <a:latin typeface="Cambria Math"/>
                  <a:ea typeface="Cambria Math"/>
                  <a:cs typeface="Cambria Math"/>
                  <a:sym typeface="Cambria Math"/>
                </a:rPr>
                <a:t>a₊ / a₋ = cFN / cFP</a:t>
              </a:r>
              <a:endParaRPr/>
            </a:p>
          </p:txBody>
        </p:sp>
        <p:sp>
          <p:nvSpPr>
            <p:cNvPr id="249" name="Google Shape;249;p34"/>
            <p:cNvSpPr txBox="1"/>
            <p:nvPr/>
          </p:nvSpPr>
          <p:spPr>
            <a:xfrm>
              <a:off x="6371463" y="1962626"/>
              <a:ext cx="4219476" cy="396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20">
                  <a:solidFill>
                    <a:srgbClr val="262626"/>
                  </a:solidFill>
                  <a:latin typeface="Arial"/>
                  <a:ea typeface="Arial"/>
                  <a:cs typeface="Arial"/>
                  <a:sym typeface="Arial"/>
                </a:rPr>
                <a:t>Cost ratio 20:1 → weight ratio 20:1</a:t>
              </a:r>
              <a:endParaRPr/>
            </a:p>
          </p:txBody>
        </p:sp>
      </p:grpSp>
      <p:grpSp>
        <p:nvGrpSpPr>
          <p:cNvPr id="250" name="Google Shape;250;p34"/>
          <p:cNvGrpSpPr/>
          <p:nvPr/>
        </p:nvGrpSpPr>
        <p:grpSpPr>
          <a:xfrm>
            <a:off x="556641" y="2922746"/>
            <a:ext cx="7254545" cy="2064830"/>
            <a:chOff x="556641" y="2922746"/>
            <a:chExt cx="7254545" cy="2064830"/>
          </a:xfrm>
        </p:grpSpPr>
        <p:sp>
          <p:nvSpPr>
            <p:cNvPr id="251" name="Google Shape;251;p34"/>
            <p:cNvSpPr txBox="1"/>
            <p:nvPr/>
          </p:nvSpPr>
          <p:spPr>
            <a:xfrm>
              <a:off x="556641" y="2922746"/>
              <a:ext cx="3636384" cy="5720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920">
                  <a:solidFill>
                    <a:srgbClr val="262626"/>
                  </a:solidFill>
                  <a:latin typeface="Cambria Math"/>
                  <a:ea typeface="Cambria Math"/>
                  <a:cs typeface="Cambria Math"/>
                  <a:sym typeface="Cambria Math"/>
                </a:rPr>
                <a:t>c̄ = p₊ cFN + p₋ cFP</a:t>
              </a:r>
              <a:endParaRPr/>
            </a:p>
          </p:txBody>
        </p:sp>
        <p:sp>
          <p:nvSpPr>
            <p:cNvPr id="252" name="Google Shape;252;p34"/>
            <p:cNvSpPr txBox="1"/>
            <p:nvPr/>
          </p:nvSpPr>
          <p:spPr>
            <a:xfrm>
              <a:off x="556641" y="3570446"/>
              <a:ext cx="2663424" cy="5720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920">
                  <a:solidFill>
                    <a:srgbClr val="262626"/>
                  </a:solidFill>
                  <a:latin typeface="Cambria Math"/>
                  <a:ea typeface="Cambria Math"/>
                  <a:cs typeface="Cambria Math"/>
                  <a:sym typeface="Cambria Math"/>
                </a:rPr>
                <a:t>aᵢ = c(yᵢ) / c̄</a:t>
              </a:r>
              <a:endParaRPr/>
            </a:p>
          </p:txBody>
        </p:sp>
        <p:sp>
          <p:nvSpPr>
            <p:cNvPr id="253" name="Google Shape;253;p34"/>
            <p:cNvSpPr txBox="1"/>
            <p:nvPr/>
          </p:nvSpPr>
          <p:spPr>
            <a:xfrm>
              <a:off x="5889117" y="3538061"/>
              <a:ext cx="1922069" cy="63074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220">
                  <a:solidFill>
                    <a:srgbClr val="A02337"/>
                  </a:solidFill>
                  <a:latin typeface="Cambria Math"/>
                  <a:ea typeface="Cambria Math"/>
                  <a:cs typeface="Cambria Math"/>
                  <a:sym typeface="Cambria Math"/>
                </a:rPr>
                <a:t>Cᵢ = C aᵢ</a:t>
              </a:r>
              <a:endParaRPr/>
            </a:p>
          </p:txBody>
        </p:sp>
        <p:sp>
          <p:nvSpPr>
            <p:cNvPr id="254" name="Google Shape;254;p34"/>
            <p:cNvSpPr txBox="1"/>
            <p:nvPr/>
          </p:nvSpPr>
          <p:spPr>
            <a:xfrm>
              <a:off x="561213" y="4153376"/>
              <a:ext cx="3112707" cy="396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20">
                  <a:solidFill>
                    <a:srgbClr val="626262"/>
                  </a:solidFill>
                  <a:latin typeface="Arial"/>
                  <a:ea typeface="Arial"/>
                  <a:cs typeface="Arial"/>
                  <a:sym typeface="Arial"/>
                </a:rPr>
                <a:t>c(+1) = cFN; c(−1) = cFP</a:t>
              </a:r>
              <a:endParaRPr/>
            </a:p>
          </p:txBody>
        </p:sp>
        <p:sp>
          <p:nvSpPr>
            <p:cNvPr id="255" name="Google Shape;255;p34"/>
            <p:cNvSpPr txBox="1"/>
            <p:nvPr/>
          </p:nvSpPr>
          <p:spPr>
            <a:xfrm>
              <a:off x="561213" y="4591526"/>
              <a:ext cx="6048935" cy="396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20">
                  <a:solidFill>
                    <a:srgbClr val="626262"/>
                  </a:solidFill>
                  <a:latin typeface="Arial"/>
                  <a:ea typeface="Arial"/>
                  <a:cs typeface="Arial"/>
                  <a:sym typeface="Arial"/>
                </a:rPr>
                <a:t>p₊ and p₋ are class proportions in the training set.</a:t>
              </a:r>
              <a:endParaRPr/>
            </a:p>
          </p:txBody>
        </p:sp>
      </p:grpSp>
      <p:grpSp>
        <p:nvGrpSpPr>
          <p:cNvPr id="256" name="Google Shape;256;p34"/>
          <p:cNvGrpSpPr/>
          <p:nvPr/>
        </p:nvGrpSpPr>
        <p:grpSpPr>
          <a:xfrm>
            <a:off x="560070" y="5291138"/>
            <a:ext cx="8641700" cy="947832"/>
            <a:chOff x="560070" y="5291138"/>
            <a:chExt cx="8641700" cy="947832"/>
          </a:xfrm>
        </p:grpSpPr>
        <p:sp>
          <p:nvSpPr>
            <p:cNvPr id="257" name="Google Shape;257;p34"/>
            <p:cNvSpPr txBox="1"/>
            <p:nvPr/>
          </p:nvSpPr>
          <p:spPr>
            <a:xfrm>
              <a:off x="560070" y="5291138"/>
              <a:ext cx="8641700" cy="4400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50">
                  <a:solidFill>
                    <a:srgbClr val="262626"/>
                  </a:solidFill>
                  <a:latin typeface="Arial"/>
                  <a:ea typeface="Arial"/>
                  <a:cs typeface="Arial"/>
                  <a:sym typeface="Arial"/>
                </a:rPr>
                <a:t>aᵢ sets relative error importance; C sets the overall penalty.</a:t>
              </a:r>
              <a:endParaRPr/>
            </a:p>
          </p:txBody>
        </p:sp>
        <p:sp>
          <p:nvSpPr>
            <p:cNvPr id="258" name="Google Shape;258;p34"/>
            <p:cNvSpPr txBox="1"/>
            <p:nvPr/>
          </p:nvSpPr>
          <p:spPr>
            <a:xfrm>
              <a:off x="560451" y="5813584"/>
              <a:ext cx="6682667" cy="4253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80">
                  <a:solidFill>
                    <a:srgbClr val="262626"/>
                  </a:solidFill>
                  <a:latin typeface="Cambria Math"/>
                  <a:ea typeface="Cambria Math"/>
                  <a:cs typeface="Cambria Math"/>
                  <a:sym typeface="Cambria Math"/>
                </a:rPr>
                <a:t>Sample-average normalization: (1/n) ∑ᵢ aᵢ = 1</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5"/>
          <p:cNvSpPr txBox="1"/>
          <p:nvPr/>
        </p:nvSpPr>
        <p:spPr>
          <a:xfrm>
            <a:off x="367284" y="241935"/>
            <a:ext cx="5407887" cy="5280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FFFFFF"/>
                </a:solidFill>
                <a:latin typeface="Arial"/>
                <a:ea typeface="Arial"/>
                <a:cs typeface="Arial"/>
                <a:sym typeface="Arial"/>
              </a:rPr>
              <a:t>Cost-sensitive SVM: the primal</a:t>
            </a:r>
            <a:endParaRPr/>
          </a:p>
        </p:txBody>
      </p:sp>
      <p:grpSp>
        <p:nvGrpSpPr>
          <p:cNvPr id="264" name="Google Shape;264;p35"/>
          <p:cNvGrpSpPr/>
          <p:nvPr/>
        </p:nvGrpSpPr>
        <p:grpSpPr>
          <a:xfrm>
            <a:off x="393954" y="6499860"/>
            <a:ext cx="11280267" cy="234696"/>
            <a:chOff x="393954" y="6499860"/>
            <a:chExt cx="11280267" cy="234696"/>
          </a:xfrm>
        </p:grpSpPr>
        <p:sp>
          <p:nvSpPr>
            <p:cNvPr id="265" name="Google Shape;265;p35"/>
            <p:cNvSpPr txBox="1"/>
            <p:nvPr/>
          </p:nvSpPr>
          <p:spPr>
            <a:xfrm>
              <a:off x="393954" y="6499860"/>
              <a:ext cx="5891107" cy="2346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626262"/>
                  </a:solidFill>
                  <a:latin typeface="Arial"/>
                  <a:ea typeface="Arial"/>
                  <a:cs typeface="Arial"/>
                  <a:sym typeface="Arial"/>
                </a:rPr>
                <a:t>Source: Group 4 proposal, §2.2; Cortes &amp; Vapnik (1995). Linear main benchmark.</a:t>
              </a:r>
              <a:endParaRPr/>
            </a:p>
          </p:txBody>
        </p:sp>
        <p:sp>
          <p:nvSpPr>
            <p:cNvPr id="266" name="Google Shape;266;p35"/>
            <p:cNvSpPr/>
            <p:nvPr/>
          </p:nvSpPr>
          <p:spPr>
            <a:xfrm>
              <a:off x="11572208" y="6499860"/>
              <a:ext cx="102013" cy="234696"/>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200">
                  <a:solidFill>
                    <a:srgbClr val="626262"/>
                  </a:solidFill>
                  <a:latin typeface="Arial"/>
                  <a:ea typeface="Arial"/>
                  <a:cs typeface="Arial"/>
                  <a:sym typeface="Arial"/>
                </a:rPr>
                <a:t>4</a:t>
              </a:r>
              <a:endParaRPr/>
            </a:p>
          </p:txBody>
        </p:sp>
      </p:grpSp>
      <p:grpSp>
        <p:nvGrpSpPr>
          <p:cNvPr id="267" name="Google Shape;267;p35"/>
          <p:cNvGrpSpPr/>
          <p:nvPr/>
        </p:nvGrpSpPr>
        <p:grpSpPr>
          <a:xfrm>
            <a:off x="554736" y="1311116"/>
            <a:ext cx="5699493" cy="2606707"/>
            <a:chOff x="554736" y="1311116"/>
            <a:chExt cx="5699493" cy="2606707"/>
          </a:xfrm>
        </p:grpSpPr>
        <p:sp>
          <p:nvSpPr>
            <p:cNvPr id="268" name="Google Shape;268;p35"/>
            <p:cNvSpPr txBox="1"/>
            <p:nvPr/>
          </p:nvSpPr>
          <p:spPr>
            <a:xfrm>
              <a:off x="559689" y="1311116"/>
              <a:ext cx="4848941" cy="45472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320">
                  <a:solidFill>
                    <a:srgbClr val="262626"/>
                  </a:solidFill>
                  <a:latin typeface="Cambria Math"/>
                  <a:ea typeface="Cambria Math"/>
                  <a:cs typeface="Cambria Math"/>
                  <a:sym typeface="Cambria Math"/>
                </a:rPr>
                <a:t>f(xᵢ) = wᵀxᵢ + b; mᵢ = yᵢ f(xᵢ)</a:t>
              </a:r>
              <a:endParaRPr/>
            </a:p>
          </p:txBody>
        </p:sp>
        <p:sp>
          <p:nvSpPr>
            <p:cNvPr id="269" name="Google Shape;269;p35"/>
            <p:cNvSpPr txBox="1"/>
            <p:nvPr/>
          </p:nvSpPr>
          <p:spPr>
            <a:xfrm>
              <a:off x="554736" y="2005965"/>
              <a:ext cx="4473054" cy="64541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300">
                  <a:solidFill>
                    <a:srgbClr val="A02337"/>
                  </a:solidFill>
                  <a:latin typeface="Cambria Math"/>
                  <a:ea typeface="Cambria Math"/>
                  <a:cs typeface="Cambria Math"/>
                  <a:sym typeface="Cambria Math"/>
                </a:rPr>
                <a:t>min ½‖w‖² + ∑ᵢ Cᵢ ξᵢ</a:t>
              </a:r>
              <a:endParaRPr/>
            </a:p>
          </p:txBody>
        </p:sp>
        <p:sp>
          <p:nvSpPr>
            <p:cNvPr id="270" name="Google Shape;270;p35"/>
            <p:cNvSpPr txBox="1"/>
            <p:nvPr/>
          </p:nvSpPr>
          <p:spPr>
            <a:xfrm>
              <a:off x="559308" y="2788920"/>
              <a:ext cx="4612234" cy="4693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400">
                  <a:solidFill>
                    <a:srgbClr val="262626"/>
                  </a:solidFill>
                  <a:latin typeface="Cambria Math"/>
                  <a:ea typeface="Cambria Math"/>
                  <a:cs typeface="Cambria Math"/>
                  <a:sym typeface="Cambria Math"/>
                </a:rPr>
                <a:t>subject to mᵢ ≥ 1 − ξᵢ, ξᵢ ≥ 0</a:t>
              </a:r>
              <a:endParaRPr/>
            </a:p>
          </p:txBody>
        </p:sp>
        <p:sp>
          <p:nvSpPr>
            <p:cNvPr id="271" name="Google Shape;271;p35"/>
            <p:cNvSpPr txBox="1"/>
            <p:nvPr/>
          </p:nvSpPr>
          <p:spPr>
            <a:xfrm>
              <a:off x="560832" y="3507105"/>
              <a:ext cx="5693397" cy="41071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rgbClr val="262626"/>
                  </a:solidFill>
                  <a:latin typeface="Arial"/>
                  <a:ea typeface="Arial"/>
                  <a:cs typeface="Arial"/>
                  <a:sym typeface="Arial"/>
                </a:rPr>
                <a:t>Wide margin + weighted margin violations</a:t>
              </a:r>
              <a:endParaRPr/>
            </a:p>
          </p:txBody>
        </p:sp>
      </p:grpSp>
      <p:grpSp>
        <p:nvGrpSpPr>
          <p:cNvPr id="272" name="Google Shape;272;p35"/>
          <p:cNvGrpSpPr/>
          <p:nvPr/>
        </p:nvGrpSpPr>
        <p:grpSpPr>
          <a:xfrm>
            <a:off x="559308" y="4598670"/>
            <a:ext cx="5419954" cy="1408081"/>
            <a:chOff x="559308" y="4598670"/>
            <a:chExt cx="5419954" cy="1408081"/>
          </a:xfrm>
        </p:grpSpPr>
        <p:sp>
          <p:nvSpPr>
            <p:cNvPr id="273" name="Google Shape;273;p35"/>
            <p:cNvSpPr txBox="1"/>
            <p:nvPr/>
          </p:nvSpPr>
          <p:spPr>
            <a:xfrm>
              <a:off x="559308" y="4598670"/>
              <a:ext cx="5419954" cy="4693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400">
                  <a:solidFill>
                    <a:srgbClr val="262626"/>
                  </a:solidFill>
                  <a:latin typeface="Cambria Math"/>
                  <a:ea typeface="Cambria Math"/>
                  <a:cs typeface="Cambria Math"/>
                  <a:sym typeface="Cambria Math"/>
                </a:rPr>
                <a:t>ξᵢ = max(0, 1 − mᵢ) at an optimum</a:t>
              </a:r>
              <a:endParaRPr/>
            </a:p>
          </p:txBody>
        </p:sp>
        <p:sp>
          <p:nvSpPr>
            <p:cNvPr id="274" name="Google Shape;274;p35"/>
            <p:cNvSpPr txBox="1"/>
            <p:nvPr/>
          </p:nvSpPr>
          <p:spPr>
            <a:xfrm>
              <a:off x="561213" y="5191601"/>
              <a:ext cx="4976705" cy="396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20">
                  <a:solidFill>
                    <a:srgbClr val="262626"/>
                  </a:solidFill>
                  <a:latin typeface="Arial"/>
                  <a:ea typeface="Arial"/>
                  <a:cs typeface="Arial"/>
                  <a:sym typeface="Arial"/>
                </a:rPr>
                <a:t>0 &lt; mᵢ &lt; 1: correct, but inside the margin</a:t>
              </a:r>
              <a:endParaRPr/>
            </a:p>
          </p:txBody>
        </p:sp>
        <p:sp>
          <p:nvSpPr>
            <p:cNvPr id="275" name="Google Shape;275;p35"/>
            <p:cNvSpPr txBox="1"/>
            <p:nvPr/>
          </p:nvSpPr>
          <p:spPr>
            <a:xfrm>
              <a:off x="561213" y="5610701"/>
              <a:ext cx="2550252" cy="396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20">
                  <a:solidFill>
                    <a:srgbClr val="262626"/>
                  </a:solidFill>
                  <a:latin typeface="Arial"/>
                  <a:ea typeface="Arial"/>
                  <a:cs typeface="Arial"/>
                  <a:sym typeface="Arial"/>
                </a:rPr>
                <a:t>mᵢ &lt; 0: misclassified</a:t>
              </a:r>
              <a:endParaRPr/>
            </a:p>
          </p:txBody>
        </p:sp>
      </p:grpSp>
      <p:grpSp>
        <p:nvGrpSpPr>
          <p:cNvPr id="276" name="Google Shape;276;p35"/>
          <p:cNvGrpSpPr/>
          <p:nvPr/>
        </p:nvGrpSpPr>
        <p:grpSpPr>
          <a:xfrm>
            <a:off x="7469505" y="1257776"/>
            <a:ext cx="3674745" cy="4874419"/>
            <a:chOff x="7469505" y="1257776"/>
            <a:chExt cx="3674745" cy="4874419"/>
          </a:xfrm>
        </p:grpSpPr>
        <p:sp>
          <p:nvSpPr>
            <p:cNvPr id="277" name="Google Shape;277;p35"/>
            <p:cNvSpPr txBox="1"/>
            <p:nvPr/>
          </p:nvSpPr>
          <p:spPr>
            <a:xfrm>
              <a:off x="7514463" y="1257776"/>
              <a:ext cx="3034642" cy="396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20">
                  <a:solidFill>
                    <a:srgbClr val="262626"/>
                  </a:solidFill>
                  <a:latin typeface="Arial"/>
                  <a:ea typeface="Arial"/>
                  <a:cs typeface="Arial"/>
                  <a:sym typeface="Arial"/>
                </a:rPr>
                <a:t>A linear SVM boundary</a:t>
              </a:r>
              <a:endParaRPr/>
            </a:p>
          </p:txBody>
        </p:sp>
        <p:sp>
          <p:nvSpPr>
            <p:cNvPr id="278" name="Google Shape;278;p35"/>
            <p:cNvSpPr/>
            <p:nvPr/>
          </p:nvSpPr>
          <p:spPr>
            <a:xfrm>
              <a:off x="8239125" y="1952625"/>
              <a:ext cx="2000250" cy="3238500"/>
            </a:xfrm>
            <a:prstGeom prst="rect">
              <a:avLst/>
            </a:prstGeom>
            <a:solidFill>
              <a:srgbClr val="F8F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5"/>
            <p:cNvSpPr/>
            <p:nvPr/>
          </p:nvSpPr>
          <p:spPr>
            <a:xfrm>
              <a:off x="9239250" y="1952625"/>
              <a:ext cx="9525" cy="3238500"/>
            </a:xfrm>
            <a:custGeom>
              <a:rect b="b" l="l" r="r" t="t"/>
              <a:pathLst>
                <a:path extrusionOk="0" h="3238500" w="9525">
                  <a:moveTo>
                    <a:pt x="0" y="0"/>
                  </a:moveTo>
                  <a:lnTo>
                    <a:pt x="0" y="3238500"/>
                  </a:lnTo>
                </a:path>
              </a:pathLst>
            </a:custGeom>
            <a:noFill/>
            <a:ln cap="flat" cmpd="sng" w="28575">
              <a:solidFill>
                <a:srgbClr val="262626"/>
              </a:solidFill>
              <a:prstDash val="solid"/>
              <a:round/>
              <a:headEnd len="sm" w="sm" type="none"/>
              <a:tailEnd len="sm" w="sm" type="none"/>
            </a:ln>
          </p:spPr>
        </p:sp>
        <p:sp>
          <p:nvSpPr>
            <p:cNvPr id="280" name="Google Shape;280;p35"/>
            <p:cNvSpPr/>
            <p:nvPr/>
          </p:nvSpPr>
          <p:spPr>
            <a:xfrm>
              <a:off x="8239125" y="1952625"/>
              <a:ext cx="9525" cy="3238500"/>
            </a:xfrm>
            <a:custGeom>
              <a:rect b="b" l="l" r="r" t="t"/>
              <a:pathLst>
                <a:path extrusionOk="0" h="3238500" w="9525">
                  <a:moveTo>
                    <a:pt x="0" y="0"/>
                  </a:moveTo>
                  <a:lnTo>
                    <a:pt x="0" y="3238500"/>
                  </a:lnTo>
                </a:path>
              </a:pathLst>
            </a:custGeom>
            <a:noFill/>
            <a:ln cap="flat" cmpd="sng" w="19050">
              <a:solidFill>
                <a:srgbClr val="A02337"/>
              </a:solidFill>
              <a:prstDash val="dash"/>
              <a:round/>
              <a:headEnd len="sm" w="sm" type="none"/>
              <a:tailEnd len="sm" w="sm" type="none"/>
            </a:ln>
          </p:spPr>
        </p:sp>
        <p:sp>
          <p:nvSpPr>
            <p:cNvPr id="281" name="Google Shape;281;p35"/>
            <p:cNvSpPr/>
            <p:nvPr/>
          </p:nvSpPr>
          <p:spPr>
            <a:xfrm>
              <a:off x="10239375" y="1952625"/>
              <a:ext cx="9525" cy="3238500"/>
            </a:xfrm>
            <a:custGeom>
              <a:rect b="b" l="l" r="r" t="t"/>
              <a:pathLst>
                <a:path extrusionOk="0" h="3238500" w="9525">
                  <a:moveTo>
                    <a:pt x="0" y="0"/>
                  </a:moveTo>
                  <a:lnTo>
                    <a:pt x="0" y="3238500"/>
                  </a:lnTo>
                </a:path>
              </a:pathLst>
            </a:custGeom>
            <a:noFill/>
            <a:ln cap="flat" cmpd="sng" w="19050">
              <a:solidFill>
                <a:srgbClr val="A02337"/>
              </a:solidFill>
              <a:prstDash val="dash"/>
              <a:round/>
              <a:headEnd len="sm" w="sm" type="none"/>
              <a:tailEnd len="sm" w="sm" type="none"/>
            </a:ln>
          </p:spPr>
        </p:sp>
        <p:sp>
          <p:nvSpPr>
            <p:cNvPr id="282" name="Google Shape;282;p35"/>
            <p:cNvSpPr/>
            <p:nvPr/>
          </p:nvSpPr>
          <p:spPr>
            <a:xfrm>
              <a:off x="10572750" y="2286000"/>
              <a:ext cx="190500" cy="190500"/>
            </a:xfrm>
            <a:prstGeom prst="ellipse">
              <a:avLst/>
            </a:prstGeom>
            <a:solidFill>
              <a:srgbClr val="A023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5"/>
            <p:cNvSpPr/>
            <p:nvPr/>
          </p:nvSpPr>
          <p:spPr>
            <a:xfrm>
              <a:off x="10953750" y="3571875"/>
              <a:ext cx="190500" cy="190500"/>
            </a:xfrm>
            <a:prstGeom prst="ellipse">
              <a:avLst/>
            </a:prstGeom>
            <a:solidFill>
              <a:srgbClr val="A023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5"/>
            <p:cNvSpPr/>
            <p:nvPr/>
          </p:nvSpPr>
          <p:spPr>
            <a:xfrm>
              <a:off x="10353675" y="4429125"/>
              <a:ext cx="190500" cy="190500"/>
            </a:xfrm>
            <a:prstGeom prst="ellipse">
              <a:avLst/>
            </a:prstGeom>
            <a:solidFill>
              <a:srgbClr val="A023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5"/>
            <p:cNvSpPr/>
            <p:nvPr/>
          </p:nvSpPr>
          <p:spPr>
            <a:xfrm>
              <a:off x="10144125" y="2952750"/>
              <a:ext cx="190500" cy="190500"/>
            </a:xfrm>
            <a:prstGeom prst="ellipse">
              <a:avLst/>
            </a:prstGeom>
            <a:solidFill>
              <a:srgbClr val="A023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5"/>
            <p:cNvSpPr/>
            <p:nvPr/>
          </p:nvSpPr>
          <p:spPr>
            <a:xfrm>
              <a:off x="7534275" y="2152650"/>
              <a:ext cx="171450" cy="171450"/>
            </a:xfrm>
            <a:prstGeom prst="rect">
              <a:avLst/>
            </a:prstGeom>
            <a:solidFill>
              <a:srgbClr val="187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5"/>
            <p:cNvSpPr/>
            <p:nvPr/>
          </p:nvSpPr>
          <p:spPr>
            <a:xfrm>
              <a:off x="7867650" y="4057650"/>
              <a:ext cx="171450" cy="171450"/>
            </a:xfrm>
            <a:prstGeom prst="rect">
              <a:avLst/>
            </a:prstGeom>
            <a:solidFill>
              <a:srgbClr val="187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5"/>
            <p:cNvSpPr/>
            <p:nvPr/>
          </p:nvSpPr>
          <p:spPr>
            <a:xfrm>
              <a:off x="8153400" y="3390900"/>
              <a:ext cx="171450" cy="171450"/>
            </a:xfrm>
            <a:prstGeom prst="rect">
              <a:avLst/>
            </a:prstGeom>
            <a:solidFill>
              <a:srgbClr val="187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5"/>
            <p:cNvSpPr/>
            <p:nvPr/>
          </p:nvSpPr>
          <p:spPr>
            <a:xfrm>
              <a:off x="7677150" y="4676775"/>
              <a:ext cx="171450" cy="171450"/>
            </a:xfrm>
            <a:prstGeom prst="rect">
              <a:avLst/>
            </a:prstGeom>
            <a:solidFill>
              <a:srgbClr val="187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5"/>
            <p:cNvSpPr txBox="1"/>
            <p:nvPr/>
          </p:nvSpPr>
          <p:spPr>
            <a:xfrm>
              <a:off x="7773543" y="5365432"/>
              <a:ext cx="584866" cy="32270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50">
                  <a:solidFill>
                    <a:srgbClr val="626262"/>
                  </a:solidFill>
                  <a:latin typeface="Arial"/>
                  <a:ea typeface="Arial"/>
                  <a:cs typeface="Arial"/>
                  <a:sym typeface="Arial"/>
                </a:rPr>
                <a:t>f = −1</a:t>
              </a:r>
              <a:endParaRPr/>
            </a:p>
          </p:txBody>
        </p:sp>
        <p:sp>
          <p:nvSpPr>
            <p:cNvPr id="291" name="Google Shape;291;p35"/>
            <p:cNvSpPr txBox="1"/>
            <p:nvPr/>
          </p:nvSpPr>
          <p:spPr>
            <a:xfrm>
              <a:off x="8973693" y="5365432"/>
              <a:ext cx="455146" cy="32270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50">
                  <a:solidFill>
                    <a:srgbClr val="626262"/>
                  </a:solidFill>
                  <a:latin typeface="Arial"/>
                  <a:ea typeface="Arial"/>
                  <a:cs typeface="Arial"/>
                  <a:sym typeface="Arial"/>
                </a:rPr>
                <a:t>f = 0</a:t>
              </a:r>
              <a:endParaRPr/>
            </a:p>
          </p:txBody>
        </p:sp>
        <p:sp>
          <p:nvSpPr>
            <p:cNvPr id="292" name="Google Shape;292;p35"/>
            <p:cNvSpPr txBox="1"/>
            <p:nvPr/>
          </p:nvSpPr>
          <p:spPr>
            <a:xfrm>
              <a:off x="10154793" y="5365432"/>
              <a:ext cx="584866" cy="32270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50">
                  <a:solidFill>
                    <a:srgbClr val="626262"/>
                  </a:solidFill>
                  <a:latin typeface="Arial"/>
                  <a:ea typeface="Arial"/>
                  <a:cs typeface="Arial"/>
                  <a:sym typeface="Arial"/>
                </a:rPr>
                <a:t>f = +1</a:t>
              </a:r>
              <a:endParaRPr/>
            </a:p>
          </p:txBody>
        </p:sp>
        <p:sp>
          <p:nvSpPr>
            <p:cNvPr id="293" name="Google Shape;293;p35"/>
            <p:cNvSpPr txBox="1"/>
            <p:nvPr/>
          </p:nvSpPr>
          <p:spPr>
            <a:xfrm>
              <a:off x="7469505" y="5838825"/>
              <a:ext cx="2972541" cy="29337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00">
                  <a:solidFill>
                    <a:srgbClr val="626262"/>
                  </a:solidFill>
                  <a:latin typeface="Arial"/>
                  <a:ea typeface="Arial"/>
                  <a:cs typeface="Arial"/>
                  <a:sym typeface="Arial"/>
                </a:rPr>
                <a:t>Schematic; points are illustrative.</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6"/>
          <p:cNvSpPr txBox="1"/>
          <p:nvPr/>
        </p:nvSpPr>
        <p:spPr>
          <a:xfrm>
            <a:off x="367284" y="241935"/>
            <a:ext cx="4577443" cy="5280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FFFFFF"/>
                </a:solidFill>
                <a:latin typeface="Arial"/>
                <a:ea typeface="Arial"/>
                <a:cs typeface="Arial"/>
                <a:sym typeface="Arial"/>
              </a:rPr>
              <a:t>Dual coefficients and KKT</a:t>
            </a:r>
            <a:endParaRPr/>
          </a:p>
        </p:txBody>
      </p:sp>
      <p:grpSp>
        <p:nvGrpSpPr>
          <p:cNvPr id="299" name="Google Shape;299;p36"/>
          <p:cNvGrpSpPr/>
          <p:nvPr/>
        </p:nvGrpSpPr>
        <p:grpSpPr>
          <a:xfrm>
            <a:off x="393954" y="6499860"/>
            <a:ext cx="11280267" cy="234696"/>
            <a:chOff x="393954" y="6499860"/>
            <a:chExt cx="11280267" cy="234696"/>
          </a:xfrm>
        </p:grpSpPr>
        <p:sp>
          <p:nvSpPr>
            <p:cNvPr id="300" name="Google Shape;300;p36"/>
            <p:cNvSpPr txBox="1"/>
            <p:nvPr/>
          </p:nvSpPr>
          <p:spPr>
            <a:xfrm>
              <a:off x="393954" y="6499860"/>
              <a:ext cx="6930256" cy="2346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626262"/>
                  </a:solidFill>
                  <a:latin typeface="Arial"/>
                  <a:ea typeface="Arial"/>
                  <a:cs typeface="Arial"/>
                  <a:sym typeface="Arial"/>
                </a:rPr>
                <a:t>Source: Group 4 proposal, §2.2; Boyd &amp; Vandenberghe (2004), Chapter 5. Derivation in backup.</a:t>
              </a:r>
              <a:endParaRPr/>
            </a:p>
          </p:txBody>
        </p:sp>
        <p:sp>
          <p:nvSpPr>
            <p:cNvPr id="301" name="Google Shape;301;p36"/>
            <p:cNvSpPr txBox="1"/>
            <p:nvPr/>
          </p:nvSpPr>
          <p:spPr>
            <a:xfrm>
              <a:off x="11572178" y="6499860"/>
              <a:ext cx="102043" cy="23469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200">
                  <a:solidFill>
                    <a:srgbClr val="626262"/>
                  </a:solidFill>
                  <a:latin typeface="Arial"/>
                  <a:ea typeface="Arial"/>
                  <a:cs typeface="Arial"/>
                  <a:sym typeface="Arial"/>
                </a:rPr>
                <a:t>5</a:t>
              </a:r>
              <a:endParaRPr/>
            </a:p>
          </p:txBody>
        </p:sp>
      </p:grpSp>
      <p:grpSp>
        <p:nvGrpSpPr>
          <p:cNvPr id="302" name="Google Shape;302;p36"/>
          <p:cNvGrpSpPr/>
          <p:nvPr/>
        </p:nvGrpSpPr>
        <p:grpSpPr>
          <a:xfrm>
            <a:off x="556641" y="1265396"/>
            <a:ext cx="7565135" cy="1690402"/>
            <a:chOff x="556641" y="1265396"/>
            <a:chExt cx="7565135" cy="1690402"/>
          </a:xfrm>
        </p:grpSpPr>
        <p:sp>
          <p:nvSpPr>
            <p:cNvPr id="303" name="Google Shape;303;p36"/>
            <p:cNvSpPr txBox="1"/>
            <p:nvPr/>
          </p:nvSpPr>
          <p:spPr>
            <a:xfrm>
              <a:off x="556641" y="1265396"/>
              <a:ext cx="6160939" cy="5720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920">
                  <a:solidFill>
                    <a:srgbClr val="262626"/>
                  </a:solidFill>
                  <a:latin typeface="Cambria Math"/>
                  <a:ea typeface="Cambria Math"/>
                  <a:cs typeface="Cambria Math"/>
                  <a:sym typeface="Cambria Math"/>
                </a:rPr>
                <a:t>max ∑ᵢ αᵢ − ½ ∑ᵢ∑ⱼ αᵢαⱼyᵢyⱼ Kᵢⱼ</a:t>
              </a:r>
              <a:endParaRPr/>
            </a:p>
          </p:txBody>
        </p:sp>
        <p:sp>
          <p:nvSpPr>
            <p:cNvPr id="304" name="Google Shape;304;p36"/>
            <p:cNvSpPr txBox="1"/>
            <p:nvPr/>
          </p:nvSpPr>
          <p:spPr>
            <a:xfrm>
              <a:off x="557403" y="1929289"/>
              <a:ext cx="4781794" cy="54273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780">
                  <a:solidFill>
                    <a:srgbClr val="A02337"/>
                  </a:solidFill>
                  <a:latin typeface="Cambria Math"/>
                  <a:ea typeface="Cambria Math"/>
                  <a:cs typeface="Cambria Math"/>
                  <a:sym typeface="Cambria Math"/>
                </a:rPr>
                <a:t>0 ≤ αᵢ ≤ Cᵢ and ∑ᵢ αᵢyᵢ = 0</a:t>
              </a:r>
              <a:endParaRPr/>
            </a:p>
          </p:txBody>
        </p:sp>
        <p:sp>
          <p:nvSpPr>
            <p:cNvPr id="305" name="Google Shape;305;p36"/>
            <p:cNvSpPr txBox="1"/>
            <p:nvPr/>
          </p:nvSpPr>
          <p:spPr>
            <a:xfrm>
              <a:off x="560832" y="2545080"/>
              <a:ext cx="7560944" cy="41071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262626"/>
                  </a:solidFill>
                  <a:latin typeface="Arial"/>
                  <a:ea typeface="Arial"/>
                  <a:cs typeface="Arial"/>
                  <a:sym typeface="Arial"/>
                </a:rPr>
                <a:t>Linear model: Kᵢⱼ = xᵢᵀxⱼ. Costs set the upper bounds Cᵢ.</a:t>
              </a:r>
              <a:endParaRPr/>
            </a:p>
          </p:txBody>
        </p:sp>
      </p:grpSp>
      <p:grpSp>
        <p:nvGrpSpPr>
          <p:cNvPr id="306" name="Google Shape;306;p36"/>
          <p:cNvGrpSpPr/>
          <p:nvPr/>
        </p:nvGrpSpPr>
        <p:grpSpPr>
          <a:xfrm>
            <a:off x="559308" y="3452812"/>
            <a:ext cx="9239832" cy="2139125"/>
            <a:chOff x="559308" y="3452812"/>
            <a:chExt cx="9239832" cy="2139125"/>
          </a:xfrm>
        </p:grpSpPr>
        <p:sp>
          <p:nvSpPr>
            <p:cNvPr id="307" name="Google Shape;307;p36"/>
            <p:cNvSpPr txBox="1"/>
            <p:nvPr/>
          </p:nvSpPr>
          <p:spPr>
            <a:xfrm>
              <a:off x="560070" y="3452812"/>
              <a:ext cx="7164917" cy="4400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50">
                  <a:solidFill>
                    <a:srgbClr val="262626"/>
                  </a:solidFill>
                  <a:latin typeface="Arial"/>
                  <a:ea typeface="Arial"/>
                  <a:cs typeface="Arial"/>
                  <a:sym typeface="Arial"/>
                </a:rPr>
                <a:t>At an optimum: KKT links coefficients to margins</a:t>
              </a:r>
              <a:endParaRPr/>
            </a:p>
          </p:txBody>
        </p:sp>
        <p:sp>
          <p:nvSpPr>
            <p:cNvPr id="308" name="Google Shape;308;p36"/>
            <p:cNvSpPr txBox="1"/>
            <p:nvPr/>
          </p:nvSpPr>
          <p:spPr>
            <a:xfrm>
              <a:off x="559308" y="4036695"/>
              <a:ext cx="2269846" cy="4693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400">
                  <a:solidFill>
                    <a:srgbClr val="262626"/>
                  </a:solidFill>
                  <a:latin typeface="Cambria Math"/>
                  <a:ea typeface="Cambria Math"/>
                  <a:cs typeface="Cambria Math"/>
                  <a:sym typeface="Cambria Math"/>
                </a:rPr>
                <a:t>αᵢ = 0 ⇒ mᵢ ≥ 1</a:t>
              </a:r>
              <a:endParaRPr/>
            </a:p>
          </p:txBody>
        </p:sp>
        <p:sp>
          <p:nvSpPr>
            <p:cNvPr id="309" name="Google Shape;309;p36"/>
            <p:cNvSpPr txBox="1"/>
            <p:nvPr/>
          </p:nvSpPr>
          <p:spPr>
            <a:xfrm>
              <a:off x="6038088" y="4058126"/>
              <a:ext cx="2356066" cy="396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20">
                  <a:solidFill>
                    <a:srgbClr val="262626"/>
                  </a:solidFill>
                  <a:latin typeface="Arial"/>
                  <a:ea typeface="Arial"/>
                  <a:cs typeface="Arial"/>
                  <a:sym typeface="Arial"/>
                </a:rPr>
                <a:t>No margin violation</a:t>
              </a:r>
              <a:endParaRPr/>
            </a:p>
          </p:txBody>
        </p:sp>
        <p:sp>
          <p:nvSpPr>
            <p:cNvPr id="310" name="Google Shape;310;p36"/>
            <p:cNvSpPr txBox="1"/>
            <p:nvPr/>
          </p:nvSpPr>
          <p:spPr>
            <a:xfrm>
              <a:off x="559308" y="4579620"/>
              <a:ext cx="3052877" cy="4693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400">
                  <a:solidFill>
                    <a:srgbClr val="262626"/>
                  </a:solidFill>
                  <a:latin typeface="Cambria Math"/>
                  <a:ea typeface="Cambria Math"/>
                  <a:cs typeface="Cambria Math"/>
                  <a:sym typeface="Cambria Math"/>
                </a:rPr>
                <a:t>0 &lt; αᵢ &lt; Cᵢ ⇒ mᵢ = 1</a:t>
              </a:r>
              <a:endParaRPr/>
            </a:p>
          </p:txBody>
        </p:sp>
        <p:sp>
          <p:nvSpPr>
            <p:cNvPr id="311" name="Google Shape;311;p36"/>
            <p:cNvSpPr txBox="1"/>
            <p:nvPr/>
          </p:nvSpPr>
          <p:spPr>
            <a:xfrm>
              <a:off x="6038088" y="4601051"/>
              <a:ext cx="2961993" cy="396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20">
                  <a:solidFill>
                    <a:srgbClr val="262626"/>
                  </a:solidFill>
                  <a:latin typeface="Arial"/>
                  <a:ea typeface="Arial"/>
                  <a:cs typeface="Arial"/>
                  <a:sym typeface="Arial"/>
                </a:rPr>
                <a:t>On the margin boundary</a:t>
              </a:r>
              <a:endParaRPr/>
            </a:p>
          </p:txBody>
        </p:sp>
        <p:sp>
          <p:nvSpPr>
            <p:cNvPr id="312" name="Google Shape;312;p36"/>
            <p:cNvSpPr txBox="1"/>
            <p:nvPr/>
          </p:nvSpPr>
          <p:spPr>
            <a:xfrm>
              <a:off x="559308" y="5122545"/>
              <a:ext cx="2493264" cy="4693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400">
                  <a:solidFill>
                    <a:srgbClr val="262626"/>
                  </a:solidFill>
                  <a:latin typeface="Cambria Math"/>
                  <a:ea typeface="Cambria Math"/>
                  <a:cs typeface="Cambria Math"/>
                  <a:sym typeface="Cambria Math"/>
                </a:rPr>
                <a:t>αᵢ = Cᵢ ⇒ mᵢ ≤ 1</a:t>
              </a:r>
              <a:endParaRPr/>
            </a:p>
          </p:txBody>
        </p:sp>
        <p:sp>
          <p:nvSpPr>
            <p:cNvPr id="313" name="Google Shape;313;p36"/>
            <p:cNvSpPr txBox="1"/>
            <p:nvPr/>
          </p:nvSpPr>
          <p:spPr>
            <a:xfrm>
              <a:off x="6038088" y="5143976"/>
              <a:ext cx="3761052" cy="396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20">
                  <a:solidFill>
                    <a:srgbClr val="262626"/>
                  </a:solidFill>
                  <a:latin typeface="Arial"/>
                  <a:ea typeface="Arial"/>
                  <a:cs typeface="Arial"/>
                  <a:sym typeface="Arial"/>
                </a:rPr>
                <a:t>May be correct or misclassified</a:t>
              </a:r>
              <a:endParaRPr/>
            </a:p>
          </p:txBody>
        </p:sp>
      </p:grpSp>
      <p:sp>
        <p:nvSpPr>
          <p:cNvPr id="314" name="Google Shape;314;p36"/>
          <p:cNvSpPr txBox="1"/>
          <p:nvPr/>
        </p:nvSpPr>
        <p:spPr>
          <a:xfrm>
            <a:off x="560451" y="5880259"/>
            <a:ext cx="8026027" cy="4253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80">
                <a:solidFill>
                  <a:srgbClr val="A02337"/>
                </a:solidFill>
                <a:latin typeface="Arial"/>
                <a:ea typeface="Arial"/>
                <a:cs typeface="Arial"/>
                <a:sym typeface="Arial"/>
              </a:rPr>
              <a:t>Convexity and Slater’s condition support KKT optimality.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7"/>
          <p:cNvSpPr txBox="1"/>
          <p:nvPr/>
        </p:nvSpPr>
        <p:spPr>
          <a:xfrm>
            <a:off x="367284" y="241935"/>
            <a:ext cx="4777786" cy="5280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FFFFFF"/>
                </a:solidFill>
                <a:latin typeface="Arial"/>
                <a:ea typeface="Arial"/>
                <a:cs typeface="Arial"/>
                <a:sym typeface="Arial"/>
              </a:rPr>
              <a:t>Weighted Pegasos updates</a:t>
            </a:r>
            <a:endParaRPr/>
          </a:p>
        </p:txBody>
      </p:sp>
      <p:grpSp>
        <p:nvGrpSpPr>
          <p:cNvPr id="320" name="Google Shape;320;p37"/>
          <p:cNvGrpSpPr/>
          <p:nvPr/>
        </p:nvGrpSpPr>
        <p:grpSpPr>
          <a:xfrm>
            <a:off x="393954" y="6499860"/>
            <a:ext cx="11280267" cy="234696"/>
            <a:chOff x="393954" y="6499860"/>
            <a:chExt cx="11280267" cy="234696"/>
          </a:xfrm>
        </p:grpSpPr>
        <p:sp>
          <p:nvSpPr>
            <p:cNvPr id="321" name="Google Shape;321;p37"/>
            <p:cNvSpPr txBox="1"/>
            <p:nvPr/>
          </p:nvSpPr>
          <p:spPr>
            <a:xfrm>
              <a:off x="393954" y="6499860"/>
              <a:ext cx="7084845" cy="2346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626262"/>
                  </a:solidFill>
                  <a:latin typeface="Arial"/>
                  <a:ea typeface="Arial"/>
                  <a:cs typeface="Arial"/>
                  <a:sym typeface="Arial"/>
                </a:rPr>
                <a:t>Weighted Pegasos-style variant; b is unregularized. Original convergence guarantees require care.</a:t>
              </a:r>
              <a:endParaRPr/>
            </a:p>
          </p:txBody>
        </p:sp>
        <p:sp>
          <p:nvSpPr>
            <p:cNvPr id="322" name="Google Shape;322;p37"/>
            <p:cNvSpPr txBox="1"/>
            <p:nvPr/>
          </p:nvSpPr>
          <p:spPr>
            <a:xfrm>
              <a:off x="11572178" y="6499860"/>
              <a:ext cx="102043" cy="23469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200">
                  <a:solidFill>
                    <a:srgbClr val="626262"/>
                  </a:solidFill>
                  <a:latin typeface="Arial"/>
                  <a:ea typeface="Arial"/>
                  <a:cs typeface="Arial"/>
                  <a:sym typeface="Arial"/>
                </a:rPr>
                <a:t>6</a:t>
              </a:r>
              <a:endParaRPr/>
            </a:p>
          </p:txBody>
        </p:sp>
      </p:grpSp>
      <p:grpSp>
        <p:nvGrpSpPr>
          <p:cNvPr id="323" name="Google Shape;323;p37"/>
          <p:cNvGrpSpPr/>
          <p:nvPr/>
        </p:nvGrpSpPr>
        <p:grpSpPr>
          <a:xfrm>
            <a:off x="557403" y="1253014"/>
            <a:ext cx="8809990" cy="1113567"/>
            <a:chOff x="557403" y="1253014"/>
            <a:chExt cx="8809990" cy="1113567"/>
          </a:xfrm>
        </p:grpSpPr>
        <p:sp>
          <p:nvSpPr>
            <p:cNvPr id="324" name="Google Shape;324;p37"/>
            <p:cNvSpPr txBox="1"/>
            <p:nvPr/>
          </p:nvSpPr>
          <p:spPr>
            <a:xfrm>
              <a:off x="557403" y="1253014"/>
              <a:ext cx="8225585" cy="54273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780">
                  <a:solidFill>
                    <a:srgbClr val="262626"/>
                  </a:solidFill>
                  <a:latin typeface="Cambria Math"/>
                  <a:ea typeface="Cambria Math"/>
                  <a:cs typeface="Cambria Math"/>
                  <a:sym typeface="Cambria Math"/>
                </a:rPr>
                <a:t>F(w,b) = (λ/2) ‖w‖² + (1/n) ∑ᵢ aᵢ [1 − mᵢ]₊</a:t>
              </a:r>
              <a:endParaRPr/>
            </a:p>
          </p:txBody>
        </p:sp>
        <p:sp>
          <p:nvSpPr>
            <p:cNvPr id="325" name="Google Shape;325;p37"/>
            <p:cNvSpPr txBox="1"/>
            <p:nvPr/>
          </p:nvSpPr>
          <p:spPr>
            <a:xfrm>
              <a:off x="558546" y="1867852"/>
              <a:ext cx="1774698" cy="49872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550">
                  <a:solidFill>
                    <a:srgbClr val="A02337"/>
                  </a:solidFill>
                  <a:latin typeface="Cambria Math"/>
                  <a:ea typeface="Cambria Math"/>
                  <a:cs typeface="Cambria Math"/>
                  <a:sym typeface="Cambria Math"/>
                </a:rPr>
                <a:t>λ = 1/(nC)</a:t>
              </a:r>
              <a:endParaRPr/>
            </a:p>
          </p:txBody>
        </p:sp>
        <p:sp>
          <p:nvSpPr>
            <p:cNvPr id="326" name="Google Shape;326;p37"/>
            <p:cNvSpPr txBox="1"/>
            <p:nvPr/>
          </p:nvSpPr>
          <p:spPr>
            <a:xfrm>
              <a:off x="4084701" y="1898809"/>
              <a:ext cx="5282692" cy="4253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80">
                  <a:solidFill>
                    <a:srgbClr val="262626"/>
                  </a:solidFill>
                  <a:latin typeface="Arial"/>
                  <a:ea typeface="Arial"/>
                  <a:cs typeface="Arial"/>
                  <a:sym typeface="Arial"/>
                </a:rPr>
                <a:t>Same minimizers as the primal objective</a:t>
              </a:r>
              <a:endParaRPr/>
            </a:p>
          </p:txBody>
        </p:sp>
      </p:grpSp>
      <p:grpSp>
        <p:nvGrpSpPr>
          <p:cNvPr id="327" name="Google Shape;327;p37"/>
          <p:cNvGrpSpPr/>
          <p:nvPr/>
        </p:nvGrpSpPr>
        <p:grpSpPr>
          <a:xfrm>
            <a:off x="560451" y="2889409"/>
            <a:ext cx="7894451" cy="866489"/>
            <a:chOff x="560451" y="2889409"/>
            <a:chExt cx="7894451" cy="866489"/>
          </a:xfrm>
        </p:grpSpPr>
        <p:sp>
          <p:nvSpPr>
            <p:cNvPr id="328" name="Google Shape;328;p37"/>
            <p:cNvSpPr txBox="1"/>
            <p:nvPr/>
          </p:nvSpPr>
          <p:spPr>
            <a:xfrm>
              <a:off x="560451" y="2889409"/>
              <a:ext cx="7479206" cy="4253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80">
                  <a:solidFill>
                    <a:srgbClr val="262626"/>
                  </a:solidFill>
                  <a:latin typeface="Arial"/>
                  <a:ea typeface="Arial"/>
                  <a:cs typeface="Arial"/>
                  <a:sym typeface="Arial"/>
                </a:rPr>
                <a:t>Sample i uniformly. Compute the margin before updating.</a:t>
              </a:r>
              <a:endParaRPr/>
            </a:p>
          </p:txBody>
        </p:sp>
        <p:sp>
          <p:nvSpPr>
            <p:cNvPr id="329" name="Google Shape;329;p37"/>
            <p:cNvSpPr txBox="1"/>
            <p:nvPr/>
          </p:nvSpPr>
          <p:spPr>
            <a:xfrm>
              <a:off x="560832" y="3345180"/>
              <a:ext cx="7894070" cy="41071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262626"/>
                  </a:solidFill>
                  <a:latin typeface="Cambria Math"/>
                  <a:ea typeface="Cambria Math"/>
                  <a:cs typeface="Cambria Math"/>
                  <a:sym typeface="Cambria Math"/>
                </a:rPr>
                <a:t>ηₜ = 1/(λt), mᵢ = yᵢ(wₜᵀxᵢ + bₜ), Iₜ = 1 if mᵢ &lt; 1, else 0</a:t>
              </a:r>
              <a:endParaRPr/>
            </a:p>
          </p:txBody>
        </p:sp>
      </p:grpSp>
      <p:grpSp>
        <p:nvGrpSpPr>
          <p:cNvPr id="330" name="Google Shape;330;p37"/>
          <p:cNvGrpSpPr/>
          <p:nvPr/>
        </p:nvGrpSpPr>
        <p:grpSpPr>
          <a:xfrm>
            <a:off x="556641" y="4084796"/>
            <a:ext cx="6833396" cy="1209580"/>
            <a:chOff x="556641" y="4084796"/>
            <a:chExt cx="6833396" cy="1209580"/>
          </a:xfrm>
        </p:grpSpPr>
        <p:sp>
          <p:nvSpPr>
            <p:cNvPr id="331" name="Google Shape;331;p37"/>
            <p:cNvSpPr txBox="1"/>
            <p:nvPr/>
          </p:nvSpPr>
          <p:spPr>
            <a:xfrm>
              <a:off x="556641" y="4084796"/>
              <a:ext cx="6833396" cy="5720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920">
                  <a:solidFill>
                    <a:srgbClr val="A02337"/>
                  </a:solidFill>
                  <a:latin typeface="Cambria Math"/>
                  <a:ea typeface="Cambria Math"/>
                  <a:cs typeface="Cambria Math"/>
                  <a:sym typeface="Cambria Math"/>
                </a:rPr>
                <a:t>wₜ₊₁ = (1 − ηₜλ) wₜ + ηₜ aᵢ yᵢ xᵢ Iₜ</a:t>
              </a:r>
              <a:endParaRPr/>
            </a:p>
          </p:txBody>
        </p:sp>
        <p:sp>
          <p:nvSpPr>
            <p:cNvPr id="332" name="Google Shape;332;p37"/>
            <p:cNvSpPr txBox="1"/>
            <p:nvPr/>
          </p:nvSpPr>
          <p:spPr>
            <a:xfrm>
              <a:off x="557784" y="4766310"/>
              <a:ext cx="3934949" cy="5280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700">
                  <a:solidFill>
                    <a:srgbClr val="262626"/>
                  </a:solidFill>
                  <a:latin typeface="Cambria Math"/>
                  <a:ea typeface="Cambria Math"/>
                  <a:cs typeface="Cambria Math"/>
                  <a:sym typeface="Cambria Math"/>
                </a:rPr>
                <a:t>bₜ₊₁ = bₜ + ηₜ aᵢ yᵢ Iₜ</a:t>
              </a:r>
              <a:endParaRPr/>
            </a:p>
          </p:txBody>
        </p:sp>
      </p:grpSp>
      <p:grpSp>
        <p:nvGrpSpPr>
          <p:cNvPr id="333" name="Google Shape;333;p37"/>
          <p:cNvGrpSpPr/>
          <p:nvPr/>
        </p:nvGrpSpPr>
        <p:grpSpPr>
          <a:xfrm>
            <a:off x="560832" y="5621655"/>
            <a:ext cx="7397854" cy="717804"/>
            <a:chOff x="560832" y="5621655"/>
            <a:chExt cx="7397854" cy="717804"/>
          </a:xfrm>
        </p:grpSpPr>
        <p:sp>
          <p:nvSpPr>
            <p:cNvPr id="334" name="Google Shape;334;p37"/>
            <p:cNvSpPr txBox="1"/>
            <p:nvPr/>
          </p:nvSpPr>
          <p:spPr>
            <a:xfrm>
              <a:off x="560832" y="5621655"/>
              <a:ext cx="7397854" cy="41071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rgbClr val="262626"/>
                  </a:solidFill>
                  <a:latin typeface="Arial"/>
                  <a:ea typeface="Arial"/>
                  <a:cs typeface="Arial"/>
                  <a:sym typeface="Arial"/>
                </a:rPr>
                <a:t>Shrink w, then add a weighted correction when mᵢ &lt; 1.</a:t>
              </a:r>
              <a:endParaRPr/>
            </a:p>
          </p:txBody>
        </p:sp>
        <p:sp>
          <p:nvSpPr>
            <p:cNvPr id="335" name="Google Shape;335;p37"/>
            <p:cNvSpPr txBox="1"/>
            <p:nvPr/>
          </p:nvSpPr>
          <p:spPr>
            <a:xfrm>
              <a:off x="562356" y="5987415"/>
              <a:ext cx="2316572" cy="3520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626262"/>
                  </a:solidFill>
                  <a:latin typeface="Arial"/>
                  <a:ea typeface="Arial"/>
                  <a:cs typeface="Arial"/>
                  <a:sym typeface="Arial"/>
                </a:rPr>
                <a:t>O(d) work per update</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8"/>
          <p:cNvSpPr txBox="1"/>
          <p:nvPr/>
        </p:nvSpPr>
        <p:spPr>
          <a:xfrm>
            <a:off x="367284" y="241935"/>
            <a:ext cx="4181222" cy="5280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FFFFFF"/>
                </a:solidFill>
                <a:latin typeface="Arial"/>
                <a:ea typeface="Arial"/>
                <a:cs typeface="Arial"/>
                <a:sym typeface="Arial"/>
              </a:rPr>
              <a:t>Summary and handover</a:t>
            </a:r>
            <a:endParaRPr/>
          </a:p>
        </p:txBody>
      </p:sp>
      <p:grpSp>
        <p:nvGrpSpPr>
          <p:cNvPr id="341" name="Google Shape;341;p38"/>
          <p:cNvGrpSpPr/>
          <p:nvPr/>
        </p:nvGrpSpPr>
        <p:grpSpPr>
          <a:xfrm>
            <a:off x="393954" y="6499860"/>
            <a:ext cx="11280267" cy="234696"/>
            <a:chOff x="393954" y="6499860"/>
            <a:chExt cx="11280267" cy="234696"/>
          </a:xfrm>
        </p:grpSpPr>
        <p:sp>
          <p:nvSpPr>
            <p:cNvPr id="342" name="Google Shape;342;p38"/>
            <p:cNvSpPr txBox="1"/>
            <p:nvPr/>
          </p:nvSpPr>
          <p:spPr>
            <a:xfrm>
              <a:off x="393954" y="6499860"/>
              <a:ext cx="4668762" cy="2346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626262"/>
                  </a:solidFill>
                  <a:latin typeface="Arial"/>
                  <a:ea typeface="Arial"/>
                  <a:cs typeface="Arial"/>
                  <a:sym typeface="Arial"/>
                </a:rPr>
                <a:t>Research plan only: improvements must be tested, not assumed.</a:t>
              </a:r>
              <a:endParaRPr/>
            </a:p>
          </p:txBody>
        </p:sp>
        <p:sp>
          <p:nvSpPr>
            <p:cNvPr id="343" name="Google Shape;343;p38"/>
            <p:cNvSpPr/>
            <p:nvPr/>
          </p:nvSpPr>
          <p:spPr>
            <a:xfrm>
              <a:off x="11482292" y="6499860"/>
              <a:ext cx="191929" cy="234696"/>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200">
                  <a:solidFill>
                    <a:srgbClr val="626262"/>
                  </a:solidFill>
                  <a:latin typeface="Arial"/>
                  <a:ea typeface="Arial"/>
                  <a:cs typeface="Arial"/>
                  <a:sym typeface="Arial"/>
                </a:rPr>
                <a:t>7</a:t>
              </a:r>
              <a:endParaRPr/>
            </a:p>
          </p:txBody>
        </p:sp>
      </p:grpSp>
      <p:grpSp>
        <p:nvGrpSpPr>
          <p:cNvPr id="344" name="Google Shape;344;p38"/>
          <p:cNvGrpSpPr/>
          <p:nvPr/>
        </p:nvGrpSpPr>
        <p:grpSpPr>
          <a:xfrm>
            <a:off x="553212" y="1335405"/>
            <a:ext cx="8319652" cy="3152013"/>
            <a:chOff x="553212" y="1335405"/>
            <a:chExt cx="8319652" cy="3152013"/>
          </a:xfrm>
        </p:grpSpPr>
        <p:sp>
          <p:nvSpPr>
            <p:cNvPr id="345" name="Google Shape;345;p38"/>
            <p:cNvSpPr txBox="1"/>
            <p:nvPr/>
          </p:nvSpPr>
          <p:spPr>
            <a:xfrm>
              <a:off x="553212" y="1335405"/>
              <a:ext cx="306128" cy="7040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A02337"/>
                  </a:solidFill>
                  <a:latin typeface="Arial"/>
                  <a:ea typeface="Arial"/>
                  <a:cs typeface="Arial"/>
                  <a:sym typeface="Arial"/>
                </a:rPr>
                <a:t>1</a:t>
              </a:r>
              <a:endParaRPr/>
            </a:p>
          </p:txBody>
        </p:sp>
        <p:sp>
          <p:nvSpPr>
            <p:cNvPr id="346" name="Google Shape;346;p38"/>
            <p:cNvSpPr txBox="1"/>
            <p:nvPr/>
          </p:nvSpPr>
          <p:spPr>
            <a:xfrm>
              <a:off x="1244346" y="1420178"/>
              <a:ext cx="5970165" cy="49872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550">
                  <a:solidFill>
                    <a:srgbClr val="262626"/>
                  </a:solidFill>
                  <a:latin typeface="Arial"/>
                  <a:ea typeface="Arial"/>
                  <a:cs typeface="Arial"/>
                  <a:sym typeface="Arial"/>
                </a:rPr>
                <a:t>Costs define which mistakes matter.</a:t>
              </a:r>
              <a:endParaRPr/>
            </a:p>
          </p:txBody>
        </p:sp>
        <p:sp>
          <p:nvSpPr>
            <p:cNvPr id="347" name="Google Shape;347;p38"/>
            <p:cNvSpPr txBox="1"/>
            <p:nvPr/>
          </p:nvSpPr>
          <p:spPr>
            <a:xfrm>
              <a:off x="1246251" y="1898809"/>
              <a:ext cx="6947794" cy="4253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80">
                  <a:solidFill>
                    <a:srgbClr val="626262"/>
                  </a:solidFill>
                  <a:latin typeface="Arial"/>
                  <a:ea typeface="Arial"/>
                  <a:cs typeface="Arial"/>
                  <a:sym typeface="Arial"/>
                </a:rPr>
                <a:t>Convert the cost ratio into class-dependent penalties.</a:t>
              </a:r>
              <a:endParaRPr/>
            </a:p>
          </p:txBody>
        </p:sp>
        <p:sp>
          <p:nvSpPr>
            <p:cNvPr id="348" name="Google Shape;348;p38"/>
            <p:cNvSpPr txBox="1"/>
            <p:nvPr/>
          </p:nvSpPr>
          <p:spPr>
            <a:xfrm>
              <a:off x="553212" y="2564130"/>
              <a:ext cx="306128" cy="7040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A02337"/>
                  </a:solidFill>
                  <a:latin typeface="Arial"/>
                  <a:ea typeface="Arial"/>
                  <a:cs typeface="Arial"/>
                  <a:sym typeface="Arial"/>
                </a:rPr>
                <a:t>2</a:t>
              </a:r>
              <a:endParaRPr/>
            </a:p>
          </p:txBody>
        </p:sp>
        <p:sp>
          <p:nvSpPr>
            <p:cNvPr id="349" name="Google Shape;349;p38"/>
            <p:cNvSpPr txBox="1"/>
            <p:nvPr/>
          </p:nvSpPr>
          <p:spPr>
            <a:xfrm>
              <a:off x="1244346" y="2648902"/>
              <a:ext cx="7628518" cy="49872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550">
                  <a:solidFill>
                    <a:srgbClr val="262626"/>
                  </a:solidFill>
                  <a:latin typeface="Arial"/>
                  <a:ea typeface="Arial"/>
                  <a:cs typeface="Arial"/>
                  <a:sym typeface="Arial"/>
                </a:rPr>
                <a:t>One convex SVM, several solver perspectives.</a:t>
              </a:r>
              <a:endParaRPr/>
            </a:p>
          </p:txBody>
        </p:sp>
        <p:sp>
          <p:nvSpPr>
            <p:cNvPr id="350" name="Google Shape;350;p38"/>
            <p:cNvSpPr txBox="1"/>
            <p:nvPr/>
          </p:nvSpPr>
          <p:spPr>
            <a:xfrm>
              <a:off x="1246251" y="3127534"/>
              <a:ext cx="6358190" cy="4253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80">
                  <a:solidFill>
                    <a:srgbClr val="626262"/>
                  </a:solidFill>
                  <a:latin typeface="Arial"/>
                  <a:ea typeface="Arial"/>
                  <a:cs typeface="Arial"/>
                  <a:sym typeface="Arial"/>
                </a:rPr>
                <a:t>Primal, dual, and KKT describe the same model.</a:t>
              </a:r>
              <a:endParaRPr/>
            </a:p>
          </p:txBody>
        </p:sp>
        <p:sp>
          <p:nvSpPr>
            <p:cNvPr id="351" name="Google Shape;351;p38"/>
            <p:cNvSpPr txBox="1"/>
            <p:nvPr/>
          </p:nvSpPr>
          <p:spPr>
            <a:xfrm>
              <a:off x="553212" y="3783330"/>
              <a:ext cx="306128" cy="7040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A02337"/>
                  </a:solidFill>
                  <a:latin typeface="Arial"/>
                  <a:ea typeface="Arial"/>
                  <a:cs typeface="Arial"/>
                  <a:sym typeface="Arial"/>
                </a:rPr>
                <a:t>3</a:t>
              </a:r>
              <a:endParaRPr/>
            </a:p>
          </p:txBody>
        </p:sp>
        <p:sp>
          <p:nvSpPr>
            <p:cNvPr id="352" name="Google Shape;352;p38"/>
            <p:cNvSpPr txBox="1"/>
            <p:nvPr/>
          </p:nvSpPr>
          <p:spPr>
            <a:xfrm>
              <a:off x="1244346" y="3868102"/>
              <a:ext cx="7001644" cy="49872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550">
                  <a:solidFill>
                    <a:srgbClr val="262626"/>
                  </a:solidFill>
                  <a:latin typeface="Arial"/>
                  <a:ea typeface="Arial"/>
                  <a:cs typeface="Arial"/>
                  <a:sym typeface="Arial"/>
                </a:rPr>
                <a:t>Pegasos makes cheap stochastic updates.</a:t>
              </a:r>
              <a:endParaRPr/>
            </a:p>
          </p:txBody>
        </p:sp>
      </p:grpSp>
      <p:grpSp>
        <p:nvGrpSpPr>
          <p:cNvPr id="353" name="Google Shape;353;p38"/>
          <p:cNvGrpSpPr/>
          <p:nvPr/>
        </p:nvGrpSpPr>
        <p:grpSpPr>
          <a:xfrm>
            <a:off x="558546" y="5005388"/>
            <a:ext cx="9248123" cy="1180719"/>
            <a:chOff x="558546" y="5005388"/>
            <a:chExt cx="9248123" cy="1180719"/>
          </a:xfrm>
        </p:grpSpPr>
        <p:sp>
          <p:nvSpPr>
            <p:cNvPr id="354" name="Google Shape;354;p38"/>
            <p:cNvSpPr txBox="1"/>
            <p:nvPr/>
          </p:nvSpPr>
          <p:spPr>
            <a:xfrm>
              <a:off x="560070" y="5005388"/>
              <a:ext cx="7971017" cy="4400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250">
                  <a:solidFill>
                    <a:srgbClr val="262626"/>
                  </a:solidFill>
                  <a:latin typeface="Arial"/>
                  <a:ea typeface="Arial"/>
                  <a:cs typeface="Arial"/>
                  <a:sym typeface="Arial"/>
                </a:rPr>
                <a:t>A candidate warm start for PA-ADMM; benefit to be tested.</a:t>
              </a:r>
              <a:endParaRPr/>
            </a:p>
          </p:txBody>
        </p:sp>
        <p:sp>
          <p:nvSpPr>
            <p:cNvPr id="355" name="Google Shape;355;p38"/>
            <p:cNvSpPr txBox="1"/>
            <p:nvPr/>
          </p:nvSpPr>
          <p:spPr>
            <a:xfrm>
              <a:off x="558546" y="5687378"/>
              <a:ext cx="9248123" cy="49872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550">
                  <a:solidFill>
                    <a:srgbClr val="A02337"/>
                  </a:solidFill>
                  <a:latin typeface="Arial"/>
                  <a:ea typeface="Arial"/>
                  <a:cs typeface="Arial"/>
                  <a:sym typeface="Arial"/>
                </a:rPr>
                <a:t>Next: SMO solves the dual with cost-dependent bounds.</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9" name="Shape 359"/>
        <p:cNvGrpSpPr/>
        <p:nvPr/>
      </p:nvGrpSpPr>
      <p:grpSpPr>
        <a:xfrm>
          <a:off x="0" y="0"/>
          <a:ext cx="0" cy="0"/>
          <a:chOff x="0" y="0"/>
          <a:chExt cx="0" cy="0"/>
        </a:xfrm>
      </p:grpSpPr>
      <p:sp>
        <p:nvSpPr>
          <p:cNvPr id="360" name="Google Shape;360;p39"/>
          <p:cNvSpPr txBox="1"/>
          <p:nvPr/>
        </p:nvSpPr>
        <p:spPr>
          <a:xfrm>
            <a:off x="367284" y="241935"/>
            <a:ext cx="6116315" cy="5280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FFFFFF"/>
                </a:solidFill>
                <a:latin typeface="Arial"/>
                <a:ea typeface="Arial"/>
                <a:cs typeface="Arial"/>
                <a:sym typeface="Arial"/>
              </a:rPr>
              <a:t>Backup: deriving the dual and KKT</a:t>
            </a:r>
            <a:endParaRPr/>
          </a:p>
        </p:txBody>
      </p:sp>
      <p:grpSp>
        <p:nvGrpSpPr>
          <p:cNvPr id="361" name="Google Shape;361;p39"/>
          <p:cNvGrpSpPr/>
          <p:nvPr/>
        </p:nvGrpSpPr>
        <p:grpSpPr>
          <a:xfrm>
            <a:off x="393954" y="6499860"/>
            <a:ext cx="11280267" cy="234696"/>
            <a:chOff x="393954" y="6499860"/>
            <a:chExt cx="11280267" cy="234696"/>
          </a:xfrm>
        </p:grpSpPr>
        <p:sp>
          <p:nvSpPr>
            <p:cNvPr id="362" name="Google Shape;362;p39"/>
            <p:cNvSpPr txBox="1"/>
            <p:nvPr/>
          </p:nvSpPr>
          <p:spPr>
            <a:xfrm>
              <a:off x="393954" y="6499860"/>
              <a:ext cx="5364432" cy="2346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626262"/>
                  </a:solidFill>
                  <a:latin typeface="Arial"/>
                  <a:ea typeface="Arial"/>
                  <a:cs typeface="Arial"/>
                  <a:sym typeface="Arial"/>
                </a:rPr>
                <a:t>Source: Boyd &amp; Vandenberghe (2004), Chapter 5; weighted-SVM algebra.</a:t>
              </a:r>
              <a:endParaRPr/>
            </a:p>
          </p:txBody>
        </p:sp>
        <p:sp>
          <p:nvSpPr>
            <p:cNvPr id="363" name="Google Shape;363;p39"/>
            <p:cNvSpPr txBox="1"/>
            <p:nvPr/>
          </p:nvSpPr>
          <p:spPr>
            <a:xfrm>
              <a:off x="11453243" y="6499860"/>
              <a:ext cx="220978" cy="23469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200">
                  <a:solidFill>
                    <a:srgbClr val="626262"/>
                  </a:solidFill>
                  <a:latin typeface="Arial"/>
                  <a:ea typeface="Arial"/>
                  <a:cs typeface="Arial"/>
                  <a:sym typeface="Arial"/>
                </a:rPr>
                <a:t>B1</a:t>
              </a:r>
              <a:endParaRPr/>
            </a:p>
          </p:txBody>
        </p:sp>
      </p:grpSp>
      <p:grpSp>
        <p:nvGrpSpPr>
          <p:cNvPr id="364" name="Google Shape;364;p39"/>
          <p:cNvGrpSpPr/>
          <p:nvPr/>
        </p:nvGrpSpPr>
        <p:grpSpPr>
          <a:xfrm>
            <a:off x="559689" y="1358741"/>
            <a:ext cx="7660985" cy="904685"/>
            <a:chOff x="559689" y="1358741"/>
            <a:chExt cx="7660985" cy="904685"/>
          </a:xfrm>
        </p:grpSpPr>
        <p:sp>
          <p:nvSpPr>
            <p:cNvPr id="365" name="Google Shape;365;p39"/>
            <p:cNvSpPr txBox="1"/>
            <p:nvPr/>
          </p:nvSpPr>
          <p:spPr>
            <a:xfrm>
              <a:off x="559689" y="1358741"/>
              <a:ext cx="7660985" cy="45472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320">
                  <a:solidFill>
                    <a:srgbClr val="262626"/>
                  </a:solidFill>
                  <a:latin typeface="Cambria Math"/>
                  <a:ea typeface="Cambria Math"/>
                  <a:cs typeface="Cambria Math"/>
                  <a:sym typeface="Cambria Math"/>
                </a:rPr>
                <a:t>L = ½‖w‖² + ∑ᵢ Cᵢξᵢ + ∑ᵢ αᵢ(1 − ξᵢ − mᵢ) − ∑ᵢ μᵢξᵢ</a:t>
              </a:r>
              <a:endParaRPr/>
            </a:p>
          </p:txBody>
        </p:sp>
        <p:sp>
          <p:nvSpPr>
            <p:cNvPr id="366" name="Google Shape;366;p39"/>
            <p:cNvSpPr txBox="1"/>
            <p:nvPr/>
          </p:nvSpPr>
          <p:spPr>
            <a:xfrm>
              <a:off x="561213" y="1867376"/>
              <a:ext cx="3948474" cy="396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20">
                  <a:solidFill>
                    <a:srgbClr val="626262"/>
                  </a:solidFill>
                  <a:latin typeface="Arial"/>
                  <a:ea typeface="Arial"/>
                  <a:cs typeface="Arial"/>
                  <a:sym typeface="Arial"/>
                </a:rPr>
                <a:t>αᵢ, μᵢ ≥ 0; mᵢ = yᵢ(wᵀφ(xᵢ) + b)</a:t>
              </a:r>
              <a:endParaRPr/>
            </a:p>
          </p:txBody>
        </p:sp>
      </p:grpSp>
      <p:grpSp>
        <p:nvGrpSpPr>
          <p:cNvPr id="367" name="Google Shape;367;p39"/>
          <p:cNvGrpSpPr/>
          <p:nvPr/>
        </p:nvGrpSpPr>
        <p:grpSpPr>
          <a:xfrm>
            <a:off x="560070" y="2594134"/>
            <a:ext cx="6891804" cy="1514189"/>
            <a:chOff x="560070" y="2594134"/>
            <a:chExt cx="6891804" cy="1514189"/>
          </a:xfrm>
        </p:grpSpPr>
        <p:sp>
          <p:nvSpPr>
            <p:cNvPr id="368" name="Google Shape;368;p39"/>
            <p:cNvSpPr txBox="1"/>
            <p:nvPr/>
          </p:nvSpPr>
          <p:spPr>
            <a:xfrm>
              <a:off x="560451" y="2594134"/>
              <a:ext cx="1644100" cy="4253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80">
                  <a:solidFill>
                    <a:srgbClr val="A02337"/>
                  </a:solidFill>
                  <a:latin typeface="Arial"/>
                  <a:ea typeface="Arial"/>
                  <a:cs typeface="Arial"/>
                  <a:sym typeface="Arial"/>
                </a:rPr>
                <a:t>Stationarity</a:t>
              </a:r>
              <a:endParaRPr/>
            </a:p>
          </p:txBody>
        </p:sp>
        <p:sp>
          <p:nvSpPr>
            <p:cNvPr id="369" name="Google Shape;369;p39"/>
            <p:cNvSpPr txBox="1"/>
            <p:nvPr/>
          </p:nvSpPr>
          <p:spPr>
            <a:xfrm>
              <a:off x="560070" y="3109912"/>
              <a:ext cx="6891804" cy="4400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250">
                  <a:solidFill>
                    <a:srgbClr val="262626"/>
                  </a:solidFill>
                  <a:latin typeface="Cambria Math"/>
                  <a:ea typeface="Cambria Math"/>
                  <a:cs typeface="Cambria Math"/>
                  <a:sym typeface="Cambria Math"/>
                </a:rPr>
                <a:t>w = ∑ᵢ αᵢyᵢφ(xᵢ); ∑ᵢ αᵢyᵢ = 0; Cᵢ − αᵢ − μᵢ = 0</a:t>
              </a:r>
              <a:endParaRPr/>
            </a:p>
          </p:txBody>
        </p:sp>
        <p:sp>
          <p:nvSpPr>
            <p:cNvPr id="370" name="Google Shape;370;p39"/>
            <p:cNvSpPr txBox="1"/>
            <p:nvPr/>
          </p:nvSpPr>
          <p:spPr>
            <a:xfrm>
              <a:off x="560832" y="3697605"/>
              <a:ext cx="6033182" cy="41071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262626"/>
                  </a:solidFill>
                  <a:latin typeface="Arial"/>
                  <a:ea typeface="Arial"/>
                  <a:cs typeface="Arial"/>
                  <a:sym typeface="Arial"/>
                </a:rPr>
                <a:t>Together with αᵢ, μᵢ ≥ 0, this gives 0 ≤ αᵢ ≤ Cᵢ.</a:t>
              </a:r>
              <a:endParaRPr/>
            </a:p>
          </p:txBody>
        </p:sp>
      </p:grpSp>
      <p:grpSp>
        <p:nvGrpSpPr>
          <p:cNvPr id="371" name="Google Shape;371;p39"/>
          <p:cNvGrpSpPr/>
          <p:nvPr/>
        </p:nvGrpSpPr>
        <p:grpSpPr>
          <a:xfrm>
            <a:off x="560451" y="4670584"/>
            <a:ext cx="7371525" cy="1469517"/>
            <a:chOff x="560451" y="4670584"/>
            <a:chExt cx="7371525" cy="1469517"/>
          </a:xfrm>
        </p:grpSpPr>
        <p:sp>
          <p:nvSpPr>
            <p:cNvPr id="372" name="Google Shape;372;p39"/>
            <p:cNvSpPr txBox="1"/>
            <p:nvPr/>
          </p:nvSpPr>
          <p:spPr>
            <a:xfrm>
              <a:off x="560451" y="4670584"/>
              <a:ext cx="7371525" cy="4253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80">
                  <a:solidFill>
                    <a:srgbClr val="A02337"/>
                  </a:solidFill>
                  <a:latin typeface="Arial"/>
                  <a:ea typeface="Arial"/>
                  <a:cs typeface="Arial"/>
                  <a:sym typeface="Arial"/>
                </a:rPr>
                <a:t>Feasibility + stationarity + complementary slackness</a:t>
              </a:r>
              <a:endParaRPr/>
            </a:p>
          </p:txBody>
        </p:sp>
        <p:sp>
          <p:nvSpPr>
            <p:cNvPr id="373" name="Google Shape;373;p39"/>
            <p:cNvSpPr txBox="1"/>
            <p:nvPr/>
          </p:nvSpPr>
          <p:spPr>
            <a:xfrm>
              <a:off x="560451" y="5156359"/>
              <a:ext cx="6962701" cy="4253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80">
                  <a:solidFill>
                    <a:srgbClr val="262626"/>
                  </a:solidFill>
                  <a:latin typeface="Cambria Math"/>
                  <a:ea typeface="Cambria Math"/>
                  <a:cs typeface="Cambria Math"/>
                  <a:sym typeface="Cambria Math"/>
                </a:rPr>
                <a:t>mᵢ ≥ 1 − ξᵢ; ξᵢ ≥ 0; αᵢ(1 − ξᵢ − mᵢ) = 0; μᵢξᵢ = 0</a:t>
              </a:r>
              <a:endParaRPr/>
            </a:p>
          </p:txBody>
        </p:sp>
        <p:sp>
          <p:nvSpPr>
            <p:cNvPr id="374" name="Google Shape;374;p39"/>
            <p:cNvSpPr txBox="1"/>
            <p:nvPr/>
          </p:nvSpPr>
          <p:spPr>
            <a:xfrm>
              <a:off x="561213" y="5744051"/>
              <a:ext cx="5523660" cy="396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20">
                  <a:solidFill>
                    <a:srgbClr val="262626"/>
                  </a:solidFill>
                  <a:latin typeface="Arial"/>
                  <a:ea typeface="Arial"/>
                  <a:cs typeface="Arial"/>
                  <a:sym typeface="Arial"/>
                </a:rPr>
                <a:t>Strictly feasible example: w = 0, b = 0, ξᵢ = 2.</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8" name="Shape 378"/>
        <p:cNvGrpSpPr/>
        <p:nvPr/>
      </p:nvGrpSpPr>
      <p:grpSpPr>
        <a:xfrm>
          <a:off x="0" y="0"/>
          <a:ext cx="0" cy="0"/>
          <a:chOff x="0" y="0"/>
          <a:chExt cx="0" cy="0"/>
        </a:xfrm>
      </p:grpSpPr>
      <p:sp>
        <p:nvSpPr>
          <p:cNvPr id="379" name="Google Shape;379;p40"/>
          <p:cNvSpPr txBox="1"/>
          <p:nvPr/>
        </p:nvSpPr>
        <p:spPr>
          <a:xfrm>
            <a:off x="367284" y="241935"/>
            <a:ext cx="7592516" cy="5280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00">
                <a:solidFill>
                  <a:srgbClr val="FFFFFF"/>
                </a:solidFill>
                <a:latin typeface="Arial"/>
                <a:ea typeface="Arial"/>
                <a:cs typeface="Arial"/>
                <a:sym typeface="Arial"/>
              </a:rPr>
              <a:t>Backup: normalization and algorithm scope</a:t>
            </a:r>
            <a:endParaRPr/>
          </a:p>
        </p:txBody>
      </p:sp>
      <p:grpSp>
        <p:nvGrpSpPr>
          <p:cNvPr id="380" name="Google Shape;380;p40"/>
          <p:cNvGrpSpPr/>
          <p:nvPr/>
        </p:nvGrpSpPr>
        <p:grpSpPr>
          <a:xfrm>
            <a:off x="393954" y="6499860"/>
            <a:ext cx="11280267" cy="234696"/>
            <a:chOff x="393954" y="6499860"/>
            <a:chExt cx="11280267" cy="234696"/>
          </a:xfrm>
        </p:grpSpPr>
        <p:sp>
          <p:nvSpPr>
            <p:cNvPr id="381" name="Google Shape;381;p40"/>
            <p:cNvSpPr txBox="1"/>
            <p:nvPr/>
          </p:nvSpPr>
          <p:spPr>
            <a:xfrm>
              <a:off x="393954" y="6499860"/>
              <a:ext cx="4917536" cy="2346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626262"/>
                  </a:solidFill>
                  <a:latin typeface="Arial"/>
                  <a:ea typeface="Arial"/>
                  <a:cs typeface="Arial"/>
                  <a:sym typeface="Arial"/>
                </a:rPr>
                <a:t>Source: Group 4 proposal, §§2.1–2.4; Pegasos (2011), §§2.2 and 6.</a:t>
              </a:r>
              <a:endParaRPr/>
            </a:p>
          </p:txBody>
        </p:sp>
        <p:sp>
          <p:nvSpPr>
            <p:cNvPr id="382" name="Google Shape;382;p40"/>
            <p:cNvSpPr txBox="1"/>
            <p:nvPr/>
          </p:nvSpPr>
          <p:spPr>
            <a:xfrm>
              <a:off x="11453243" y="6499860"/>
              <a:ext cx="220978" cy="23469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200">
                  <a:solidFill>
                    <a:srgbClr val="626262"/>
                  </a:solidFill>
                  <a:latin typeface="Arial"/>
                  <a:ea typeface="Arial"/>
                  <a:cs typeface="Arial"/>
                  <a:sym typeface="Arial"/>
                </a:rPr>
                <a:t>B2</a:t>
              </a:r>
              <a:endParaRPr/>
            </a:p>
          </p:txBody>
        </p:sp>
      </p:grpSp>
      <p:grpSp>
        <p:nvGrpSpPr>
          <p:cNvPr id="383" name="Google Shape;383;p40"/>
          <p:cNvGrpSpPr/>
          <p:nvPr/>
        </p:nvGrpSpPr>
        <p:grpSpPr>
          <a:xfrm>
            <a:off x="558927" y="1338262"/>
            <a:ext cx="7072451" cy="1898047"/>
            <a:chOff x="558927" y="1338262"/>
            <a:chExt cx="7072451" cy="1898047"/>
          </a:xfrm>
        </p:grpSpPr>
        <p:sp>
          <p:nvSpPr>
            <p:cNvPr id="384" name="Google Shape;384;p40"/>
            <p:cNvSpPr txBox="1"/>
            <p:nvPr/>
          </p:nvSpPr>
          <p:spPr>
            <a:xfrm>
              <a:off x="560070" y="1338262"/>
              <a:ext cx="3734257" cy="4400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50">
                  <a:solidFill>
                    <a:srgbClr val="A02337"/>
                  </a:solidFill>
                  <a:latin typeface="Arial"/>
                  <a:ea typeface="Arial"/>
                  <a:cs typeface="Arial"/>
                  <a:sym typeface="Arial"/>
                </a:rPr>
                <a:t>Normalization convention</a:t>
              </a:r>
              <a:endParaRPr/>
            </a:p>
          </p:txBody>
        </p:sp>
        <p:sp>
          <p:nvSpPr>
            <p:cNvPr id="385" name="Google Shape;385;p40"/>
            <p:cNvSpPr txBox="1"/>
            <p:nvPr/>
          </p:nvSpPr>
          <p:spPr>
            <a:xfrm>
              <a:off x="560832" y="1821180"/>
              <a:ext cx="7062914" cy="41071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262626"/>
                  </a:solidFill>
                  <a:latin typeface="Arial"/>
                  <a:ea typeface="Arial"/>
                  <a:cs typeface="Arial"/>
                  <a:sym typeface="Arial"/>
                </a:rPr>
                <a:t>2c / (cFN + cFP) averages the two class weights to one.</a:t>
              </a:r>
              <a:endParaRPr/>
            </a:p>
          </p:txBody>
        </p:sp>
        <p:sp>
          <p:nvSpPr>
            <p:cNvPr id="386" name="Google Shape;386;p40"/>
            <p:cNvSpPr txBox="1"/>
            <p:nvPr/>
          </p:nvSpPr>
          <p:spPr>
            <a:xfrm>
              <a:off x="560832" y="2259330"/>
              <a:ext cx="7070546" cy="41071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262626"/>
                  </a:solidFill>
                  <a:latin typeface="Arial"/>
                  <a:ea typeface="Arial"/>
                  <a:cs typeface="Arial"/>
                  <a:sym typeface="Arial"/>
                </a:rPr>
                <a:t>Our convention makes the training-sample average one:</a:t>
              </a:r>
              <a:endParaRPr/>
            </a:p>
          </p:txBody>
        </p:sp>
        <p:sp>
          <p:nvSpPr>
            <p:cNvPr id="387" name="Google Shape;387;p40"/>
            <p:cNvSpPr txBox="1"/>
            <p:nvPr/>
          </p:nvSpPr>
          <p:spPr>
            <a:xfrm>
              <a:off x="558927" y="2752249"/>
              <a:ext cx="6752129" cy="4840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480">
                  <a:solidFill>
                    <a:srgbClr val="262626"/>
                  </a:solidFill>
                  <a:latin typeface="Cambria Math"/>
                  <a:ea typeface="Cambria Math"/>
                  <a:cs typeface="Cambria Math"/>
                  <a:sym typeface="Cambria Math"/>
                </a:rPr>
                <a:t>aᵢ = c(yᵢ) / (p₊cFN + p₋cFP), λ = 1/(nC)</a:t>
              </a:r>
              <a:endParaRPr/>
            </a:p>
          </p:txBody>
        </p:sp>
      </p:grpSp>
      <p:grpSp>
        <p:nvGrpSpPr>
          <p:cNvPr id="388" name="Google Shape;388;p40"/>
          <p:cNvGrpSpPr/>
          <p:nvPr/>
        </p:nvGrpSpPr>
        <p:grpSpPr>
          <a:xfrm>
            <a:off x="560070" y="3824288"/>
            <a:ext cx="7812750" cy="2208085"/>
            <a:chOff x="560070" y="3824288"/>
            <a:chExt cx="7812750" cy="2208085"/>
          </a:xfrm>
        </p:grpSpPr>
        <p:sp>
          <p:nvSpPr>
            <p:cNvPr id="389" name="Google Shape;389;p40"/>
            <p:cNvSpPr txBox="1"/>
            <p:nvPr/>
          </p:nvSpPr>
          <p:spPr>
            <a:xfrm>
              <a:off x="560070" y="3824288"/>
              <a:ext cx="4208058" cy="4400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50">
                  <a:solidFill>
                    <a:srgbClr val="A02337"/>
                  </a:solidFill>
                  <a:latin typeface="Arial"/>
                  <a:ea typeface="Arial"/>
                  <a:cs typeface="Arial"/>
                  <a:sym typeface="Arial"/>
                </a:rPr>
                <a:t>Bias and convergence scope</a:t>
              </a:r>
              <a:endParaRPr/>
            </a:p>
          </p:txBody>
        </p:sp>
        <p:sp>
          <p:nvSpPr>
            <p:cNvPr id="390" name="Google Shape;390;p40"/>
            <p:cNvSpPr txBox="1"/>
            <p:nvPr/>
          </p:nvSpPr>
          <p:spPr>
            <a:xfrm>
              <a:off x="560451" y="4327684"/>
              <a:ext cx="6335142" cy="4253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80">
                  <a:solidFill>
                    <a:srgbClr val="262626"/>
                  </a:solidFill>
                  <a:latin typeface="Arial"/>
                  <a:ea typeface="Arial"/>
                  <a:cs typeface="Arial"/>
                  <a:sym typeface="Arial"/>
                </a:rPr>
                <a:t>b is unregularized, so only w receives shrinkage.</a:t>
              </a:r>
              <a:endParaRPr/>
            </a:p>
          </p:txBody>
        </p:sp>
        <p:sp>
          <p:nvSpPr>
            <p:cNvPr id="391" name="Google Shape;391;p40"/>
            <p:cNvSpPr txBox="1"/>
            <p:nvPr/>
          </p:nvSpPr>
          <p:spPr>
            <a:xfrm>
              <a:off x="560451" y="4775359"/>
              <a:ext cx="7812369" cy="42538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80">
                  <a:solidFill>
                    <a:srgbClr val="262626"/>
                  </a:solidFill>
                  <a:latin typeface="Arial"/>
                  <a:ea typeface="Arial"/>
                  <a:cs typeface="Arial"/>
                  <a:sym typeface="Arial"/>
                </a:rPr>
                <a:t>Use the same objective and bias convention across solvers.</a:t>
              </a:r>
              <a:endParaRPr/>
            </a:p>
          </p:txBody>
        </p:sp>
        <p:sp>
          <p:nvSpPr>
            <p:cNvPr id="392" name="Google Shape;392;p40"/>
            <p:cNvSpPr txBox="1"/>
            <p:nvPr/>
          </p:nvSpPr>
          <p:spPr>
            <a:xfrm>
              <a:off x="560832" y="5231130"/>
              <a:ext cx="6622143" cy="41071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262626"/>
                  </a:solidFill>
                  <a:latin typeface="Arial"/>
                  <a:ea typeface="Arial"/>
                  <a:cs typeface="Arial"/>
                  <a:sym typeface="Arial"/>
                </a:rPr>
                <a:t>This is a weighted Pegasos-style variant; the original</a:t>
              </a:r>
              <a:endParaRPr/>
            </a:p>
          </p:txBody>
        </p:sp>
        <p:sp>
          <p:nvSpPr>
            <p:cNvPr id="393" name="Google Shape;393;p40"/>
            <p:cNvSpPr txBox="1"/>
            <p:nvPr/>
          </p:nvSpPr>
          <p:spPr>
            <a:xfrm>
              <a:off x="560832" y="5621655"/>
              <a:ext cx="6652451" cy="41071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262626"/>
                  </a:solidFill>
                  <a:latin typeface="Arial"/>
                  <a:ea typeface="Arial"/>
                  <a:cs typeface="Arial"/>
                  <a:sym typeface="Arial"/>
                </a:rPr>
                <a:t>strong-convexity rate does not automatically transfer.</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1"/>
          <p:cNvSpPr txBox="1"/>
          <p:nvPr>
            <p:ph type="ctrTitle"/>
          </p:nvPr>
        </p:nvSpPr>
        <p:spPr>
          <a:xfrm>
            <a:off x="334963" y="1949379"/>
            <a:ext cx="6598400" cy="1497877"/>
          </a:xfrm>
          <a:prstGeom prst="rect">
            <a:avLst/>
          </a:prstGeom>
          <a:noFill/>
          <a:ln>
            <a:noFill/>
          </a:ln>
        </p:spPr>
        <p:txBody>
          <a:bodyPr anchorCtr="0" anchor="b" bIns="45700" lIns="91425" spcFirstLastPara="1" rIns="91425" wrap="square" tIns="45700">
            <a:noAutofit/>
          </a:bodyPr>
          <a:lstStyle/>
          <a:p>
            <a:pPr indent="0" lvl="0" marL="0" marR="0" rtl="0" algn="l">
              <a:lnSpc>
                <a:spcPct val="106000"/>
              </a:lnSpc>
              <a:spcBef>
                <a:spcPts val="0"/>
              </a:spcBef>
              <a:spcAft>
                <a:spcPts val="0"/>
              </a:spcAft>
              <a:buClr>
                <a:srgbClr val="FFFFFF"/>
              </a:buClr>
              <a:buSzPts val="4400"/>
              <a:buFont typeface="Calibri"/>
              <a:buNone/>
            </a:pPr>
            <a:r>
              <a:rPr b="0" i="0" lang="en-US" sz="4400" u="none" cap="none" strike="noStrike">
                <a:solidFill>
                  <a:srgbClr val="FFFFFF"/>
                </a:solidFill>
                <a:latin typeface="Calibri"/>
                <a:ea typeface="Calibri"/>
                <a:cs typeface="Calibri"/>
                <a:sym typeface="Calibri"/>
              </a:rPr>
              <a:t>ADMM and PA-ADMM</a:t>
            </a:r>
            <a:endParaRPr b="0" i="0" sz="4400" u="none" cap="none" strike="noStrike">
              <a:solidFill>
                <a:srgbClr val="FFFFFF"/>
              </a:solidFill>
              <a:latin typeface="Calibri"/>
              <a:ea typeface="Calibri"/>
              <a:cs typeface="Calibri"/>
              <a:sym typeface="Calibri"/>
            </a:endParaRPr>
          </a:p>
        </p:txBody>
      </p:sp>
      <p:sp>
        <p:nvSpPr>
          <p:cNvPr id="400" name="Google Shape;400;p41"/>
          <p:cNvSpPr txBox="1"/>
          <p:nvPr>
            <p:ph idx="1" type="subTitle"/>
          </p:nvPr>
        </p:nvSpPr>
        <p:spPr>
          <a:xfrm>
            <a:off x="334963" y="3447257"/>
            <a:ext cx="3779837" cy="2207418"/>
          </a:xfrm>
          <a:prstGeom prst="rect">
            <a:avLst/>
          </a:prstGeom>
          <a:noFill/>
          <a:ln>
            <a:noFill/>
          </a:ln>
        </p:spPr>
        <p:txBody>
          <a:bodyPr anchorCtr="0" anchor="t" bIns="45700" lIns="91425" spcFirstLastPara="1" rIns="91425" wrap="square" tIns="45700">
            <a:noAutofit/>
          </a:bodyPr>
          <a:lstStyle/>
          <a:p>
            <a:pPr indent="0" lvl="0" marL="0" marR="0" rtl="0" algn="l">
              <a:lnSpc>
                <a:spcPct val="116000"/>
              </a:lnSpc>
              <a:spcBef>
                <a:spcPts val="0"/>
              </a:spcBef>
              <a:spcAft>
                <a:spcPts val="0"/>
              </a:spcAft>
              <a:buClr>
                <a:srgbClr val="FFFFFF"/>
              </a:buClr>
              <a:buSzPts val="2400"/>
              <a:buFont typeface="Arial"/>
              <a:buNone/>
            </a:pPr>
            <a:r>
              <a:rPr b="0" i="0" lang="en-US" sz="2400" u="none" cap="none" strike="noStrike">
                <a:solidFill>
                  <a:srgbClr val="FFFFFF"/>
                </a:solidFill>
                <a:latin typeface="Calibri"/>
                <a:ea typeface="Calibri"/>
                <a:cs typeface="Calibri"/>
                <a:sym typeface="Calibri"/>
              </a:rPr>
              <a:t>PART III</a:t>
            </a:r>
            <a:endParaRPr b="0" i="0" sz="2400" u="none" cap="none" strike="noStrike">
              <a:solidFill>
                <a:srgbClr val="FFFFFF"/>
              </a:solidFill>
              <a:latin typeface="Calibri"/>
              <a:ea typeface="Calibri"/>
              <a:cs typeface="Calibri"/>
              <a:sym typeface="Calibri"/>
            </a:endParaRPr>
          </a:p>
          <a:p>
            <a:pPr indent="0" lvl="0" marL="0" marR="0" rtl="0" algn="l">
              <a:lnSpc>
                <a:spcPct val="116000"/>
              </a:lnSpc>
              <a:spcBef>
                <a:spcPts val="480"/>
              </a:spcBef>
              <a:spcAft>
                <a:spcPts val="0"/>
              </a:spcAft>
              <a:buClr>
                <a:srgbClr val="FFFFFF"/>
              </a:buClr>
              <a:buSzPts val="2400"/>
              <a:buFont typeface="Arial"/>
              <a:buNone/>
            </a:pPr>
            <a:r>
              <a:rPr b="0" i="0" lang="en-US" sz="2400" u="none" cap="none" strike="noStrike">
                <a:solidFill>
                  <a:srgbClr val="FFFFFF"/>
                </a:solidFill>
                <a:latin typeface="Calibri"/>
                <a:ea typeface="Calibri"/>
                <a:cs typeface="Calibri"/>
                <a:sym typeface="Calibri"/>
              </a:rPr>
              <a:t>OPTIMIZATION METHODS</a:t>
            </a:r>
            <a:endParaRPr b="0" i="0" sz="2400" u="none" cap="none" strike="noStrike">
              <a:solidFill>
                <a:srgbClr val="FFFF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5" name="Shape 405"/>
        <p:cNvGrpSpPr/>
        <p:nvPr/>
      </p:nvGrpSpPr>
      <p:grpSpPr>
        <a:xfrm>
          <a:off x="0" y="0"/>
          <a:ext cx="0" cy="0"/>
          <a:chOff x="0" y="0"/>
          <a:chExt cx="0" cy="0"/>
        </a:xfrm>
      </p:grpSpPr>
      <p:sp>
        <p:nvSpPr>
          <p:cNvPr id="406" name="Google Shape;406;p42"/>
          <p:cNvSpPr/>
          <p:nvPr/>
        </p:nvSpPr>
        <p:spPr>
          <a:xfrm>
            <a:off x="533400" y="1014413"/>
            <a:ext cx="10413968" cy="1905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1000"/>
              <a:buFont typeface="Calibri"/>
              <a:buNone/>
            </a:pPr>
            <a:r>
              <a:rPr b="1" lang="en-US" sz="1000">
                <a:solidFill>
                  <a:srgbClr val="A02337"/>
                </a:solidFill>
                <a:latin typeface="Calibri"/>
                <a:ea typeface="Calibri"/>
                <a:cs typeface="Calibri"/>
                <a:sym typeface="Calibri"/>
              </a:rPr>
              <a:t>PART III  /  OPTIMIZATION METHODS</a:t>
            </a:r>
            <a:endParaRPr/>
          </a:p>
        </p:txBody>
      </p:sp>
      <p:sp>
        <p:nvSpPr>
          <p:cNvPr id="407" name="Google Shape;407;p42"/>
          <p:cNvSpPr/>
          <p:nvPr/>
        </p:nvSpPr>
        <p:spPr>
          <a:xfrm>
            <a:off x="533400" y="1650968"/>
            <a:ext cx="10985468" cy="431768"/>
          </a:xfrm>
          <a:prstGeom prst="rect">
            <a:avLst/>
          </a:prstGeom>
          <a:noFill/>
          <a:ln>
            <a:noFill/>
          </a:ln>
        </p:spPr>
        <p:txBody>
          <a:bodyPr anchorCtr="0" anchor="t" bIns="0" lIns="0" spcFirstLastPara="1" rIns="0" wrap="square" tIns="0">
            <a:noAutofit/>
          </a:bodyPr>
          <a:lstStyle/>
          <a:p>
            <a:pPr indent="0" lvl="0" marL="0" marR="0" rtl="0" algn="l">
              <a:lnSpc>
                <a:spcPct val="117954"/>
              </a:lnSpc>
              <a:spcBef>
                <a:spcPts val="0"/>
              </a:spcBef>
              <a:spcAft>
                <a:spcPts val="0"/>
              </a:spcAft>
              <a:buClr>
                <a:srgbClr val="182B3A"/>
              </a:buClr>
              <a:buSzPts val="2200"/>
              <a:buFont typeface="Calibri"/>
              <a:buNone/>
            </a:pPr>
            <a:r>
              <a:rPr b="0" lang="en-US" sz="2200">
                <a:solidFill>
                  <a:srgbClr val="182B3A"/>
                </a:solidFill>
                <a:latin typeface="Calibri"/>
                <a:ea typeface="Calibri"/>
                <a:cs typeface="Calibri"/>
                <a:sym typeface="Calibri"/>
              </a:rPr>
              <a:t>Solve a cost-sensitive SVM through variable splitting.</a:t>
            </a:r>
            <a:endParaRPr/>
          </a:p>
        </p:txBody>
      </p:sp>
      <p:pic>
        <p:nvPicPr>
          <p:cNvPr id="408" name="Google Shape;408;p42"/>
          <p:cNvPicPr preferRelativeResize="0"/>
          <p:nvPr/>
        </p:nvPicPr>
        <p:blipFill rotWithShape="1">
          <a:blip r:embed="rId3">
            <a:alphaModFix/>
          </a:blip>
          <a:srcRect b="0" l="0" r="0" t="0"/>
          <a:stretch/>
        </p:blipFill>
        <p:spPr>
          <a:xfrm>
            <a:off x="889000" y="2413000"/>
            <a:ext cx="7161414" cy="798021"/>
          </a:xfrm>
          <a:prstGeom prst="rect">
            <a:avLst/>
          </a:prstGeom>
          <a:noFill/>
          <a:ln>
            <a:noFill/>
          </a:ln>
        </p:spPr>
      </p:pic>
      <p:sp>
        <p:nvSpPr>
          <p:cNvPr id="409" name="Google Shape;409;p42"/>
          <p:cNvSpPr/>
          <p:nvPr/>
        </p:nvSpPr>
        <p:spPr>
          <a:xfrm>
            <a:off x="571500" y="3619500"/>
            <a:ext cx="3238500" cy="6858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3600"/>
              <a:buFont typeface="Calibri"/>
              <a:buNone/>
            </a:pPr>
            <a:r>
              <a:rPr b="1" lang="en-US" sz="3600">
                <a:solidFill>
                  <a:srgbClr val="A02337"/>
                </a:solidFill>
                <a:latin typeface="Calibri"/>
                <a:ea typeface="Calibri"/>
                <a:cs typeface="Calibri"/>
                <a:sym typeface="Calibri"/>
              </a:rPr>
              <a:t>ADMM</a:t>
            </a:r>
            <a:endParaRPr/>
          </a:p>
        </p:txBody>
      </p:sp>
      <p:sp>
        <p:nvSpPr>
          <p:cNvPr id="410" name="Google Shape;410;p42"/>
          <p:cNvSpPr/>
          <p:nvPr/>
        </p:nvSpPr>
        <p:spPr>
          <a:xfrm>
            <a:off x="571500" y="4356068"/>
            <a:ext cx="3238500" cy="3555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526574"/>
              </a:buClr>
              <a:buSzPts val="1600"/>
              <a:buFont typeface="Calibri"/>
              <a:buNone/>
            </a:pPr>
            <a:r>
              <a:rPr b="0" lang="en-US" sz="1600">
                <a:solidFill>
                  <a:srgbClr val="526574"/>
                </a:solidFill>
                <a:latin typeface="Calibri"/>
                <a:ea typeface="Calibri"/>
                <a:cs typeface="Calibri"/>
                <a:sym typeface="Calibri"/>
              </a:rPr>
              <a:t>model, margin and dual updates</a:t>
            </a:r>
            <a:endParaRPr/>
          </a:p>
        </p:txBody>
      </p:sp>
      <p:sp>
        <p:nvSpPr>
          <p:cNvPr id="411" name="Google Shape;411;p42"/>
          <p:cNvSpPr/>
          <p:nvPr/>
        </p:nvSpPr>
        <p:spPr>
          <a:xfrm>
            <a:off x="4381500" y="3619500"/>
            <a:ext cx="3238500" cy="6858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3600"/>
              <a:buFont typeface="Calibri"/>
              <a:buNone/>
            </a:pPr>
            <a:r>
              <a:rPr b="1" lang="en-US" sz="3600">
                <a:solidFill>
                  <a:srgbClr val="A02337"/>
                </a:solidFill>
                <a:latin typeface="Calibri"/>
                <a:ea typeface="Calibri"/>
                <a:cs typeface="Calibri"/>
                <a:sym typeface="Calibri"/>
              </a:rPr>
              <a:t>Pegasos</a:t>
            </a:r>
            <a:endParaRPr/>
          </a:p>
        </p:txBody>
      </p:sp>
      <p:sp>
        <p:nvSpPr>
          <p:cNvPr id="412" name="Google Shape;412;p42"/>
          <p:cNvSpPr/>
          <p:nvPr/>
        </p:nvSpPr>
        <p:spPr>
          <a:xfrm>
            <a:off x="4381500" y="4356068"/>
            <a:ext cx="3238500" cy="3555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526574"/>
              </a:buClr>
              <a:buSzPts val="1600"/>
              <a:buFont typeface="Calibri"/>
              <a:buNone/>
            </a:pPr>
            <a:r>
              <a:rPr b="0" lang="en-US" sz="1600">
                <a:solidFill>
                  <a:srgbClr val="526574"/>
                </a:solidFill>
                <a:latin typeface="Calibri"/>
                <a:ea typeface="Calibri"/>
                <a:cs typeface="Calibri"/>
                <a:sym typeface="Calibri"/>
              </a:rPr>
              <a:t>weighted warm initialization</a:t>
            </a:r>
            <a:endParaRPr/>
          </a:p>
        </p:txBody>
      </p:sp>
      <p:sp>
        <p:nvSpPr>
          <p:cNvPr id="413" name="Google Shape;413;p42"/>
          <p:cNvSpPr/>
          <p:nvPr/>
        </p:nvSpPr>
        <p:spPr>
          <a:xfrm>
            <a:off x="8191500" y="3619500"/>
            <a:ext cx="3238500" cy="6858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3600"/>
              <a:buFont typeface="Calibri"/>
              <a:buNone/>
            </a:pPr>
            <a:r>
              <a:rPr b="1" lang="en-US" sz="3600">
                <a:solidFill>
                  <a:srgbClr val="A02337"/>
                </a:solidFill>
                <a:latin typeface="Calibri"/>
                <a:ea typeface="Calibri"/>
                <a:cs typeface="Calibri"/>
                <a:sym typeface="Calibri"/>
              </a:rPr>
              <a:t>ρ and α</a:t>
            </a:r>
            <a:endParaRPr/>
          </a:p>
        </p:txBody>
      </p:sp>
      <p:sp>
        <p:nvSpPr>
          <p:cNvPr id="414" name="Google Shape;414;p42"/>
          <p:cNvSpPr/>
          <p:nvPr/>
        </p:nvSpPr>
        <p:spPr>
          <a:xfrm>
            <a:off x="8191500" y="4356068"/>
            <a:ext cx="3238500" cy="3555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526574"/>
              </a:buClr>
              <a:buSzPts val="1600"/>
              <a:buFont typeface="Calibri"/>
              <a:buNone/>
            </a:pPr>
            <a:r>
              <a:rPr b="0" lang="en-US" sz="1600">
                <a:solidFill>
                  <a:srgbClr val="526574"/>
                </a:solidFill>
                <a:latin typeface="Calibri"/>
                <a:ea typeface="Calibri"/>
                <a:cs typeface="Calibri"/>
                <a:sym typeface="Calibri"/>
              </a:rPr>
              <a:t>penalty and relaxation controls</a:t>
            </a:r>
            <a:endParaRPr/>
          </a:p>
        </p:txBody>
      </p:sp>
      <p:sp>
        <p:nvSpPr>
          <p:cNvPr id="415" name="Google Shape;415;p42"/>
          <p:cNvSpPr/>
          <p:nvPr/>
        </p:nvSpPr>
        <p:spPr>
          <a:xfrm>
            <a:off x="571500" y="5092732"/>
            <a:ext cx="11049000" cy="3174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526574"/>
              </a:buClr>
              <a:buSzPts val="2000"/>
              <a:buFont typeface="Calibri"/>
              <a:buNone/>
            </a:pPr>
            <a:r>
              <a:rPr b="0" lang="en-US" sz="2000">
                <a:solidFill>
                  <a:srgbClr val="526574"/>
                </a:solidFill>
                <a:latin typeface="Calibri"/>
                <a:ea typeface="Calibri"/>
                <a:cs typeface="Calibri"/>
                <a:sym typeface="Calibri"/>
              </a:rPr>
              <a:t>Variable splitting   →   ADMM updates   →   PA-ADMM controls</a:t>
            </a:r>
            <a:endParaRPr/>
          </a:p>
        </p:txBody>
      </p:sp>
      <p:cxnSp>
        <p:nvCxnSpPr>
          <p:cNvPr id="416" name="Google Shape;416;p42"/>
          <p:cNvCxnSpPr/>
          <p:nvPr/>
        </p:nvCxnSpPr>
        <p:spPr>
          <a:xfrm>
            <a:off x="533400" y="5651500"/>
            <a:ext cx="0" cy="444500"/>
          </a:xfrm>
          <a:prstGeom prst="straightConnector1">
            <a:avLst/>
          </a:prstGeom>
          <a:noFill/>
          <a:ln cap="flat" cmpd="sng" w="38100">
            <a:solidFill>
              <a:srgbClr val="A02337"/>
            </a:solidFill>
            <a:prstDash val="solid"/>
            <a:round/>
            <a:headEnd len="sm" w="sm" type="none"/>
            <a:tailEnd len="sm" w="sm" type="none"/>
          </a:ln>
          <a:effectLst>
            <a:outerShdw blurRad="40000" rotWithShape="0" dir="5400000" dist="20000">
              <a:srgbClr val="000000">
                <a:alpha val="38039"/>
              </a:srgbClr>
            </a:outerShdw>
          </a:effectLst>
        </p:spPr>
      </p:cxnSp>
      <p:sp>
        <p:nvSpPr>
          <p:cNvPr id="417" name="Google Shape;417;p42"/>
          <p:cNvSpPr/>
          <p:nvPr/>
        </p:nvSpPr>
        <p:spPr>
          <a:xfrm>
            <a:off x="685800" y="5689568"/>
            <a:ext cx="10871168" cy="419100"/>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rgbClr val="A02337"/>
              </a:buClr>
              <a:buSzPts val="1700"/>
              <a:buFont typeface="Calibri"/>
              <a:buNone/>
            </a:pPr>
            <a:r>
              <a:rPr b="1" lang="en-US" sz="1700">
                <a:solidFill>
                  <a:srgbClr val="A02337"/>
                </a:solidFill>
                <a:latin typeface="Calibri"/>
                <a:ea typeface="Calibri"/>
                <a:cs typeface="Calibri"/>
                <a:sym typeface="Calibri"/>
              </a:rPr>
              <a:t>Same objective, with different initialization and update rules.</a:t>
            </a:r>
            <a:endParaRPr/>
          </a:p>
        </p:txBody>
      </p:sp>
      <p:cxnSp>
        <p:nvCxnSpPr>
          <p:cNvPr id="418" name="Google Shape;418;p42"/>
          <p:cNvCxnSpPr/>
          <p:nvPr/>
        </p:nvCxnSpPr>
        <p:spPr>
          <a:xfrm>
            <a:off x="533400" y="6337300"/>
            <a:ext cx="11125200" cy="0"/>
          </a:xfrm>
          <a:prstGeom prst="straightConnector1">
            <a:avLst/>
          </a:prstGeom>
          <a:noFill/>
          <a:ln cap="flat" cmpd="sng" w="10150">
            <a:solidFill>
              <a:srgbClr val="D7E1E7"/>
            </a:solidFill>
            <a:prstDash val="solid"/>
            <a:round/>
            <a:headEnd len="sm" w="sm" type="none"/>
            <a:tailEnd len="sm" w="sm" type="none"/>
          </a:ln>
          <a:effectLst>
            <a:outerShdw blurRad="40000" rotWithShape="0" dir="5400000" dist="20000">
              <a:srgbClr val="000000">
                <a:alpha val="38039"/>
              </a:srgbClr>
            </a:outerShdw>
          </a:effectLst>
        </p:spPr>
      </p:cxnSp>
      <p:sp>
        <p:nvSpPr>
          <p:cNvPr id="419" name="Google Shape;419;p42"/>
          <p:cNvSpPr/>
          <p:nvPr/>
        </p:nvSpPr>
        <p:spPr>
          <a:xfrm>
            <a:off x="533400" y="6464332"/>
            <a:ext cx="10350532" cy="2031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526574"/>
              </a:buClr>
              <a:buSzPts val="900"/>
              <a:buFont typeface="Calibri"/>
              <a:buNone/>
            </a:pPr>
            <a:r>
              <a:rPr b="0" lang="en-US" sz="900">
                <a:solidFill>
                  <a:srgbClr val="526574"/>
                </a:solidFill>
                <a:latin typeface="Calibri"/>
                <a:ea typeface="Calibri"/>
                <a:cs typeface="Calibri"/>
                <a:sym typeface="Calibri"/>
              </a:rPr>
              <a:t>Proposal §§2.3, 3.2 · src/svm_admm.py · WP3 implementation</a:t>
            </a:r>
            <a:endParaRPr/>
          </a:p>
        </p:txBody>
      </p:sp>
      <p:sp>
        <p:nvSpPr>
          <p:cNvPr id="420" name="Google Shape;420;p42"/>
          <p:cNvSpPr/>
          <p:nvPr/>
        </p:nvSpPr>
        <p:spPr>
          <a:xfrm>
            <a:off x="11112532" y="6438900"/>
            <a:ext cx="546068" cy="254032"/>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Clr>
                <a:schemeClr val="dk1"/>
              </a:buClr>
              <a:buSzPts val="1000"/>
              <a:buFont typeface="Calibri"/>
              <a:buNone/>
            </a:pPr>
            <a:r>
              <a:rPr b="0" lang="en-US" sz="1000">
                <a:solidFill>
                  <a:schemeClr val="dk1"/>
                </a:solidFill>
                <a:latin typeface="Calibri"/>
                <a:ea typeface="Calibri"/>
                <a:cs typeface="Calibri"/>
                <a:sym typeface="Calibri"/>
              </a:rPr>
              <a:t>III · 01</a:t>
            </a:r>
            <a:endParaRPr/>
          </a:p>
        </p:txBody>
      </p:sp>
      <p:sp>
        <p:nvSpPr>
          <p:cNvPr id="421" name="Google Shape;421;p42"/>
          <p:cNvSpPr txBox="1"/>
          <p:nvPr>
            <p:ph type="title"/>
          </p:nvPr>
        </p:nvSpPr>
        <p:spPr>
          <a:xfrm>
            <a:off x="334963" y="0"/>
            <a:ext cx="10637837" cy="8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Calibri"/>
              <a:buNone/>
            </a:pPr>
            <a:r>
              <a:rPr b="0" i="0" lang="en-US" sz="3200" u="none" cap="none" strike="noStrike">
                <a:solidFill>
                  <a:srgbClr val="FFFFFF"/>
                </a:solidFill>
                <a:latin typeface="Calibri"/>
                <a:ea typeface="Calibri"/>
                <a:cs typeface="Calibri"/>
                <a:sym typeface="Calibri"/>
              </a:rPr>
              <a:t>ADMM and PA-ADMM</a:t>
            </a:r>
            <a:endParaRPr b="0" i="0" sz="3200" u="none" cap="none" strike="noStrike">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6" name="Shape 426"/>
        <p:cNvGrpSpPr/>
        <p:nvPr/>
      </p:nvGrpSpPr>
      <p:grpSpPr>
        <a:xfrm>
          <a:off x="0" y="0"/>
          <a:ext cx="0" cy="0"/>
          <a:chOff x="0" y="0"/>
          <a:chExt cx="0" cy="0"/>
        </a:xfrm>
      </p:grpSpPr>
      <p:sp>
        <p:nvSpPr>
          <p:cNvPr id="427" name="Google Shape;427;p43"/>
          <p:cNvSpPr/>
          <p:nvPr/>
        </p:nvSpPr>
        <p:spPr>
          <a:xfrm>
            <a:off x="533400" y="1014413"/>
            <a:ext cx="10413968" cy="1905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1000"/>
              <a:buFont typeface="Calibri"/>
              <a:buNone/>
            </a:pPr>
            <a:r>
              <a:rPr b="1" lang="en-US" sz="1000">
                <a:solidFill>
                  <a:srgbClr val="A02337"/>
                </a:solidFill>
                <a:latin typeface="Calibri"/>
                <a:ea typeface="Calibri"/>
                <a:cs typeface="Calibri"/>
                <a:sym typeface="Calibri"/>
              </a:rPr>
              <a:t>PART III  /  ADMM INTUITION</a:t>
            </a:r>
            <a:endParaRPr/>
          </a:p>
        </p:txBody>
      </p:sp>
      <p:pic>
        <p:nvPicPr>
          <p:cNvPr id="428" name="Google Shape;428;p43"/>
          <p:cNvPicPr preferRelativeResize="0"/>
          <p:nvPr/>
        </p:nvPicPr>
        <p:blipFill rotWithShape="1">
          <a:blip r:embed="rId3">
            <a:alphaModFix/>
          </a:blip>
          <a:srcRect b="0" l="0" r="0" t="0"/>
          <a:stretch/>
        </p:blipFill>
        <p:spPr>
          <a:xfrm>
            <a:off x="546100" y="1638300"/>
            <a:ext cx="5910349" cy="374072"/>
          </a:xfrm>
          <a:prstGeom prst="rect">
            <a:avLst/>
          </a:prstGeom>
          <a:noFill/>
          <a:ln>
            <a:noFill/>
          </a:ln>
        </p:spPr>
      </p:pic>
      <p:sp>
        <p:nvSpPr>
          <p:cNvPr id="429" name="Google Shape;429;p43"/>
          <p:cNvSpPr/>
          <p:nvPr/>
        </p:nvSpPr>
        <p:spPr>
          <a:xfrm>
            <a:off x="546100" y="2540000"/>
            <a:ext cx="4381500" cy="1587500"/>
          </a:xfrm>
          <a:prstGeom prst="rect">
            <a:avLst/>
          </a:prstGeom>
          <a:solidFill>
            <a:srgbClr val="F2F6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430" name="Google Shape;430;p43"/>
          <p:cNvSpPr/>
          <p:nvPr/>
        </p:nvSpPr>
        <p:spPr>
          <a:xfrm>
            <a:off x="762000" y="2768632"/>
            <a:ext cx="3936968" cy="368332"/>
          </a:xfrm>
          <a:prstGeom prst="rect">
            <a:avLst/>
          </a:prstGeom>
          <a:noFill/>
          <a:ln>
            <a:noFill/>
          </a:ln>
        </p:spPr>
        <p:txBody>
          <a:bodyPr anchorCtr="0" anchor="t" bIns="0" lIns="0" spcFirstLastPara="1" rIns="0" wrap="square" tIns="0">
            <a:noAutofit/>
          </a:bodyPr>
          <a:lstStyle/>
          <a:p>
            <a:pPr indent="0" lvl="0" marL="0" marR="0" rtl="0" algn="l">
              <a:lnSpc>
                <a:spcPct val="117956"/>
              </a:lnSpc>
              <a:spcBef>
                <a:spcPts val="0"/>
              </a:spcBef>
              <a:spcAft>
                <a:spcPts val="0"/>
              </a:spcAft>
              <a:buClr>
                <a:srgbClr val="A02337"/>
              </a:buClr>
              <a:buSzPts val="2300"/>
              <a:buFont typeface="Calibri"/>
              <a:buNone/>
            </a:pPr>
            <a:r>
              <a:rPr b="1" lang="en-US" sz="2300">
                <a:solidFill>
                  <a:srgbClr val="A02337"/>
                </a:solidFill>
                <a:latin typeface="Calibri"/>
                <a:ea typeface="Calibri"/>
                <a:cs typeface="Calibri"/>
                <a:sym typeface="Calibri"/>
              </a:rPr>
              <a:t>Global model  θ</a:t>
            </a:r>
            <a:endParaRPr/>
          </a:p>
        </p:txBody>
      </p:sp>
      <p:sp>
        <p:nvSpPr>
          <p:cNvPr id="431" name="Google Shape;431;p43"/>
          <p:cNvSpPr/>
          <p:nvPr/>
        </p:nvSpPr>
        <p:spPr>
          <a:xfrm>
            <a:off x="762000" y="3276600"/>
            <a:ext cx="3936968" cy="6350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1900"/>
              <a:buFont typeface="Calibri"/>
              <a:buNone/>
            </a:pPr>
            <a:r>
              <a:rPr b="0" lang="en-US" sz="1900">
                <a:solidFill>
                  <a:schemeClr val="dk1"/>
                </a:solidFill>
                <a:latin typeface="Calibri"/>
                <a:ea typeface="Calibri"/>
                <a:cs typeface="Calibri"/>
                <a:sym typeface="Calibri"/>
              </a:rPr>
              <a:t>One shared scoring rule</a:t>
            </a:r>
            <a:endParaRPr/>
          </a:p>
          <a:p>
            <a:pPr indent="0" lvl="0" marL="0" marR="0" rtl="0" algn="l">
              <a:lnSpc>
                <a:spcPct val="117999"/>
              </a:lnSpc>
              <a:spcBef>
                <a:spcPts val="0"/>
              </a:spcBef>
              <a:spcAft>
                <a:spcPts val="0"/>
              </a:spcAft>
              <a:buClr>
                <a:schemeClr val="dk1"/>
              </a:buClr>
              <a:buSzPts val="1900"/>
              <a:buFont typeface="Calibri"/>
              <a:buNone/>
            </a:pPr>
            <a:r>
              <a:rPr b="0" lang="en-US" sz="1900">
                <a:solidFill>
                  <a:schemeClr val="dk1"/>
                </a:solidFill>
                <a:latin typeface="Calibri"/>
                <a:ea typeface="Calibri"/>
                <a:cs typeface="Calibri"/>
                <a:sym typeface="Calibri"/>
              </a:rPr>
              <a:t>for every transaction</a:t>
            </a:r>
            <a:endParaRPr/>
          </a:p>
        </p:txBody>
      </p:sp>
      <p:cxnSp>
        <p:nvCxnSpPr>
          <p:cNvPr id="432" name="Google Shape;432;p43"/>
          <p:cNvCxnSpPr/>
          <p:nvPr/>
        </p:nvCxnSpPr>
        <p:spPr>
          <a:xfrm>
            <a:off x="5118100" y="3302000"/>
            <a:ext cx="1600200" cy="0"/>
          </a:xfrm>
          <a:prstGeom prst="straightConnector1">
            <a:avLst/>
          </a:prstGeom>
          <a:noFill/>
          <a:ln cap="flat" cmpd="sng" w="22850">
            <a:solidFill>
              <a:srgbClr val="A02337"/>
            </a:solidFill>
            <a:prstDash val="solid"/>
            <a:round/>
            <a:headEnd len="sm" w="sm" type="none"/>
            <a:tailEnd len="sm" w="sm" type="none"/>
          </a:ln>
          <a:effectLst>
            <a:outerShdw blurRad="40000" rotWithShape="0" dir="5400000" dist="20000">
              <a:srgbClr val="000000">
                <a:alpha val="38039"/>
              </a:srgbClr>
            </a:outerShdw>
          </a:effectLst>
        </p:spPr>
      </p:cxnSp>
      <p:cxnSp>
        <p:nvCxnSpPr>
          <p:cNvPr id="433" name="Google Shape;433;p43"/>
          <p:cNvCxnSpPr/>
          <p:nvPr/>
        </p:nvCxnSpPr>
        <p:spPr>
          <a:xfrm>
            <a:off x="6629400" y="3251200"/>
            <a:ext cx="88900" cy="50800"/>
          </a:xfrm>
          <a:prstGeom prst="straightConnector1">
            <a:avLst/>
          </a:prstGeom>
          <a:noFill/>
          <a:ln cap="flat" cmpd="sng" w="22850">
            <a:solidFill>
              <a:srgbClr val="A02337"/>
            </a:solidFill>
            <a:prstDash val="solid"/>
            <a:round/>
            <a:headEnd len="sm" w="sm" type="none"/>
            <a:tailEnd len="sm" w="sm" type="none"/>
          </a:ln>
          <a:effectLst>
            <a:outerShdw blurRad="40000" rotWithShape="0" dir="5400000" dist="20000">
              <a:srgbClr val="000000">
                <a:alpha val="38039"/>
              </a:srgbClr>
            </a:outerShdw>
          </a:effectLst>
        </p:spPr>
      </p:cxnSp>
      <p:cxnSp>
        <p:nvCxnSpPr>
          <p:cNvPr id="434" name="Google Shape;434;p43"/>
          <p:cNvCxnSpPr/>
          <p:nvPr/>
        </p:nvCxnSpPr>
        <p:spPr>
          <a:xfrm flipH="1" rot="10800000">
            <a:off x="6629400" y="3302000"/>
            <a:ext cx="88900" cy="50800"/>
          </a:xfrm>
          <a:prstGeom prst="straightConnector1">
            <a:avLst/>
          </a:prstGeom>
          <a:noFill/>
          <a:ln cap="flat" cmpd="sng" w="22850">
            <a:solidFill>
              <a:srgbClr val="A02337"/>
            </a:solidFill>
            <a:prstDash val="solid"/>
            <a:round/>
            <a:headEnd len="sm" w="sm" type="none"/>
            <a:tailEnd len="sm" w="sm" type="none"/>
          </a:ln>
          <a:effectLst>
            <a:outerShdw blurRad="40000" rotWithShape="0" dir="5400000" dist="20000">
              <a:srgbClr val="000000">
                <a:alpha val="38039"/>
              </a:srgbClr>
            </a:outerShdw>
          </a:effectLst>
        </p:spPr>
      </p:cxnSp>
      <p:sp>
        <p:nvSpPr>
          <p:cNvPr id="435" name="Google Shape;435;p43"/>
          <p:cNvSpPr/>
          <p:nvPr/>
        </p:nvSpPr>
        <p:spPr>
          <a:xfrm>
            <a:off x="5181600" y="2857500"/>
            <a:ext cx="1524000" cy="317468"/>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Clr>
                <a:srgbClr val="A02337"/>
              </a:buClr>
              <a:buSzPts val="2000"/>
              <a:buFont typeface="Calibri"/>
              <a:buNone/>
            </a:pPr>
            <a:r>
              <a:rPr b="1" lang="en-US" sz="2000">
                <a:solidFill>
                  <a:srgbClr val="A02337"/>
                </a:solidFill>
                <a:latin typeface="Calibri"/>
                <a:ea typeface="Calibri"/>
                <a:cs typeface="Calibri"/>
                <a:sym typeface="Calibri"/>
              </a:rPr>
              <a:t>z = Aθ</a:t>
            </a:r>
            <a:endParaRPr/>
          </a:p>
        </p:txBody>
      </p:sp>
      <p:sp>
        <p:nvSpPr>
          <p:cNvPr id="436" name="Google Shape;436;p43"/>
          <p:cNvSpPr/>
          <p:nvPr/>
        </p:nvSpPr>
        <p:spPr>
          <a:xfrm>
            <a:off x="6921500" y="2540000"/>
            <a:ext cx="4724400" cy="1587500"/>
          </a:xfrm>
          <a:prstGeom prst="rect">
            <a:avLst/>
          </a:prstGeom>
          <a:solidFill>
            <a:srgbClr val="F2F6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437" name="Google Shape;437;p43"/>
          <p:cNvSpPr/>
          <p:nvPr/>
        </p:nvSpPr>
        <p:spPr>
          <a:xfrm>
            <a:off x="7137368" y="2768632"/>
            <a:ext cx="4317968" cy="368332"/>
          </a:xfrm>
          <a:prstGeom prst="rect">
            <a:avLst/>
          </a:prstGeom>
          <a:noFill/>
          <a:ln>
            <a:noFill/>
          </a:ln>
        </p:spPr>
        <p:txBody>
          <a:bodyPr anchorCtr="0" anchor="t" bIns="0" lIns="0" spcFirstLastPara="1" rIns="0" wrap="square" tIns="0">
            <a:noAutofit/>
          </a:bodyPr>
          <a:lstStyle/>
          <a:p>
            <a:pPr indent="0" lvl="0" marL="0" marR="0" rtl="0" algn="l">
              <a:lnSpc>
                <a:spcPct val="117954"/>
              </a:lnSpc>
              <a:spcBef>
                <a:spcPts val="0"/>
              </a:spcBef>
              <a:spcAft>
                <a:spcPts val="0"/>
              </a:spcAft>
              <a:buClr>
                <a:srgbClr val="A02337"/>
              </a:buClr>
              <a:buSzPts val="2200"/>
              <a:buFont typeface="Calibri"/>
              <a:buNone/>
            </a:pPr>
            <a:r>
              <a:rPr b="1" lang="en-US" sz="2200">
                <a:solidFill>
                  <a:srgbClr val="A02337"/>
                </a:solidFill>
                <a:latin typeface="Calibri"/>
                <a:ea typeface="Calibri"/>
                <a:cs typeface="Calibri"/>
                <a:sym typeface="Calibri"/>
              </a:rPr>
              <a:t>Auxiliary margins  z₁, …, zₙ</a:t>
            </a:r>
            <a:endParaRPr/>
          </a:p>
        </p:txBody>
      </p:sp>
      <p:sp>
        <p:nvSpPr>
          <p:cNvPr id="438" name="Google Shape;438;p43"/>
          <p:cNvSpPr/>
          <p:nvPr/>
        </p:nvSpPr>
        <p:spPr>
          <a:xfrm>
            <a:off x="7137368" y="3276600"/>
            <a:ext cx="4317968" cy="6350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1800"/>
              <a:buFont typeface="Calibri"/>
              <a:buNone/>
            </a:pPr>
            <a:r>
              <a:rPr b="0" lang="en-US" sz="1800">
                <a:solidFill>
                  <a:schemeClr val="dk1"/>
                </a:solidFill>
                <a:latin typeface="Calibri"/>
                <a:ea typeface="Calibri"/>
                <a:cs typeface="Calibri"/>
                <a:sym typeface="Calibri"/>
              </a:rPr>
              <a:t>One temporary value per sample;</a:t>
            </a:r>
            <a:endParaRPr/>
          </a:p>
          <a:p>
            <a:pPr indent="0" lvl="0" marL="0" marR="0" rtl="0" algn="l">
              <a:lnSpc>
                <a:spcPct val="117999"/>
              </a:lnSpc>
              <a:spcBef>
                <a:spcPts val="0"/>
              </a:spcBef>
              <a:spcAft>
                <a:spcPts val="0"/>
              </a:spcAft>
              <a:buClr>
                <a:schemeClr val="dk1"/>
              </a:buClr>
              <a:buSzPts val="1800"/>
              <a:buFont typeface="Calibri"/>
              <a:buNone/>
            </a:pPr>
            <a:r>
              <a:rPr b="0" lang="en-US" sz="1800">
                <a:solidFill>
                  <a:schemeClr val="dk1"/>
                </a:solidFill>
                <a:latin typeface="Calibri"/>
                <a:ea typeface="Calibri"/>
                <a:cs typeface="Calibri"/>
                <a:sym typeface="Calibri"/>
              </a:rPr>
              <a:t>weighted hinge loss is separable</a:t>
            </a:r>
            <a:endParaRPr/>
          </a:p>
        </p:txBody>
      </p:sp>
      <p:sp>
        <p:nvSpPr>
          <p:cNvPr id="439" name="Google Shape;439;p43"/>
          <p:cNvSpPr/>
          <p:nvPr/>
        </p:nvSpPr>
        <p:spPr>
          <a:xfrm>
            <a:off x="546068" y="4495800"/>
            <a:ext cx="11049000" cy="368332"/>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Clr>
                <a:schemeClr val="dk1"/>
              </a:buClr>
              <a:buSzPts val="2100"/>
              <a:buFont typeface="Calibri"/>
              <a:buNone/>
            </a:pPr>
            <a:r>
              <a:rPr b="0" lang="en-US" sz="2100">
                <a:solidFill>
                  <a:schemeClr val="dk1"/>
                </a:solidFill>
                <a:latin typeface="Calibri"/>
                <a:ea typeface="Calibri"/>
                <a:cs typeface="Calibri"/>
                <a:sym typeface="Calibri"/>
              </a:rPr>
              <a:t>Fraud: y = +1, f = −0.2  →  m = −0.2  →  hinge loss = 1.2</a:t>
            </a:r>
            <a:endParaRPr/>
          </a:p>
        </p:txBody>
      </p:sp>
      <p:sp>
        <p:nvSpPr>
          <p:cNvPr id="440" name="Google Shape;440;p43"/>
          <p:cNvSpPr/>
          <p:nvPr/>
        </p:nvSpPr>
        <p:spPr>
          <a:xfrm>
            <a:off x="546068" y="5041868"/>
            <a:ext cx="11049000" cy="3683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1900"/>
              <a:buFont typeface="Calibri"/>
              <a:buNone/>
            </a:pPr>
            <a:r>
              <a:rPr b="0" lang="en-US" sz="1900">
                <a:solidFill>
                  <a:schemeClr val="dk1"/>
                </a:solidFill>
                <a:latin typeface="Calibri"/>
                <a:ea typeface="Calibri"/>
                <a:cs typeface="Calibri"/>
                <a:sym typeface="Calibri"/>
              </a:rPr>
              <a:t>The auxiliary z may move first; the next global update tries to follow.</a:t>
            </a:r>
            <a:endParaRPr/>
          </a:p>
        </p:txBody>
      </p:sp>
      <p:cxnSp>
        <p:nvCxnSpPr>
          <p:cNvPr id="441" name="Google Shape;441;p43"/>
          <p:cNvCxnSpPr/>
          <p:nvPr/>
        </p:nvCxnSpPr>
        <p:spPr>
          <a:xfrm>
            <a:off x="533400" y="5651500"/>
            <a:ext cx="0" cy="444500"/>
          </a:xfrm>
          <a:prstGeom prst="straightConnector1">
            <a:avLst/>
          </a:prstGeom>
          <a:noFill/>
          <a:ln cap="flat" cmpd="sng" w="38100">
            <a:solidFill>
              <a:srgbClr val="A02337"/>
            </a:solidFill>
            <a:prstDash val="solid"/>
            <a:round/>
            <a:headEnd len="sm" w="sm" type="none"/>
            <a:tailEnd len="sm" w="sm" type="none"/>
          </a:ln>
          <a:effectLst>
            <a:outerShdw blurRad="40000" rotWithShape="0" dir="5400000" dist="20000">
              <a:srgbClr val="000000">
                <a:alpha val="38039"/>
              </a:srgbClr>
            </a:outerShdw>
          </a:effectLst>
        </p:spPr>
      </p:cxnSp>
      <p:sp>
        <p:nvSpPr>
          <p:cNvPr id="442" name="Google Shape;442;p43"/>
          <p:cNvSpPr/>
          <p:nvPr/>
        </p:nvSpPr>
        <p:spPr>
          <a:xfrm>
            <a:off x="685800" y="5689568"/>
            <a:ext cx="10871168" cy="419100"/>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rgbClr val="A02337"/>
              </a:buClr>
              <a:buSzPts val="1700"/>
              <a:buFont typeface="Calibri"/>
              <a:buNone/>
            </a:pPr>
            <a:r>
              <a:rPr b="1" lang="en-US" sz="1700">
                <a:solidFill>
                  <a:srgbClr val="A02337"/>
                </a:solidFill>
                <a:latin typeface="Calibri"/>
                <a:ea typeface="Calibri"/>
                <a:cs typeface="Calibri"/>
                <a:sym typeface="Calibri"/>
              </a:rPr>
              <a:t>At prediction time, only f(x) = xᵀw + b is used.</a:t>
            </a:r>
            <a:endParaRPr/>
          </a:p>
        </p:txBody>
      </p:sp>
      <p:cxnSp>
        <p:nvCxnSpPr>
          <p:cNvPr id="443" name="Google Shape;443;p43"/>
          <p:cNvCxnSpPr/>
          <p:nvPr/>
        </p:nvCxnSpPr>
        <p:spPr>
          <a:xfrm>
            <a:off x="533400" y="6337300"/>
            <a:ext cx="11125200" cy="0"/>
          </a:xfrm>
          <a:prstGeom prst="straightConnector1">
            <a:avLst/>
          </a:prstGeom>
          <a:noFill/>
          <a:ln cap="flat" cmpd="sng" w="10150">
            <a:solidFill>
              <a:srgbClr val="D7E1E7"/>
            </a:solidFill>
            <a:prstDash val="solid"/>
            <a:round/>
            <a:headEnd len="sm" w="sm" type="none"/>
            <a:tailEnd len="sm" w="sm" type="none"/>
          </a:ln>
          <a:effectLst>
            <a:outerShdw blurRad="40000" rotWithShape="0" dir="5400000" dist="20000">
              <a:srgbClr val="000000">
                <a:alpha val="38039"/>
              </a:srgbClr>
            </a:outerShdw>
          </a:effectLst>
        </p:spPr>
      </p:cxnSp>
      <p:sp>
        <p:nvSpPr>
          <p:cNvPr id="444" name="Google Shape;444;p43"/>
          <p:cNvSpPr/>
          <p:nvPr/>
        </p:nvSpPr>
        <p:spPr>
          <a:xfrm>
            <a:off x="533400" y="6464332"/>
            <a:ext cx="10350532" cy="2031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900"/>
              <a:buFont typeface="Calibri"/>
              <a:buNone/>
            </a:pPr>
            <a:r>
              <a:rPr b="0" lang="en-US" sz="900">
                <a:solidFill>
                  <a:schemeClr val="dk1"/>
                </a:solidFill>
                <a:latin typeface="Calibri"/>
                <a:ea typeface="Calibri"/>
                <a:cs typeface="Calibri"/>
                <a:sym typeface="Calibri"/>
              </a:rPr>
              <a:t>Proposal §2.3 · docs/WP3/WP3_ADMM.md: model and linear system</a:t>
            </a:r>
            <a:endParaRPr/>
          </a:p>
        </p:txBody>
      </p:sp>
      <p:sp>
        <p:nvSpPr>
          <p:cNvPr id="445" name="Google Shape;445;p43"/>
          <p:cNvSpPr/>
          <p:nvPr/>
        </p:nvSpPr>
        <p:spPr>
          <a:xfrm>
            <a:off x="11112532" y="6438900"/>
            <a:ext cx="546068" cy="254032"/>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Clr>
                <a:schemeClr val="dk1"/>
              </a:buClr>
              <a:buSzPts val="1000"/>
              <a:buFont typeface="Calibri"/>
              <a:buNone/>
            </a:pPr>
            <a:r>
              <a:rPr b="0" lang="en-US" sz="1000">
                <a:solidFill>
                  <a:schemeClr val="dk1"/>
                </a:solidFill>
                <a:latin typeface="Calibri"/>
                <a:ea typeface="Calibri"/>
                <a:cs typeface="Calibri"/>
                <a:sym typeface="Calibri"/>
              </a:rPr>
              <a:t>III · 02</a:t>
            </a:r>
            <a:endParaRPr/>
          </a:p>
        </p:txBody>
      </p:sp>
      <p:sp>
        <p:nvSpPr>
          <p:cNvPr id="446" name="Google Shape;446;p43"/>
          <p:cNvSpPr txBox="1"/>
          <p:nvPr>
            <p:ph type="title"/>
          </p:nvPr>
        </p:nvSpPr>
        <p:spPr>
          <a:xfrm>
            <a:off x="334963" y="0"/>
            <a:ext cx="10637837" cy="8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Calibri"/>
              <a:buNone/>
            </a:pPr>
            <a:r>
              <a:rPr b="0" i="0" lang="en-US" sz="3200" u="none" cap="none" strike="noStrike">
                <a:solidFill>
                  <a:srgbClr val="FFFFFF"/>
                </a:solidFill>
                <a:latin typeface="Calibri"/>
                <a:ea typeface="Calibri"/>
                <a:cs typeface="Calibri"/>
                <a:sym typeface="Calibri"/>
              </a:rPr>
              <a:t>Split global rules from samplewise margins</a:t>
            </a:r>
            <a:endParaRPr b="0" i="0" sz="3200" u="none" cap="none" strike="noStrike">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1" name="Shape 451"/>
        <p:cNvGrpSpPr/>
        <p:nvPr/>
      </p:nvGrpSpPr>
      <p:grpSpPr>
        <a:xfrm>
          <a:off x="0" y="0"/>
          <a:ext cx="0" cy="0"/>
          <a:chOff x="0" y="0"/>
          <a:chExt cx="0" cy="0"/>
        </a:xfrm>
      </p:grpSpPr>
      <p:sp>
        <p:nvSpPr>
          <p:cNvPr id="452" name="Google Shape;452;p44"/>
          <p:cNvSpPr/>
          <p:nvPr/>
        </p:nvSpPr>
        <p:spPr>
          <a:xfrm>
            <a:off x="533400" y="1014413"/>
            <a:ext cx="10413968" cy="1905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1000"/>
              <a:buFont typeface="Calibri"/>
              <a:buNone/>
            </a:pPr>
            <a:r>
              <a:rPr b="1" lang="en-US" sz="1000">
                <a:solidFill>
                  <a:srgbClr val="A02337"/>
                </a:solidFill>
                <a:latin typeface="Calibri"/>
                <a:ea typeface="Calibri"/>
                <a:cs typeface="Calibri"/>
                <a:sym typeface="Calibri"/>
              </a:rPr>
              <a:t>PART III  /  FIXED-Ρ ADMM</a:t>
            </a:r>
            <a:endParaRPr/>
          </a:p>
        </p:txBody>
      </p:sp>
      <p:sp>
        <p:nvSpPr>
          <p:cNvPr id="453" name="Google Shape;453;p44"/>
          <p:cNvSpPr/>
          <p:nvPr/>
        </p:nvSpPr>
        <p:spPr>
          <a:xfrm>
            <a:off x="546068" y="1511332"/>
            <a:ext cx="11112532" cy="3174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1800"/>
              <a:buFont typeface="Calibri"/>
              <a:buNone/>
            </a:pPr>
            <a:r>
              <a:rPr b="0" lang="en-US" sz="1800">
                <a:solidFill>
                  <a:schemeClr val="dk1"/>
                </a:solidFill>
                <a:latin typeface="Calibri"/>
                <a:ea typeface="Calibri"/>
                <a:cs typeface="Calibri"/>
                <a:sym typeface="Calibri"/>
              </a:rPr>
              <a:t>q = u / ρ is the scaled dual: it accumulates the mismatch between z and Aθ.</a:t>
            </a:r>
            <a:endParaRPr/>
          </a:p>
        </p:txBody>
      </p:sp>
      <p:sp>
        <p:nvSpPr>
          <p:cNvPr id="454" name="Google Shape;454;p44"/>
          <p:cNvSpPr/>
          <p:nvPr/>
        </p:nvSpPr>
        <p:spPr>
          <a:xfrm>
            <a:off x="546068" y="1968532"/>
            <a:ext cx="444532" cy="4064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2500"/>
              <a:buFont typeface="Calibri"/>
              <a:buNone/>
            </a:pPr>
            <a:r>
              <a:rPr b="1" lang="en-US" sz="2500">
                <a:solidFill>
                  <a:srgbClr val="A02337"/>
                </a:solidFill>
                <a:latin typeface="Calibri"/>
                <a:ea typeface="Calibri"/>
                <a:cs typeface="Calibri"/>
                <a:sym typeface="Calibri"/>
              </a:rPr>
              <a:t>1</a:t>
            </a:r>
            <a:endParaRPr/>
          </a:p>
        </p:txBody>
      </p:sp>
      <p:sp>
        <p:nvSpPr>
          <p:cNvPr id="455" name="Google Shape;455;p44"/>
          <p:cNvSpPr/>
          <p:nvPr/>
        </p:nvSpPr>
        <p:spPr>
          <a:xfrm>
            <a:off x="1143000" y="1968532"/>
            <a:ext cx="10287000" cy="355568"/>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Clr>
                <a:schemeClr val="dk1"/>
              </a:buClr>
              <a:buSzPts val="2100"/>
              <a:buFont typeface="Calibri"/>
              <a:buNone/>
            </a:pPr>
            <a:r>
              <a:rPr b="1" lang="en-US" sz="2100">
                <a:solidFill>
                  <a:schemeClr val="dk1"/>
                </a:solidFill>
                <a:latin typeface="Calibri"/>
                <a:ea typeface="Calibri"/>
                <a:cs typeface="Calibri"/>
                <a:sym typeface="Calibri"/>
              </a:rPr>
              <a:t>Update the shared model</a:t>
            </a:r>
            <a:endParaRPr/>
          </a:p>
        </p:txBody>
      </p:sp>
      <p:sp>
        <p:nvSpPr>
          <p:cNvPr id="456" name="Google Shape;456;p44"/>
          <p:cNvSpPr/>
          <p:nvPr/>
        </p:nvSpPr>
        <p:spPr>
          <a:xfrm>
            <a:off x="546068" y="3086100"/>
            <a:ext cx="444532" cy="4064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2500"/>
              <a:buFont typeface="Calibri"/>
              <a:buNone/>
            </a:pPr>
            <a:r>
              <a:rPr b="1" lang="en-US" sz="2500">
                <a:solidFill>
                  <a:srgbClr val="A02337"/>
                </a:solidFill>
                <a:latin typeface="Calibri"/>
                <a:ea typeface="Calibri"/>
                <a:cs typeface="Calibri"/>
                <a:sym typeface="Calibri"/>
              </a:rPr>
              <a:t>2</a:t>
            </a:r>
            <a:endParaRPr/>
          </a:p>
        </p:txBody>
      </p:sp>
      <p:sp>
        <p:nvSpPr>
          <p:cNvPr id="457" name="Google Shape;457;p44"/>
          <p:cNvSpPr/>
          <p:nvPr/>
        </p:nvSpPr>
        <p:spPr>
          <a:xfrm>
            <a:off x="1143000" y="3086100"/>
            <a:ext cx="10287000" cy="355568"/>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Clr>
                <a:schemeClr val="dk1"/>
              </a:buClr>
              <a:buSzPts val="2100"/>
              <a:buFont typeface="Calibri"/>
              <a:buNone/>
            </a:pPr>
            <a:r>
              <a:rPr b="1" lang="en-US" sz="2100">
                <a:solidFill>
                  <a:schemeClr val="dk1"/>
                </a:solidFill>
                <a:latin typeface="Calibri"/>
                <a:ea typeface="Calibri"/>
                <a:cs typeface="Calibri"/>
                <a:sym typeface="Calibri"/>
              </a:rPr>
              <a:t>Update each auxiliary margin</a:t>
            </a:r>
            <a:endParaRPr/>
          </a:p>
        </p:txBody>
      </p:sp>
      <p:sp>
        <p:nvSpPr>
          <p:cNvPr id="458" name="Google Shape;458;p44"/>
          <p:cNvSpPr/>
          <p:nvPr/>
        </p:nvSpPr>
        <p:spPr>
          <a:xfrm>
            <a:off x="546068" y="4406932"/>
            <a:ext cx="444532" cy="4064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2500"/>
              <a:buFont typeface="Calibri"/>
              <a:buNone/>
            </a:pPr>
            <a:r>
              <a:rPr b="1" lang="en-US" sz="2500">
                <a:solidFill>
                  <a:srgbClr val="A02337"/>
                </a:solidFill>
                <a:latin typeface="Calibri"/>
                <a:ea typeface="Calibri"/>
                <a:cs typeface="Calibri"/>
                <a:sym typeface="Calibri"/>
              </a:rPr>
              <a:t>3</a:t>
            </a:r>
            <a:endParaRPr/>
          </a:p>
        </p:txBody>
      </p:sp>
      <p:sp>
        <p:nvSpPr>
          <p:cNvPr id="459" name="Google Shape;459;p44"/>
          <p:cNvSpPr/>
          <p:nvPr/>
        </p:nvSpPr>
        <p:spPr>
          <a:xfrm>
            <a:off x="1143000" y="4406932"/>
            <a:ext cx="10287000" cy="355568"/>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Clr>
                <a:schemeClr val="dk1"/>
              </a:buClr>
              <a:buSzPts val="2100"/>
              <a:buFont typeface="Calibri"/>
              <a:buNone/>
            </a:pPr>
            <a:r>
              <a:rPr b="1" lang="en-US" sz="2100">
                <a:solidFill>
                  <a:schemeClr val="dk1"/>
                </a:solidFill>
                <a:latin typeface="Calibri"/>
                <a:ea typeface="Calibri"/>
                <a:cs typeface="Calibri"/>
                <a:sym typeface="Calibri"/>
              </a:rPr>
              <a:t>Accumulate the agreement error</a:t>
            </a:r>
            <a:endParaRPr/>
          </a:p>
        </p:txBody>
      </p:sp>
      <p:pic>
        <p:nvPicPr>
          <p:cNvPr id="460" name="Google Shape;460;p44"/>
          <p:cNvPicPr preferRelativeResize="0"/>
          <p:nvPr/>
        </p:nvPicPr>
        <p:blipFill rotWithShape="1">
          <a:blip r:embed="rId3">
            <a:alphaModFix/>
          </a:blip>
          <a:srcRect b="0" l="0" r="0" t="0"/>
          <a:stretch/>
        </p:blipFill>
        <p:spPr>
          <a:xfrm>
            <a:off x="1181100" y="2425700"/>
            <a:ext cx="4663440" cy="440574"/>
          </a:xfrm>
          <a:prstGeom prst="rect">
            <a:avLst/>
          </a:prstGeom>
          <a:noFill/>
          <a:ln>
            <a:noFill/>
          </a:ln>
        </p:spPr>
      </p:pic>
      <p:pic>
        <p:nvPicPr>
          <p:cNvPr id="461" name="Google Shape;461;p44"/>
          <p:cNvPicPr preferRelativeResize="0"/>
          <p:nvPr/>
        </p:nvPicPr>
        <p:blipFill rotWithShape="1">
          <a:blip r:embed="rId4">
            <a:alphaModFix/>
          </a:blip>
          <a:srcRect b="0" l="0" r="0" t="0"/>
          <a:stretch/>
        </p:blipFill>
        <p:spPr>
          <a:xfrm>
            <a:off x="1181100" y="3568700"/>
            <a:ext cx="7020098" cy="640080"/>
          </a:xfrm>
          <a:prstGeom prst="rect">
            <a:avLst/>
          </a:prstGeom>
          <a:noFill/>
          <a:ln>
            <a:noFill/>
          </a:ln>
        </p:spPr>
      </p:pic>
      <p:pic>
        <p:nvPicPr>
          <p:cNvPr id="462" name="Google Shape;462;p44"/>
          <p:cNvPicPr preferRelativeResize="0"/>
          <p:nvPr/>
        </p:nvPicPr>
        <p:blipFill rotWithShape="1">
          <a:blip r:embed="rId5">
            <a:alphaModFix/>
          </a:blip>
          <a:srcRect b="0" l="0" r="0" t="0"/>
          <a:stretch/>
        </p:blipFill>
        <p:spPr>
          <a:xfrm>
            <a:off x="1181100" y="4889500"/>
            <a:ext cx="4052454" cy="440574"/>
          </a:xfrm>
          <a:prstGeom prst="rect">
            <a:avLst/>
          </a:prstGeom>
          <a:noFill/>
          <a:ln>
            <a:noFill/>
          </a:ln>
        </p:spPr>
      </p:pic>
      <p:cxnSp>
        <p:nvCxnSpPr>
          <p:cNvPr id="463" name="Google Shape;463;p44"/>
          <p:cNvCxnSpPr/>
          <p:nvPr/>
        </p:nvCxnSpPr>
        <p:spPr>
          <a:xfrm>
            <a:off x="533400" y="5651500"/>
            <a:ext cx="0" cy="444500"/>
          </a:xfrm>
          <a:prstGeom prst="straightConnector1">
            <a:avLst/>
          </a:prstGeom>
          <a:noFill/>
          <a:ln cap="flat" cmpd="sng" w="38100">
            <a:solidFill>
              <a:srgbClr val="A02337"/>
            </a:solidFill>
            <a:prstDash val="solid"/>
            <a:round/>
            <a:headEnd len="sm" w="sm" type="none"/>
            <a:tailEnd len="sm" w="sm" type="none"/>
          </a:ln>
          <a:effectLst>
            <a:outerShdw blurRad="40000" rotWithShape="0" dir="5400000" dist="20000">
              <a:srgbClr val="000000">
                <a:alpha val="38039"/>
              </a:srgbClr>
            </a:outerShdw>
          </a:effectLst>
        </p:spPr>
      </p:cxnSp>
      <p:sp>
        <p:nvSpPr>
          <p:cNvPr id="464" name="Google Shape;464;p44"/>
          <p:cNvSpPr/>
          <p:nvPr/>
        </p:nvSpPr>
        <p:spPr>
          <a:xfrm>
            <a:off x="685800" y="5689568"/>
            <a:ext cx="10871168" cy="419100"/>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rgbClr val="A02337"/>
              </a:buClr>
              <a:buSzPts val="1700"/>
              <a:buFont typeface="Calibri"/>
              <a:buNone/>
            </a:pPr>
            <a:r>
              <a:rPr b="1" lang="en-US" sz="1700">
                <a:solidFill>
                  <a:srgbClr val="A02337"/>
                </a:solidFill>
                <a:latin typeface="Calibri"/>
                <a:ea typeface="Calibri"/>
                <a:cs typeface="Calibri"/>
                <a:sym typeface="Calibri"/>
              </a:rPr>
              <a:t>R = diag(I, 0): regularize w, keep the intercept b unregularized.</a:t>
            </a:r>
            <a:endParaRPr/>
          </a:p>
        </p:txBody>
      </p:sp>
      <p:cxnSp>
        <p:nvCxnSpPr>
          <p:cNvPr id="465" name="Google Shape;465;p44"/>
          <p:cNvCxnSpPr/>
          <p:nvPr/>
        </p:nvCxnSpPr>
        <p:spPr>
          <a:xfrm>
            <a:off x="533400" y="6337300"/>
            <a:ext cx="11125200" cy="0"/>
          </a:xfrm>
          <a:prstGeom prst="straightConnector1">
            <a:avLst/>
          </a:prstGeom>
          <a:noFill/>
          <a:ln cap="flat" cmpd="sng" w="10150">
            <a:solidFill>
              <a:srgbClr val="D7E1E7"/>
            </a:solidFill>
            <a:prstDash val="solid"/>
            <a:round/>
            <a:headEnd len="sm" w="sm" type="none"/>
            <a:tailEnd len="sm" w="sm" type="none"/>
          </a:ln>
          <a:effectLst>
            <a:outerShdw blurRad="40000" rotWithShape="0" dir="5400000" dist="20000">
              <a:srgbClr val="000000">
                <a:alpha val="38039"/>
              </a:srgbClr>
            </a:outerShdw>
          </a:effectLst>
        </p:spPr>
      </p:cxnSp>
      <p:sp>
        <p:nvSpPr>
          <p:cNvPr id="466" name="Google Shape;466;p44"/>
          <p:cNvSpPr/>
          <p:nvPr/>
        </p:nvSpPr>
        <p:spPr>
          <a:xfrm>
            <a:off x="533400" y="6464332"/>
            <a:ext cx="10350532" cy="2031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900"/>
              <a:buFont typeface="Calibri"/>
              <a:buNone/>
            </a:pPr>
            <a:r>
              <a:rPr b="0" lang="en-US" sz="900">
                <a:solidFill>
                  <a:schemeClr val="dk1"/>
                </a:solidFill>
                <a:latin typeface="Calibri"/>
                <a:ea typeface="Calibri"/>
                <a:cs typeface="Calibri"/>
                <a:sym typeface="Calibri"/>
              </a:rPr>
              <a:t>src/svm_admm.py: ADMMSVM._fit · constraint z − Aθ = 0; scaled dual q = u/ρ</a:t>
            </a:r>
            <a:endParaRPr/>
          </a:p>
        </p:txBody>
      </p:sp>
      <p:sp>
        <p:nvSpPr>
          <p:cNvPr id="467" name="Google Shape;467;p44"/>
          <p:cNvSpPr/>
          <p:nvPr/>
        </p:nvSpPr>
        <p:spPr>
          <a:xfrm>
            <a:off x="11112532" y="6438900"/>
            <a:ext cx="546068" cy="254032"/>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Clr>
                <a:schemeClr val="dk1"/>
              </a:buClr>
              <a:buSzPts val="1000"/>
              <a:buFont typeface="Calibri"/>
              <a:buNone/>
            </a:pPr>
            <a:r>
              <a:rPr b="0" lang="en-US" sz="1000">
                <a:solidFill>
                  <a:schemeClr val="dk1"/>
                </a:solidFill>
                <a:latin typeface="Calibri"/>
                <a:ea typeface="Calibri"/>
                <a:cs typeface="Calibri"/>
                <a:sym typeface="Calibri"/>
              </a:rPr>
              <a:t>III · 03</a:t>
            </a:r>
            <a:endParaRPr/>
          </a:p>
        </p:txBody>
      </p:sp>
      <p:sp>
        <p:nvSpPr>
          <p:cNvPr id="468" name="Google Shape;468;p44"/>
          <p:cNvSpPr txBox="1"/>
          <p:nvPr>
            <p:ph type="title"/>
          </p:nvPr>
        </p:nvSpPr>
        <p:spPr>
          <a:xfrm>
            <a:off x="334963" y="0"/>
            <a:ext cx="10637837" cy="8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Calibri"/>
              <a:buNone/>
            </a:pPr>
            <a:r>
              <a:rPr b="0" i="0" lang="en-US" sz="3200" u="none" cap="none" strike="noStrike">
                <a:solidFill>
                  <a:srgbClr val="FFFFFF"/>
                </a:solidFill>
                <a:latin typeface="Calibri"/>
                <a:ea typeface="Calibri"/>
                <a:cs typeface="Calibri"/>
                <a:sym typeface="Calibri"/>
              </a:rPr>
              <a:t>ADMM alternates three simple updates</a:t>
            </a:r>
            <a:endParaRPr b="0" i="0" sz="3200" u="none" cap="none" strike="noStrike">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3" name="Shape 473"/>
        <p:cNvGrpSpPr/>
        <p:nvPr/>
      </p:nvGrpSpPr>
      <p:grpSpPr>
        <a:xfrm>
          <a:off x="0" y="0"/>
          <a:ext cx="0" cy="0"/>
          <a:chOff x="0" y="0"/>
          <a:chExt cx="0" cy="0"/>
        </a:xfrm>
      </p:grpSpPr>
      <p:sp>
        <p:nvSpPr>
          <p:cNvPr id="474" name="Google Shape;474;p45"/>
          <p:cNvSpPr/>
          <p:nvPr/>
        </p:nvSpPr>
        <p:spPr>
          <a:xfrm>
            <a:off x="533400" y="1014413"/>
            <a:ext cx="10413968" cy="1905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1000"/>
              <a:buFont typeface="Calibri"/>
              <a:buNone/>
            </a:pPr>
            <a:r>
              <a:rPr b="1" lang="en-US" sz="1000">
                <a:solidFill>
                  <a:srgbClr val="A02337"/>
                </a:solidFill>
                <a:latin typeface="Calibri"/>
                <a:ea typeface="Calibri"/>
                <a:cs typeface="Calibri"/>
                <a:sym typeface="Calibri"/>
              </a:rPr>
              <a:t>PART III  /  COST-SENSITIVE Z UPDATE</a:t>
            </a:r>
            <a:endParaRPr/>
          </a:p>
        </p:txBody>
      </p:sp>
      <p:pic>
        <p:nvPicPr>
          <p:cNvPr id="475" name="Google Shape;475;p45"/>
          <p:cNvPicPr preferRelativeResize="0"/>
          <p:nvPr/>
        </p:nvPicPr>
        <p:blipFill rotWithShape="1">
          <a:blip r:embed="rId3">
            <a:alphaModFix/>
          </a:blip>
          <a:srcRect b="0" l="0" r="0" t="0"/>
          <a:stretch/>
        </p:blipFill>
        <p:spPr>
          <a:xfrm>
            <a:off x="546100" y="1676400"/>
            <a:ext cx="2776450" cy="461356"/>
          </a:xfrm>
          <a:prstGeom prst="rect">
            <a:avLst/>
          </a:prstGeom>
          <a:noFill/>
          <a:ln>
            <a:noFill/>
          </a:ln>
        </p:spPr>
      </p:pic>
      <p:pic>
        <p:nvPicPr>
          <p:cNvPr id="476" name="Google Shape;476;p45"/>
          <p:cNvPicPr preferRelativeResize="0"/>
          <p:nvPr/>
        </p:nvPicPr>
        <p:blipFill rotWithShape="1">
          <a:blip r:embed="rId4">
            <a:alphaModFix/>
          </a:blip>
          <a:srcRect b="0" l="0" r="0" t="0"/>
          <a:stretch/>
        </p:blipFill>
        <p:spPr>
          <a:xfrm>
            <a:off x="546100" y="2374900"/>
            <a:ext cx="3013363" cy="473825"/>
          </a:xfrm>
          <a:prstGeom prst="rect">
            <a:avLst/>
          </a:prstGeom>
          <a:noFill/>
          <a:ln>
            <a:noFill/>
          </a:ln>
        </p:spPr>
      </p:pic>
      <p:pic>
        <p:nvPicPr>
          <p:cNvPr id="477" name="Google Shape;477;p45"/>
          <p:cNvPicPr preferRelativeResize="0"/>
          <p:nvPr/>
        </p:nvPicPr>
        <p:blipFill rotWithShape="1">
          <a:blip r:embed="rId5">
            <a:alphaModFix/>
          </a:blip>
          <a:srcRect b="0" l="0" r="0" t="0"/>
          <a:stretch/>
        </p:blipFill>
        <p:spPr>
          <a:xfrm>
            <a:off x="546100" y="3136900"/>
            <a:ext cx="5303520" cy="473825"/>
          </a:xfrm>
          <a:prstGeom prst="rect">
            <a:avLst/>
          </a:prstGeom>
          <a:noFill/>
          <a:ln>
            <a:noFill/>
          </a:ln>
        </p:spPr>
      </p:pic>
      <p:sp>
        <p:nvSpPr>
          <p:cNvPr id="478" name="Google Shape;478;p45"/>
          <p:cNvSpPr/>
          <p:nvPr/>
        </p:nvSpPr>
        <p:spPr>
          <a:xfrm>
            <a:off x="546068" y="3962400"/>
            <a:ext cx="11049000" cy="3429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2000"/>
              <a:buFont typeface="Calibri"/>
              <a:buNone/>
            </a:pPr>
            <a:r>
              <a:rPr b="0" lang="en-US" sz="2000">
                <a:solidFill>
                  <a:schemeClr val="dk1"/>
                </a:solidFill>
                <a:latin typeface="Calibri"/>
                <a:ea typeface="Calibri"/>
                <a:cs typeface="Calibri"/>
                <a:sym typeface="Calibri"/>
              </a:rPr>
              <a:t>Example: same proximal input aᵢ = 0.2, different penalty strengths</a:t>
            </a:r>
            <a:endParaRPr/>
          </a:p>
        </p:txBody>
      </p:sp>
      <p:sp>
        <p:nvSpPr>
          <p:cNvPr id="479" name="Google Shape;479;p45"/>
          <p:cNvSpPr/>
          <p:nvPr/>
        </p:nvSpPr>
        <p:spPr>
          <a:xfrm>
            <a:off x="546100" y="4445000"/>
            <a:ext cx="11112500" cy="457200"/>
          </a:xfrm>
          <a:prstGeom prst="rect">
            <a:avLst/>
          </a:prstGeom>
          <a:solidFill>
            <a:srgbClr val="F2F6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480" name="Google Shape;480;p45"/>
          <p:cNvSpPr/>
          <p:nvPr/>
        </p:nvSpPr>
        <p:spPr>
          <a:xfrm>
            <a:off x="673132" y="4572000"/>
            <a:ext cx="3454432" cy="3048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1600"/>
              <a:buFont typeface="Calibri"/>
              <a:buNone/>
            </a:pPr>
            <a:r>
              <a:rPr b="1" lang="en-US" sz="1600">
                <a:solidFill>
                  <a:schemeClr val="dk1"/>
                </a:solidFill>
                <a:latin typeface="Calibri"/>
                <a:ea typeface="Calibri"/>
                <a:cs typeface="Calibri"/>
                <a:sym typeface="Calibri"/>
              </a:rPr>
              <a:t>Cᵢ / ρ</a:t>
            </a:r>
            <a:endParaRPr/>
          </a:p>
        </p:txBody>
      </p:sp>
      <p:sp>
        <p:nvSpPr>
          <p:cNvPr id="481" name="Google Shape;481;p45"/>
          <p:cNvSpPr/>
          <p:nvPr/>
        </p:nvSpPr>
        <p:spPr>
          <a:xfrm>
            <a:off x="4356068" y="4572000"/>
            <a:ext cx="3200400" cy="3048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1600"/>
              <a:buFont typeface="Calibri"/>
              <a:buNone/>
            </a:pPr>
            <a:r>
              <a:rPr b="1" lang="en-US" sz="1600">
                <a:solidFill>
                  <a:schemeClr val="dk1"/>
                </a:solidFill>
                <a:latin typeface="Calibri"/>
                <a:ea typeface="Calibri"/>
                <a:cs typeface="Calibri"/>
                <a:sym typeface="Calibri"/>
              </a:rPr>
              <a:t>New auxiliary margin zᵢ</a:t>
            </a:r>
            <a:endParaRPr/>
          </a:p>
        </p:txBody>
      </p:sp>
      <p:sp>
        <p:nvSpPr>
          <p:cNvPr id="482" name="Google Shape;482;p45"/>
          <p:cNvSpPr/>
          <p:nvPr/>
        </p:nvSpPr>
        <p:spPr>
          <a:xfrm>
            <a:off x="7785068" y="4572000"/>
            <a:ext cx="3771900" cy="3048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1600"/>
              <a:buFont typeface="Calibri"/>
              <a:buNone/>
            </a:pPr>
            <a:r>
              <a:rPr b="1" lang="en-US" sz="1600">
                <a:solidFill>
                  <a:schemeClr val="dk1"/>
                </a:solidFill>
                <a:latin typeface="Calibri"/>
                <a:ea typeface="Calibri"/>
                <a:cs typeface="Calibri"/>
                <a:sym typeface="Calibri"/>
              </a:rPr>
              <a:t>Interpretation</a:t>
            </a:r>
            <a:endParaRPr/>
          </a:p>
        </p:txBody>
      </p:sp>
      <p:sp>
        <p:nvSpPr>
          <p:cNvPr id="483" name="Google Shape;483;p45"/>
          <p:cNvSpPr/>
          <p:nvPr/>
        </p:nvSpPr>
        <p:spPr>
          <a:xfrm>
            <a:off x="673132" y="5029200"/>
            <a:ext cx="3454432" cy="304800"/>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chemeClr val="dk1"/>
              </a:buClr>
              <a:buSzPts val="1700"/>
              <a:buFont typeface="Calibri"/>
              <a:buNone/>
            </a:pPr>
            <a:r>
              <a:rPr b="0" lang="en-US" sz="1700">
                <a:solidFill>
                  <a:schemeClr val="dk1"/>
                </a:solidFill>
                <a:latin typeface="Calibri"/>
                <a:ea typeface="Calibri"/>
                <a:cs typeface="Calibri"/>
                <a:sym typeface="Calibri"/>
              </a:rPr>
              <a:t>0.3</a:t>
            </a:r>
            <a:endParaRPr/>
          </a:p>
        </p:txBody>
      </p:sp>
      <p:sp>
        <p:nvSpPr>
          <p:cNvPr id="484" name="Google Shape;484;p45"/>
          <p:cNvSpPr/>
          <p:nvPr/>
        </p:nvSpPr>
        <p:spPr>
          <a:xfrm>
            <a:off x="4356068" y="5029200"/>
            <a:ext cx="3200400" cy="304800"/>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chemeClr val="dk1"/>
              </a:buClr>
              <a:buSzPts val="1700"/>
              <a:buFont typeface="Calibri"/>
              <a:buNone/>
            </a:pPr>
            <a:r>
              <a:rPr b="0" lang="en-US" sz="1700">
                <a:solidFill>
                  <a:schemeClr val="dk1"/>
                </a:solidFill>
                <a:latin typeface="Calibri"/>
                <a:ea typeface="Calibri"/>
                <a:cs typeface="Calibri"/>
                <a:sym typeface="Calibri"/>
              </a:rPr>
              <a:t>0.5</a:t>
            </a:r>
            <a:endParaRPr/>
          </a:p>
        </p:txBody>
      </p:sp>
      <p:sp>
        <p:nvSpPr>
          <p:cNvPr id="485" name="Google Shape;485;p45"/>
          <p:cNvSpPr/>
          <p:nvPr/>
        </p:nvSpPr>
        <p:spPr>
          <a:xfrm>
            <a:off x="7785068" y="5029200"/>
            <a:ext cx="3771900" cy="304800"/>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chemeClr val="dk1"/>
              </a:buClr>
              <a:buSzPts val="1700"/>
              <a:buFont typeface="Calibri"/>
              <a:buNone/>
            </a:pPr>
            <a:r>
              <a:rPr b="0" lang="en-US" sz="1700">
                <a:solidFill>
                  <a:schemeClr val="dk1"/>
                </a:solidFill>
                <a:latin typeface="Calibri"/>
                <a:ea typeface="Calibri"/>
                <a:cs typeface="Calibri"/>
                <a:sym typeface="Calibri"/>
              </a:rPr>
              <a:t>Partial push toward margin 1</a:t>
            </a:r>
            <a:endParaRPr/>
          </a:p>
        </p:txBody>
      </p:sp>
      <p:cxnSp>
        <p:nvCxnSpPr>
          <p:cNvPr id="486" name="Google Shape;486;p45"/>
          <p:cNvCxnSpPr/>
          <p:nvPr/>
        </p:nvCxnSpPr>
        <p:spPr>
          <a:xfrm>
            <a:off x="546100" y="5359400"/>
            <a:ext cx="11112500" cy="0"/>
          </a:xfrm>
          <a:prstGeom prst="straightConnector1">
            <a:avLst/>
          </a:prstGeom>
          <a:noFill/>
          <a:ln cap="flat" cmpd="sng" w="9525">
            <a:solidFill>
              <a:srgbClr val="D7E1E7"/>
            </a:solidFill>
            <a:prstDash val="solid"/>
            <a:round/>
            <a:headEnd len="sm" w="sm" type="none"/>
            <a:tailEnd len="sm" w="sm" type="none"/>
          </a:ln>
          <a:effectLst>
            <a:outerShdw blurRad="40000" rotWithShape="0" dir="5400000" dist="20000">
              <a:srgbClr val="000000">
                <a:alpha val="38039"/>
              </a:srgbClr>
            </a:outerShdw>
          </a:effectLst>
        </p:spPr>
      </p:cxnSp>
      <p:sp>
        <p:nvSpPr>
          <p:cNvPr id="487" name="Google Shape;487;p45"/>
          <p:cNvSpPr/>
          <p:nvPr/>
        </p:nvSpPr>
        <p:spPr>
          <a:xfrm>
            <a:off x="673132" y="5486400"/>
            <a:ext cx="3454432" cy="304800"/>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chemeClr val="dk1"/>
              </a:buClr>
              <a:buSzPts val="1700"/>
              <a:buFont typeface="Calibri"/>
              <a:buNone/>
            </a:pPr>
            <a:r>
              <a:rPr b="0" lang="en-US" sz="1700">
                <a:solidFill>
                  <a:schemeClr val="dk1"/>
                </a:solidFill>
                <a:latin typeface="Calibri"/>
                <a:ea typeface="Calibri"/>
                <a:cs typeface="Calibri"/>
                <a:sym typeface="Calibri"/>
              </a:rPr>
              <a:t>0.8</a:t>
            </a:r>
            <a:endParaRPr/>
          </a:p>
        </p:txBody>
      </p:sp>
      <p:sp>
        <p:nvSpPr>
          <p:cNvPr id="488" name="Google Shape;488;p45"/>
          <p:cNvSpPr/>
          <p:nvPr/>
        </p:nvSpPr>
        <p:spPr>
          <a:xfrm>
            <a:off x="4356068" y="5486400"/>
            <a:ext cx="3200400" cy="304800"/>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chemeClr val="dk1"/>
              </a:buClr>
              <a:buSzPts val="1700"/>
              <a:buFont typeface="Calibri"/>
              <a:buNone/>
            </a:pPr>
            <a:r>
              <a:rPr b="0" lang="en-US" sz="1700">
                <a:solidFill>
                  <a:schemeClr val="dk1"/>
                </a:solidFill>
                <a:latin typeface="Calibri"/>
                <a:ea typeface="Calibri"/>
                <a:cs typeface="Calibri"/>
                <a:sym typeface="Calibri"/>
              </a:rPr>
              <a:t>1.0</a:t>
            </a:r>
            <a:endParaRPr/>
          </a:p>
        </p:txBody>
      </p:sp>
      <p:sp>
        <p:nvSpPr>
          <p:cNvPr id="489" name="Google Shape;489;p45"/>
          <p:cNvSpPr/>
          <p:nvPr/>
        </p:nvSpPr>
        <p:spPr>
          <a:xfrm>
            <a:off x="7785068" y="5486400"/>
            <a:ext cx="3771900" cy="304800"/>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chemeClr val="dk1"/>
              </a:buClr>
              <a:buSzPts val="1700"/>
              <a:buFont typeface="Calibri"/>
              <a:buNone/>
            </a:pPr>
            <a:r>
              <a:rPr b="0" lang="en-US" sz="1700">
                <a:solidFill>
                  <a:schemeClr val="dk1"/>
                </a:solidFill>
                <a:latin typeface="Calibri"/>
                <a:ea typeface="Calibri"/>
                <a:cs typeface="Calibri"/>
                <a:sym typeface="Calibri"/>
              </a:rPr>
              <a:t>Reaches zero hinge loss</a:t>
            </a:r>
            <a:endParaRPr/>
          </a:p>
        </p:txBody>
      </p:sp>
      <p:cxnSp>
        <p:nvCxnSpPr>
          <p:cNvPr id="490" name="Google Shape;490;p45"/>
          <p:cNvCxnSpPr/>
          <p:nvPr/>
        </p:nvCxnSpPr>
        <p:spPr>
          <a:xfrm>
            <a:off x="546100" y="5816600"/>
            <a:ext cx="11112500" cy="0"/>
          </a:xfrm>
          <a:prstGeom prst="straightConnector1">
            <a:avLst/>
          </a:prstGeom>
          <a:noFill/>
          <a:ln cap="flat" cmpd="sng" w="9525">
            <a:solidFill>
              <a:srgbClr val="D7E1E7"/>
            </a:solidFill>
            <a:prstDash val="solid"/>
            <a:round/>
            <a:headEnd len="sm" w="sm" type="none"/>
            <a:tailEnd len="sm" w="sm" type="none"/>
          </a:ln>
          <a:effectLst>
            <a:outerShdw blurRad="40000" rotWithShape="0" dir="5400000" dist="20000">
              <a:srgbClr val="000000">
                <a:alpha val="38039"/>
              </a:srgbClr>
            </a:outerShdw>
          </a:effectLst>
        </p:spPr>
      </p:cxnSp>
      <p:cxnSp>
        <p:nvCxnSpPr>
          <p:cNvPr id="491" name="Google Shape;491;p45"/>
          <p:cNvCxnSpPr/>
          <p:nvPr/>
        </p:nvCxnSpPr>
        <p:spPr>
          <a:xfrm>
            <a:off x="533400" y="5918200"/>
            <a:ext cx="0" cy="444500"/>
          </a:xfrm>
          <a:prstGeom prst="straightConnector1">
            <a:avLst/>
          </a:prstGeom>
          <a:noFill/>
          <a:ln cap="flat" cmpd="sng" w="38100">
            <a:solidFill>
              <a:srgbClr val="A02337"/>
            </a:solidFill>
            <a:prstDash val="solid"/>
            <a:round/>
            <a:headEnd len="sm" w="sm" type="none"/>
            <a:tailEnd len="sm" w="sm" type="none"/>
          </a:ln>
          <a:effectLst>
            <a:outerShdw blurRad="40000" rotWithShape="0" dir="5400000" dist="20000">
              <a:srgbClr val="000000">
                <a:alpha val="38039"/>
              </a:srgbClr>
            </a:outerShdw>
          </a:effectLst>
        </p:spPr>
      </p:cxnSp>
      <p:sp>
        <p:nvSpPr>
          <p:cNvPr id="492" name="Google Shape;492;p45"/>
          <p:cNvSpPr/>
          <p:nvPr/>
        </p:nvSpPr>
        <p:spPr>
          <a:xfrm>
            <a:off x="685800" y="5956268"/>
            <a:ext cx="10871168" cy="419100"/>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rgbClr val="A02337"/>
              </a:buClr>
              <a:buSzPts val="1700"/>
              <a:buFont typeface="Calibri"/>
              <a:buNone/>
            </a:pPr>
            <a:r>
              <a:rPr b="1" lang="en-US" sz="1700">
                <a:solidFill>
                  <a:srgbClr val="A02337"/>
                </a:solidFill>
                <a:latin typeface="Calibri"/>
                <a:ea typeface="Calibri"/>
                <a:cs typeface="Calibri"/>
                <a:sym typeface="Calibri"/>
              </a:rPr>
              <a:t>Costs enter through Cᵢ / ρ; the solver uses Cᵢ exactly as supplied.</a:t>
            </a:r>
            <a:endParaRPr/>
          </a:p>
        </p:txBody>
      </p:sp>
      <p:cxnSp>
        <p:nvCxnSpPr>
          <p:cNvPr id="493" name="Google Shape;493;p45"/>
          <p:cNvCxnSpPr/>
          <p:nvPr/>
        </p:nvCxnSpPr>
        <p:spPr>
          <a:xfrm>
            <a:off x="533400" y="6337300"/>
            <a:ext cx="11125200" cy="0"/>
          </a:xfrm>
          <a:prstGeom prst="straightConnector1">
            <a:avLst/>
          </a:prstGeom>
          <a:noFill/>
          <a:ln cap="flat" cmpd="sng" w="10150">
            <a:solidFill>
              <a:srgbClr val="D7E1E7"/>
            </a:solidFill>
            <a:prstDash val="solid"/>
            <a:round/>
            <a:headEnd len="sm" w="sm" type="none"/>
            <a:tailEnd len="sm" w="sm" type="none"/>
          </a:ln>
          <a:effectLst>
            <a:outerShdw blurRad="40000" rotWithShape="0" dir="5400000" dist="20000">
              <a:srgbClr val="000000">
                <a:alpha val="38039"/>
              </a:srgbClr>
            </a:outerShdw>
          </a:effectLst>
        </p:spPr>
      </p:cxnSp>
      <p:sp>
        <p:nvSpPr>
          <p:cNvPr id="494" name="Google Shape;494;p45"/>
          <p:cNvSpPr/>
          <p:nvPr/>
        </p:nvSpPr>
        <p:spPr>
          <a:xfrm>
            <a:off x="533400" y="6464332"/>
            <a:ext cx="10350532" cy="2031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900"/>
              <a:buFont typeface="Calibri"/>
              <a:buNone/>
            </a:pPr>
            <a:r>
              <a:rPr b="0" lang="en-US" sz="900">
                <a:solidFill>
                  <a:schemeClr val="dk1"/>
                </a:solidFill>
                <a:latin typeface="Calibri"/>
                <a:ea typeface="Calibri"/>
                <a:cs typeface="Calibri"/>
                <a:sym typeface="Calibri"/>
              </a:rPr>
              <a:t>Proposal §2.3 · src/svm_admm.py: _hinge_prox · illustrative values, not measured data</a:t>
            </a:r>
            <a:endParaRPr/>
          </a:p>
        </p:txBody>
      </p:sp>
      <p:sp>
        <p:nvSpPr>
          <p:cNvPr id="495" name="Google Shape;495;p45"/>
          <p:cNvSpPr/>
          <p:nvPr/>
        </p:nvSpPr>
        <p:spPr>
          <a:xfrm>
            <a:off x="11112532" y="6438900"/>
            <a:ext cx="546068" cy="254032"/>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Clr>
                <a:schemeClr val="dk1"/>
              </a:buClr>
              <a:buSzPts val="1000"/>
              <a:buFont typeface="Calibri"/>
              <a:buNone/>
            </a:pPr>
            <a:r>
              <a:rPr b="0" lang="en-US" sz="1000">
                <a:solidFill>
                  <a:schemeClr val="dk1"/>
                </a:solidFill>
                <a:latin typeface="Calibri"/>
                <a:ea typeface="Calibri"/>
                <a:cs typeface="Calibri"/>
                <a:sym typeface="Calibri"/>
              </a:rPr>
              <a:t>III · 04</a:t>
            </a:r>
            <a:endParaRPr/>
          </a:p>
        </p:txBody>
      </p:sp>
      <p:sp>
        <p:nvSpPr>
          <p:cNvPr id="496" name="Google Shape;496;p45"/>
          <p:cNvSpPr txBox="1"/>
          <p:nvPr>
            <p:ph type="title"/>
          </p:nvPr>
        </p:nvSpPr>
        <p:spPr>
          <a:xfrm>
            <a:off x="334963" y="0"/>
            <a:ext cx="10637837" cy="8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Calibri"/>
              <a:buNone/>
            </a:pPr>
            <a:r>
              <a:rPr b="0" i="0" lang="en-US" sz="3200" u="none" cap="none" strike="noStrike">
                <a:solidFill>
                  <a:srgbClr val="FFFFFF"/>
                </a:solidFill>
                <a:latin typeface="Calibri"/>
                <a:ea typeface="Calibri"/>
                <a:cs typeface="Calibri"/>
                <a:sym typeface="Calibri"/>
              </a:rPr>
              <a:t>The hinge step has a closed-form solution</a:t>
            </a:r>
            <a:endParaRPr b="0" i="0" sz="3200" u="none" cap="none" strike="noStrike">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1" name="Shape 501"/>
        <p:cNvGrpSpPr/>
        <p:nvPr/>
      </p:nvGrpSpPr>
      <p:grpSpPr>
        <a:xfrm>
          <a:off x="0" y="0"/>
          <a:ext cx="0" cy="0"/>
          <a:chOff x="0" y="0"/>
          <a:chExt cx="0" cy="0"/>
        </a:xfrm>
      </p:grpSpPr>
      <p:sp>
        <p:nvSpPr>
          <p:cNvPr id="502" name="Google Shape;502;p46"/>
          <p:cNvSpPr/>
          <p:nvPr/>
        </p:nvSpPr>
        <p:spPr>
          <a:xfrm>
            <a:off x="533400" y="1014413"/>
            <a:ext cx="10413968" cy="1905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1000"/>
              <a:buFont typeface="Calibri"/>
              <a:buNone/>
            </a:pPr>
            <a:r>
              <a:rPr b="1" lang="en-US" sz="1000">
                <a:solidFill>
                  <a:srgbClr val="A02337"/>
                </a:solidFill>
                <a:latin typeface="Calibri"/>
                <a:ea typeface="Calibri"/>
                <a:cs typeface="Calibri"/>
                <a:sym typeface="Calibri"/>
              </a:rPr>
              <a:t>PART III  /  HYBRID ALGORITHM</a:t>
            </a:r>
            <a:endParaRPr/>
          </a:p>
        </p:txBody>
      </p:sp>
      <p:sp>
        <p:nvSpPr>
          <p:cNvPr id="503" name="Google Shape;503;p46"/>
          <p:cNvSpPr/>
          <p:nvPr/>
        </p:nvSpPr>
        <p:spPr>
          <a:xfrm>
            <a:off x="546100" y="1955800"/>
            <a:ext cx="3213100" cy="1841500"/>
          </a:xfrm>
          <a:prstGeom prst="rect">
            <a:avLst/>
          </a:prstGeom>
          <a:solidFill>
            <a:srgbClr val="F2F6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504" name="Google Shape;504;p46"/>
          <p:cNvSpPr/>
          <p:nvPr/>
        </p:nvSpPr>
        <p:spPr>
          <a:xfrm>
            <a:off x="723900" y="2197132"/>
            <a:ext cx="2857500" cy="3683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2000"/>
              <a:buFont typeface="Calibri"/>
              <a:buNone/>
            </a:pPr>
            <a:r>
              <a:rPr b="1" lang="en-US" sz="2000">
                <a:solidFill>
                  <a:srgbClr val="A02337"/>
                </a:solidFill>
                <a:latin typeface="Calibri"/>
                <a:ea typeface="Calibri"/>
                <a:cs typeface="Calibri"/>
                <a:sym typeface="Calibri"/>
              </a:rPr>
              <a:t>Weighted Pegasos</a:t>
            </a:r>
            <a:endParaRPr/>
          </a:p>
        </p:txBody>
      </p:sp>
      <p:sp>
        <p:nvSpPr>
          <p:cNvPr id="505" name="Google Shape;505;p46"/>
          <p:cNvSpPr/>
          <p:nvPr/>
        </p:nvSpPr>
        <p:spPr>
          <a:xfrm>
            <a:off x="723900" y="2768632"/>
            <a:ext cx="2857500" cy="825532"/>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chemeClr val="dk1"/>
              </a:buClr>
              <a:buSzPts val="1700"/>
              <a:buFont typeface="Calibri"/>
              <a:buNone/>
            </a:pPr>
            <a:r>
              <a:rPr b="0" lang="en-US" sz="1700">
                <a:solidFill>
                  <a:schemeClr val="dk1"/>
                </a:solidFill>
                <a:latin typeface="Calibri"/>
                <a:ea typeface="Calibri"/>
                <a:cs typeface="Calibri"/>
                <a:sym typeface="Calibri"/>
              </a:rPr>
              <a:t>K shuffled passes</a:t>
            </a:r>
            <a:endParaRPr/>
          </a:p>
          <a:p>
            <a:pPr indent="0" lvl="0" marL="0" marR="0" rtl="0" algn="l">
              <a:lnSpc>
                <a:spcPct val="117941"/>
              </a:lnSpc>
              <a:spcBef>
                <a:spcPts val="0"/>
              </a:spcBef>
              <a:spcAft>
                <a:spcPts val="0"/>
              </a:spcAft>
              <a:buClr>
                <a:schemeClr val="dk1"/>
              </a:buClr>
              <a:buSzPts val="1700"/>
              <a:buFont typeface="Calibri"/>
              <a:buNone/>
            </a:pPr>
            <a:r>
              <a:rPr b="0" lang="en-US" sz="1700">
                <a:solidFill>
                  <a:schemeClr val="dk1"/>
                </a:solidFill>
                <a:latin typeface="Calibri"/>
                <a:ea typeface="Calibri"/>
                <a:cs typeface="Calibri"/>
                <a:sym typeface="Calibri"/>
              </a:rPr>
              <a:t>Best checkpoint, including</a:t>
            </a:r>
            <a:endParaRPr/>
          </a:p>
          <a:p>
            <a:pPr indent="0" lvl="0" marL="0" marR="0" rtl="0" algn="l">
              <a:lnSpc>
                <a:spcPct val="117941"/>
              </a:lnSpc>
              <a:spcBef>
                <a:spcPts val="0"/>
              </a:spcBef>
              <a:spcAft>
                <a:spcPts val="0"/>
              </a:spcAft>
              <a:buClr>
                <a:schemeClr val="dk1"/>
              </a:buClr>
              <a:buSzPts val="1700"/>
              <a:buFont typeface="Calibri"/>
              <a:buNone/>
            </a:pPr>
            <a:r>
              <a:rPr b="0" lang="en-US" sz="1700">
                <a:solidFill>
                  <a:schemeClr val="dk1"/>
                </a:solidFill>
                <a:latin typeface="Calibri"/>
                <a:ea typeface="Calibri"/>
                <a:cs typeface="Calibri"/>
                <a:sym typeface="Calibri"/>
              </a:rPr>
              <a:t>zero</a:t>
            </a:r>
            <a:endParaRPr/>
          </a:p>
        </p:txBody>
      </p:sp>
      <p:sp>
        <p:nvSpPr>
          <p:cNvPr id="506" name="Google Shape;506;p46"/>
          <p:cNvSpPr/>
          <p:nvPr/>
        </p:nvSpPr>
        <p:spPr>
          <a:xfrm>
            <a:off x="4648200" y="1955800"/>
            <a:ext cx="2908300" cy="1841500"/>
          </a:xfrm>
          <a:prstGeom prst="rect">
            <a:avLst/>
          </a:prstGeom>
          <a:solidFill>
            <a:srgbClr val="F2F6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507" name="Google Shape;507;p46"/>
          <p:cNvSpPr/>
          <p:nvPr/>
        </p:nvSpPr>
        <p:spPr>
          <a:xfrm>
            <a:off x="4826032" y="2197132"/>
            <a:ext cx="2552700" cy="3683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2000"/>
              <a:buFont typeface="Calibri"/>
              <a:buNone/>
            </a:pPr>
            <a:r>
              <a:rPr b="1" lang="en-US" sz="2000">
                <a:solidFill>
                  <a:srgbClr val="A02337"/>
                </a:solidFill>
                <a:latin typeface="Calibri"/>
                <a:ea typeface="Calibri"/>
                <a:cs typeface="Calibri"/>
                <a:sym typeface="Calibri"/>
              </a:rPr>
              <a:t>Initialize ADMM</a:t>
            </a:r>
            <a:endParaRPr/>
          </a:p>
        </p:txBody>
      </p:sp>
      <p:sp>
        <p:nvSpPr>
          <p:cNvPr id="508" name="Google Shape;508;p46"/>
          <p:cNvSpPr/>
          <p:nvPr/>
        </p:nvSpPr>
        <p:spPr>
          <a:xfrm>
            <a:off x="4826032" y="2768632"/>
            <a:ext cx="2552700" cy="825532"/>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chemeClr val="dk1"/>
              </a:buClr>
              <a:buSzPts val="1700"/>
              <a:buFont typeface="Calibri"/>
              <a:buNone/>
            </a:pPr>
            <a:r>
              <a:rPr b="0" lang="en-US" sz="1700">
                <a:solidFill>
                  <a:schemeClr val="dk1"/>
                </a:solidFill>
                <a:latin typeface="Calibri"/>
                <a:ea typeface="Calibri"/>
                <a:cs typeface="Calibri"/>
                <a:sym typeface="Calibri"/>
              </a:rPr>
              <a:t>θ⁰ = best warm model</a:t>
            </a:r>
            <a:endParaRPr/>
          </a:p>
          <a:p>
            <a:pPr indent="0" lvl="0" marL="0" marR="0" rtl="0" algn="l">
              <a:lnSpc>
                <a:spcPct val="117941"/>
              </a:lnSpc>
              <a:spcBef>
                <a:spcPts val="0"/>
              </a:spcBef>
              <a:spcAft>
                <a:spcPts val="0"/>
              </a:spcAft>
              <a:buClr>
                <a:schemeClr val="dk1"/>
              </a:buClr>
              <a:buSzPts val="1700"/>
              <a:buFont typeface="Calibri"/>
              <a:buNone/>
            </a:pPr>
            <a:r>
              <a:rPr b="0" lang="en-US" sz="1700">
                <a:solidFill>
                  <a:schemeClr val="dk1"/>
                </a:solidFill>
                <a:latin typeface="Calibri"/>
                <a:ea typeface="Calibri"/>
                <a:cs typeface="Calibri"/>
                <a:sym typeface="Calibri"/>
              </a:rPr>
              <a:t>z⁰ = Aθ⁰; q⁰ = 0</a:t>
            </a:r>
            <a:endParaRPr/>
          </a:p>
        </p:txBody>
      </p:sp>
      <p:sp>
        <p:nvSpPr>
          <p:cNvPr id="509" name="Google Shape;509;p46"/>
          <p:cNvSpPr/>
          <p:nvPr/>
        </p:nvSpPr>
        <p:spPr>
          <a:xfrm>
            <a:off x="8445500" y="1955800"/>
            <a:ext cx="3213100" cy="1841500"/>
          </a:xfrm>
          <a:prstGeom prst="rect">
            <a:avLst/>
          </a:prstGeom>
          <a:solidFill>
            <a:srgbClr val="F2F6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510" name="Google Shape;510;p46"/>
          <p:cNvSpPr/>
          <p:nvPr/>
        </p:nvSpPr>
        <p:spPr>
          <a:xfrm>
            <a:off x="8623268" y="2197132"/>
            <a:ext cx="2857500" cy="3683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2000"/>
              <a:buFont typeface="Calibri"/>
              <a:buNone/>
            </a:pPr>
            <a:r>
              <a:rPr b="1" lang="en-US" sz="2000">
                <a:solidFill>
                  <a:srgbClr val="A02337"/>
                </a:solidFill>
                <a:latin typeface="Calibri"/>
                <a:ea typeface="Calibri"/>
                <a:cs typeface="Calibri"/>
                <a:sym typeface="Calibri"/>
              </a:rPr>
              <a:t>Refine with ADMM</a:t>
            </a:r>
            <a:endParaRPr/>
          </a:p>
        </p:txBody>
      </p:sp>
      <p:sp>
        <p:nvSpPr>
          <p:cNvPr id="511" name="Google Shape;511;p46"/>
          <p:cNvSpPr/>
          <p:nvPr/>
        </p:nvSpPr>
        <p:spPr>
          <a:xfrm>
            <a:off x="8623268" y="2768632"/>
            <a:ext cx="2857500" cy="825532"/>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chemeClr val="dk1"/>
              </a:buClr>
              <a:buSzPts val="1700"/>
              <a:buFont typeface="Calibri"/>
              <a:buNone/>
            </a:pPr>
            <a:r>
              <a:rPr b="0" lang="en-US" sz="1700">
                <a:solidFill>
                  <a:schemeClr val="dk1"/>
                </a:solidFill>
                <a:latin typeface="Calibri"/>
                <a:ea typeface="Calibri"/>
                <a:cs typeface="Calibri"/>
                <a:sym typeface="Calibri"/>
              </a:rPr>
              <a:t>Adaptive ρ</a:t>
            </a:r>
            <a:endParaRPr/>
          </a:p>
          <a:p>
            <a:pPr indent="0" lvl="0" marL="0" marR="0" rtl="0" algn="l">
              <a:lnSpc>
                <a:spcPct val="117941"/>
              </a:lnSpc>
              <a:spcBef>
                <a:spcPts val="0"/>
              </a:spcBef>
              <a:spcAft>
                <a:spcPts val="0"/>
              </a:spcAft>
              <a:buClr>
                <a:schemeClr val="dk1"/>
              </a:buClr>
              <a:buSzPts val="1700"/>
              <a:buFont typeface="Calibri"/>
              <a:buNone/>
            </a:pPr>
            <a:r>
              <a:rPr b="0" lang="en-US" sz="1700">
                <a:solidFill>
                  <a:schemeClr val="dk1"/>
                </a:solidFill>
                <a:latin typeface="Calibri"/>
                <a:ea typeface="Calibri"/>
                <a:cs typeface="Calibri"/>
                <a:sym typeface="Calibri"/>
              </a:rPr>
              <a:t>Over-relaxation α</a:t>
            </a:r>
            <a:endParaRPr/>
          </a:p>
        </p:txBody>
      </p:sp>
      <p:cxnSp>
        <p:nvCxnSpPr>
          <p:cNvPr id="512" name="Google Shape;512;p46"/>
          <p:cNvCxnSpPr/>
          <p:nvPr/>
        </p:nvCxnSpPr>
        <p:spPr>
          <a:xfrm>
            <a:off x="3898900" y="2882900"/>
            <a:ext cx="609600" cy="0"/>
          </a:xfrm>
          <a:prstGeom prst="straightConnector1">
            <a:avLst/>
          </a:prstGeom>
          <a:noFill/>
          <a:ln cap="flat" cmpd="sng" w="22850">
            <a:solidFill>
              <a:srgbClr val="A02337"/>
            </a:solidFill>
            <a:prstDash val="solid"/>
            <a:round/>
            <a:headEnd len="sm" w="sm" type="none"/>
            <a:tailEnd len="sm" w="sm" type="none"/>
          </a:ln>
          <a:effectLst>
            <a:outerShdw blurRad="40000" rotWithShape="0" dir="5400000" dist="20000">
              <a:srgbClr val="000000">
                <a:alpha val="38039"/>
              </a:srgbClr>
            </a:outerShdw>
          </a:effectLst>
        </p:spPr>
      </p:cxnSp>
      <p:cxnSp>
        <p:nvCxnSpPr>
          <p:cNvPr id="513" name="Google Shape;513;p46"/>
          <p:cNvCxnSpPr/>
          <p:nvPr/>
        </p:nvCxnSpPr>
        <p:spPr>
          <a:xfrm>
            <a:off x="4419600" y="2832100"/>
            <a:ext cx="88900" cy="50800"/>
          </a:xfrm>
          <a:prstGeom prst="straightConnector1">
            <a:avLst/>
          </a:prstGeom>
          <a:noFill/>
          <a:ln cap="flat" cmpd="sng" w="22850">
            <a:solidFill>
              <a:srgbClr val="A02337"/>
            </a:solidFill>
            <a:prstDash val="solid"/>
            <a:round/>
            <a:headEnd len="sm" w="sm" type="none"/>
            <a:tailEnd len="sm" w="sm" type="none"/>
          </a:ln>
          <a:effectLst>
            <a:outerShdw blurRad="40000" rotWithShape="0" dir="5400000" dist="20000">
              <a:srgbClr val="000000">
                <a:alpha val="38039"/>
              </a:srgbClr>
            </a:outerShdw>
          </a:effectLst>
        </p:spPr>
      </p:cxnSp>
      <p:cxnSp>
        <p:nvCxnSpPr>
          <p:cNvPr id="514" name="Google Shape;514;p46"/>
          <p:cNvCxnSpPr/>
          <p:nvPr/>
        </p:nvCxnSpPr>
        <p:spPr>
          <a:xfrm flipH="1" rot="10800000">
            <a:off x="4419600" y="2882900"/>
            <a:ext cx="88900" cy="50800"/>
          </a:xfrm>
          <a:prstGeom prst="straightConnector1">
            <a:avLst/>
          </a:prstGeom>
          <a:noFill/>
          <a:ln cap="flat" cmpd="sng" w="22850">
            <a:solidFill>
              <a:srgbClr val="A02337"/>
            </a:solidFill>
            <a:prstDash val="solid"/>
            <a:round/>
            <a:headEnd len="sm" w="sm" type="none"/>
            <a:tailEnd len="sm" w="sm" type="none"/>
          </a:ln>
          <a:effectLst>
            <a:outerShdw blurRad="40000" rotWithShape="0" dir="5400000" dist="20000">
              <a:srgbClr val="000000">
                <a:alpha val="38039"/>
              </a:srgbClr>
            </a:outerShdw>
          </a:effectLst>
        </p:spPr>
      </p:cxnSp>
      <p:cxnSp>
        <p:nvCxnSpPr>
          <p:cNvPr id="515" name="Google Shape;515;p46"/>
          <p:cNvCxnSpPr/>
          <p:nvPr/>
        </p:nvCxnSpPr>
        <p:spPr>
          <a:xfrm>
            <a:off x="7696200" y="2882900"/>
            <a:ext cx="596900" cy="0"/>
          </a:xfrm>
          <a:prstGeom prst="straightConnector1">
            <a:avLst/>
          </a:prstGeom>
          <a:noFill/>
          <a:ln cap="flat" cmpd="sng" w="22850">
            <a:solidFill>
              <a:srgbClr val="A02337"/>
            </a:solidFill>
            <a:prstDash val="solid"/>
            <a:round/>
            <a:headEnd len="sm" w="sm" type="none"/>
            <a:tailEnd len="sm" w="sm" type="none"/>
          </a:ln>
          <a:effectLst>
            <a:outerShdw blurRad="40000" rotWithShape="0" dir="5400000" dist="20000">
              <a:srgbClr val="000000">
                <a:alpha val="38039"/>
              </a:srgbClr>
            </a:outerShdw>
          </a:effectLst>
        </p:spPr>
      </p:cxnSp>
      <p:cxnSp>
        <p:nvCxnSpPr>
          <p:cNvPr id="516" name="Google Shape;516;p46"/>
          <p:cNvCxnSpPr/>
          <p:nvPr/>
        </p:nvCxnSpPr>
        <p:spPr>
          <a:xfrm>
            <a:off x="8204200" y="2832100"/>
            <a:ext cx="88900" cy="50800"/>
          </a:xfrm>
          <a:prstGeom prst="straightConnector1">
            <a:avLst/>
          </a:prstGeom>
          <a:noFill/>
          <a:ln cap="flat" cmpd="sng" w="22850">
            <a:solidFill>
              <a:srgbClr val="A02337"/>
            </a:solidFill>
            <a:prstDash val="solid"/>
            <a:round/>
            <a:headEnd len="sm" w="sm" type="none"/>
            <a:tailEnd len="sm" w="sm" type="none"/>
          </a:ln>
          <a:effectLst>
            <a:outerShdw blurRad="40000" rotWithShape="0" dir="5400000" dist="20000">
              <a:srgbClr val="000000">
                <a:alpha val="38039"/>
              </a:srgbClr>
            </a:outerShdw>
          </a:effectLst>
        </p:spPr>
      </p:cxnSp>
      <p:cxnSp>
        <p:nvCxnSpPr>
          <p:cNvPr id="517" name="Google Shape;517;p46"/>
          <p:cNvCxnSpPr/>
          <p:nvPr/>
        </p:nvCxnSpPr>
        <p:spPr>
          <a:xfrm flipH="1" rot="10800000">
            <a:off x="8204200" y="2882900"/>
            <a:ext cx="88900" cy="50800"/>
          </a:xfrm>
          <a:prstGeom prst="straightConnector1">
            <a:avLst/>
          </a:prstGeom>
          <a:noFill/>
          <a:ln cap="flat" cmpd="sng" w="22850">
            <a:solidFill>
              <a:srgbClr val="A02337"/>
            </a:solidFill>
            <a:prstDash val="solid"/>
            <a:round/>
            <a:headEnd len="sm" w="sm" type="none"/>
            <a:tailEnd len="sm" w="sm" type="none"/>
          </a:ln>
          <a:effectLst>
            <a:outerShdw blurRad="40000" rotWithShape="0" dir="5400000" dist="20000">
              <a:srgbClr val="000000">
                <a:alpha val="38039"/>
              </a:srgbClr>
            </a:outerShdw>
          </a:effectLst>
        </p:spPr>
      </p:cxnSp>
      <p:sp>
        <p:nvSpPr>
          <p:cNvPr id="518" name="Google Shape;518;p46"/>
          <p:cNvSpPr/>
          <p:nvPr/>
        </p:nvSpPr>
        <p:spPr>
          <a:xfrm>
            <a:off x="546068" y="4152900"/>
            <a:ext cx="11112532" cy="381000"/>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Clr>
                <a:srgbClr val="182B3A"/>
              </a:buClr>
              <a:buSzPts val="2100"/>
              <a:buFont typeface="Calibri"/>
              <a:buNone/>
            </a:pPr>
            <a:r>
              <a:rPr b="0" lang="en-US" sz="2100">
                <a:solidFill>
                  <a:srgbClr val="182B3A"/>
                </a:solidFill>
                <a:latin typeface="Calibri"/>
                <a:ea typeface="Calibri"/>
                <a:cs typeface="Calibri"/>
                <a:sym typeface="Calibri"/>
              </a:rPr>
              <a:t>K: warm-start passes     ρ: penalty strength     α: relaxation factor</a:t>
            </a:r>
            <a:endParaRPr/>
          </a:p>
        </p:txBody>
      </p:sp>
      <p:sp>
        <p:nvSpPr>
          <p:cNvPr id="519" name="Google Shape;519;p46"/>
          <p:cNvSpPr/>
          <p:nvPr/>
        </p:nvSpPr>
        <p:spPr>
          <a:xfrm>
            <a:off x="546068" y="4724400"/>
            <a:ext cx="11112532" cy="5841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526574"/>
              </a:buClr>
              <a:buSzPts val="2000"/>
              <a:buFont typeface="Calibri"/>
              <a:buNone/>
            </a:pPr>
            <a:r>
              <a:rPr b="0" lang="en-US" sz="2000">
                <a:solidFill>
                  <a:srgbClr val="526574"/>
                </a:solidFill>
                <a:latin typeface="Calibri"/>
                <a:ea typeface="Calibri"/>
                <a:cs typeface="Calibri"/>
                <a:sym typeface="Calibri"/>
              </a:rPr>
              <a:t>Initialize θ, z and q, then run the same ADMM loop.</a:t>
            </a:r>
            <a:endParaRPr/>
          </a:p>
        </p:txBody>
      </p:sp>
      <p:cxnSp>
        <p:nvCxnSpPr>
          <p:cNvPr id="520" name="Google Shape;520;p46"/>
          <p:cNvCxnSpPr/>
          <p:nvPr/>
        </p:nvCxnSpPr>
        <p:spPr>
          <a:xfrm>
            <a:off x="533400" y="5651500"/>
            <a:ext cx="0" cy="444500"/>
          </a:xfrm>
          <a:prstGeom prst="straightConnector1">
            <a:avLst/>
          </a:prstGeom>
          <a:noFill/>
          <a:ln cap="flat" cmpd="sng" w="38100">
            <a:solidFill>
              <a:srgbClr val="A02337"/>
            </a:solidFill>
            <a:prstDash val="solid"/>
            <a:round/>
            <a:headEnd len="sm" w="sm" type="none"/>
            <a:tailEnd len="sm" w="sm" type="none"/>
          </a:ln>
          <a:effectLst>
            <a:outerShdw blurRad="40000" rotWithShape="0" dir="5400000" dist="20000">
              <a:srgbClr val="000000">
                <a:alpha val="38039"/>
              </a:srgbClr>
            </a:outerShdw>
          </a:effectLst>
        </p:spPr>
      </p:cxnSp>
      <p:sp>
        <p:nvSpPr>
          <p:cNvPr id="521" name="Google Shape;521;p46"/>
          <p:cNvSpPr/>
          <p:nvPr/>
        </p:nvSpPr>
        <p:spPr>
          <a:xfrm>
            <a:off x="685800" y="5689568"/>
            <a:ext cx="10871168" cy="419100"/>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rgbClr val="A02337"/>
              </a:buClr>
              <a:buSzPts val="1700"/>
              <a:buFont typeface="Calibri"/>
              <a:buNone/>
            </a:pPr>
            <a:r>
              <a:rPr b="1" lang="en-US" sz="1700">
                <a:solidFill>
                  <a:srgbClr val="A02337"/>
                </a:solidFill>
                <a:latin typeface="Calibri"/>
                <a:ea typeface="Calibri"/>
                <a:cs typeface="Calibri"/>
                <a:sym typeface="Calibri"/>
              </a:rPr>
              <a:t>K = 0 + adaptive ρ off + α = 1 exactly recovers cold ADMM.</a:t>
            </a:r>
            <a:endParaRPr/>
          </a:p>
        </p:txBody>
      </p:sp>
      <p:cxnSp>
        <p:nvCxnSpPr>
          <p:cNvPr id="522" name="Google Shape;522;p46"/>
          <p:cNvCxnSpPr/>
          <p:nvPr/>
        </p:nvCxnSpPr>
        <p:spPr>
          <a:xfrm>
            <a:off x="533400" y="6337300"/>
            <a:ext cx="11125200" cy="0"/>
          </a:xfrm>
          <a:prstGeom prst="straightConnector1">
            <a:avLst/>
          </a:prstGeom>
          <a:noFill/>
          <a:ln cap="flat" cmpd="sng" w="10150">
            <a:solidFill>
              <a:srgbClr val="D7E1E7"/>
            </a:solidFill>
            <a:prstDash val="solid"/>
            <a:round/>
            <a:headEnd len="sm" w="sm" type="none"/>
            <a:tailEnd len="sm" w="sm" type="none"/>
          </a:ln>
          <a:effectLst>
            <a:outerShdw blurRad="40000" rotWithShape="0" dir="5400000" dist="20000">
              <a:srgbClr val="000000">
                <a:alpha val="38039"/>
              </a:srgbClr>
            </a:outerShdw>
          </a:effectLst>
        </p:spPr>
      </p:cxnSp>
      <p:sp>
        <p:nvSpPr>
          <p:cNvPr id="523" name="Google Shape;523;p46"/>
          <p:cNvSpPr/>
          <p:nvPr/>
        </p:nvSpPr>
        <p:spPr>
          <a:xfrm>
            <a:off x="533400" y="6464332"/>
            <a:ext cx="10350532" cy="2031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900"/>
              <a:buFont typeface="Calibri"/>
              <a:buNone/>
            </a:pPr>
            <a:r>
              <a:rPr b="0" lang="en-US" sz="900">
                <a:solidFill>
                  <a:schemeClr val="dk1"/>
                </a:solidFill>
                <a:latin typeface="Calibri"/>
                <a:ea typeface="Calibri"/>
                <a:cs typeface="Calibri"/>
                <a:sym typeface="Calibri"/>
              </a:rPr>
              <a:t>Proposal §3.2 · src/svm_admm.py: PAADMMSVM · Pegasos scaling in WP3_ADMM.md</a:t>
            </a:r>
            <a:endParaRPr/>
          </a:p>
        </p:txBody>
      </p:sp>
      <p:sp>
        <p:nvSpPr>
          <p:cNvPr id="524" name="Google Shape;524;p46"/>
          <p:cNvSpPr/>
          <p:nvPr/>
        </p:nvSpPr>
        <p:spPr>
          <a:xfrm>
            <a:off x="11112532" y="6438900"/>
            <a:ext cx="546068" cy="254032"/>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Clr>
                <a:schemeClr val="dk1"/>
              </a:buClr>
              <a:buSzPts val="1000"/>
              <a:buFont typeface="Calibri"/>
              <a:buNone/>
            </a:pPr>
            <a:r>
              <a:rPr b="0" lang="en-US" sz="1000">
                <a:solidFill>
                  <a:schemeClr val="dk1"/>
                </a:solidFill>
                <a:latin typeface="Calibri"/>
                <a:ea typeface="Calibri"/>
                <a:cs typeface="Calibri"/>
                <a:sym typeface="Calibri"/>
              </a:rPr>
              <a:t>III · 05</a:t>
            </a:r>
            <a:endParaRPr/>
          </a:p>
        </p:txBody>
      </p:sp>
      <p:sp>
        <p:nvSpPr>
          <p:cNvPr id="525" name="Google Shape;525;p46"/>
          <p:cNvSpPr txBox="1"/>
          <p:nvPr>
            <p:ph type="title"/>
          </p:nvPr>
        </p:nvSpPr>
        <p:spPr>
          <a:xfrm>
            <a:off x="334963" y="0"/>
            <a:ext cx="10637837" cy="8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Calibri"/>
              <a:buNone/>
            </a:pPr>
            <a:r>
              <a:rPr b="0" i="0" lang="en-US" sz="3200" u="none" cap="none" strike="noStrike">
                <a:solidFill>
                  <a:srgbClr val="FFFFFF"/>
                </a:solidFill>
                <a:latin typeface="Calibri"/>
                <a:ea typeface="Calibri"/>
                <a:cs typeface="Calibri"/>
                <a:sym typeface="Calibri"/>
              </a:rPr>
              <a:t>PA-ADMM adds a warm start and two controls</a:t>
            </a:r>
            <a:endParaRPr b="0" i="0" sz="3200" u="none" cap="none" strike="noStrike">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0" name="Shape 530"/>
        <p:cNvGrpSpPr/>
        <p:nvPr/>
      </p:nvGrpSpPr>
      <p:grpSpPr>
        <a:xfrm>
          <a:off x="0" y="0"/>
          <a:ext cx="0" cy="0"/>
          <a:chOff x="0" y="0"/>
          <a:chExt cx="0" cy="0"/>
        </a:xfrm>
      </p:grpSpPr>
      <p:sp>
        <p:nvSpPr>
          <p:cNvPr id="531" name="Google Shape;531;p47"/>
          <p:cNvSpPr/>
          <p:nvPr/>
        </p:nvSpPr>
        <p:spPr>
          <a:xfrm>
            <a:off x="533400" y="1014413"/>
            <a:ext cx="10413968" cy="1905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1000"/>
              <a:buFont typeface="Calibri"/>
              <a:buNone/>
            </a:pPr>
            <a:r>
              <a:rPr b="1" lang="en-US" sz="1000">
                <a:solidFill>
                  <a:srgbClr val="A02337"/>
                </a:solidFill>
                <a:latin typeface="Calibri"/>
                <a:ea typeface="Calibri"/>
                <a:cs typeface="Calibri"/>
                <a:sym typeface="Calibri"/>
              </a:rPr>
              <a:t>PART III  /  RESIDUAL BALANCING</a:t>
            </a:r>
            <a:endParaRPr/>
          </a:p>
        </p:txBody>
      </p:sp>
      <p:pic>
        <p:nvPicPr>
          <p:cNvPr id="532" name="Google Shape;532;p47"/>
          <p:cNvPicPr preferRelativeResize="0"/>
          <p:nvPr/>
        </p:nvPicPr>
        <p:blipFill rotWithShape="1">
          <a:blip r:embed="rId3">
            <a:alphaModFix/>
          </a:blip>
          <a:srcRect b="0" l="0" r="0" t="0"/>
          <a:stretch/>
        </p:blipFill>
        <p:spPr>
          <a:xfrm>
            <a:off x="546100" y="1651000"/>
            <a:ext cx="6280265" cy="440574"/>
          </a:xfrm>
          <a:prstGeom prst="rect">
            <a:avLst/>
          </a:prstGeom>
          <a:noFill/>
          <a:ln>
            <a:noFill/>
          </a:ln>
        </p:spPr>
      </p:pic>
      <p:sp>
        <p:nvSpPr>
          <p:cNvPr id="533" name="Google Shape;533;p47"/>
          <p:cNvSpPr/>
          <p:nvPr/>
        </p:nvSpPr>
        <p:spPr>
          <a:xfrm>
            <a:off x="546100" y="2590800"/>
            <a:ext cx="11112500" cy="546100"/>
          </a:xfrm>
          <a:prstGeom prst="rect">
            <a:avLst/>
          </a:prstGeom>
          <a:solidFill>
            <a:srgbClr val="F2F6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534" name="Google Shape;534;p47"/>
          <p:cNvSpPr/>
          <p:nvPr/>
        </p:nvSpPr>
        <p:spPr>
          <a:xfrm>
            <a:off x="673132" y="2717768"/>
            <a:ext cx="4216432" cy="393668"/>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chemeClr val="dk1"/>
              </a:buClr>
              <a:buSzPts val="1700"/>
              <a:buFont typeface="Calibri"/>
              <a:buNone/>
            </a:pPr>
            <a:r>
              <a:rPr b="1" lang="en-US" sz="1700">
                <a:solidFill>
                  <a:schemeClr val="dk1"/>
                </a:solidFill>
                <a:latin typeface="Calibri"/>
                <a:ea typeface="Calibri"/>
                <a:cs typeface="Calibri"/>
                <a:sym typeface="Calibri"/>
              </a:rPr>
              <a:t>Condition</a:t>
            </a:r>
            <a:endParaRPr/>
          </a:p>
        </p:txBody>
      </p:sp>
      <p:sp>
        <p:nvSpPr>
          <p:cNvPr id="535" name="Google Shape;535;p47"/>
          <p:cNvSpPr/>
          <p:nvPr/>
        </p:nvSpPr>
        <p:spPr>
          <a:xfrm>
            <a:off x="5118068" y="2717768"/>
            <a:ext cx="1930432" cy="393668"/>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chemeClr val="dk1"/>
              </a:buClr>
              <a:buSzPts val="1700"/>
              <a:buFont typeface="Calibri"/>
              <a:buNone/>
            </a:pPr>
            <a:r>
              <a:rPr b="1" lang="en-US" sz="1700">
                <a:solidFill>
                  <a:schemeClr val="dk1"/>
                </a:solidFill>
                <a:latin typeface="Calibri"/>
                <a:ea typeface="Calibri"/>
                <a:cs typeface="Calibri"/>
                <a:sym typeface="Calibri"/>
              </a:rPr>
              <a:t>Action</a:t>
            </a:r>
            <a:endParaRPr/>
          </a:p>
        </p:txBody>
      </p:sp>
      <p:sp>
        <p:nvSpPr>
          <p:cNvPr id="536" name="Google Shape;536;p47"/>
          <p:cNvSpPr/>
          <p:nvPr/>
        </p:nvSpPr>
        <p:spPr>
          <a:xfrm>
            <a:off x="7277100" y="2717768"/>
            <a:ext cx="4279868" cy="393668"/>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chemeClr val="dk1"/>
              </a:buClr>
              <a:buSzPts val="1700"/>
              <a:buFont typeface="Calibri"/>
              <a:buNone/>
            </a:pPr>
            <a:r>
              <a:rPr b="1" lang="en-US" sz="1700">
                <a:solidFill>
                  <a:schemeClr val="dk1"/>
                </a:solidFill>
                <a:latin typeface="Calibri"/>
                <a:ea typeface="Calibri"/>
                <a:cs typeface="Calibri"/>
                <a:sym typeface="Calibri"/>
              </a:rPr>
              <a:t>Purpose</a:t>
            </a:r>
            <a:endParaRPr/>
          </a:p>
        </p:txBody>
      </p:sp>
      <p:sp>
        <p:nvSpPr>
          <p:cNvPr id="537" name="Google Shape;537;p47"/>
          <p:cNvSpPr/>
          <p:nvPr/>
        </p:nvSpPr>
        <p:spPr>
          <a:xfrm>
            <a:off x="673132" y="3263932"/>
            <a:ext cx="4216432" cy="3936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1800"/>
              <a:buFont typeface="Calibri"/>
              <a:buNone/>
            </a:pPr>
            <a:r>
              <a:rPr b="0" lang="en-US" sz="1800">
                <a:solidFill>
                  <a:schemeClr val="dk1"/>
                </a:solidFill>
                <a:latin typeface="Calibri"/>
                <a:ea typeface="Calibri"/>
                <a:cs typeface="Calibri"/>
                <a:sym typeface="Calibri"/>
              </a:rPr>
              <a:t>‖r‖ &gt; 10 ‖s‖</a:t>
            </a:r>
            <a:endParaRPr/>
          </a:p>
        </p:txBody>
      </p:sp>
      <p:sp>
        <p:nvSpPr>
          <p:cNvPr id="538" name="Google Shape;538;p47"/>
          <p:cNvSpPr/>
          <p:nvPr/>
        </p:nvSpPr>
        <p:spPr>
          <a:xfrm>
            <a:off x="5118068" y="3263932"/>
            <a:ext cx="1930432" cy="3936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1800"/>
              <a:buFont typeface="Calibri"/>
              <a:buNone/>
            </a:pPr>
            <a:r>
              <a:rPr b="0" lang="en-US" sz="1800">
                <a:solidFill>
                  <a:schemeClr val="dk1"/>
                </a:solidFill>
                <a:latin typeface="Calibri"/>
                <a:ea typeface="Calibri"/>
                <a:cs typeface="Calibri"/>
                <a:sym typeface="Calibri"/>
              </a:rPr>
              <a:t>ρ ← 2ρ</a:t>
            </a:r>
            <a:endParaRPr/>
          </a:p>
        </p:txBody>
      </p:sp>
      <p:sp>
        <p:nvSpPr>
          <p:cNvPr id="539" name="Google Shape;539;p47"/>
          <p:cNvSpPr/>
          <p:nvPr/>
        </p:nvSpPr>
        <p:spPr>
          <a:xfrm>
            <a:off x="7277100" y="3263932"/>
            <a:ext cx="4279868" cy="3936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1800"/>
              <a:buFont typeface="Calibri"/>
              <a:buNone/>
            </a:pPr>
            <a:r>
              <a:rPr b="0" lang="en-US" sz="1800">
                <a:solidFill>
                  <a:schemeClr val="dk1"/>
                </a:solidFill>
                <a:latin typeface="Calibri"/>
                <a:ea typeface="Calibri"/>
                <a:cs typeface="Calibri"/>
                <a:sym typeface="Calibri"/>
              </a:rPr>
              <a:t>Stronger agreement penalty</a:t>
            </a:r>
            <a:endParaRPr/>
          </a:p>
        </p:txBody>
      </p:sp>
      <p:cxnSp>
        <p:nvCxnSpPr>
          <p:cNvPr id="540" name="Google Shape;540;p47"/>
          <p:cNvCxnSpPr/>
          <p:nvPr/>
        </p:nvCxnSpPr>
        <p:spPr>
          <a:xfrm>
            <a:off x="546100" y="3683000"/>
            <a:ext cx="11112500" cy="0"/>
          </a:xfrm>
          <a:prstGeom prst="straightConnector1">
            <a:avLst/>
          </a:prstGeom>
          <a:noFill/>
          <a:ln cap="flat" cmpd="sng" w="9525">
            <a:solidFill>
              <a:srgbClr val="D7E1E7"/>
            </a:solidFill>
            <a:prstDash val="solid"/>
            <a:round/>
            <a:headEnd len="sm" w="sm" type="none"/>
            <a:tailEnd len="sm" w="sm" type="none"/>
          </a:ln>
          <a:effectLst>
            <a:outerShdw blurRad="40000" rotWithShape="0" dir="5400000" dist="20000">
              <a:srgbClr val="000000">
                <a:alpha val="38039"/>
              </a:srgbClr>
            </a:outerShdw>
          </a:effectLst>
        </p:spPr>
      </p:cxnSp>
      <p:sp>
        <p:nvSpPr>
          <p:cNvPr id="541" name="Google Shape;541;p47"/>
          <p:cNvSpPr/>
          <p:nvPr/>
        </p:nvSpPr>
        <p:spPr>
          <a:xfrm>
            <a:off x="673132" y="3810000"/>
            <a:ext cx="4216432" cy="3936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1800"/>
              <a:buFont typeface="Calibri"/>
              <a:buNone/>
            </a:pPr>
            <a:r>
              <a:rPr b="0" lang="en-US" sz="1800">
                <a:solidFill>
                  <a:schemeClr val="dk1"/>
                </a:solidFill>
                <a:latin typeface="Calibri"/>
                <a:ea typeface="Calibri"/>
                <a:cs typeface="Calibri"/>
                <a:sym typeface="Calibri"/>
              </a:rPr>
              <a:t>‖s‖ &gt; 10 ‖r‖</a:t>
            </a:r>
            <a:endParaRPr/>
          </a:p>
        </p:txBody>
      </p:sp>
      <p:sp>
        <p:nvSpPr>
          <p:cNvPr id="542" name="Google Shape;542;p47"/>
          <p:cNvSpPr/>
          <p:nvPr/>
        </p:nvSpPr>
        <p:spPr>
          <a:xfrm>
            <a:off x="5118068" y="3810000"/>
            <a:ext cx="1930432" cy="3936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1800"/>
              <a:buFont typeface="Calibri"/>
              <a:buNone/>
            </a:pPr>
            <a:r>
              <a:rPr b="0" lang="en-US" sz="1800">
                <a:solidFill>
                  <a:schemeClr val="dk1"/>
                </a:solidFill>
                <a:latin typeface="Calibri"/>
                <a:ea typeface="Calibri"/>
                <a:cs typeface="Calibri"/>
                <a:sym typeface="Calibri"/>
              </a:rPr>
              <a:t>ρ ← ρ / 2</a:t>
            </a:r>
            <a:endParaRPr/>
          </a:p>
        </p:txBody>
      </p:sp>
      <p:sp>
        <p:nvSpPr>
          <p:cNvPr id="543" name="Google Shape;543;p47"/>
          <p:cNvSpPr/>
          <p:nvPr/>
        </p:nvSpPr>
        <p:spPr>
          <a:xfrm>
            <a:off x="7277100" y="3810000"/>
            <a:ext cx="4279868" cy="3936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1800"/>
              <a:buFont typeface="Calibri"/>
              <a:buNone/>
            </a:pPr>
            <a:r>
              <a:rPr b="0" lang="en-US" sz="1800">
                <a:solidFill>
                  <a:schemeClr val="dk1"/>
                </a:solidFill>
                <a:latin typeface="Calibri"/>
                <a:ea typeface="Calibri"/>
                <a:cs typeface="Calibri"/>
                <a:sym typeface="Calibri"/>
              </a:rPr>
              <a:t>Reduce the agreement penalty</a:t>
            </a:r>
            <a:endParaRPr/>
          </a:p>
        </p:txBody>
      </p:sp>
      <p:cxnSp>
        <p:nvCxnSpPr>
          <p:cNvPr id="544" name="Google Shape;544;p47"/>
          <p:cNvCxnSpPr/>
          <p:nvPr/>
        </p:nvCxnSpPr>
        <p:spPr>
          <a:xfrm>
            <a:off x="546100" y="4229100"/>
            <a:ext cx="11112500" cy="0"/>
          </a:xfrm>
          <a:prstGeom prst="straightConnector1">
            <a:avLst/>
          </a:prstGeom>
          <a:noFill/>
          <a:ln cap="flat" cmpd="sng" w="9525">
            <a:solidFill>
              <a:srgbClr val="D7E1E7"/>
            </a:solidFill>
            <a:prstDash val="solid"/>
            <a:round/>
            <a:headEnd len="sm" w="sm" type="none"/>
            <a:tailEnd len="sm" w="sm" type="none"/>
          </a:ln>
          <a:effectLst>
            <a:outerShdw blurRad="40000" rotWithShape="0" dir="5400000" dist="20000">
              <a:srgbClr val="000000">
                <a:alpha val="38039"/>
              </a:srgbClr>
            </a:outerShdw>
          </a:effectLst>
        </p:spPr>
      </p:cxnSp>
      <p:sp>
        <p:nvSpPr>
          <p:cNvPr id="545" name="Google Shape;545;p47"/>
          <p:cNvSpPr/>
          <p:nvPr/>
        </p:nvSpPr>
        <p:spPr>
          <a:xfrm>
            <a:off x="673132" y="4356068"/>
            <a:ext cx="4216432" cy="3936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1800"/>
              <a:buFont typeface="Calibri"/>
              <a:buNone/>
            </a:pPr>
            <a:r>
              <a:rPr b="0" lang="en-US" sz="1800">
                <a:solidFill>
                  <a:schemeClr val="dk1"/>
                </a:solidFill>
                <a:latin typeface="Calibri"/>
                <a:ea typeface="Calibri"/>
                <a:cs typeface="Calibri"/>
                <a:sym typeface="Calibri"/>
              </a:rPr>
              <a:t>Otherwise</a:t>
            </a:r>
            <a:endParaRPr/>
          </a:p>
        </p:txBody>
      </p:sp>
      <p:sp>
        <p:nvSpPr>
          <p:cNvPr id="546" name="Google Shape;546;p47"/>
          <p:cNvSpPr/>
          <p:nvPr/>
        </p:nvSpPr>
        <p:spPr>
          <a:xfrm>
            <a:off x="5118068" y="4356068"/>
            <a:ext cx="1930432" cy="3936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1800"/>
              <a:buFont typeface="Calibri"/>
              <a:buNone/>
            </a:pPr>
            <a:r>
              <a:rPr b="0" lang="en-US" sz="1800">
                <a:solidFill>
                  <a:schemeClr val="dk1"/>
                </a:solidFill>
                <a:latin typeface="Calibri"/>
                <a:ea typeface="Calibri"/>
                <a:cs typeface="Calibri"/>
                <a:sym typeface="Calibri"/>
              </a:rPr>
              <a:t>Keep ρ</a:t>
            </a:r>
            <a:endParaRPr/>
          </a:p>
        </p:txBody>
      </p:sp>
      <p:sp>
        <p:nvSpPr>
          <p:cNvPr id="547" name="Google Shape;547;p47"/>
          <p:cNvSpPr/>
          <p:nvPr/>
        </p:nvSpPr>
        <p:spPr>
          <a:xfrm>
            <a:off x="7277100" y="4356068"/>
            <a:ext cx="4279868" cy="3936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1800"/>
              <a:buFont typeface="Calibri"/>
              <a:buNone/>
            </a:pPr>
            <a:r>
              <a:rPr b="0" lang="en-US" sz="1800">
                <a:solidFill>
                  <a:schemeClr val="dk1"/>
                </a:solidFill>
                <a:latin typeface="Calibri"/>
                <a:ea typeface="Calibri"/>
                <a:cs typeface="Calibri"/>
                <a:sym typeface="Calibri"/>
              </a:rPr>
              <a:t>Avoid unnecessary changes</a:t>
            </a:r>
            <a:endParaRPr/>
          </a:p>
        </p:txBody>
      </p:sp>
      <p:cxnSp>
        <p:nvCxnSpPr>
          <p:cNvPr id="548" name="Google Shape;548;p47"/>
          <p:cNvCxnSpPr/>
          <p:nvPr/>
        </p:nvCxnSpPr>
        <p:spPr>
          <a:xfrm>
            <a:off x="546100" y="4775200"/>
            <a:ext cx="11112500" cy="0"/>
          </a:xfrm>
          <a:prstGeom prst="straightConnector1">
            <a:avLst/>
          </a:prstGeom>
          <a:noFill/>
          <a:ln cap="flat" cmpd="sng" w="9525">
            <a:solidFill>
              <a:srgbClr val="D7E1E7"/>
            </a:solidFill>
            <a:prstDash val="solid"/>
            <a:round/>
            <a:headEnd len="sm" w="sm" type="none"/>
            <a:tailEnd len="sm" w="sm" type="none"/>
          </a:ln>
          <a:effectLst>
            <a:outerShdw blurRad="40000" rotWithShape="0" dir="5400000" dist="20000">
              <a:srgbClr val="000000">
                <a:alpha val="38039"/>
              </a:srgbClr>
            </a:outerShdw>
          </a:effectLst>
        </p:spPr>
      </p:cxnSp>
      <p:pic>
        <p:nvPicPr>
          <p:cNvPr id="549" name="Google Shape;549;p47"/>
          <p:cNvPicPr preferRelativeResize="0"/>
          <p:nvPr/>
        </p:nvPicPr>
        <p:blipFill rotWithShape="1">
          <a:blip r:embed="rId4">
            <a:alphaModFix/>
          </a:blip>
          <a:srcRect b="0" l="0" r="0" t="0"/>
          <a:stretch/>
        </p:blipFill>
        <p:spPr>
          <a:xfrm>
            <a:off x="546100" y="5118100"/>
            <a:ext cx="5199610" cy="502920"/>
          </a:xfrm>
          <a:prstGeom prst="rect">
            <a:avLst/>
          </a:prstGeom>
          <a:noFill/>
          <a:ln>
            <a:noFill/>
          </a:ln>
        </p:spPr>
      </p:pic>
      <p:cxnSp>
        <p:nvCxnSpPr>
          <p:cNvPr id="550" name="Google Shape;550;p47"/>
          <p:cNvCxnSpPr/>
          <p:nvPr/>
        </p:nvCxnSpPr>
        <p:spPr>
          <a:xfrm>
            <a:off x="533400" y="5791200"/>
            <a:ext cx="0" cy="444500"/>
          </a:xfrm>
          <a:prstGeom prst="straightConnector1">
            <a:avLst/>
          </a:prstGeom>
          <a:noFill/>
          <a:ln cap="flat" cmpd="sng" w="38100">
            <a:solidFill>
              <a:srgbClr val="A02337"/>
            </a:solidFill>
            <a:prstDash val="solid"/>
            <a:round/>
            <a:headEnd len="sm" w="sm" type="none"/>
            <a:tailEnd len="sm" w="sm" type="none"/>
          </a:ln>
          <a:effectLst>
            <a:outerShdw blurRad="40000" rotWithShape="0" dir="5400000" dist="20000">
              <a:srgbClr val="000000">
                <a:alpha val="38039"/>
              </a:srgbClr>
            </a:outerShdw>
          </a:effectLst>
        </p:spPr>
      </p:cxnSp>
      <p:sp>
        <p:nvSpPr>
          <p:cNvPr id="551" name="Google Shape;551;p47"/>
          <p:cNvSpPr/>
          <p:nvPr/>
        </p:nvSpPr>
        <p:spPr>
          <a:xfrm>
            <a:off x="685800" y="5829300"/>
            <a:ext cx="10871168" cy="419100"/>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rgbClr val="A02337"/>
              </a:buClr>
              <a:buSzPts val="1700"/>
              <a:buFont typeface="Calibri"/>
              <a:buNone/>
            </a:pPr>
            <a:r>
              <a:rPr b="1" lang="en-US" sz="1700">
                <a:solidFill>
                  <a:srgbClr val="A02337"/>
                </a:solidFill>
                <a:latin typeface="Calibri"/>
                <a:ea typeface="Calibri"/>
                <a:cs typeface="Calibri"/>
                <a:sym typeface="Calibri"/>
              </a:rPr>
              <a:t>Changing ρ also changes the linear system: refactor before the next solve.</a:t>
            </a:r>
            <a:endParaRPr/>
          </a:p>
        </p:txBody>
      </p:sp>
      <p:cxnSp>
        <p:nvCxnSpPr>
          <p:cNvPr id="552" name="Google Shape;552;p47"/>
          <p:cNvCxnSpPr/>
          <p:nvPr/>
        </p:nvCxnSpPr>
        <p:spPr>
          <a:xfrm>
            <a:off x="533400" y="6337300"/>
            <a:ext cx="11125200" cy="0"/>
          </a:xfrm>
          <a:prstGeom prst="straightConnector1">
            <a:avLst/>
          </a:prstGeom>
          <a:noFill/>
          <a:ln cap="flat" cmpd="sng" w="10150">
            <a:solidFill>
              <a:srgbClr val="D7E1E7"/>
            </a:solidFill>
            <a:prstDash val="solid"/>
            <a:round/>
            <a:headEnd len="sm" w="sm" type="none"/>
            <a:tailEnd len="sm" w="sm" type="none"/>
          </a:ln>
          <a:effectLst>
            <a:outerShdw blurRad="40000" rotWithShape="0" dir="5400000" dist="20000">
              <a:srgbClr val="000000">
                <a:alpha val="38039"/>
              </a:srgbClr>
            </a:outerShdw>
          </a:effectLst>
        </p:spPr>
      </p:cxnSp>
      <p:sp>
        <p:nvSpPr>
          <p:cNvPr id="553" name="Google Shape;553;p47"/>
          <p:cNvSpPr/>
          <p:nvPr/>
        </p:nvSpPr>
        <p:spPr>
          <a:xfrm>
            <a:off x="533400" y="6464332"/>
            <a:ext cx="10350532" cy="2031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900"/>
              <a:buFont typeface="Calibri"/>
              <a:buNone/>
            </a:pPr>
            <a:r>
              <a:rPr b="0" lang="en-US" sz="900">
                <a:solidFill>
                  <a:schemeClr val="dk1"/>
                </a:solidFill>
                <a:latin typeface="Calibri"/>
                <a:ea typeface="Calibri"/>
                <a:cs typeface="Calibri"/>
                <a:sym typeface="Calibri"/>
              </a:rPr>
              <a:t>src/svm_admm.py: residual / rho updates · Boyd et al. (2011), §3.4.1</a:t>
            </a:r>
            <a:endParaRPr/>
          </a:p>
        </p:txBody>
      </p:sp>
      <p:sp>
        <p:nvSpPr>
          <p:cNvPr id="554" name="Google Shape;554;p47"/>
          <p:cNvSpPr/>
          <p:nvPr/>
        </p:nvSpPr>
        <p:spPr>
          <a:xfrm>
            <a:off x="11112532" y="6438900"/>
            <a:ext cx="546068" cy="254032"/>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Clr>
                <a:schemeClr val="dk1"/>
              </a:buClr>
              <a:buSzPts val="1000"/>
              <a:buFont typeface="Calibri"/>
              <a:buNone/>
            </a:pPr>
            <a:r>
              <a:rPr b="0" lang="en-US" sz="1000">
                <a:solidFill>
                  <a:schemeClr val="dk1"/>
                </a:solidFill>
                <a:latin typeface="Calibri"/>
                <a:ea typeface="Calibri"/>
                <a:cs typeface="Calibri"/>
                <a:sym typeface="Calibri"/>
              </a:rPr>
              <a:t>III · 06</a:t>
            </a:r>
            <a:endParaRPr/>
          </a:p>
        </p:txBody>
      </p:sp>
      <p:sp>
        <p:nvSpPr>
          <p:cNvPr id="555" name="Google Shape;555;p47"/>
          <p:cNvSpPr txBox="1"/>
          <p:nvPr>
            <p:ph type="title"/>
          </p:nvPr>
        </p:nvSpPr>
        <p:spPr>
          <a:xfrm>
            <a:off x="334963" y="0"/>
            <a:ext cx="10637837" cy="8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Calibri"/>
              <a:buNone/>
            </a:pPr>
            <a:r>
              <a:rPr b="0" i="0" lang="en-US" sz="3200" u="none" cap="none" strike="noStrike">
                <a:solidFill>
                  <a:srgbClr val="FFFFFF"/>
                </a:solidFill>
                <a:latin typeface="Calibri"/>
                <a:ea typeface="Calibri"/>
                <a:cs typeface="Calibri"/>
                <a:sym typeface="Calibri"/>
              </a:rPr>
              <a:t>Adaptive ρ balances two residuals</a:t>
            </a:r>
            <a:endParaRPr b="0" i="0" sz="3200" u="none" cap="none" strike="noStrike">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0" name="Shape 560"/>
        <p:cNvGrpSpPr/>
        <p:nvPr/>
      </p:nvGrpSpPr>
      <p:grpSpPr>
        <a:xfrm>
          <a:off x="0" y="0"/>
          <a:ext cx="0" cy="0"/>
          <a:chOff x="0" y="0"/>
          <a:chExt cx="0" cy="0"/>
        </a:xfrm>
      </p:grpSpPr>
      <p:sp>
        <p:nvSpPr>
          <p:cNvPr id="561" name="Google Shape;561;p48"/>
          <p:cNvSpPr/>
          <p:nvPr/>
        </p:nvSpPr>
        <p:spPr>
          <a:xfrm>
            <a:off x="533400" y="1014413"/>
            <a:ext cx="10413968" cy="1905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1000"/>
              <a:buFont typeface="Calibri"/>
              <a:buNone/>
            </a:pPr>
            <a:r>
              <a:rPr b="1" lang="en-US" sz="1000">
                <a:solidFill>
                  <a:srgbClr val="A02337"/>
                </a:solidFill>
                <a:latin typeface="Calibri"/>
                <a:ea typeface="Calibri"/>
                <a:cs typeface="Calibri"/>
                <a:sym typeface="Calibri"/>
              </a:rPr>
              <a:t>PART III  /  RELAXATION PARAMETER Α</a:t>
            </a:r>
            <a:endParaRPr/>
          </a:p>
        </p:txBody>
      </p:sp>
      <p:pic>
        <p:nvPicPr>
          <p:cNvPr id="562" name="Google Shape;562;p48"/>
          <p:cNvPicPr preferRelativeResize="0"/>
          <p:nvPr/>
        </p:nvPicPr>
        <p:blipFill rotWithShape="1">
          <a:blip r:embed="rId3">
            <a:alphaModFix/>
          </a:blip>
          <a:srcRect b="0" l="0" r="0" t="0"/>
          <a:stretch/>
        </p:blipFill>
        <p:spPr>
          <a:xfrm>
            <a:off x="546100" y="1638300"/>
            <a:ext cx="8055032" cy="415636"/>
          </a:xfrm>
          <a:prstGeom prst="rect">
            <a:avLst/>
          </a:prstGeom>
          <a:noFill/>
          <a:ln>
            <a:noFill/>
          </a:ln>
        </p:spPr>
      </p:pic>
      <p:sp>
        <p:nvSpPr>
          <p:cNvPr id="563" name="Google Shape;563;p48"/>
          <p:cNvSpPr/>
          <p:nvPr/>
        </p:nvSpPr>
        <p:spPr>
          <a:xfrm>
            <a:off x="546068" y="2514600"/>
            <a:ext cx="11112532" cy="368332"/>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Clr>
                <a:schemeClr val="dk1"/>
              </a:buClr>
              <a:buSzPts val="2100"/>
              <a:buFont typeface="Calibri"/>
              <a:buNone/>
            </a:pPr>
            <a:r>
              <a:rPr b="0" lang="en-US" sz="2100">
                <a:solidFill>
                  <a:schemeClr val="dk1"/>
                </a:solidFill>
                <a:latin typeface="Calibri"/>
                <a:ea typeface="Calibri"/>
                <a:cs typeface="Calibri"/>
                <a:sym typeface="Calibri"/>
              </a:rPr>
              <a:t>Illustration: zᵏ = 0.2, new model margin m = 0.4</a:t>
            </a:r>
            <a:endParaRPr/>
          </a:p>
        </p:txBody>
      </p:sp>
      <p:cxnSp>
        <p:nvCxnSpPr>
          <p:cNvPr id="564" name="Google Shape;564;p48"/>
          <p:cNvCxnSpPr/>
          <p:nvPr/>
        </p:nvCxnSpPr>
        <p:spPr>
          <a:xfrm>
            <a:off x="1270000" y="3695700"/>
            <a:ext cx="9207500" cy="0"/>
          </a:xfrm>
          <a:prstGeom prst="straightConnector1">
            <a:avLst/>
          </a:prstGeom>
          <a:noFill/>
          <a:ln cap="flat" cmpd="sng" w="16500">
            <a:solidFill>
              <a:srgbClr val="526574"/>
            </a:solidFill>
            <a:prstDash val="solid"/>
            <a:round/>
            <a:headEnd len="sm" w="sm" type="none"/>
            <a:tailEnd len="sm" w="sm" type="none"/>
          </a:ln>
          <a:effectLst>
            <a:outerShdw blurRad="40000" rotWithShape="0" dir="5400000" dist="20000">
              <a:srgbClr val="000000">
                <a:alpha val="38039"/>
              </a:srgbClr>
            </a:outerShdw>
          </a:effectLst>
        </p:spPr>
      </p:cxnSp>
      <p:cxnSp>
        <p:nvCxnSpPr>
          <p:cNvPr id="565" name="Google Shape;565;p48"/>
          <p:cNvCxnSpPr/>
          <p:nvPr/>
        </p:nvCxnSpPr>
        <p:spPr>
          <a:xfrm>
            <a:off x="3111500" y="3556000"/>
            <a:ext cx="0" cy="279400"/>
          </a:xfrm>
          <a:prstGeom prst="straightConnector1">
            <a:avLst/>
          </a:prstGeom>
          <a:noFill/>
          <a:ln cap="flat" cmpd="sng" w="38100">
            <a:solidFill>
              <a:srgbClr val="526574"/>
            </a:solidFill>
            <a:prstDash val="solid"/>
            <a:round/>
            <a:headEnd len="sm" w="sm" type="none"/>
            <a:tailEnd len="sm" w="sm" type="none"/>
          </a:ln>
          <a:effectLst>
            <a:outerShdw blurRad="40000" rotWithShape="0" dir="5400000" dist="20000">
              <a:srgbClr val="000000">
                <a:alpha val="38039"/>
              </a:srgbClr>
            </a:outerShdw>
          </a:effectLst>
        </p:spPr>
      </p:cxnSp>
      <p:sp>
        <p:nvSpPr>
          <p:cNvPr id="566" name="Google Shape;566;p48"/>
          <p:cNvSpPr/>
          <p:nvPr/>
        </p:nvSpPr>
        <p:spPr>
          <a:xfrm>
            <a:off x="2222468" y="4000500"/>
            <a:ext cx="1778032" cy="342900"/>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Clr>
                <a:schemeClr val="dk1"/>
              </a:buClr>
              <a:buSzPts val="1900"/>
              <a:buFont typeface="Calibri"/>
              <a:buNone/>
            </a:pPr>
            <a:r>
              <a:rPr b="1" lang="en-US" sz="1900">
                <a:solidFill>
                  <a:schemeClr val="dk1"/>
                </a:solidFill>
                <a:latin typeface="Calibri"/>
                <a:ea typeface="Calibri"/>
                <a:cs typeface="Calibri"/>
                <a:sym typeface="Calibri"/>
              </a:rPr>
              <a:t>zᵏ = 0.2</a:t>
            </a:r>
            <a:endParaRPr/>
          </a:p>
        </p:txBody>
      </p:sp>
      <p:cxnSp>
        <p:nvCxnSpPr>
          <p:cNvPr id="567" name="Google Shape;567;p48"/>
          <p:cNvCxnSpPr/>
          <p:nvPr/>
        </p:nvCxnSpPr>
        <p:spPr>
          <a:xfrm>
            <a:off x="6794500" y="3556000"/>
            <a:ext cx="0" cy="279400"/>
          </a:xfrm>
          <a:prstGeom prst="straightConnector1">
            <a:avLst/>
          </a:prstGeom>
          <a:noFill/>
          <a:ln cap="flat" cmpd="sng" w="38100">
            <a:solidFill>
              <a:srgbClr val="406DA8"/>
            </a:solidFill>
            <a:prstDash val="solid"/>
            <a:round/>
            <a:headEnd len="sm" w="sm" type="none"/>
            <a:tailEnd len="sm" w="sm" type="none"/>
          </a:ln>
          <a:effectLst>
            <a:outerShdw blurRad="40000" rotWithShape="0" dir="5400000" dist="20000">
              <a:srgbClr val="000000">
                <a:alpha val="38039"/>
              </a:srgbClr>
            </a:outerShdw>
          </a:effectLst>
        </p:spPr>
      </p:cxnSp>
      <p:sp>
        <p:nvSpPr>
          <p:cNvPr id="568" name="Google Shape;568;p48"/>
          <p:cNvSpPr/>
          <p:nvPr/>
        </p:nvSpPr>
        <p:spPr>
          <a:xfrm>
            <a:off x="5905500" y="4000500"/>
            <a:ext cx="1778032" cy="342900"/>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Clr>
                <a:schemeClr val="dk1"/>
              </a:buClr>
              <a:buSzPts val="1900"/>
              <a:buFont typeface="Calibri"/>
              <a:buNone/>
            </a:pPr>
            <a:r>
              <a:rPr b="1" lang="en-US" sz="1900">
                <a:solidFill>
                  <a:schemeClr val="dk1"/>
                </a:solidFill>
                <a:latin typeface="Calibri"/>
                <a:ea typeface="Calibri"/>
                <a:cs typeface="Calibri"/>
                <a:sym typeface="Calibri"/>
              </a:rPr>
              <a:t>m = 0.4</a:t>
            </a:r>
            <a:endParaRPr/>
          </a:p>
        </p:txBody>
      </p:sp>
      <p:cxnSp>
        <p:nvCxnSpPr>
          <p:cNvPr id="569" name="Google Shape;569;p48"/>
          <p:cNvCxnSpPr/>
          <p:nvPr/>
        </p:nvCxnSpPr>
        <p:spPr>
          <a:xfrm>
            <a:off x="9004300" y="3556000"/>
            <a:ext cx="0" cy="279400"/>
          </a:xfrm>
          <a:prstGeom prst="straightConnector1">
            <a:avLst/>
          </a:prstGeom>
          <a:noFill/>
          <a:ln cap="flat" cmpd="sng" w="38100">
            <a:solidFill>
              <a:srgbClr val="A02337"/>
            </a:solidFill>
            <a:prstDash val="solid"/>
            <a:round/>
            <a:headEnd len="sm" w="sm" type="none"/>
            <a:tailEnd len="sm" w="sm" type="none"/>
          </a:ln>
          <a:effectLst>
            <a:outerShdw blurRad="40000" rotWithShape="0" dir="5400000" dist="20000">
              <a:srgbClr val="000000">
                <a:alpha val="38039"/>
              </a:srgbClr>
            </a:outerShdw>
          </a:effectLst>
        </p:spPr>
      </p:cxnSp>
      <p:sp>
        <p:nvSpPr>
          <p:cNvPr id="570" name="Google Shape;570;p48"/>
          <p:cNvSpPr/>
          <p:nvPr/>
        </p:nvSpPr>
        <p:spPr>
          <a:xfrm>
            <a:off x="8115300" y="4000500"/>
            <a:ext cx="1778032" cy="342900"/>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Clr>
                <a:srgbClr val="A02337"/>
              </a:buClr>
              <a:buSzPts val="1900"/>
              <a:buFont typeface="Calibri"/>
              <a:buNone/>
            </a:pPr>
            <a:r>
              <a:rPr b="1" lang="en-US" sz="1900">
                <a:solidFill>
                  <a:srgbClr val="A02337"/>
                </a:solidFill>
                <a:latin typeface="Calibri"/>
                <a:ea typeface="Calibri"/>
                <a:cs typeface="Calibri"/>
                <a:sym typeface="Calibri"/>
              </a:rPr>
              <a:t>m̂ = 0.52</a:t>
            </a:r>
            <a:endParaRPr/>
          </a:p>
        </p:txBody>
      </p:sp>
      <p:sp>
        <p:nvSpPr>
          <p:cNvPr id="571" name="Google Shape;571;p48"/>
          <p:cNvSpPr/>
          <p:nvPr/>
        </p:nvSpPr>
        <p:spPr>
          <a:xfrm>
            <a:off x="7365968" y="3124200"/>
            <a:ext cx="3429000" cy="3302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2000"/>
              <a:buFont typeface="Calibri"/>
              <a:buNone/>
            </a:pPr>
            <a:r>
              <a:rPr b="1" lang="en-US" sz="2000">
                <a:solidFill>
                  <a:srgbClr val="A02337"/>
                </a:solidFill>
                <a:latin typeface="Calibri"/>
                <a:ea typeface="Calibri"/>
                <a:cs typeface="Calibri"/>
                <a:sym typeface="Calibri"/>
              </a:rPr>
              <a:t>α = 1.6</a:t>
            </a:r>
            <a:endParaRPr/>
          </a:p>
        </p:txBody>
      </p:sp>
      <p:pic>
        <p:nvPicPr>
          <p:cNvPr id="572" name="Google Shape;572;p48"/>
          <p:cNvPicPr preferRelativeResize="0"/>
          <p:nvPr/>
        </p:nvPicPr>
        <p:blipFill rotWithShape="1">
          <a:blip r:embed="rId4">
            <a:alphaModFix/>
          </a:blip>
          <a:srcRect b="0" l="0" r="0" t="0"/>
          <a:stretch/>
        </p:blipFill>
        <p:spPr>
          <a:xfrm>
            <a:off x="546100" y="4686300"/>
            <a:ext cx="7439890" cy="457200"/>
          </a:xfrm>
          <a:prstGeom prst="rect">
            <a:avLst/>
          </a:prstGeom>
          <a:noFill/>
          <a:ln>
            <a:noFill/>
          </a:ln>
        </p:spPr>
      </p:pic>
      <p:cxnSp>
        <p:nvCxnSpPr>
          <p:cNvPr id="573" name="Google Shape;573;p48"/>
          <p:cNvCxnSpPr/>
          <p:nvPr/>
        </p:nvCxnSpPr>
        <p:spPr>
          <a:xfrm>
            <a:off x="533400" y="5651500"/>
            <a:ext cx="0" cy="444500"/>
          </a:xfrm>
          <a:prstGeom prst="straightConnector1">
            <a:avLst/>
          </a:prstGeom>
          <a:noFill/>
          <a:ln cap="flat" cmpd="sng" w="38100">
            <a:solidFill>
              <a:srgbClr val="A02337"/>
            </a:solidFill>
            <a:prstDash val="solid"/>
            <a:round/>
            <a:headEnd len="sm" w="sm" type="none"/>
            <a:tailEnd len="sm" w="sm" type="none"/>
          </a:ln>
          <a:effectLst>
            <a:outerShdw blurRad="40000" rotWithShape="0" dir="5400000" dist="20000">
              <a:srgbClr val="000000">
                <a:alpha val="38039"/>
              </a:srgbClr>
            </a:outerShdw>
          </a:effectLst>
        </p:spPr>
      </p:cxnSp>
      <p:sp>
        <p:nvSpPr>
          <p:cNvPr id="574" name="Google Shape;574;p48"/>
          <p:cNvSpPr/>
          <p:nvPr/>
        </p:nvSpPr>
        <p:spPr>
          <a:xfrm>
            <a:off x="685800" y="5689568"/>
            <a:ext cx="10871168" cy="419100"/>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rgbClr val="A02337"/>
              </a:buClr>
              <a:buSzPts val="1700"/>
              <a:buFont typeface="Calibri"/>
              <a:buNone/>
            </a:pPr>
            <a:r>
              <a:rPr b="1" lang="en-US" sz="1700">
                <a:solidFill>
                  <a:srgbClr val="A02337"/>
                </a:solidFill>
                <a:latin typeface="Calibri"/>
                <a:ea typeface="Calibri"/>
                <a:cs typeface="Calibri"/>
                <a:sym typeface="Calibri"/>
              </a:rPr>
              <a:t>Use the same relaxed margin in both updates; α = 1 is standard ADMM.</a:t>
            </a:r>
            <a:endParaRPr/>
          </a:p>
        </p:txBody>
      </p:sp>
      <p:cxnSp>
        <p:nvCxnSpPr>
          <p:cNvPr id="575" name="Google Shape;575;p48"/>
          <p:cNvCxnSpPr/>
          <p:nvPr/>
        </p:nvCxnSpPr>
        <p:spPr>
          <a:xfrm>
            <a:off x="533400" y="6337300"/>
            <a:ext cx="11125200" cy="0"/>
          </a:xfrm>
          <a:prstGeom prst="straightConnector1">
            <a:avLst/>
          </a:prstGeom>
          <a:noFill/>
          <a:ln cap="flat" cmpd="sng" w="10150">
            <a:solidFill>
              <a:srgbClr val="D7E1E7"/>
            </a:solidFill>
            <a:prstDash val="solid"/>
            <a:round/>
            <a:headEnd len="sm" w="sm" type="none"/>
            <a:tailEnd len="sm" w="sm" type="none"/>
          </a:ln>
          <a:effectLst>
            <a:outerShdw blurRad="40000" rotWithShape="0" dir="5400000" dist="20000">
              <a:srgbClr val="000000">
                <a:alpha val="38039"/>
              </a:srgbClr>
            </a:outerShdw>
          </a:effectLst>
        </p:spPr>
      </p:cxnSp>
      <p:sp>
        <p:nvSpPr>
          <p:cNvPr id="576" name="Google Shape;576;p48"/>
          <p:cNvSpPr/>
          <p:nvPr/>
        </p:nvSpPr>
        <p:spPr>
          <a:xfrm>
            <a:off x="533400" y="6464332"/>
            <a:ext cx="10350532" cy="2031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900"/>
              <a:buFont typeface="Calibri"/>
              <a:buNone/>
            </a:pPr>
            <a:r>
              <a:rPr b="0" lang="en-US" sz="900">
                <a:solidFill>
                  <a:schemeClr val="dk1"/>
                </a:solidFill>
                <a:latin typeface="Calibri"/>
                <a:ea typeface="Calibri"/>
                <a:cs typeface="Calibri"/>
                <a:sym typeface="Calibri"/>
              </a:rPr>
              <a:t>src/svm_admm.py: relaxed / z / q updates · Boyd et al. (2011), §3.4.3</a:t>
            </a:r>
            <a:endParaRPr/>
          </a:p>
        </p:txBody>
      </p:sp>
      <p:sp>
        <p:nvSpPr>
          <p:cNvPr id="577" name="Google Shape;577;p48"/>
          <p:cNvSpPr/>
          <p:nvPr/>
        </p:nvSpPr>
        <p:spPr>
          <a:xfrm>
            <a:off x="11112532" y="6438900"/>
            <a:ext cx="546068" cy="254032"/>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Clr>
                <a:schemeClr val="dk1"/>
              </a:buClr>
              <a:buSzPts val="1000"/>
              <a:buFont typeface="Calibri"/>
              <a:buNone/>
            </a:pPr>
            <a:r>
              <a:rPr b="0" lang="en-US" sz="1000">
                <a:solidFill>
                  <a:schemeClr val="dk1"/>
                </a:solidFill>
                <a:latin typeface="Calibri"/>
                <a:ea typeface="Calibri"/>
                <a:cs typeface="Calibri"/>
                <a:sym typeface="Calibri"/>
              </a:rPr>
              <a:t>III · 07</a:t>
            </a:r>
            <a:endParaRPr/>
          </a:p>
        </p:txBody>
      </p:sp>
      <p:sp>
        <p:nvSpPr>
          <p:cNvPr id="578" name="Google Shape;578;p48"/>
          <p:cNvSpPr txBox="1"/>
          <p:nvPr>
            <p:ph type="title"/>
          </p:nvPr>
        </p:nvSpPr>
        <p:spPr>
          <a:xfrm>
            <a:off x="334963" y="0"/>
            <a:ext cx="10637837" cy="8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Calibri"/>
              <a:buNone/>
            </a:pPr>
            <a:r>
              <a:rPr b="0" i="0" lang="en-US" sz="3200" u="none" cap="none" strike="noStrike">
                <a:solidFill>
                  <a:srgbClr val="FFFFFF"/>
                </a:solidFill>
                <a:latin typeface="Calibri"/>
                <a:ea typeface="Calibri"/>
                <a:cs typeface="Calibri"/>
                <a:sym typeface="Calibri"/>
              </a:rPr>
              <a:t>Over-relaxation extrapolates the model margin</a:t>
            </a:r>
            <a:endParaRPr b="0" i="0" sz="3200" u="none" cap="none" strike="noStrike">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3" name="Shape 583"/>
        <p:cNvGrpSpPr/>
        <p:nvPr/>
      </p:nvGrpSpPr>
      <p:grpSpPr>
        <a:xfrm>
          <a:off x="0" y="0"/>
          <a:ext cx="0" cy="0"/>
          <a:chOff x="0" y="0"/>
          <a:chExt cx="0" cy="0"/>
        </a:xfrm>
      </p:grpSpPr>
      <p:sp>
        <p:nvSpPr>
          <p:cNvPr id="584" name="Google Shape;584;p49"/>
          <p:cNvSpPr/>
          <p:nvPr/>
        </p:nvSpPr>
        <p:spPr>
          <a:xfrm>
            <a:off x="533400" y="1014413"/>
            <a:ext cx="10413968" cy="1905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1000"/>
              <a:buFont typeface="Calibri"/>
              <a:buNone/>
            </a:pPr>
            <a:r>
              <a:rPr b="1" lang="en-US" sz="1000">
                <a:solidFill>
                  <a:srgbClr val="A02337"/>
                </a:solidFill>
                <a:latin typeface="Calibri"/>
                <a:ea typeface="Calibri"/>
                <a:cs typeface="Calibri"/>
                <a:sym typeface="Calibri"/>
              </a:rPr>
              <a:t>PART III  /  IMPLEMENTATION</a:t>
            </a:r>
            <a:endParaRPr/>
          </a:p>
        </p:txBody>
      </p:sp>
      <p:sp>
        <p:nvSpPr>
          <p:cNvPr id="585" name="Google Shape;585;p49"/>
          <p:cNvSpPr/>
          <p:nvPr/>
        </p:nvSpPr>
        <p:spPr>
          <a:xfrm>
            <a:off x="546068" y="1701832"/>
            <a:ext cx="5054632" cy="368332"/>
          </a:xfrm>
          <a:prstGeom prst="rect">
            <a:avLst/>
          </a:prstGeom>
          <a:noFill/>
          <a:ln>
            <a:noFill/>
          </a:ln>
        </p:spPr>
        <p:txBody>
          <a:bodyPr anchorCtr="0" anchor="t" bIns="0" lIns="0" spcFirstLastPara="1" rIns="0" wrap="square" tIns="0">
            <a:noAutofit/>
          </a:bodyPr>
          <a:lstStyle/>
          <a:p>
            <a:pPr indent="0" lvl="0" marL="0" marR="0" rtl="0" algn="l">
              <a:lnSpc>
                <a:spcPct val="117954"/>
              </a:lnSpc>
              <a:spcBef>
                <a:spcPts val="0"/>
              </a:spcBef>
              <a:spcAft>
                <a:spcPts val="0"/>
              </a:spcAft>
              <a:buClr>
                <a:srgbClr val="A02337"/>
              </a:buClr>
              <a:buSzPts val="2200"/>
              <a:buFont typeface="Calibri"/>
              <a:buNone/>
            </a:pPr>
            <a:r>
              <a:rPr b="1" lang="en-US" sz="2200">
                <a:solidFill>
                  <a:srgbClr val="A02337"/>
                </a:solidFill>
                <a:latin typeface="Calibri"/>
                <a:ea typeface="Calibri"/>
                <a:cs typeface="Calibri"/>
                <a:sym typeface="Calibri"/>
              </a:rPr>
              <a:t>Exploit small feature dimension</a:t>
            </a:r>
            <a:endParaRPr/>
          </a:p>
        </p:txBody>
      </p:sp>
      <p:sp>
        <p:nvSpPr>
          <p:cNvPr id="586" name="Google Shape;586;p49"/>
          <p:cNvSpPr/>
          <p:nvPr/>
        </p:nvSpPr>
        <p:spPr>
          <a:xfrm>
            <a:off x="546068" y="2298668"/>
            <a:ext cx="5054632" cy="16764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2000"/>
              <a:buFont typeface="Calibri"/>
              <a:buNone/>
            </a:pPr>
            <a:r>
              <a:rPr b="0" lang="en-US" sz="2000">
                <a:solidFill>
                  <a:schemeClr val="dk1"/>
                </a:solidFill>
                <a:latin typeface="Calibri"/>
                <a:ea typeface="Calibri"/>
                <a:cs typeface="Calibri"/>
                <a:sym typeface="Calibri"/>
              </a:rPr>
              <a:t>Cache AᵀA once</a:t>
            </a:r>
            <a:endParaRPr/>
          </a:p>
          <a:p>
            <a:pPr indent="0" lvl="0" marL="0" marR="0" rtl="0" algn="l">
              <a:lnSpc>
                <a:spcPct val="117999"/>
              </a:lnSpc>
              <a:spcBef>
                <a:spcPts val="0"/>
              </a:spcBef>
              <a:spcAft>
                <a:spcPts val="0"/>
              </a:spcAft>
              <a:buClr>
                <a:schemeClr val="dk1"/>
              </a:buClr>
              <a:buSzPts val="2000"/>
              <a:buFont typeface="Calibri"/>
              <a:buNone/>
            </a:pPr>
            <a:r>
              <a:rPr b="0" lang="en-US" sz="2000">
                <a:solidFill>
                  <a:schemeClr val="dk1"/>
                </a:solidFill>
                <a:latin typeface="Calibri"/>
                <a:ea typeface="Calibri"/>
                <a:cs typeface="Calibri"/>
                <a:sym typeface="Calibri"/>
              </a:rPr>
              <a:t>Cholesky solve; no matrix inverse</a:t>
            </a:r>
            <a:endParaRPr/>
          </a:p>
          <a:p>
            <a:pPr indent="0" lvl="0" marL="0" marR="0" rtl="0" algn="l">
              <a:lnSpc>
                <a:spcPct val="117999"/>
              </a:lnSpc>
              <a:spcBef>
                <a:spcPts val="0"/>
              </a:spcBef>
              <a:spcAft>
                <a:spcPts val="0"/>
              </a:spcAft>
              <a:buClr>
                <a:schemeClr val="dk1"/>
              </a:buClr>
              <a:buSzPts val="2000"/>
              <a:buFont typeface="Calibri"/>
              <a:buNone/>
            </a:pPr>
            <a:r>
              <a:rPr b="0" lang="en-US" sz="2000">
                <a:solidFill>
                  <a:schemeClr val="dk1"/>
                </a:solidFill>
                <a:latin typeface="Calibri"/>
                <a:ea typeface="Calibri"/>
                <a:cs typeface="Calibri"/>
                <a:sym typeface="Calibri"/>
              </a:rPr>
              <a:t>Reuse until ρ changes</a:t>
            </a:r>
            <a:endParaRPr/>
          </a:p>
        </p:txBody>
      </p:sp>
      <p:sp>
        <p:nvSpPr>
          <p:cNvPr id="587" name="Google Shape;587;p49"/>
          <p:cNvSpPr/>
          <p:nvPr/>
        </p:nvSpPr>
        <p:spPr>
          <a:xfrm>
            <a:off x="546068" y="4038600"/>
            <a:ext cx="5054632" cy="1143000"/>
          </a:xfrm>
          <a:prstGeom prst="rect">
            <a:avLst/>
          </a:prstGeom>
          <a:noFill/>
          <a:ln>
            <a:noFill/>
          </a:ln>
        </p:spPr>
        <p:txBody>
          <a:bodyPr anchorCtr="0" anchor="t" bIns="0" lIns="0" spcFirstLastPara="1" rIns="0" wrap="square" tIns="0">
            <a:noAutofit/>
          </a:bodyPr>
          <a:lstStyle/>
          <a:p>
            <a:pPr indent="0" lvl="0" marL="0" marR="0" rtl="0" algn="l">
              <a:lnSpc>
                <a:spcPct val="117952"/>
              </a:lnSpc>
              <a:spcBef>
                <a:spcPts val="0"/>
              </a:spcBef>
              <a:spcAft>
                <a:spcPts val="0"/>
              </a:spcAft>
              <a:buClr>
                <a:schemeClr val="dk1"/>
              </a:buClr>
              <a:buSzPts val="2100"/>
              <a:buFont typeface="Calibri"/>
              <a:buNone/>
            </a:pPr>
            <a:r>
              <a:rPr b="0" lang="en-US" sz="2100">
                <a:solidFill>
                  <a:schemeClr val="dk1"/>
                </a:solidFill>
                <a:latin typeface="Calibri"/>
                <a:ea typeface="Calibri"/>
                <a:cs typeface="Calibri"/>
                <a:sym typeface="Calibri"/>
              </a:rPr>
              <a:t>Setup: O(nd²)</a:t>
            </a:r>
            <a:endParaRPr/>
          </a:p>
          <a:p>
            <a:pPr indent="0" lvl="0" marL="0" marR="0" rtl="0" algn="l">
              <a:lnSpc>
                <a:spcPct val="117952"/>
              </a:lnSpc>
              <a:spcBef>
                <a:spcPts val="0"/>
              </a:spcBef>
              <a:spcAft>
                <a:spcPts val="0"/>
              </a:spcAft>
              <a:buClr>
                <a:schemeClr val="dk1"/>
              </a:buClr>
              <a:buSzPts val="2100"/>
              <a:buFont typeface="Calibri"/>
              <a:buNone/>
            </a:pPr>
            <a:r>
              <a:rPr b="0" lang="en-US" sz="2100">
                <a:solidFill>
                  <a:schemeClr val="dk1"/>
                </a:solidFill>
                <a:latin typeface="Calibri"/>
                <a:ea typeface="Calibri"/>
                <a:cs typeface="Calibri"/>
                <a:sym typeface="Calibri"/>
              </a:rPr>
              <a:t>Iteration: O(nd + d²)</a:t>
            </a:r>
            <a:endParaRPr/>
          </a:p>
        </p:txBody>
      </p:sp>
      <p:cxnSp>
        <p:nvCxnSpPr>
          <p:cNvPr id="588" name="Google Shape;588;p49"/>
          <p:cNvCxnSpPr/>
          <p:nvPr/>
        </p:nvCxnSpPr>
        <p:spPr>
          <a:xfrm>
            <a:off x="5994400" y="1714500"/>
            <a:ext cx="0" cy="3708400"/>
          </a:xfrm>
          <a:prstGeom prst="straightConnector1">
            <a:avLst/>
          </a:prstGeom>
          <a:noFill/>
          <a:ln cap="flat" cmpd="sng" w="12700">
            <a:solidFill>
              <a:srgbClr val="D7E1E7"/>
            </a:solidFill>
            <a:prstDash val="solid"/>
            <a:round/>
            <a:headEnd len="sm" w="sm" type="none"/>
            <a:tailEnd len="sm" w="sm" type="none"/>
          </a:ln>
          <a:effectLst>
            <a:outerShdw blurRad="40000" rotWithShape="0" dir="5400000" dist="20000">
              <a:srgbClr val="000000">
                <a:alpha val="38039"/>
              </a:srgbClr>
            </a:outerShdw>
          </a:effectLst>
        </p:spPr>
      </p:cxnSp>
      <p:sp>
        <p:nvSpPr>
          <p:cNvPr id="589" name="Google Shape;589;p49"/>
          <p:cNvSpPr/>
          <p:nvPr/>
        </p:nvSpPr>
        <p:spPr>
          <a:xfrm>
            <a:off x="6388132" y="1701832"/>
            <a:ext cx="5207032" cy="368332"/>
          </a:xfrm>
          <a:prstGeom prst="rect">
            <a:avLst/>
          </a:prstGeom>
          <a:noFill/>
          <a:ln>
            <a:noFill/>
          </a:ln>
        </p:spPr>
        <p:txBody>
          <a:bodyPr anchorCtr="0" anchor="t" bIns="0" lIns="0" spcFirstLastPara="1" rIns="0" wrap="square" tIns="0">
            <a:noAutofit/>
          </a:bodyPr>
          <a:lstStyle/>
          <a:p>
            <a:pPr indent="0" lvl="0" marL="0" marR="0" rtl="0" algn="l">
              <a:lnSpc>
                <a:spcPct val="117954"/>
              </a:lnSpc>
              <a:spcBef>
                <a:spcPts val="0"/>
              </a:spcBef>
              <a:spcAft>
                <a:spcPts val="0"/>
              </a:spcAft>
              <a:buClr>
                <a:srgbClr val="A02337"/>
              </a:buClr>
              <a:buSzPts val="2200"/>
              <a:buFont typeface="Calibri"/>
              <a:buNone/>
            </a:pPr>
            <a:r>
              <a:rPr b="1" lang="en-US" sz="2200">
                <a:solidFill>
                  <a:srgbClr val="A02337"/>
                </a:solidFill>
                <a:latin typeface="Calibri"/>
                <a:ea typeface="Calibri"/>
                <a:cs typeface="Calibri"/>
                <a:sym typeface="Calibri"/>
              </a:rPr>
              <a:t>Require all three conditions</a:t>
            </a:r>
            <a:endParaRPr/>
          </a:p>
        </p:txBody>
      </p:sp>
      <p:sp>
        <p:nvSpPr>
          <p:cNvPr id="590" name="Google Shape;590;p49"/>
          <p:cNvSpPr/>
          <p:nvPr/>
        </p:nvSpPr>
        <p:spPr>
          <a:xfrm>
            <a:off x="6388132" y="2298668"/>
            <a:ext cx="5207032" cy="16509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chemeClr val="dk1"/>
              </a:buClr>
              <a:buSzPts val="1900"/>
              <a:buFont typeface="Calibri"/>
              <a:buNone/>
            </a:pPr>
            <a:r>
              <a:rPr b="0" lang="en-US" sz="1900">
                <a:solidFill>
                  <a:schemeClr val="dk1"/>
                </a:solidFill>
                <a:latin typeface="Calibri"/>
                <a:ea typeface="Calibri"/>
                <a:cs typeface="Calibri"/>
                <a:sym typeface="Calibri"/>
              </a:rPr>
              <a:t>1   Small primal residual</a:t>
            </a:r>
            <a:endParaRPr/>
          </a:p>
          <a:p>
            <a:pPr indent="0" lvl="0" marL="0" marR="0" rtl="0" algn="l">
              <a:lnSpc>
                <a:spcPct val="117999"/>
              </a:lnSpc>
              <a:spcBef>
                <a:spcPts val="0"/>
              </a:spcBef>
              <a:spcAft>
                <a:spcPts val="0"/>
              </a:spcAft>
              <a:buClr>
                <a:schemeClr val="dk1"/>
              </a:buClr>
              <a:buSzPts val="1900"/>
              <a:buFont typeface="Calibri"/>
              <a:buNone/>
            </a:pPr>
            <a:r>
              <a:rPr b="0" lang="en-US" sz="1900">
                <a:solidFill>
                  <a:schemeClr val="dk1"/>
                </a:solidFill>
                <a:latin typeface="Calibri"/>
                <a:ea typeface="Calibri"/>
                <a:cs typeface="Calibri"/>
                <a:sym typeface="Calibri"/>
              </a:rPr>
              <a:t>2   Small dual residual</a:t>
            </a:r>
            <a:endParaRPr/>
          </a:p>
          <a:p>
            <a:pPr indent="0" lvl="0" marL="0" marR="0" rtl="0" algn="l">
              <a:lnSpc>
                <a:spcPct val="117999"/>
              </a:lnSpc>
              <a:spcBef>
                <a:spcPts val="0"/>
              </a:spcBef>
              <a:spcAft>
                <a:spcPts val="0"/>
              </a:spcAft>
              <a:buClr>
                <a:schemeClr val="dk1"/>
              </a:buClr>
              <a:buSzPts val="1900"/>
              <a:buFont typeface="Calibri"/>
              <a:buNone/>
            </a:pPr>
            <a:r>
              <a:rPr b="0" lang="en-US" sz="1900">
                <a:solidFill>
                  <a:schemeClr val="dk1"/>
                </a:solidFill>
                <a:latin typeface="Calibri"/>
                <a:ea typeface="Calibri"/>
                <a:cs typeface="Calibri"/>
                <a:sym typeface="Calibri"/>
              </a:rPr>
              <a:t>3   Small certified primal–dual gap</a:t>
            </a:r>
            <a:endParaRPr/>
          </a:p>
        </p:txBody>
      </p:sp>
      <p:pic>
        <p:nvPicPr>
          <p:cNvPr id="591" name="Google Shape;591;p49"/>
          <p:cNvPicPr preferRelativeResize="0"/>
          <p:nvPr/>
        </p:nvPicPr>
        <p:blipFill rotWithShape="1">
          <a:blip r:embed="rId3">
            <a:alphaModFix/>
          </a:blip>
          <a:srcRect b="0" l="0" r="0" t="0"/>
          <a:stretch/>
        </p:blipFill>
        <p:spPr>
          <a:xfrm>
            <a:off x="6388100" y="4025900"/>
            <a:ext cx="2639290" cy="623454"/>
          </a:xfrm>
          <a:prstGeom prst="rect">
            <a:avLst/>
          </a:prstGeom>
          <a:noFill/>
          <a:ln>
            <a:noFill/>
          </a:ln>
        </p:spPr>
      </p:pic>
      <p:sp>
        <p:nvSpPr>
          <p:cNvPr id="592" name="Google Shape;592;p49"/>
          <p:cNvSpPr/>
          <p:nvPr/>
        </p:nvSpPr>
        <p:spPr>
          <a:xfrm>
            <a:off x="6388132" y="4851368"/>
            <a:ext cx="5207032" cy="469868"/>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chemeClr val="dk1"/>
              </a:buClr>
              <a:buSzPts val="1700"/>
              <a:buFont typeface="Calibri"/>
              <a:buNone/>
            </a:pPr>
            <a:r>
              <a:rPr b="0" lang="en-US" sz="1700">
                <a:solidFill>
                  <a:schemeClr val="dk1"/>
                </a:solidFill>
                <a:latin typeface="Calibri"/>
                <a:ea typeface="Calibri"/>
                <a:cs typeface="Calibri"/>
                <a:sym typeface="Calibri"/>
              </a:rPr>
              <a:t>D is a feasible SVM dual lower bound.</a:t>
            </a:r>
            <a:endParaRPr/>
          </a:p>
        </p:txBody>
      </p:sp>
      <p:cxnSp>
        <p:nvCxnSpPr>
          <p:cNvPr id="593" name="Google Shape;593;p49"/>
          <p:cNvCxnSpPr/>
          <p:nvPr/>
        </p:nvCxnSpPr>
        <p:spPr>
          <a:xfrm>
            <a:off x="533400" y="5651500"/>
            <a:ext cx="0" cy="444500"/>
          </a:xfrm>
          <a:prstGeom prst="straightConnector1">
            <a:avLst/>
          </a:prstGeom>
          <a:noFill/>
          <a:ln cap="flat" cmpd="sng" w="38100">
            <a:solidFill>
              <a:srgbClr val="A02337"/>
            </a:solidFill>
            <a:prstDash val="solid"/>
            <a:round/>
            <a:headEnd len="sm" w="sm" type="none"/>
            <a:tailEnd len="sm" w="sm" type="none"/>
          </a:ln>
          <a:effectLst>
            <a:outerShdw blurRad="40000" rotWithShape="0" dir="5400000" dist="20000">
              <a:srgbClr val="000000">
                <a:alpha val="38039"/>
              </a:srgbClr>
            </a:outerShdw>
          </a:effectLst>
        </p:spPr>
      </p:cxnSp>
      <p:sp>
        <p:nvSpPr>
          <p:cNvPr id="594" name="Google Shape;594;p49"/>
          <p:cNvSpPr/>
          <p:nvPr/>
        </p:nvSpPr>
        <p:spPr>
          <a:xfrm>
            <a:off x="685800" y="5689568"/>
            <a:ext cx="10871168" cy="419100"/>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rgbClr val="A02337"/>
              </a:buClr>
              <a:buSzPts val="1700"/>
              <a:buFont typeface="Calibri"/>
              <a:buNone/>
            </a:pPr>
            <a:r>
              <a:rPr b="1" lang="en-US" sz="1700">
                <a:solidFill>
                  <a:srgbClr val="A02337"/>
                </a:solidFill>
                <a:latin typeface="Calibri"/>
                <a:ea typeface="Calibri"/>
                <a:cs typeface="Calibri"/>
                <a:sym typeface="Calibri"/>
              </a:rPr>
              <a:t>Budget exit returns the best recorded model and keeps converged = false.</a:t>
            </a:r>
            <a:endParaRPr/>
          </a:p>
        </p:txBody>
      </p:sp>
      <p:cxnSp>
        <p:nvCxnSpPr>
          <p:cNvPr id="595" name="Google Shape;595;p49"/>
          <p:cNvCxnSpPr/>
          <p:nvPr/>
        </p:nvCxnSpPr>
        <p:spPr>
          <a:xfrm>
            <a:off x="533400" y="6337300"/>
            <a:ext cx="11125200" cy="0"/>
          </a:xfrm>
          <a:prstGeom prst="straightConnector1">
            <a:avLst/>
          </a:prstGeom>
          <a:noFill/>
          <a:ln cap="flat" cmpd="sng" w="10150">
            <a:solidFill>
              <a:srgbClr val="D7E1E7"/>
            </a:solidFill>
            <a:prstDash val="solid"/>
            <a:round/>
            <a:headEnd len="sm" w="sm" type="none"/>
            <a:tailEnd len="sm" w="sm" type="none"/>
          </a:ln>
          <a:effectLst>
            <a:outerShdw blurRad="40000" rotWithShape="0" dir="5400000" dist="20000">
              <a:srgbClr val="000000">
                <a:alpha val="38039"/>
              </a:srgbClr>
            </a:outerShdw>
          </a:effectLst>
        </p:spPr>
      </p:cxnSp>
      <p:sp>
        <p:nvSpPr>
          <p:cNvPr id="596" name="Google Shape;596;p49"/>
          <p:cNvSpPr/>
          <p:nvPr/>
        </p:nvSpPr>
        <p:spPr>
          <a:xfrm>
            <a:off x="533400" y="6464332"/>
            <a:ext cx="10350532" cy="2031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526574"/>
              </a:buClr>
              <a:buSzPts val="900"/>
              <a:buFont typeface="Calibri"/>
              <a:buNone/>
            </a:pPr>
            <a:r>
              <a:rPr b="0" lang="en-US" sz="900">
                <a:solidFill>
                  <a:srgbClr val="526574"/>
                </a:solidFill>
                <a:latin typeface="Calibri"/>
                <a:ea typeface="Calibri"/>
                <a:cs typeface="Calibri"/>
                <a:sym typeface="Calibri"/>
              </a:rPr>
              <a:t>src/svm_admm.py · diagnostics and complexity: WP3_ADMM.md</a:t>
            </a:r>
            <a:endParaRPr/>
          </a:p>
        </p:txBody>
      </p:sp>
      <p:sp>
        <p:nvSpPr>
          <p:cNvPr id="597" name="Google Shape;597;p49"/>
          <p:cNvSpPr/>
          <p:nvPr/>
        </p:nvSpPr>
        <p:spPr>
          <a:xfrm>
            <a:off x="11112532" y="6438900"/>
            <a:ext cx="546068" cy="254032"/>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Clr>
                <a:schemeClr val="dk1"/>
              </a:buClr>
              <a:buSzPts val="1000"/>
              <a:buFont typeface="Calibri"/>
              <a:buNone/>
            </a:pPr>
            <a:r>
              <a:rPr b="0" lang="en-US" sz="1000">
                <a:solidFill>
                  <a:schemeClr val="dk1"/>
                </a:solidFill>
                <a:latin typeface="Calibri"/>
                <a:ea typeface="Calibri"/>
                <a:cs typeface="Calibri"/>
                <a:sym typeface="Calibri"/>
              </a:rPr>
              <a:t>III · 08</a:t>
            </a:r>
            <a:endParaRPr/>
          </a:p>
        </p:txBody>
      </p:sp>
      <p:sp>
        <p:nvSpPr>
          <p:cNvPr id="598" name="Google Shape;598;p49"/>
          <p:cNvSpPr txBox="1"/>
          <p:nvPr>
            <p:ph type="title"/>
          </p:nvPr>
        </p:nvSpPr>
        <p:spPr>
          <a:xfrm>
            <a:off x="334963" y="0"/>
            <a:ext cx="10637837" cy="8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Calibri"/>
              <a:buNone/>
            </a:pPr>
            <a:r>
              <a:rPr b="0" i="0" lang="en-US" sz="3200" u="none" cap="none" strike="noStrike">
                <a:solidFill>
                  <a:srgbClr val="FFFFFF"/>
                </a:solidFill>
                <a:latin typeface="Calibri"/>
                <a:ea typeface="Calibri"/>
                <a:cs typeface="Calibri"/>
                <a:sym typeface="Calibri"/>
              </a:rPr>
              <a:t>Efficient solves, with explicit convergence checks</a:t>
            </a:r>
            <a:endParaRPr b="0" i="0" sz="3200" u="none" cap="none" strike="noStrike">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3" name="Shape 603"/>
        <p:cNvGrpSpPr/>
        <p:nvPr/>
      </p:nvGrpSpPr>
      <p:grpSpPr>
        <a:xfrm>
          <a:off x="0" y="0"/>
          <a:ext cx="0" cy="0"/>
          <a:chOff x="0" y="0"/>
          <a:chExt cx="0" cy="0"/>
        </a:xfrm>
      </p:grpSpPr>
      <p:sp>
        <p:nvSpPr>
          <p:cNvPr id="604" name="Google Shape;604;p50"/>
          <p:cNvSpPr/>
          <p:nvPr/>
        </p:nvSpPr>
        <p:spPr>
          <a:xfrm>
            <a:off x="533400" y="1014413"/>
            <a:ext cx="10413968" cy="1905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1000"/>
              <a:buFont typeface="Calibri"/>
              <a:buNone/>
            </a:pPr>
            <a:r>
              <a:rPr b="1" lang="en-US" sz="1000">
                <a:solidFill>
                  <a:srgbClr val="A02337"/>
                </a:solidFill>
                <a:latin typeface="Calibri"/>
                <a:ea typeface="Calibri"/>
                <a:cs typeface="Calibri"/>
                <a:sym typeface="Calibri"/>
              </a:rPr>
              <a:t>PART III  /  METHOD SUMMARY</a:t>
            </a:r>
            <a:endParaRPr/>
          </a:p>
        </p:txBody>
      </p:sp>
      <p:sp>
        <p:nvSpPr>
          <p:cNvPr id="605" name="Google Shape;605;p50"/>
          <p:cNvSpPr/>
          <p:nvPr/>
        </p:nvSpPr>
        <p:spPr>
          <a:xfrm>
            <a:off x="546068" y="1765268"/>
            <a:ext cx="584168" cy="4445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2500"/>
              <a:buFont typeface="Calibri"/>
              <a:buNone/>
            </a:pPr>
            <a:r>
              <a:rPr b="1" lang="en-US" sz="2500">
                <a:solidFill>
                  <a:srgbClr val="A02337"/>
                </a:solidFill>
                <a:latin typeface="Calibri"/>
                <a:ea typeface="Calibri"/>
                <a:cs typeface="Calibri"/>
                <a:sym typeface="Calibri"/>
              </a:rPr>
              <a:t>01</a:t>
            </a:r>
            <a:endParaRPr/>
          </a:p>
        </p:txBody>
      </p:sp>
      <p:sp>
        <p:nvSpPr>
          <p:cNvPr id="606" name="Google Shape;606;p50"/>
          <p:cNvSpPr/>
          <p:nvPr/>
        </p:nvSpPr>
        <p:spPr>
          <a:xfrm>
            <a:off x="1320832" y="1765268"/>
            <a:ext cx="10160032" cy="381000"/>
          </a:xfrm>
          <a:prstGeom prst="rect">
            <a:avLst/>
          </a:prstGeom>
          <a:noFill/>
          <a:ln>
            <a:noFill/>
          </a:ln>
        </p:spPr>
        <p:txBody>
          <a:bodyPr anchorCtr="0" anchor="t" bIns="0" lIns="0" spcFirstLastPara="1" rIns="0" wrap="square" tIns="0">
            <a:noAutofit/>
          </a:bodyPr>
          <a:lstStyle/>
          <a:p>
            <a:pPr indent="0" lvl="0" marL="0" marR="0" rtl="0" algn="l">
              <a:lnSpc>
                <a:spcPct val="117954"/>
              </a:lnSpc>
              <a:spcBef>
                <a:spcPts val="0"/>
              </a:spcBef>
              <a:spcAft>
                <a:spcPts val="0"/>
              </a:spcAft>
              <a:buClr>
                <a:srgbClr val="182B3A"/>
              </a:buClr>
              <a:buSzPts val="2200"/>
              <a:buFont typeface="Calibri"/>
              <a:buNone/>
            </a:pPr>
            <a:r>
              <a:rPr b="1" lang="en-US" sz="2200">
                <a:solidFill>
                  <a:srgbClr val="182B3A"/>
                </a:solidFill>
                <a:latin typeface="Calibri"/>
                <a:ea typeface="Calibri"/>
                <a:cs typeface="Calibri"/>
                <a:sym typeface="Calibri"/>
              </a:rPr>
              <a:t>ADMM uses variable splitting</a:t>
            </a:r>
            <a:endParaRPr/>
          </a:p>
        </p:txBody>
      </p:sp>
      <p:sp>
        <p:nvSpPr>
          <p:cNvPr id="607" name="Google Shape;607;p50"/>
          <p:cNvSpPr/>
          <p:nvPr/>
        </p:nvSpPr>
        <p:spPr>
          <a:xfrm>
            <a:off x="1320832" y="2247900"/>
            <a:ext cx="10160032" cy="4445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526574"/>
              </a:buClr>
              <a:buSzPts val="1800"/>
              <a:buFont typeface="Calibri"/>
              <a:buNone/>
            </a:pPr>
            <a:r>
              <a:rPr b="0" lang="en-US" sz="1800">
                <a:solidFill>
                  <a:srgbClr val="526574"/>
                </a:solidFill>
                <a:latin typeface="Calibri"/>
                <a:ea typeface="Calibri"/>
                <a:cs typeface="Calibri"/>
                <a:sym typeface="Calibri"/>
              </a:rPr>
              <a:t>A linear model update and closed-form samplewise hinge updates.</a:t>
            </a:r>
            <a:endParaRPr/>
          </a:p>
        </p:txBody>
      </p:sp>
      <p:sp>
        <p:nvSpPr>
          <p:cNvPr id="608" name="Google Shape;608;p50"/>
          <p:cNvSpPr/>
          <p:nvPr/>
        </p:nvSpPr>
        <p:spPr>
          <a:xfrm>
            <a:off x="546068" y="2933700"/>
            <a:ext cx="584168" cy="4445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2500"/>
              <a:buFont typeface="Calibri"/>
              <a:buNone/>
            </a:pPr>
            <a:r>
              <a:rPr b="1" lang="en-US" sz="2500">
                <a:solidFill>
                  <a:srgbClr val="A02337"/>
                </a:solidFill>
                <a:latin typeface="Calibri"/>
                <a:ea typeface="Calibri"/>
                <a:cs typeface="Calibri"/>
                <a:sym typeface="Calibri"/>
              </a:rPr>
              <a:t>02</a:t>
            </a:r>
            <a:endParaRPr/>
          </a:p>
        </p:txBody>
      </p:sp>
      <p:sp>
        <p:nvSpPr>
          <p:cNvPr id="609" name="Google Shape;609;p50"/>
          <p:cNvSpPr/>
          <p:nvPr/>
        </p:nvSpPr>
        <p:spPr>
          <a:xfrm>
            <a:off x="1320832" y="2933700"/>
            <a:ext cx="10160032" cy="381000"/>
          </a:xfrm>
          <a:prstGeom prst="rect">
            <a:avLst/>
          </a:prstGeom>
          <a:noFill/>
          <a:ln>
            <a:noFill/>
          </a:ln>
        </p:spPr>
        <p:txBody>
          <a:bodyPr anchorCtr="0" anchor="t" bIns="0" lIns="0" spcFirstLastPara="1" rIns="0" wrap="square" tIns="0">
            <a:noAutofit/>
          </a:bodyPr>
          <a:lstStyle/>
          <a:p>
            <a:pPr indent="0" lvl="0" marL="0" marR="0" rtl="0" algn="l">
              <a:lnSpc>
                <a:spcPct val="117954"/>
              </a:lnSpc>
              <a:spcBef>
                <a:spcPts val="0"/>
              </a:spcBef>
              <a:spcAft>
                <a:spcPts val="0"/>
              </a:spcAft>
              <a:buClr>
                <a:srgbClr val="182B3A"/>
              </a:buClr>
              <a:buSzPts val="2200"/>
              <a:buFont typeface="Calibri"/>
              <a:buNone/>
            </a:pPr>
            <a:r>
              <a:rPr b="1" lang="en-US" sz="2200">
                <a:solidFill>
                  <a:srgbClr val="182B3A"/>
                </a:solidFill>
                <a:latin typeface="Calibri"/>
                <a:ea typeface="Calibri"/>
                <a:cs typeface="Calibri"/>
                <a:sym typeface="Calibri"/>
              </a:rPr>
              <a:t>PA-ADMM extends the ADMM loop</a:t>
            </a:r>
            <a:endParaRPr/>
          </a:p>
        </p:txBody>
      </p:sp>
      <p:sp>
        <p:nvSpPr>
          <p:cNvPr id="610" name="Google Shape;610;p50"/>
          <p:cNvSpPr/>
          <p:nvPr/>
        </p:nvSpPr>
        <p:spPr>
          <a:xfrm>
            <a:off x="1320832" y="3416332"/>
            <a:ext cx="10160032" cy="4445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526574"/>
              </a:buClr>
              <a:buSzPts val="1800"/>
              <a:buFont typeface="Calibri"/>
              <a:buNone/>
            </a:pPr>
            <a:r>
              <a:rPr b="0" lang="en-US" sz="1800">
                <a:solidFill>
                  <a:srgbClr val="526574"/>
                </a:solidFill>
                <a:latin typeface="Calibri"/>
                <a:ea typeface="Calibri"/>
                <a:cs typeface="Calibri"/>
                <a:sym typeface="Calibri"/>
              </a:rPr>
              <a:t>Weighted Pegasos initialization, adaptive ρ and over-relaxation α.</a:t>
            </a:r>
            <a:endParaRPr/>
          </a:p>
        </p:txBody>
      </p:sp>
      <p:sp>
        <p:nvSpPr>
          <p:cNvPr id="611" name="Google Shape;611;p50"/>
          <p:cNvSpPr/>
          <p:nvPr/>
        </p:nvSpPr>
        <p:spPr>
          <a:xfrm>
            <a:off x="546068" y="4102132"/>
            <a:ext cx="584168" cy="4445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A02337"/>
              </a:buClr>
              <a:buSzPts val="2500"/>
              <a:buFont typeface="Calibri"/>
              <a:buNone/>
            </a:pPr>
            <a:r>
              <a:rPr b="1" lang="en-US" sz="2500">
                <a:solidFill>
                  <a:srgbClr val="A02337"/>
                </a:solidFill>
                <a:latin typeface="Calibri"/>
                <a:ea typeface="Calibri"/>
                <a:cs typeface="Calibri"/>
                <a:sym typeface="Calibri"/>
              </a:rPr>
              <a:t>03</a:t>
            </a:r>
            <a:endParaRPr/>
          </a:p>
        </p:txBody>
      </p:sp>
      <p:sp>
        <p:nvSpPr>
          <p:cNvPr id="612" name="Google Shape;612;p50"/>
          <p:cNvSpPr/>
          <p:nvPr/>
        </p:nvSpPr>
        <p:spPr>
          <a:xfrm>
            <a:off x="1320832" y="4102132"/>
            <a:ext cx="10160032" cy="381000"/>
          </a:xfrm>
          <a:prstGeom prst="rect">
            <a:avLst/>
          </a:prstGeom>
          <a:noFill/>
          <a:ln>
            <a:noFill/>
          </a:ln>
        </p:spPr>
        <p:txBody>
          <a:bodyPr anchorCtr="0" anchor="t" bIns="0" lIns="0" spcFirstLastPara="1" rIns="0" wrap="square" tIns="0">
            <a:noAutofit/>
          </a:bodyPr>
          <a:lstStyle/>
          <a:p>
            <a:pPr indent="0" lvl="0" marL="0" marR="0" rtl="0" algn="l">
              <a:lnSpc>
                <a:spcPct val="117954"/>
              </a:lnSpc>
              <a:spcBef>
                <a:spcPts val="0"/>
              </a:spcBef>
              <a:spcAft>
                <a:spcPts val="0"/>
              </a:spcAft>
              <a:buClr>
                <a:srgbClr val="182B3A"/>
              </a:buClr>
              <a:buSzPts val="2200"/>
              <a:buFont typeface="Calibri"/>
              <a:buNone/>
            </a:pPr>
            <a:r>
              <a:rPr b="1" lang="en-US" sz="2200">
                <a:solidFill>
                  <a:srgbClr val="182B3A"/>
                </a:solidFill>
                <a:latin typeface="Calibri"/>
                <a:ea typeface="Calibri"/>
                <a:cs typeface="Calibri"/>
                <a:sym typeface="Calibri"/>
              </a:rPr>
              <a:t>The stopping rule checks convergence</a:t>
            </a:r>
            <a:endParaRPr/>
          </a:p>
        </p:txBody>
      </p:sp>
      <p:sp>
        <p:nvSpPr>
          <p:cNvPr id="613" name="Google Shape;613;p50"/>
          <p:cNvSpPr/>
          <p:nvPr/>
        </p:nvSpPr>
        <p:spPr>
          <a:xfrm>
            <a:off x="1320832" y="4584668"/>
            <a:ext cx="10160032" cy="44453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526574"/>
              </a:buClr>
              <a:buSzPts val="1800"/>
              <a:buFont typeface="Calibri"/>
              <a:buNone/>
            </a:pPr>
            <a:r>
              <a:rPr b="0" lang="en-US" sz="1800">
                <a:solidFill>
                  <a:srgbClr val="526574"/>
                </a:solidFill>
                <a:latin typeface="Calibri"/>
                <a:ea typeface="Calibri"/>
                <a:cs typeface="Calibri"/>
                <a:sym typeface="Calibri"/>
              </a:rPr>
              <a:t>Check primal and dual residuals together with the primal–dual gap.</a:t>
            </a:r>
            <a:endParaRPr/>
          </a:p>
        </p:txBody>
      </p:sp>
      <p:cxnSp>
        <p:nvCxnSpPr>
          <p:cNvPr id="614" name="Google Shape;614;p50"/>
          <p:cNvCxnSpPr/>
          <p:nvPr/>
        </p:nvCxnSpPr>
        <p:spPr>
          <a:xfrm>
            <a:off x="533400" y="5765800"/>
            <a:ext cx="0" cy="444500"/>
          </a:xfrm>
          <a:prstGeom prst="straightConnector1">
            <a:avLst/>
          </a:prstGeom>
          <a:noFill/>
          <a:ln cap="flat" cmpd="sng" w="38100">
            <a:solidFill>
              <a:srgbClr val="A02337"/>
            </a:solidFill>
            <a:prstDash val="solid"/>
            <a:round/>
            <a:headEnd len="sm" w="sm" type="none"/>
            <a:tailEnd len="sm" w="sm" type="none"/>
          </a:ln>
          <a:effectLst>
            <a:outerShdw blurRad="40000" rotWithShape="0" dir="5400000" dist="20000">
              <a:srgbClr val="000000">
                <a:alpha val="38039"/>
              </a:srgbClr>
            </a:outerShdw>
          </a:effectLst>
        </p:spPr>
      </p:cxnSp>
      <p:sp>
        <p:nvSpPr>
          <p:cNvPr id="615" name="Google Shape;615;p50"/>
          <p:cNvSpPr/>
          <p:nvPr/>
        </p:nvSpPr>
        <p:spPr>
          <a:xfrm>
            <a:off x="685800" y="5803868"/>
            <a:ext cx="10871168" cy="419100"/>
          </a:xfrm>
          <a:prstGeom prst="rect">
            <a:avLst/>
          </a:prstGeom>
          <a:noFill/>
          <a:ln>
            <a:noFill/>
          </a:ln>
        </p:spPr>
        <p:txBody>
          <a:bodyPr anchorCtr="0" anchor="t" bIns="0" lIns="0" spcFirstLastPara="1" rIns="0" wrap="square" tIns="0">
            <a:noAutofit/>
          </a:bodyPr>
          <a:lstStyle/>
          <a:p>
            <a:pPr indent="0" lvl="0" marL="0" marR="0" rtl="0" algn="l">
              <a:lnSpc>
                <a:spcPct val="117941"/>
              </a:lnSpc>
              <a:spcBef>
                <a:spcPts val="0"/>
              </a:spcBef>
              <a:spcAft>
                <a:spcPts val="0"/>
              </a:spcAft>
              <a:buClr>
                <a:srgbClr val="A02337"/>
              </a:buClr>
              <a:buSzPts val="1700"/>
              <a:buFont typeface="Calibri"/>
              <a:buNone/>
            </a:pPr>
            <a:r>
              <a:rPr b="1" lang="en-US" sz="1700">
                <a:solidFill>
                  <a:srgbClr val="A02337"/>
                </a:solidFill>
                <a:latin typeface="Calibri"/>
                <a:ea typeface="Calibri"/>
                <a:cs typeface="Calibri"/>
                <a:sym typeface="Calibri"/>
              </a:rPr>
              <a:t>The SVM objective and supplied costs remain unchanged.</a:t>
            </a:r>
            <a:endParaRPr/>
          </a:p>
        </p:txBody>
      </p:sp>
      <p:cxnSp>
        <p:nvCxnSpPr>
          <p:cNvPr id="616" name="Google Shape;616;p50"/>
          <p:cNvCxnSpPr/>
          <p:nvPr/>
        </p:nvCxnSpPr>
        <p:spPr>
          <a:xfrm>
            <a:off x="533400" y="6337300"/>
            <a:ext cx="11125200" cy="0"/>
          </a:xfrm>
          <a:prstGeom prst="straightConnector1">
            <a:avLst/>
          </a:prstGeom>
          <a:noFill/>
          <a:ln cap="flat" cmpd="sng" w="10150">
            <a:solidFill>
              <a:srgbClr val="D7E1E7"/>
            </a:solidFill>
            <a:prstDash val="solid"/>
            <a:round/>
            <a:headEnd len="sm" w="sm" type="none"/>
            <a:tailEnd len="sm" w="sm" type="none"/>
          </a:ln>
          <a:effectLst>
            <a:outerShdw blurRad="40000" rotWithShape="0" dir="5400000" dist="20000">
              <a:srgbClr val="000000">
                <a:alpha val="38039"/>
              </a:srgbClr>
            </a:outerShdw>
          </a:effectLst>
        </p:spPr>
      </p:cxnSp>
      <p:sp>
        <p:nvSpPr>
          <p:cNvPr id="617" name="Google Shape;617;p50"/>
          <p:cNvSpPr/>
          <p:nvPr/>
        </p:nvSpPr>
        <p:spPr>
          <a:xfrm>
            <a:off x="533400" y="6464332"/>
            <a:ext cx="10350532" cy="203168"/>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526574"/>
              </a:buClr>
              <a:buSzPts val="900"/>
              <a:buFont typeface="Calibri"/>
              <a:buNone/>
            </a:pPr>
            <a:r>
              <a:rPr b="0" lang="en-US" sz="900">
                <a:solidFill>
                  <a:srgbClr val="526574"/>
                </a:solidFill>
                <a:latin typeface="Calibri"/>
                <a:ea typeface="Calibri"/>
                <a:cs typeface="Calibri"/>
                <a:sym typeface="Calibri"/>
              </a:rPr>
              <a:t>src/svm_admm.py · WP3_ADMM.md · WP3_REPORT.md</a:t>
            </a:r>
            <a:endParaRPr/>
          </a:p>
        </p:txBody>
      </p:sp>
      <p:sp>
        <p:nvSpPr>
          <p:cNvPr id="618" name="Google Shape;618;p50"/>
          <p:cNvSpPr/>
          <p:nvPr/>
        </p:nvSpPr>
        <p:spPr>
          <a:xfrm>
            <a:off x="11112532" y="6438900"/>
            <a:ext cx="546068" cy="254032"/>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Clr>
                <a:srgbClr val="526574"/>
              </a:buClr>
              <a:buSzPts val="1000"/>
              <a:buFont typeface="Calibri"/>
              <a:buNone/>
            </a:pPr>
            <a:r>
              <a:rPr b="0" lang="en-US" sz="1000">
                <a:solidFill>
                  <a:srgbClr val="526574"/>
                </a:solidFill>
                <a:latin typeface="Calibri"/>
                <a:ea typeface="Calibri"/>
                <a:cs typeface="Calibri"/>
                <a:sym typeface="Calibri"/>
              </a:rPr>
              <a:t>III · 09</a:t>
            </a:r>
            <a:endParaRPr/>
          </a:p>
        </p:txBody>
      </p:sp>
      <p:sp>
        <p:nvSpPr>
          <p:cNvPr id="619" name="Google Shape;619;p50"/>
          <p:cNvSpPr txBox="1"/>
          <p:nvPr>
            <p:ph type="title"/>
          </p:nvPr>
        </p:nvSpPr>
        <p:spPr>
          <a:xfrm>
            <a:off x="334994" y="0"/>
            <a:ext cx="10637806" cy="80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Calibri"/>
              <a:buNone/>
            </a:pPr>
            <a:r>
              <a:rPr b="0" i="0" lang="en-US" sz="3200" u="none" cap="none" strike="noStrike">
                <a:solidFill>
                  <a:srgbClr val="FFFFFF"/>
                </a:solidFill>
                <a:latin typeface="Calibri"/>
                <a:ea typeface="Calibri"/>
                <a:cs typeface="Calibri"/>
                <a:sym typeface="Calibri"/>
              </a:rPr>
              <a:t>Method summary</a:t>
            </a:r>
            <a:endParaRPr b="0" i="0" sz="3200" u="none" cap="none" strike="noStrike">
              <a:solidFill>
                <a:schemeClr val="lt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Evaluation, Experiments and Results</a:t>
            </a:r>
          </a:p>
        </p:txBody>
      </p:sp>
      <p:sp>
        <p:nvSpPr>
          <p:cNvPr id="3" name="Subtitle 2"/>
          <p:cNvSpPr>
            <a:spLocks noGrp="1"/>
          </p:cNvSpPr>
          <p:nvPr>
            <p:ph type="subTitle" idx="1"/>
          </p:nvPr>
        </p:nvSpPr>
        <p:spPr/>
        <p:txBody>
          <a:bodyPr/>
          <a:lstStyle/>
          <a:p>
            <a:r>
              <a:rPr sz="2400">
                <a:solidFill>
                  <a:srgbClr val="FFFFFF"/>
                </a:solidFill>
                <a:latin typeface="Calibri"/>
              </a:rPr>
              <a:t>PART IV</a:t>
            </a:r>
          </a:p>
          <a:p>
            <a:r>
              <a:rPr sz="2400">
                <a:solidFill>
                  <a:srgbClr val="FFFFFF"/>
                </a:solidFill>
                <a:latin typeface="Calibri"/>
              </a:rPr>
              <a:t>EVALUATION AND BENCHMARK</a:t>
            </a:r>
          </a:p>
        </p:txBody>
      </p:sp>
      <p:sp>
        <p:nvSpPr>
          <p:cNvPr id="4" name="TextBox 3"/>
          <p:cNvSpPr txBox="1"/>
          <p:nvPr/>
        </p:nvSpPr>
        <p:spPr>
          <a:xfrm>
            <a:off x="338328" y="5806440"/>
            <a:ext cx="10607040" cy="548640"/>
          </a:xfrm>
          <a:prstGeom prst="rect">
            <a:avLst/>
          </a:prstGeom>
          <a:noFill/>
        </p:spPr>
        <p:txBody>
          <a:bodyPr wrap="square">
            <a:spAutoFit/>
          </a:bodyPr>
          <a:lstStyle/>
          <a:p>
            <a:pPr algn="l"/>
            <a:r>
              <a:rPr sz="1200" b="0">
                <a:solidFill>
                  <a:srgbClr val="FFFFFF"/>
                </a:solidFill>
                <a:latin typeface="Calibri"/>
              </a:rPr>
              <a:t>Generated 2026-10-27 14:43 from 136 recorded fits · results shown for ADMM, PA-ADMM, Pegasos, SMO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solidFill>
                  <a:srgbClr val="FFFFFF"/>
                </a:solidFill>
                <a:latin typeface="Calibri"/>
              </a:rPr>
              <a:t>The data behind every number</a:t>
            </a:r>
          </a:p>
        </p:txBody>
      </p:sp>
      <p:sp>
        <p:nvSpPr>
          <p:cNvPr id="3" name="TextBox 2"/>
          <p:cNvSpPr txBox="1"/>
          <p:nvPr/>
        </p:nvSpPr>
        <p:spPr>
          <a:xfrm>
            <a:off x="530352" y="1014984"/>
            <a:ext cx="10415016" cy="219456"/>
          </a:xfrm>
          <a:prstGeom prst="rect">
            <a:avLst/>
          </a:prstGeom>
          <a:noFill/>
        </p:spPr>
        <p:txBody>
          <a:bodyPr wrap="square">
            <a:spAutoFit/>
          </a:bodyPr>
          <a:lstStyle/>
          <a:p>
            <a:pPr algn="l"/>
            <a:r>
              <a:rPr sz="1000" b="1">
                <a:solidFill>
                  <a:srgbClr val="A02337"/>
                </a:solidFill>
                <a:latin typeface="Calibri"/>
              </a:rPr>
              <a:t>PART IV  /  DATA</a:t>
            </a:r>
          </a:p>
        </p:txBody>
      </p:sp>
      <p:sp>
        <p:nvSpPr>
          <p:cNvPr id="4" name="Rectangle 3"/>
          <p:cNvSpPr/>
          <p:nvPr/>
        </p:nvSpPr>
        <p:spPr>
          <a:xfrm>
            <a:off x="530352" y="5650992"/>
            <a:ext cx="25603" cy="448056"/>
          </a:xfrm>
          <a:prstGeom prst="rect">
            <a:avLst/>
          </a:prstGeom>
          <a:solidFill>
            <a:srgbClr val="A023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687568"/>
            <a:ext cx="10872216" cy="420624"/>
          </a:xfrm>
          <a:prstGeom prst="rect">
            <a:avLst/>
          </a:prstGeom>
          <a:noFill/>
        </p:spPr>
        <p:txBody>
          <a:bodyPr wrap="square">
            <a:spAutoFit/>
          </a:bodyPr>
          <a:lstStyle/>
          <a:p>
            <a:pPr algn="l"/>
            <a:r>
              <a:rPr sz="1700" b="1">
                <a:solidFill>
                  <a:srgbClr val="A02337"/>
                </a:solidFill>
                <a:latin typeface="Calibri"/>
              </a:rPr>
              <a:t>0.167% positives: accuracy is meaningless here, cost is the headline</a:t>
            </a:r>
          </a:p>
        </p:txBody>
      </p:sp>
      <p:sp>
        <p:nvSpPr>
          <p:cNvPr id="6" name="Rectangle 5"/>
          <p:cNvSpPr/>
          <p:nvPr/>
        </p:nvSpPr>
        <p:spPr>
          <a:xfrm>
            <a:off x="530352" y="6336792"/>
            <a:ext cx="11128248" cy="12801"/>
          </a:xfrm>
          <a:prstGeom prst="rect">
            <a:avLst/>
          </a:prstGeom>
          <a:solidFill>
            <a:srgbClr val="C9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46520"/>
            <a:ext cx="10351008" cy="219456"/>
          </a:xfrm>
          <a:prstGeom prst="rect">
            <a:avLst/>
          </a:prstGeom>
          <a:noFill/>
        </p:spPr>
        <p:txBody>
          <a:bodyPr wrap="square">
            <a:spAutoFit/>
          </a:bodyPr>
          <a:lstStyle/>
          <a:p>
            <a:pPr algn="l"/>
            <a:r>
              <a:rPr sz="900" b="0">
                <a:solidFill>
                  <a:srgbClr val="526574"/>
                </a:solidFill>
                <a:latin typeface="Calibri"/>
              </a:rPr>
              <a:t>data/raw/creditcard.csv · SHA-256 76274b69…1a89 · src/data.py::clean_data</a:t>
            </a:r>
          </a:p>
        </p:txBody>
      </p:sp>
      <p:sp>
        <p:nvSpPr>
          <p:cNvPr id="8" name="TextBox 7"/>
          <p:cNvSpPr txBox="1"/>
          <p:nvPr/>
        </p:nvSpPr>
        <p:spPr>
          <a:xfrm>
            <a:off x="11109960" y="6419088"/>
            <a:ext cx="566928" cy="274320"/>
          </a:xfrm>
          <a:prstGeom prst="rect">
            <a:avLst/>
          </a:prstGeom>
          <a:noFill/>
        </p:spPr>
        <p:txBody>
          <a:bodyPr wrap="square">
            <a:spAutoFit/>
          </a:bodyPr>
          <a:lstStyle/>
          <a:p>
            <a:pPr algn="l"/>
            <a:r>
              <a:rPr sz="1000" b="0">
                <a:solidFill>
                  <a:srgbClr val="526574"/>
                </a:solidFill>
                <a:latin typeface="Calibri"/>
              </a:rPr>
              <a:t>IV · 02</a:t>
            </a:r>
          </a:p>
        </p:txBody>
      </p:sp>
      <p:pic>
        <p:nvPicPr>
          <p:cNvPr id="9" name="Picture 8" descr="p4_dataset.png"/>
          <p:cNvPicPr>
            <a:picLocks noChangeAspect="1"/>
          </p:cNvPicPr>
          <p:nvPr/>
        </p:nvPicPr>
        <p:blipFill>
          <a:blip r:embed="rId2"/>
          <a:stretch>
            <a:fillRect/>
          </a:stretch>
        </p:blipFill>
        <p:spPr>
          <a:xfrm>
            <a:off x="530352" y="1572768"/>
            <a:ext cx="10424160" cy="2286000"/>
          </a:xfrm>
          <a:prstGeom prst="rect">
            <a:avLst/>
          </a:prstGeom>
        </p:spPr>
      </p:pic>
      <p:sp>
        <p:nvSpPr>
          <p:cNvPr id="10" name="TextBox 9"/>
          <p:cNvSpPr txBox="1"/>
          <p:nvPr/>
        </p:nvSpPr>
        <p:spPr>
          <a:xfrm>
            <a:off x="530352" y="3977639"/>
            <a:ext cx="10424160" cy="1463040"/>
          </a:xfrm>
          <a:prstGeom prst="rect">
            <a:avLst/>
          </a:prstGeom>
          <a:noFill/>
        </p:spPr>
        <p:txBody>
          <a:bodyPr wrap="square">
            <a:spAutoFit/>
          </a:bodyPr>
          <a:lstStyle/>
          <a:p>
            <a:pPr algn="l"/>
            <a:r>
              <a:rPr sz="1300" b="0">
                <a:solidFill>
                  <a:srgbClr val="526574"/>
                </a:solidFill>
                <a:latin typeface="Calibri"/>
              </a:rPr>
              <a:t>284,807 transactions, 492 frauds (0.172%). Removing 1,081 exact duplicate rows leaves 283,726 rows with 473 frauds (0.167%) — duplicates inflate apparent volume and leak across splits.</a:t>
            </a:r>
          </a:p>
          <a:p>
            <a:pPr algn="l"/>
            <a:r>
              <a:rPr sz="1300" b="0">
                <a:solidFill>
                  <a:srgbClr val="526574"/>
                </a:solidFill>
                <a:latin typeface="Calibri"/>
              </a:rPr>
              <a:t>29 model features: V1–V28 plus Amount. Time is never a feature; it only drives the chronological stress split.</a:t>
            </a:r>
          </a:p>
          <a:p>
            <a:pPr algn="l"/>
            <a:r>
              <a:rPr sz="1300" b="0">
                <a:solidFill>
                  <a:srgbClr val="526574"/>
                </a:solidFill>
                <a:latin typeface="Calibri"/>
              </a:rPr>
              <a:t>Amount is standardized with training-fold statistics only, so no test information reaches the solver.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solidFill>
                  <a:srgbClr val="FFFFFF"/>
                </a:solidFill>
                <a:latin typeface="Calibri"/>
              </a:rPr>
              <a:t>How the comparison is made fair</a:t>
            </a:r>
          </a:p>
        </p:txBody>
      </p:sp>
      <p:sp>
        <p:nvSpPr>
          <p:cNvPr id="3" name="TextBox 2"/>
          <p:cNvSpPr txBox="1"/>
          <p:nvPr/>
        </p:nvSpPr>
        <p:spPr>
          <a:xfrm>
            <a:off x="530352" y="1014984"/>
            <a:ext cx="10415016" cy="219456"/>
          </a:xfrm>
          <a:prstGeom prst="rect">
            <a:avLst/>
          </a:prstGeom>
          <a:noFill/>
        </p:spPr>
        <p:txBody>
          <a:bodyPr wrap="square">
            <a:spAutoFit/>
          </a:bodyPr>
          <a:lstStyle/>
          <a:p>
            <a:pPr algn="l"/>
            <a:r>
              <a:rPr sz="1000" b="1">
                <a:solidFill>
                  <a:srgbClr val="A02337"/>
                </a:solidFill>
                <a:latin typeface="Calibri"/>
              </a:rPr>
              <a:t>PART IV  /  PROTOCOL</a:t>
            </a:r>
          </a:p>
        </p:txBody>
      </p:sp>
      <p:sp>
        <p:nvSpPr>
          <p:cNvPr id="4" name="Rectangle 3"/>
          <p:cNvSpPr/>
          <p:nvPr/>
        </p:nvSpPr>
        <p:spPr>
          <a:xfrm>
            <a:off x="530352" y="5650992"/>
            <a:ext cx="25603" cy="448056"/>
          </a:xfrm>
          <a:prstGeom prst="rect">
            <a:avLst/>
          </a:prstGeom>
          <a:solidFill>
            <a:srgbClr val="A023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687568"/>
            <a:ext cx="10872216" cy="420624"/>
          </a:xfrm>
          <a:prstGeom prst="rect">
            <a:avLst/>
          </a:prstGeom>
          <a:noFill/>
        </p:spPr>
        <p:txBody>
          <a:bodyPr wrap="square">
            <a:spAutoFit/>
          </a:bodyPr>
          <a:lstStyle/>
          <a:p>
            <a:pPr algn="l"/>
            <a:r>
              <a:rPr sz="1700" b="1">
                <a:solidFill>
                  <a:srgbClr val="A02337"/>
                </a:solidFill>
                <a:latin typeface="Calibri"/>
              </a:rPr>
              <a:t>Same rows, same C, same budget — otherwise the objective is not comparable</a:t>
            </a:r>
          </a:p>
        </p:txBody>
      </p:sp>
      <p:sp>
        <p:nvSpPr>
          <p:cNvPr id="6" name="Rectangle 5"/>
          <p:cNvSpPr/>
          <p:nvPr/>
        </p:nvSpPr>
        <p:spPr>
          <a:xfrm>
            <a:off x="530352" y="6336792"/>
            <a:ext cx="11128248" cy="12801"/>
          </a:xfrm>
          <a:prstGeom prst="rect">
            <a:avLst/>
          </a:prstGeom>
          <a:solidFill>
            <a:srgbClr val="C9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46520"/>
            <a:ext cx="10351008" cy="219456"/>
          </a:xfrm>
          <a:prstGeom prst="rect">
            <a:avLst/>
          </a:prstGeom>
          <a:noFill/>
        </p:spPr>
        <p:txBody>
          <a:bodyPr wrap="square">
            <a:spAutoFit/>
          </a:bodyPr>
          <a:lstStyle/>
          <a:p>
            <a:pPr algn="l"/>
            <a:r>
              <a:rPr sz="900" b="0">
                <a:solidFill>
                  <a:srgbClr val="526574"/>
                </a:solidFill>
                <a:latin typeface="Calibri"/>
              </a:rPr>
              <a:t>configs/main_*.yaml · EXPERIMENTS.md §5.1, §6 · src/evaluate.py</a:t>
            </a:r>
          </a:p>
        </p:txBody>
      </p:sp>
      <p:sp>
        <p:nvSpPr>
          <p:cNvPr id="8" name="TextBox 7"/>
          <p:cNvSpPr txBox="1"/>
          <p:nvPr/>
        </p:nvSpPr>
        <p:spPr>
          <a:xfrm>
            <a:off x="11109960" y="6419088"/>
            <a:ext cx="566928" cy="274320"/>
          </a:xfrm>
          <a:prstGeom prst="rect">
            <a:avLst/>
          </a:prstGeom>
          <a:noFill/>
        </p:spPr>
        <p:txBody>
          <a:bodyPr wrap="square">
            <a:spAutoFit/>
          </a:bodyPr>
          <a:lstStyle/>
          <a:p>
            <a:pPr algn="l"/>
            <a:r>
              <a:rPr sz="1000" b="0">
                <a:solidFill>
                  <a:srgbClr val="526574"/>
                </a:solidFill>
                <a:latin typeface="Calibri"/>
              </a:rPr>
              <a:t>IV · 03</a:t>
            </a:r>
          </a:p>
        </p:txBody>
      </p:sp>
      <p:pic>
        <p:nvPicPr>
          <p:cNvPr id="9" name="Picture 8" descr="p4_protocol.png"/>
          <p:cNvPicPr>
            <a:picLocks noChangeAspect="1"/>
          </p:cNvPicPr>
          <p:nvPr/>
        </p:nvPicPr>
        <p:blipFill>
          <a:blip r:embed="rId2"/>
          <a:stretch>
            <a:fillRect/>
          </a:stretch>
        </p:blipFill>
        <p:spPr>
          <a:xfrm>
            <a:off x="530352" y="1481328"/>
            <a:ext cx="10424160" cy="2148840"/>
          </a:xfrm>
          <a:prstGeom prst="rect">
            <a:avLst/>
          </a:prstGeom>
        </p:spPr>
      </p:pic>
      <p:sp>
        <p:nvSpPr>
          <p:cNvPr id="10" name="TextBox 9"/>
          <p:cNvSpPr txBox="1"/>
          <p:nvPr/>
        </p:nvSpPr>
        <p:spPr>
          <a:xfrm>
            <a:off x="530352" y="3794760"/>
            <a:ext cx="10607040" cy="365760"/>
          </a:xfrm>
          <a:prstGeom prst="rect">
            <a:avLst/>
          </a:prstGeom>
          <a:noFill/>
        </p:spPr>
        <p:txBody>
          <a:bodyPr wrap="square">
            <a:spAutoFit/>
          </a:bodyPr>
          <a:lstStyle/>
          <a:p>
            <a:pPr>
              <a:spcAft>
                <a:spcPts val="600"/>
              </a:spcAft>
            </a:pPr>
            <a:r>
              <a:rPr sz="1300" b="1">
                <a:solidFill>
                  <a:srgbClr val="182B3A"/>
                </a:solidFill>
                <a:latin typeface="Calibri"/>
              </a:rPr>
              <a:t>Cost-sensitive objective</a:t>
            </a:r>
            <a:r>
              <a:rPr sz="1200">
                <a:solidFill>
                  <a:srgbClr val="526574"/>
                </a:solidFill>
                <a:latin typeface="Calibri"/>
              </a:rPr>
              <a:t>  min ½‖w‖² + Σ Cᵢ·max(0, 1−yᵢf(xᵢ)), Cᵢ = C·w_yᵢ, fraud:legit weight 10 / 20 / 50.</a:t>
            </a:r>
          </a:p>
          <a:p>
            <a:pPr>
              <a:spcAft>
                <a:spcPts val="600"/>
              </a:spcAft>
            </a:pPr>
            <a:r>
              <a:rPr sz="1300" b="1">
                <a:solidFill>
                  <a:srgbClr val="182B3A"/>
                </a:solidFill>
                <a:latin typeface="Calibri"/>
              </a:rPr>
              <a:t>Fixed-QP rule</a:t>
            </a:r>
            <a:r>
              <a:rPr sz="1200">
                <a:solidFill>
                  <a:srgbClr val="526574"/>
                </a:solidFill>
                <a:latin typeface="Calibri"/>
              </a:rPr>
              <a:t>  solver ranking runs fix C=1 for every method; validation-tuned C lives in a separate predictive experiment.</a:t>
            </a:r>
          </a:p>
          <a:p>
            <a:pPr>
              <a:spcAft>
                <a:spcPts val="600"/>
              </a:spcAft>
            </a:pPr>
            <a:r>
              <a:rPr sz="1300" b="1">
                <a:solidFill>
                  <a:srgbClr val="182B3A"/>
                </a:solidFill>
                <a:latin typeface="Calibri"/>
              </a:rPr>
              <a:t>Budgets</a:t>
            </a:r>
            <a:r>
              <a:rPr sz="1200">
                <a:solidFill>
                  <a:srgbClr val="526574"/>
                </a:solidFill>
                <a:latin typeface="Calibri"/>
              </a:rPr>
              <a:t>  90 min per fit, single-threaded, one machine; timeouts are recorded as failures, never quietly dropped.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solidFill>
                  <a:srgbClr val="FFFFFF"/>
                </a:solidFill>
                <a:latin typeface="Calibri"/>
              </a:rPr>
              <a:t>Primary metric: time to a shared tolerance</a:t>
            </a:r>
          </a:p>
        </p:txBody>
      </p:sp>
      <p:sp>
        <p:nvSpPr>
          <p:cNvPr id="3" name="TextBox 2"/>
          <p:cNvSpPr txBox="1"/>
          <p:nvPr/>
        </p:nvSpPr>
        <p:spPr>
          <a:xfrm>
            <a:off x="530352" y="1014984"/>
            <a:ext cx="10415016" cy="219456"/>
          </a:xfrm>
          <a:prstGeom prst="rect">
            <a:avLst/>
          </a:prstGeom>
          <a:noFill/>
        </p:spPr>
        <p:txBody>
          <a:bodyPr wrap="square">
            <a:spAutoFit/>
          </a:bodyPr>
          <a:lstStyle/>
          <a:p>
            <a:pPr algn="l"/>
            <a:r>
              <a:rPr sz="1000" b="1">
                <a:solidFill>
                  <a:srgbClr val="A02337"/>
                </a:solidFill>
                <a:latin typeface="Calibri"/>
              </a:rPr>
              <a:t>PART IV  /  METRICS</a:t>
            </a:r>
          </a:p>
        </p:txBody>
      </p:sp>
      <p:sp>
        <p:nvSpPr>
          <p:cNvPr id="4" name="Rectangle 3"/>
          <p:cNvSpPr/>
          <p:nvPr/>
        </p:nvSpPr>
        <p:spPr>
          <a:xfrm>
            <a:off x="530352" y="5650992"/>
            <a:ext cx="25603" cy="448056"/>
          </a:xfrm>
          <a:prstGeom prst="rect">
            <a:avLst/>
          </a:prstGeom>
          <a:solidFill>
            <a:srgbClr val="A023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687568"/>
            <a:ext cx="10872216" cy="420624"/>
          </a:xfrm>
          <a:prstGeom prst="rect">
            <a:avLst/>
          </a:prstGeom>
          <a:noFill/>
        </p:spPr>
        <p:txBody>
          <a:bodyPr wrap="square">
            <a:spAutoFit/>
          </a:bodyPr>
          <a:lstStyle/>
          <a:p>
            <a:pPr algn="l"/>
            <a:r>
              <a:rPr sz="1700" b="1">
                <a:solidFill>
                  <a:srgbClr val="A02337"/>
                </a:solidFill>
                <a:latin typeface="Calibri"/>
              </a:rPr>
              <a:t>We rank solvers by how fast they reach the best observed objective, not by final loss</a:t>
            </a:r>
          </a:p>
        </p:txBody>
      </p:sp>
      <p:sp>
        <p:nvSpPr>
          <p:cNvPr id="6" name="Rectangle 5"/>
          <p:cNvSpPr/>
          <p:nvPr/>
        </p:nvSpPr>
        <p:spPr>
          <a:xfrm>
            <a:off x="530352" y="6336792"/>
            <a:ext cx="11128248" cy="12801"/>
          </a:xfrm>
          <a:prstGeom prst="rect">
            <a:avLst/>
          </a:prstGeom>
          <a:solidFill>
            <a:srgbClr val="C9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46520"/>
            <a:ext cx="10351008" cy="219456"/>
          </a:xfrm>
          <a:prstGeom prst="rect">
            <a:avLst/>
          </a:prstGeom>
          <a:noFill/>
        </p:spPr>
        <p:txBody>
          <a:bodyPr wrap="square">
            <a:spAutoFit/>
          </a:bodyPr>
          <a:lstStyle/>
          <a:p>
            <a:pPr algn="l"/>
            <a:r>
              <a:rPr sz="900" b="0">
                <a:solidFill>
                  <a:srgbClr val="526574"/>
                </a:solidFill>
                <a:latin typeface="Calibri"/>
              </a:rPr>
              <a:t>src/evaluate.py::time_to_tolerance · ≥2 aligned history points required</a:t>
            </a:r>
          </a:p>
        </p:txBody>
      </p:sp>
      <p:sp>
        <p:nvSpPr>
          <p:cNvPr id="8" name="TextBox 7"/>
          <p:cNvSpPr txBox="1"/>
          <p:nvPr/>
        </p:nvSpPr>
        <p:spPr>
          <a:xfrm>
            <a:off x="11109960" y="6419088"/>
            <a:ext cx="566928" cy="274320"/>
          </a:xfrm>
          <a:prstGeom prst="rect">
            <a:avLst/>
          </a:prstGeom>
          <a:noFill/>
        </p:spPr>
        <p:txBody>
          <a:bodyPr wrap="square">
            <a:spAutoFit/>
          </a:bodyPr>
          <a:lstStyle/>
          <a:p>
            <a:pPr algn="l"/>
            <a:r>
              <a:rPr sz="1000" b="0">
                <a:solidFill>
                  <a:srgbClr val="526574"/>
                </a:solidFill>
                <a:latin typeface="Calibri"/>
              </a:rPr>
              <a:t>IV · 04</a:t>
            </a:r>
          </a:p>
        </p:txBody>
      </p:sp>
      <p:pic>
        <p:nvPicPr>
          <p:cNvPr id="9" name="Picture 8" descr="p4_curves.png"/>
          <p:cNvPicPr>
            <a:picLocks noChangeAspect="1"/>
          </p:cNvPicPr>
          <p:nvPr/>
        </p:nvPicPr>
        <p:blipFill>
          <a:blip r:embed="rId2"/>
          <a:stretch>
            <a:fillRect/>
          </a:stretch>
        </p:blipFill>
        <p:spPr>
          <a:xfrm>
            <a:off x="502920" y="1517904"/>
            <a:ext cx="6309360" cy="2282992"/>
          </a:xfrm>
          <a:prstGeom prst="rect">
            <a:avLst/>
          </a:prstGeom>
        </p:spPr>
      </p:pic>
      <p:sp>
        <p:nvSpPr>
          <p:cNvPr id="10" name="TextBox 9"/>
          <p:cNvSpPr txBox="1"/>
          <p:nvPr/>
        </p:nvSpPr>
        <p:spPr>
          <a:xfrm>
            <a:off x="7040880" y="1691640"/>
            <a:ext cx="4663440" cy="365760"/>
          </a:xfrm>
          <a:prstGeom prst="rect">
            <a:avLst/>
          </a:prstGeom>
          <a:noFill/>
        </p:spPr>
        <p:txBody>
          <a:bodyPr wrap="square">
            <a:spAutoFit/>
          </a:bodyPr>
          <a:lstStyle/>
          <a:p>
            <a:pPr>
              <a:spcAft>
                <a:spcPts val="600"/>
              </a:spcAft>
            </a:pPr>
            <a:r>
              <a:rPr sz="1250" b="1">
                <a:solidFill>
                  <a:srgbClr val="182B3A"/>
                </a:solidFill>
                <a:latin typeface="Calibri"/>
              </a:rPr>
              <a:t>Reference</a:t>
            </a:r>
            <a:r>
              <a:rPr sz="1150">
                <a:solidFill>
                  <a:srgbClr val="526574"/>
                </a:solidFill>
                <a:latin typeface="Calibri"/>
              </a:rPr>
              <a:t>  best objective achieved by any method in the same dataset / ratio / seed / C group.</a:t>
            </a:r>
          </a:p>
          <a:p>
            <a:pPr>
              <a:spcAft>
                <a:spcPts val="600"/>
              </a:spcAft>
            </a:pPr>
            <a:r>
              <a:rPr sz="1250" b="1">
                <a:solidFill>
                  <a:srgbClr val="182B3A"/>
                </a:solidFill>
                <a:latin typeface="Calibri"/>
              </a:rPr>
              <a:t>Tolerance</a:t>
            </a:r>
            <a:r>
              <a:rPr sz="1150">
                <a:solidFill>
                  <a:srgbClr val="526574"/>
                </a:solidFill>
                <a:latin typeface="Calibri"/>
              </a:rPr>
              <a:t>  first checkpoint within 0.1% of that reference, using the solver's own timestamped history.</a:t>
            </a:r>
          </a:p>
          <a:p>
            <a:pPr>
              <a:spcAft>
                <a:spcPts val="600"/>
              </a:spcAft>
            </a:pPr>
            <a:r>
              <a:rPr sz="1250" b="1">
                <a:solidFill>
                  <a:srgbClr val="182B3A"/>
                </a:solidFill>
                <a:latin typeface="Calibri"/>
              </a:rPr>
              <a:t>Secondary metrics</a:t>
            </a:r>
            <a:r>
              <a:rPr sz="1150">
                <a:solidFill>
                  <a:srgbClr val="526574"/>
                </a:solidFill>
                <a:latin typeface="Calibri"/>
              </a:rPr>
              <a:t>  cost per example, PR-AUC, recall at FPR 0.1% and 1%, balanced accuracy, iterations, wall time, peak RSS.</a:t>
            </a:r>
          </a:p>
          <a:p>
            <a:pPr>
              <a:spcAft>
                <a:spcPts val="600"/>
              </a:spcAft>
            </a:pPr>
            <a:r>
              <a:rPr sz="1250" b="1">
                <a:solidFill>
                  <a:srgbClr val="182B3A"/>
                </a:solidFill>
                <a:latin typeface="Calibri"/>
              </a:rPr>
              <a:t>Statistics</a:t>
            </a:r>
            <a:r>
              <a:rPr sz="1150">
                <a:solidFill>
                  <a:srgbClr val="526574"/>
                </a:solidFill>
                <a:latin typeface="Calibri"/>
              </a:rPr>
              <a:t>  5 seeds, bootstrap 95% CI, paired Wilcoxon signed-rank.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solidFill>
                  <a:srgbClr val="FFFFFF"/>
                </a:solidFill>
                <a:latin typeface="Calibri"/>
              </a:rPr>
              <a:t>Correctness first: solvers agree on one QP</a:t>
            </a:r>
          </a:p>
        </p:txBody>
      </p:sp>
      <p:sp>
        <p:nvSpPr>
          <p:cNvPr id="3" name="TextBox 2"/>
          <p:cNvSpPr txBox="1"/>
          <p:nvPr/>
        </p:nvSpPr>
        <p:spPr>
          <a:xfrm>
            <a:off x="530352" y="1014984"/>
            <a:ext cx="10415016" cy="219456"/>
          </a:xfrm>
          <a:prstGeom prst="rect">
            <a:avLst/>
          </a:prstGeom>
          <a:noFill/>
        </p:spPr>
        <p:txBody>
          <a:bodyPr wrap="square">
            <a:spAutoFit/>
          </a:bodyPr>
          <a:lstStyle/>
          <a:p>
            <a:pPr algn="l"/>
            <a:r>
              <a:rPr sz="1000" b="1">
                <a:solidFill>
                  <a:srgbClr val="A02337"/>
                </a:solidFill>
                <a:latin typeface="Calibri"/>
              </a:rPr>
              <a:t>PART IV  /  CORRECTNESS</a:t>
            </a:r>
          </a:p>
        </p:txBody>
      </p:sp>
      <p:sp>
        <p:nvSpPr>
          <p:cNvPr id="4" name="Rectangle 3"/>
          <p:cNvSpPr/>
          <p:nvPr/>
        </p:nvSpPr>
        <p:spPr>
          <a:xfrm>
            <a:off x="530352" y="5650992"/>
            <a:ext cx="25603" cy="448056"/>
          </a:xfrm>
          <a:prstGeom prst="rect">
            <a:avLst/>
          </a:prstGeom>
          <a:solidFill>
            <a:srgbClr val="A023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687568"/>
            <a:ext cx="10872216" cy="420624"/>
          </a:xfrm>
          <a:prstGeom prst="rect">
            <a:avLst/>
          </a:prstGeom>
          <a:noFill/>
        </p:spPr>
        <p:txBody>
          <a:bodyPr wrap="square">
            <a:spAutoFit/>
          </a:bodyPr>
          <a:lstStyle/>
          <a:p>
            <a:pPr algn="l"/>
            <a:r>
              <a:rPr sz="1700" b="1">
                <a:solidFill>
                  <a:srgbClr val="A02337"/>
                </a:solidFill>
                <a:latin typeface="Calibri"/>
              </a:rPr>
              <a:t>Independent solvers agree to 7.7e-05 on one QP</a:t>
            </a:r>
          </a:p>
        </p:txBody>
      </p:sp>
      <p:sp>
        <p:nvSpPr>
          <p:cNvPr id="6" name="Rectangle 5"/>
          <p:cNvSpPr/>
          <p:nvPr/>
        </p:nvSpPr>
        <p:spPr>
          <a:xfrm>
            <a:off x="530352" y="6336792"/>
            <a:ext cx="11128248" cy="12801"/>
          </a:xfrm>
          <a:prstGeom prst="rect">
            <a:avLst/>
          </a:prstGeom>
          <a:solidFill>
            <a:srgbClr val="C9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46520"/>
            <a:ext cx="10351008" cy="219456"/>
          </a:xfrm>
          <a:prstGeom prst="rect">
            <a:avLst/>
          </a:prstGeom>
          <a:noFill/>
        </p:spPr>
        <p:txBody>
          <a:bodyPr wrap="square">
            <a:spAutoFit/>
          </a:bodyPr>
          <a:lstStyle/>
          <a:p>
            <a:pPr algn="l"/>
            <a:r>
              <a:rPr sz="900" b="0">
                <a:solidFill>
                  <a:srgbClr val="526574"/>
                </a:solidFill>
                <a:latin typeface="Calibri"/>
              </a:rPr>
              <a:t>configs/correctness.yaml · results/raw/correctness · external cross-checks run by WP2 (LIBSVM) and WP3 (CVXPY/ECOS), not by this harness</a:t>
            </a:r>
          </a:p>
        </p:txBody>
      </p:sp>
      <p:sp>
        <p:nvSpPr>
          <p:cNvPr id="8" name="TextBox 7"/>
          <p:cNvSpPr txBox="1"/>
          <p:nvPr/>
        </p:nvSpPr>
        <p:spPr>
          <a:xfrm>
            <a:off x="11109960" y="6419088"/>
            <a:ext cx="566928" cy="274320"/>
          </a:xfrm>
          <a:prstGeom prst="rect">
            <a:avLst/>
          </a:prstGeom>
          <a:noFill/>
        </p:spPr>
        <p:txBody>
          <a:bodyPr wrap="square">
            <a:spAutoFit/>
          </a:bodyPr>
          <a:lstStyle/>
          <a:p>
            <a:pPr algn="l"/>
            <a:r>
              <a:rPr sz="1000" b="0">
                <a:solidFill>
                  <a:srgbClr val="526574"/>
                </a:solidFill>
                <a:latin typeface="Calibri"/>
              </a:rPr>
              <a:t>IV · 05</a:t>
            </a:r>
          </a:p>
        </p:txBody>
      </p:sp>
      <p:pic>
        <p:nvPicPr>
          <p:cNvPr id="9" name="Picture 8" descr="p4_correctness.png"/>
          <p:cNvPicPr>
            <a:picLocks noChangeAspect="1"/>
          </p:cNvPicPr>
          <p:nvPr/>
        </p:nvPicPr>
        <p:blipFill>
          <a:blip r:embed="rId2"/>
          <a:stretch>
            <a:fillRect/>
          </a:stretch>
        </p:blipFill>
        <p:spPr>
          <a:xfrm>
            <a:off x="502920" y="1572768"/>
            <a:ext cx="5852160" cy="2709333"/>
          </a:xfrm>
          <a:prstGeom prst="rect">
            <a:avLst/>
          </a:prstGeom>
        </p:spPr>
      </p:pic>
      <p:sp>
        <p:nvSpPr>
          <p:cNvPr id="10" name="TextBox 9"/>
          <p:cNvSpPr txBox="1"/>
          <p:nvPr/>
        </p:nvSpPr>
        <p:spPr>
          <a:xfrm>
            <a:off x="6537960" y="1645920"/>
            <a:ext cx="5212080" cy="1737360"/>
          </a:xfrm>
          <a:prstGeom prst="rect">
            <a:avLst/>
          </a:prstGeom>
          <a:noFill/>
        </p:spPr>
        <p:txBody>
          <a:bodyPr wrap="square">
            <a:spAutoFit/>
          </a:bodyPr>
          <a:lstStyle/>
          <a:p>
            <a:pPr algn="l"/>
            <a:r>
              <a:rPr sz="1250" b="0">
                <a:solidFill>
                  <a:srgbClr val="182B3A"/>
                </a:solidFill>
                <a:latin typeface="Calibri"/>
              </a:rPr>
              <a:t>SMO       P = 5.0836   certified   (4,380 updates/iterations)</a:t>
            </a:r>
          </a:p>
          <a:p>
            <a:pPr algn="l"/>
            <a:r>
              <a:rPr sz="1250" b="0">
                <a:solidFill>
                  <a:srgbClr val="182B3A"/>
                </a:solidFill>
                <a:latin typeface="Calibri"/>
              </a:rPr>
              <a:t>Pegasos   P = 10.3852   not certified   (550,000 updates/iterations)</a:t>
            </a:r>
          </a:p>
          <a:p>
            <a:pPr algn="l"/>
            <a:r>
              <a:rPr sz="1250" b="0">
                <a:solidFill>
                  <a:srgbClr val="182B3A"/>
                </a:solidFill>
                <a:latin typeface="Calibri"/>
              </a:rPr>
              <a:t>ADMM      P = 5.0836   certified   (7,525 updates/iterations)</a:t>
            </a:r>
          </a:p>
          <a:p>
            <a:pPr algn="l"/>
            <a:r>
              <a:rPr sz="1250" b="0">
                <a:solidFill>
                  <a:srgbClr val="182B3A"/>
                </a:solidFill>
                <a:latin typeface="Calibri"/>
              </a:rPr>
              <a:t>PA-ADMM   P = 5.0832   certified   (5,364 updates/iterations)</a:t>
            </a:r>
          </a:p>
        </p:txBody>
      </p:sp>
      <p:sp>
        <p:nvSpPr>
          <p:cNvPr id="11" name="TextBox 10"/>
          <p:cNvSpPr txBox="1"/>
          <p:nvPr/>
        </p:nvSpPr>
        <p:spPr>
          <a:xfrm>
            <a:off x="6537960" y="3520440"/>
            <a:ext cx="5212080" cy="1920240"/>
          </a:xfrm>
          <a:prstGeom prst="rect">
            <a:avLst/>
          </a:prstGeom>
          <a:noFill/>
        </p:spPr>
        <p:txBody>
          <a:bodyPr wrap="square">
            <a:spAutoFit/>
          </a:bodyPr>
          <a:lstStyle/>
          <a:p>
            <a:pPr algn="l"/>
            <a:r>
              <a:rPr sz="1250" b="0">
                <a:solidFill>
                  <a:srgbClr val="526574"/>
                </a:solidFill>
                <a:latin typeface="Calibri"/>
              </a:rPr>
              <a:t>One 10k stratified subset (7,000 train / 1,500 val / 1,500 test), C fixed to 1, ratio 10:1, tolerance 1e-4. WP2 checks SMO against LIBSVM and WP3 checks ADMM against CVXPY/ECOS on identical rows, in their own runners.</a:t>
            </a:r>
          </a:p>
          <a:p>
            <a:pPr algn="l"/>
            <a:r>
              <a:rPr sz="1250" b="0">
                <a:solidFill>
                  <a:srgbClr val="526574"/>
                </a:solidFill>
                <a:latin typeface="Calibri"/>
              </a:rPr>
              <a:t/>
            </a:r>
          </a:p>
          <a:p>
            <a:pPr algn="l"/>
            <a:r>
              <a:rPr sz="1250" b="0">
                <a:solidFill>
                  <a:srgbClr val="526574"/>
                </a:solidFill>
                <a:latin typeface="Calibri"/>
              </a:rPr>
              <a:t>Pegasos is reported as unconverged rather than smoothed away: a first-order method has no primal-dual certificate, so we never claim convergence for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solidFill>
                  <a:srgbClr val="FFFFFF"/>
                </a:solidFill>
                <a:latin typeface="Calibri"/>
              </a:rPr>
              <a:t>The experiment matrix we ran</a:t>
            </a:r>
          </a:p>
        </p:txBody>
      </p:sp>
      <p:sp>
        <p:nvSpPr>
          <p:cNvPr id="3" name="TextBox 2"/>
          <p:cNvSpPr txBox="1"/>
          <p:nvPr/>
        </p:nvSpPr>
        <p:spPr>
          <a:xfrm>
            <a:off x="530352" y="1014984"/>
            <a:ext cx="10415016" cy="219456"/>
          </a:xfrm>
          <a:prstGeom prst="rect">
            <a:avLst/>
          </a:prstGeom>
          <a:noFill/>
        </p:spPr>
        <p:txBody>
          <a:bodyPr wrap="square">
            <a:spAutoFit/>
          </a:bodyPr>
          <a:lstStyle/>
          <a:p>
            <a:pPr algn="l"/>
            <a:r>
              <a:rPr sz="1000" b="1">
                <a:solidFill>
                  <a:srgbClr val="A02337"/>
                </a:solidFill>
                <a:latin typeface="Calibri"/>
              </a:rPr>
              <a:t>PART IV  /  MAIN EXPERIMENT DESIGN</a:t>
            </a:r>
          </a:p>
        </p:txBody>
      </p:sp>
      <p:sp>
        <p:nvSpPr>
          <p:cNvPr id="4" name="Rectangle 3"/>
          <p:cNvSpPr/>
          <p:nvPr/>
        </p:nvSpPr>
        <p:spPr>
          <a:xfrm>
            <a:off x="530352" y="5650992"/>
            <a:ext cx="25603" cy="448056"/>
          </a:xfrm>
          <a:prstGeom prst="rect">
            <a:avLst/>
          </a:prstGeom>
          <a:solidFill>
            <a:srgbClr val="A023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687568"/>
            <a:ext cx="10872216" cy="420624"/>
          </a:xfrm>
          <a:prstGeom prst="rect">
            <a:avLst/>
          </a:prstGeom>
          <a:noFill/>
        </p:spPr>
        <p:txBody>
          <a:bodyPr wrap="square">
            <a:spAutoFit/>
          </a:bodyPr>
          <a:lstStyle/>
          <a:p>
            <a:pPr algn="l"/>
            <a:r>
              <a:rPr sz="1700" b="1">
                <a:solidFill>
                  <a:srgbClr val="A02337"/>
                </a:solidFill>
                <a:latin typeface="Calibri"/>
              </a:rPr>
              <a:t>One scale ladder: 7k → 35k → 198k rows, ratios 10 / 20 / 50, up to 5 seeds</a:t>
            </a:r>
          </a:p>
        </p:txBody>
      </p:sp>
      <p:sp>
        <p:nvSpPr>
          <p:cNvPr id="6" name="Rectangle 5"/>
          <p:cNvSpPr/>
          <p:nvPr/>
        </p:nvSpPr>
        <p:spPr>
          <a:xfrm>
            <a:off x="530352" y="6336792"/>
            <a:ext cx="11128248" cy="12801"/>
          </a:xfrm>
          <a:prstGeom prst="rect">
            <a:avLst/>
          </a:prstGeom>
          <a:solidFill>
            <a:srgbClr val="C9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46520"/>
            <a:ext cx="10351008" cy="219456"/>
          </a:xfrm>
          <a:prstGeom prst="rect">
            <a:avLst/>
          </a:prstGeom>
          <a:noFill/>
        </p:spPr>
        <p:txBody>
          <a:bodyPr wrap="square">
            <a:spAutoFit/>
          </a:bodyPr>
          <a:lstStyle/>
          <a:p>
            <a:pPr algn="l"/>
            <a:r>
              <a:rPr sz="900" b="0">
                <a:solidFill>
                  <a:srgbClr val="526574"/>
                </a:solidFill>
                <a:latin typeface="Calibri"/>
              </a:rPr>
              <a:t>methods with committed results: ADMM, PA-ADMM, Pegasos, SMO</a:t>
            </a:r>
          </a:p>
        </p:txBody>
      </p:sp>
      <p:sp>
        <p:nvSpPr>
          <p:cNvPr id="8" name="TextBox 7"/>
          <p:cNvSpPr txBox="1"/>
          <p:nvPr/>
        </p:nvSpPr>
        <p:spPr>
          <a:xfrm>
            <a:off x="11109960" y="6419088"/>
            <a:ext cx="566928" cy="274320"/>
          </a:xfrm>
          <a:prstGeom prst="rect">
            <a:avLst/>
          </a:prstGeom>
          <a:noFill/>
        </p:spPr>
        <p:txBody>
          <a:bodyPr wrap="square">
            <a:spAutoFit/>
          </a:bodyPr>
          <a:lstStyle/>
          <a:p>
            <a:pPr algn="l"/>
            <a:r>
              <a:rPr sz="1000" b="0">
                <a:solidFill>
                  <a:srgbClr val="526574"/>
                </a:solidFill>
                <a:latin typeface="Calibri"/>
              </a:rPr>
              <a:t>IV · 06</a:t>
            </a:r>
          </a:p>
        </p:txBody>
      </p:sp>
      <p:graphicFrame>
        <p:nvGraphicFramePr>
          <p:cNvPr id="9" name="Table 8"/>
          <p:cNvGraphicFramePr>
            <a:graphicFrameLocks noGrp="1"/>
          </p:cNvGraphicFramePr>
          <p:nvPr/>
        </p:nvGraphicFramePr>
        <p:xfrm>
          <a:off x="530352" y="1517904"/>
          <a:ext cx="10515597" cy="1737360"/>
        </p:xfrm>
        <a:graphic>
          <a:graphicData uri="http://schemas.openxmlformats.org/drawingml/2006/table">
            <a:tbl>
              <a:tblPr firstRow="1" bandRow="1">
                <a:tableStyleId>{5C22544A-7EE6-4342-B048-85BDC9FD1C3A}</a:tableStyleId>
              </a:tblPr>
              <a:tblGrid>
                <a:gridCol w="1929467"/>
                <a:gridCol w="2122414"/>
                <a:gridCol w="964733"/>
                <a:gridCol w="4437776"/>
                <a:gridCol w="1061207"/>
              </a:tblGrid>
              <a:tr h="347472">
                <a:tc>
                  <a:txBody>
                    <a:bodyPr wrap="square"/>
                    <a:lstStyle/>
                    <a:p>
                      <a:r>
                        <a:rPr sz="1100" b="1">
                          <a:solidFill>
                            <a:srgbClr val="FFFFFF"/>
                          </a:solidFill>
                          <a:latin typeface="Calibri"/>
                        </a:rPr>
                        <a:t>experiment</a:t>
                      </a:r>
                    </a:p>
                  </a:txBody>
                  <a:tcPr marL="54864" marR="36576" marT="18288" marB="18288">
                    <a:solidFill>
                      <a:srgbClr val="A02337"/>
                    </a:solidFill>
                  </a:tcPr>
                </a:tc>
                <a:tc>
                  <a:txBody>
                    <a:bodyPr wrap="square"/>
                    <a:lstStyle/>
                    <a:p>
                      <a:r>
                        <a:rPr sz="1100" b="1">
                          <a:solidFill>
                            <a:srgbClr val="FFFFFF"/>
                          </a:solidFill>
                          <a:latin typeface="Calibri"/>
                        </a:rPr>
                        <a:t>training rows</a:t>
                      </a:r>
                    </a:p>
                  </a:txBody>
                  <a:tcPr marL="54864" marR="36576" marT="18288" marB="18288">
                    <a:solidFill>
                      <a:srgbClr val="A02337"/>
                    </a:solidFill>
                  </a:tcPr>
                </a:tc>
                <a:tc>
                  <a:txBody>
                    <a:bodyPr wrap="square"/>
                    <a:lstStyle/>
                    <a:p>
                      <a:r>
                        <a:rPr sz="1100" b="1">
                          <a:solidFill>
                            <a:srgbClr val="FFFFFF"/>
                          </a:solidFill>
                          <a:latin typeface="Calibri"/>
                        </a:rPr>
                        <a:t>seeds</a:t>
                      </a:r>
                    </a:p>
                  </a:txBody>
                  <a:tcPr marL="54864" marR="36576" marT="18288" marB="18288">
                    <a:solidFill>
                      <a:srgbClr val="A02337"/>
                    </a:solidFill>
                  </a:tcPr>
                </a:tc>
                <a:tc>
                  <a:txBody>
                    <a:bodyPr wrap="square"/>
                    <a:lstStyle/>
                    <a:p>
                      <a:r>
                        <a:rPr sz="1100" b="1">
                          <a:solidFill>
                            <a:srgbClr val="FFFFFF"/>
                          </a:solidFill>
                          <a:latin typeface="Calibri"/>
                        </a:rPr>
                        <a:t>successful fits by method</a:t>
                      </a:r>
                    </a:p>
                  </a:txBody>
                  <a:tcPr marL="54864" marR="36576" marT="18288" marB="18288">
                    <a:solidFill>
                      <a:srgbClr val="A02337"/>
                    </a:solidFill>
                  </a:tcPr>
                </a:tc>
                <a:tc>
                  <a:txBody>
                    <a:bodyPr wrap="square"/>
                    <a:lstStyle/>
                    <a:p>
                      <a:r>
                        <a:rPr sz="1100" b="1">
                          <a:solidFill>
                            <a:srgbClr val="FFFFFF"/>
                          </a:solidFill>
                          <a:latin typeface="Calibri"/>
                        </a:rPr>
                        <a:t>reused</a:t>
                      </a:r>
                    </a:p>
                  </a:txBody>
                  <a:tcPr marL="54864" marR="36576" marT="18288" marB="18288">
                    <a:solidFill>
                      <a:srgbClr val="A02337"/>
                    </a:solidFill>
                  </a:tcPr>
                </a:tc>
              </a:tr>
              <a:tr h="347472">
                <a:tc>
                  <a:txBody>
                    <a:bodyPr wrap="square"/>
                    <a:lstStyle/>
                    <a:p>
                      <a:r>
                        <a:rPr sz="1100" b="0">
                          <a:solidFill>
                            <a:srgbClr val="182B3A"/>
                          </a:solidFill>
                          <a:latin typeface="Calibri"/>
                        </a:rPr>
                        <a:t>correctness</a:t>
                      </a:r>
                    </a:p>
                  </a:txBody>
                  <a:tcPr marL="54864" marR="36576" marT="18288" marB="18288">
                    <a:solidFill>
                      <a:srgbClr val="FFFFFF"/>
                    </a:solidFill>
                  </a:tcPr>
                </a:tc>
                <a:tc>
                  <a:txBody>
                    <a:bodyPr wrap="square"/>
                    <a:lstStyle/>
                    <a:p>
                      <a:r>
                        <a:rPr sz="1100" b="0">
                          <a:solidFill>
                            <a:srgbClr val="182B3A"/>
                          </a:solidFill>
                          <a:latin typeface="Calibri"/>
                        </a:rPr>
                        <a:t>7,000 train</a:t>
                      </a:r>
                    </a:p>
                  </a:txBody>
                  <a:tcPr marL="54864" marR="36576" marT="18288" marB="18288">
                    <a:solidFill>
                      <a:srgbClr val="FFFFFF"/>
                    </a:solidFill>
                  </a:tcPr>
                </a:tc>
                <a:tc>
                  <a:txBody>
                    <a:bodyPr wrap="square"/>
                    <a:lstStyle/>
                    <a:p>
                      <a:r>
                        <a:rPr sz="1100" b="0">
                          <a:solidFill>
                            <a:srgbClr val="182B3A"/>
                          </a:solidFill>
                          <a:latin typeface="Calibri"/>
                        </a:rPr>
                        <a:t>1</a:t>
                      </a:r>
                    </a:p>
                  </a:txBody>
                  <a:tcPr marL="54864" marR="36576" marT="18288" marB="18288">
                    <a:solidFill>
                      <a:srgbClr val="FFFFFF"/>
                    </a:solidFill>
                  </a:tcPr>
                </a:tc>
                <a:tc>
                  <a:txBody>
                    <a:bodyPr wrap="square"/>
                    <a:lstStyle/>
                    <a:p>
                      <a:r>
                        <a:rPr sz="1100" b="0">
                          <a:solidFill>
                            <a:srgbClr val="182B3A"/>
                          </a:solidFill>
                          <a:latin typeface="Calibri"/>
                        </a:rPr>
                        <a:t>SMO: 1 · Pegasos: 1 · ADMM: 1 · PA-ADMM: 1</a:t>
                      </a:r>
                    </a:p>
                  </a:txBody>
                  <a:tcPr marL="54864" marR="36576" marT="18288" marB="18288">
                    <a:solidFill>
                      <a:srgbClr val="FFFFFF"/>
                    </a:solidFill>
                  </a:tcPr>
                </a:tc>
                <a:tc>
                  <a:txBody>
                    <a:bodyPr wrap="square"/>
                    <a:lstStyle/>
                    <a:p>
                      <a:r>
                        <a:rPr sz="1100" b="0">
                          <a:solidFill>
                            <a:srgbClr val="182B3A"/>
                          </a:solidFill>
                          <a:latin typeface="Calibri"/>
                        </a:rPr>
                        <a:t>0</a:t>
                      </a:r>
                    </a:p>
                  </a:txBody>
                  <a:tcPr marL="54864" marR="36576" marT="18288" marB="18288">
                    <a:solidFill>
                      <a:srgbClr val="FFFFFF"/>
                    </a:solidFill>
                  </a:tcPr>
                </a:tc>
              </a:tr>
              <a:tr h="347472">
                <a:tc>
                  <a:txBody>
                    <a:bodyPr wrap="square"/>
                    <a:lstStyle/>
                    <a:p>
                      <a:r>
                        <a:rPr sz="1100" b="0">
                          <a:solidFill>
                            <a:srgbClr val="182B3A"/>
                          </a:solidFill>
                          <a:latin typeface="Calibri"/>
                        </a:rPr>
                        <a:t>main_capped</a:t>
                      </a:r>
                    </a:p>
                  </a:txBody>
                  <a:tcPr marL="54864" marR="36576" marT="18288" marB="18288">
                    <a:solidFill>
                      <a:srgbClr val="F2F4F6"/>
                    </a:solidFill>
                  </a:tcPr>
                </a:tc>
                <a:tc>
                  <a:txBody>
                    <a:bodyPr wrap="square"/>
                    <a:lstStyle/>
                    <a:p>
                      <a:r>
                        <a:rPr sz="1100" b="0">
                          <a:solidFill>
                            <a:srgbClr val="182B3A"/>
                          </a:solidFill>
                          <a:latin typeface="Calibri"/>
                        </a:rPr>
                        <a:t>7,000 train</a:t>
                      </a:r>
                    </a:p>
                  </a:txBody>
                  <a:tcPr marL="54864" marR="36576" marT="18288" marB="18288">
                    <a:solidFill>
                      <a:srgbClr val="F2F4F6"/>
                    </a:solidFill>
                  </a:tcPr>
                </a:tc>
                <a:tc>
                  <a:txBody>
                    <a:bodyPr wrap="square"/>
                    <a:lstStyle/>
                    <a:p>
                      <a:r>
                        <a:rPr sz="1100" b="0">
                          <a:solidFill>
                            <a:srgbClr val="182B3A"/>
                          </a:solidFill>
                          <a:latin typeface="Calibri"/>
                        </a:rPr>
                        <a:t>3</a:t>
                      </a:r>
                    </a:p>
                  </a:txBody>
                  <a:tcPr marL="54864" marR="36576" marT="18288" marB="18288">
                    <a:solidFill>
                      <a:srgbClr val="F2F4F6"/>
                    </a:solidFill>
                  </a:tcPr>
                </a:tc>
                <a:tc>
                  <a:txBody>
                    <a:bodyPr wrap="square"/>
                    <a:lstStyle/>
                    <a:p>
                      <a:r>
                        <a:rPr sz="1100" b="0">
                          <a:solidFill>
                            <a:srgbClr val="182B3A"/>
                          </a:solidFill>
                          <a:latin typeface="Calibri"/>
                        </a:rPr>
                        <a:t>SMO: 9 · Pegasos: 9 · ADMM: 9 · PA-ADMM: 9</a:t>
                      </a:r>
                    </a:p>
                  </a:txBody>
                  <a:tcPr marL="54864" marR="36576" marT="18288" marB="18288">
                    <a:solidFill>
                      <a:srgbClr val="F2F4F6"/>
                    </a:solidFill>
                  </a:tcPr>
                </a:tc>
                <a:tc>
                  <a:txBody>
                    <a:bodyPr wrap="square"/>
                    <a:lstStyle/>
                    <a:p>
                      <a:r>
                        <a:rPr sz="1100" b="0">
                          <a:solidFill>
                            <a:srgbClr val="182B3A"/>
                          </a:solidFill>
                          <a:latin typeface="Calibri"/>
                        </a:rPr>
                        <a:t>27</a:t>
                      </a:r>
                    </a:p>
                  </a:txBody>
                  <a:tcPr marL="54864" marR="36576" marT="18288" marB="18288">
                    <a:solidFill>
                      <a:srgbClr val="F2F4F6"/>
                    </a:solidFill>
                  </a:tcPr>
                </a:tc>
              </a:tr>
              <a:tr h="347472">
                <a:tc>
                  <a:txBody>
                    <a:bodyPr wrap="square"/>
                    <a:lstStyle/>
                    <a:p>
                      <a:r>
                        <a:rPr sz="1100" b="0">
                          <a:solidFill>
                            <a:srgbClr val="182B3A"/>
                          </a:solidFill>
                          <a:latin typeface="Calibri"/>
                        </a:rPr>
                        <a:t>main_fast</a:t>
                      </a:r>
                    </a:p>
                  </a:txBody>
                  <a:tcPr marL="54864" marR="36576" marT="18288" marB="18288">
                    <a:solidFill>
                      <a:srgbClr val="FFFFFF"/>
                    </a:solidFill>
                  </a:tcPr>
                </a:tc>
                <a:tc>
                  <a:txBody>
                    <a:bodyPr wrap="square"/>
                    <a:lstStyle/>
                    <a:p>
                      <a:r>
                        <a:rPr sz="1100" b="0">
                          <a:solidFill>
                            <a:srgbClr val="182B3A"/>
                          </a:solidFill>
                          <a:latin typeface="Calibri"/>
                        </a:rPr>
                        <a:t>34,999 train</a:t>
                      </a:r>
                    </a:p>
                  </a:txBody>
                  <a:tcPr marL="54864" marR="36576" marT="18288" marB="18288">
                    <a:solidFill>
                      <a:srgbClr val="FFFFFF"/>
                    </a:solidFill>
                  </a:tcPr>
                </a:tc>
                <a:tc>
                  <a:txBody>
                    <a:bodyPr wrap="square"/>
                    <a:lstStyle/>
                    <a:p>
                      <a:r>
                        <a:rPr sz="1100" b="0">
                          <a:solidFill>
                            <a:srgbClr val="182B3A"/>
                          </a:solidFill>
                          <a:latin typeface="Calibri"/>
                        </a:rPr>
                        <a:t>3</a:t>
                      </a:r>
                    </a:p>
                  </a:txBody>
                  <a:tcPr marL="54864" marR="36576" marT="18288" marB="18288">
                    <a:solidFill>
                      <a:srgbClr val="FFFFFF"/>
                    </a:solidFill>
                  </a:tcPr>
                </a:tc>
                <a:tc>
                  <a:txBody>
                    <a:bodyPr wrap="square"/>
                    <a:lstStyle/>
                    <a:p>
                      <a:r>
                        <a:rPr sz="1100" b="0">
                          <a:solidFill>
                            <a:srgbClr val="182B3A"/>
                          </a:solidFill>
                          <a:latin typeface="Calibri"/>
                        </a:rPr>
                        <a:t>SMO: 9 · Pegasos: 9 · ADMM: 9 · PA-ADMM: 9</a:t>
                      </a:r>
                    </a:p>
                  </a:txBody>
                  <a:tcPr marL="54864" marR="36576" marT="18288" marB="18288">
                    <a:solidFill>
                      <a:srgbClr val="FFFFFF"/>
                    </a:solidFill>
                  </a:tcPr>
                </a:tc>
                <a:tc>
                  <a:txBody>
                    <a:bodyPr wrap="square"/>
                    <a:lstStyle/>
                    <a:p>
                      <a:r>
                        <a:rPr sz="1100" b="0">
                          <a:solidFill>
                            <a:srgbClr val="182B3A"/>
                          </a:solidFill>
                          <a:latin typeface="Calibri"/>
                        </a:rPr>
                        <a:t>27</a:t>
                      </a:r>
                    </a:p>
                  </a:txBody>
                  <a:tcPr marL="54864" marR="36576" marT="18288" marB="18288">
                    <a:solidFill>
                      <a:srgbClr val="FFFFFF"/>
                    </a:solidFill>
                  </a:tcPr>
                </a:tc>
              </a:tr>
              <a:tr h="347472">
                <a:tc>
                  <a:txBody>
                    <a:bodyPr wrap="square"/>
                    <a:lstStyle/>
                    <a:p>
                      <a:r>
                        <a:rPr sz="1100" b="0">
                          <a:solidFill>
                            <a:srgbClr val="182B3A"/>
                          </a:solidFill>
                          <a:latin typeface="Calibri"/>
                        </a:rPr>
                        <a:t>main_full</a:t>
                      </a:r>
                    </a:p>
                  </a:txBody>
                  <a:tcPr marL="54864" marR="36576" marT="18288" marB="18288">
                    <a:solidFill>
                      <a:srgbClr val="F2F4F6"/>
                    </a:solidFill>
                  </a:tcPr>
                </a:tc>
                <a:tc>
                  <a:txBody>
                    <a:bodyPr wrap="square"/>
                    <a:lstStyle/>
                    <a:p>
                      <a:r>
                        <a:rPr sz="1100" b="0">
                          <a:solidFill>
                            <a:srgbClr val="182B3A"/>
                          </a:solidFill>
                          <a:latin typeface="Calibri"/>
                        </a:rPr>
                        <a:t>198,608 train</a:t>
                      </a:r>
                    </a:p>
                  </a:txBody>
                  <a:tcPr marL="54864" marR="36576" marT="18288" marB="18288">
                    <a:solidFill>
                      <a:srgbClr val="F2F4F6"/>
                    </a:solidFill>
                  </a:tcPr>
                </a:tc>
                <a:tc>
                  <a:txBody>
                    <a:bodyPr wrap="square"/>
                    <a:lstStyle/>
                    <a:p>
                      <a:r>
                        <a:rPr sz="1100" b="0">
                          <a:solidFill>
                            <a:srgbClr val="182B3A"/>
                          </a:solidFill>
                          <a:latin typeface="Calibri"/>
                        </a:rPr>
                        <a:t>5</a:t>
                      </a:r>
                    </a:p>
                  </a:txBody>
                  <a:tcPr marL="54864" marR="36576" marT="18288" marB="18288">
                    <a:solidFill>
                      <a:srgbClr val="F2F4F6"/>
                    </a:solidFill>
                  </a:tcPr>
                </a:tc>
                <a:tc>
                  <a:txBody>
                    <a:bodyPr wrap="square"/>
                    <a:lstStyle/>
                    <a:p>
                      <a:r>
                        <a:rPr sz="1100" b="0">
                          <a:solidFill>
                            <a:srgbClr val="182B3A"/>
                          </a:solidFill>
                          <a:latin typeface="Calibri"/>
                        </a:rPr>
                        <a:t>SMO: 15 · Pegasos: 15 · ADMM: 15 · PA-ADMM: 15</a:t>
                      </a:r>
                    </a:p>
                  </a:txBody>
                  <a:tcPr marL="54864" marR="36576" marT="18288" marB="18288">
                    <a:solidFill>
                      <a:srgbClr val="F2F4F6"/>
                    </a:solidFill>
                  </a:tcPr>
                </a:tc>
                <a:tc>
                  <a:txBody>
                    <a:bodyPr wrap="square"/>
                    <a:lstStyle/>
                    <a:p>
                      <a:r>
                        <a:rPr sz="1100" b="0">
                          <a:solidFill>
                            <a:srgbClr val="182B3A"/>
                          </a:solidFill>
                          <a:latin typeface="Calibri"/>
                        </a:rPr>
                        <a:t>45</a:t>
                      </a:r>
                    </a:p>
                  </a:txBody>
                  <a:tcPr marL="54864" marR="36576" marT="18288" marB="18288">
                    <a:solidFill>
                      <a:srgbClr val="F2F4F6"/>
                    </a:solidFill>
                  </a:tcPr>
                </a:tc>
              </a:tr>
            </a:tbl>
          </a:graphicData>
        </a:graphic>
      </p:graphicFrame>
      <p:pic>
        <p:nvPicPr>
          <p:cNvPr id="10" name="Picture 9" descr="p4_ladder.png"/>
          <p:cNvPicPr>
            <a:picLocks noChangeAspect="1"/>
          </p:cNvPicPr>
          <p:nvPr/>
        </p:nvPicPr>
        <p:blipFill>
          <a:blip r:embed="rId2"/>
          <a:stretch>
            <a:fillRect/>
          </a:stretch>
        </p:blipFill>
        <p:spPr>
          <a:xfrm>
            <a:off x="502920" y="3703320"/>
            <a:ext cx="6035040" cy="1946787"/>
          </a:xfrm>
          <a:prstGeom prst="rect">
            <a:avLst/>
          </a:prstGeom>
        </p:spPr>
      </p:pic>
      <p:sp>
        <p:nvSpPr>
          <p:cNvPr id="11" name="TextBox 10"/>
          <p:cNvSpPr txBox="1"/>
          <p:nvPr/>
        </p:nvSpPr>
        <p:spPr>
          <a:xfrm>
            <a:off x="6766560" y="3794760"/>
            <a:ext cx="4937760" cy="1737360"/>
          </a:xfrm>
          <a:prstGeom prst="rect">
            <a:avLst/>
          </a:prstGeom>
          <a:noFill/>
        </p:spPr>
        <p:txBody>
          <a:bodyPr wrap="square">
            <a:spAutoFit/>
          </a:bodyPr>
          <a:lstStyle/>
          <a:p>
            <a:pPr algn="l"/>
            <a:r>
              <a:rPr sz="1200" b="0">
                <a:solidFill>
                  <a:srgbClr val="526574"/>
                </a:solidFill>
                <a:latin typeface="Calibri"/>
              </a:rPr>
              <a:t>Ratios 10 / 20 / 50 are trained at their own weights; thresholds and test cost always use the deployment ratio of that run.</a:t>
            </a:r>
          </a:p>
          <a:p>
            <a:pPr algn="l"/>
            <a:r>
              <a:rPr sz="1200" b="0">
                <a:solidFill>
                  <a:srgbClr val="526574"/>
                </a:solidFill>
                <a:latin typeface="Calibri"/>
              </a:rPr>
              <a:t/>
            </a:r>
          </a:p>
          <a:p>
            <a:pPr algn="l"/>
            <a:r>
              <a:rPr sz="1200" b="0">
                <a:solidFill>
                  <a:srgbClr val="526574"/>
                </a:solidFill>
                <a:latin typeface="Calibri"/>
              </a:rPr>
              <a:t>All four registered solvers have recorded runs here; incomplete cells are stated on the results slides.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solidFill>
                  <a:srgbClr val="FFFFFF"/>
                </a:solidFill>
                <a:latin typeface="Calibri"/>
              </a:rPr>
              <a:t>Main results: speed and certified convergence</a:t>
            </a:r>
          </a:p>
        </p:txBody>
      </p:sp>
      <p:sp>
        <p:nvSpPr>
          <p:cNvPr id="3" name="TextBox 2"/>
          <p:cNvSpPr txBox="1"/>
          <p:nvPr/>
        </p:nvSpPr>
        <p:spPr>
          <a:xfrm>
            <a:off x="530352" y="1014984"/>
            <a:ext cx="10415016" cy="219456"/>
          </a:xfrm>
          <a:prstGeom prst="rect">
            <a:avLst/>
          </a:prstGeom>
          <a:noFill/>
        </p:spPr>
        <p:txBody>
          <a:bodyPr wrap="square">
            <a:spAutoFit/>
          </a:bodyPr>
          <a:lstStyle/>
          <a:p>
            <a:pPr algn="l"/>
            <a:r>
              <a:rPr sz="1000" b="1">
                <a:solidFill>
                  <a:srgbClr val="A02337"/>
                </a:solidFill>
                <a:latin typeface="Calibri"/>
              </a:rPr>
              <a:t>PART IV  /  MAIN RESULTS · SPEED</a:t>
            </a:r>
          </a:p>
        </p:txBody>
      </p:sp>
      <p:sp>
        <p:nvSpPr>
          <p:cNvPr id="4" name="Rectangle 3"/>
          <p:cNvSpPr/>
          <p:nvPr/>
        </p:nvSpPr>
        <p:spPr>
          <a:xfrm>
            <a:off x="530352" y="5650992"/>
            <a:ext cx="25603" cy="448056"/>
          </a:xfrm>
          <a:prstGeom prst="rect">
            <a:avLst/>
          </a:prstGeom>
          <a:solidFill>
            <a:srgbClr val="A023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687568"/>
            <a:ext cx="10872216" cy="420624"/>
          </a:xfrm>
          <a:prstGeom prst="rect">
            <a:avLst/>
          </a:prstGeom>
          <a:noFill/>
        </p:spPr>
        <p:txBody>
          <a:bodyPr wrap="square">
            <a:spAutoFit/>
          </a:bodyPr>
          <a:lstStyle/>
          <a:p>
            <a:pPr algn="l"/>
            <a:r>
              <a:rPr sz="1700" b="1">
                <a:solidFill>
                  <a:srgbClr val="A02337"/>
                </a:solidFill>
                <a:latin typeface="Calibri"/>
              </a:rPr>
              <a:t>Only ADMM and PA-ADMM reach the band; certifying seeds is where they diverge</a:t>
            </a:r>
          </a:p>
        </p:txBody>
      </p:sp>
      <p:sp>
        <p:nvSpPr>
          <p:cNvPr id="6" name="Rectangle 5"/>
          <p:cNvSpPr/>
          <p:nvPr/>
        </p:nvSpPr>
        <p:spPr>
          <a:xfrm>
            <a:off x="530352" y="6336792"/>
            <a:ext cx="11128248" cy="12801"/>
          </a:xfrm>
          <a:prstGeom prst="rect">
            <a:avLst/>
          </a:prstGeom>
          <a:solidFill>
            <a:srgbClr val="C9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46520"/>
            <a:ext cx="10351008" cy="219456"/>
          </a:xfrm>
          <a:prstGeom prst="rect">
            <a:avLst/>
          </a:prstGeom>
          <a:noFill/>
        </p:spPr>
        <p:txBody>
          <a:bodyPr wrap="square">
            <a:spAutoFit/>
          </a:bodyPr>
          <a:lstStyle/>
          <a:p>
            <a:pPr algn="l"/>
            <a:r>
              <a:rPr sz="900" b="0">
                <a:solidFill>
                  <a:srgbClr val="526574"/>
                </a:solidFill>
                <a:latin typeface="Calibri"/>
              </a:rPr>
              <a:t>results/tables/main_full_*.csv · 5 seeds × 3 ratios · full data</a:t>
            </a:r>
          </a:p>
        </p:txBody>
      </p:sp>
      <p:sp>
        <p:nvSpPr>
          <p:cNvPr id="8" name="TextBox 7"/>
          <p:cNvSpPr txBox="1"/>
          <p:nvPr/>
        </p:nvSpPr>
        <p:spPr>
          <a:xfrm>
            <a:off x="11109960" y="6419088"/>
            <a:ext cx="566928" cy="274320"/>
          </a:xfrm>
          <a:prstGeom prst="rect">
            <a:avLst/>
          </a:prstGeom>
          <a:noFill/>
        </p:spPr>
        <p:txBody>
          <a:bodyPr wrap="square">
            <a:spAutoFit/>
          </a:bodyPr>
          <a:lstStyle/>
          <a:p>
            <a:pPr algn="l"/>
            <a:r>
              <a:rPr sz="1000" b="0">
                <a:solidFill>
                  <a:srgbClr val="526574"/>
                </a:solidFill>
                <a:latin typeface="Calibri"/>
              </a:rPr>
              <a:t>IV · 07</a:t>
            </a:r>
          </a:p>
        </p:txBody>
      </p:sp>
      <p:pic>
        <p:nvPicPr>
          <p:cNvPr id="9" name="Picture 8" descr="p4_speed.png"/>
          <p:cNvPicPr>
            <a:picLocks noChangeAspect="1"/>
          </p:cNvPicPr>
          <p:nvPr/>
        </p:nvPicPr>
        <p:blipFill>
          <a:blip r:embed="rId2"/>
          <a:stretch>
            <a:fillRect/>
          </a:stretch>
        </p:blipFill>
        <p:spPr>
          <a:xfrm>
            <a:off x="502920" y="1481328"/>
            <a:ext cx="10607040" cy="2512194"/>
          </a:xfrm>
          <a:prstGeom prst="rect">
            <a:avLst/>
          </a:prstGeom>
        </p:spPr>
      </p:pic>
      <p:sp>
        <p:nvSpPr>
          <p:cNvPr id="10" name="TextBox 9"/>
          <p:cNvSpPr txBox="1"/>
          <p:nvPr/>
        </p:nvSpPr>
        <p:spPr>
          <a:xfrm>
            <a:off x="530352" y="4069080"/>
            <a:ext cx="10607040" cy="1371600"/>
          </a:xfrm>
          <a:prstGeom prst="rect">
            <a:avLst/>
          </a:prstGeom>
          <a:noFill/>
        </p:spPr>
        <p:txBody>
          <a:bodyPr wrap="square">
            <a:spAutoFit/>
          </a:bodyPr>
          <a:lstStyle/>
          <a:p>
            <a:pPr algn="l"/>
            <a:r>
              <a:rPr sz="1250" b="0">
                <a:solidFill>
                  <a:srgbClr val="526574"/>
                </a:solidFill>
                <a:latin typeface="Calibri"/>
              </a:rPr>
              <a:t>At 20:1 on the full data, median time-to-tolerance: ADMM 43s, PA-ADMM 49s. SMO and Pegasos never reached the tolerance at 20:1. ADMM and PA-ADMM keep iterating past the tolerance until their own certificate is met; SMO stops at its 100k-update cap and Pegasos at its 5,000-epoch cap, which is why neither enters the band.</a:t>
            </a:r>
          </a:p>
          <a:p>
            <a:pPr algn="l"/>
            <a:r>
              <a:rPr sz="1250" b="0">
                <a:solidFill>
                  <a:srgbClr val="526574"/>
                </a:solidFill>
                <a:latin typeface="Calibri"/>
              </a:rPr>
              <a:t>Right panel counts certified seeds at the hardest ratio 50:1 → ADMM 0/5, PA-ADMM 3/5, Pegasos 0/5, SMO 0/5. Pushing Cᵢ higher makes the QP stiffer; PA-ADMM certifies the most seeds there. SMO exhausted its own 100,000-update limit on 15 of 15 main_full fits after 1393s of a 5400s budget (7/9 already at 35k), finishing 1.6% above the group-best objective. We keep its default cap and report this as a scalability limit of SMO under this protocol, not a wall-clock timeout.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solidFill>
                  <a:srgbClr val="FFFFFF"/>
                </a:solidFill>
                <a:latin typeface="Calibri"/>
              </a:rPr>
              <a:t>Full data at a glance</a:t>
            </a:r>
          </a:p>
        </p:txBody>
      </p:sp>
      <p:sp>
        <p:nvSpPr>
          <p:cNvPr id="3" name="TextBox 2"/>
          <p:cNvSpPr txBox="1"/>
          <p:nvPr/>
        </p:nvSpPr>
        <p:spPr>
          <a:xfrm>
            <a:off x="530352" y="1014984"/>
            <a:ext cx="10415016" cy="219456"/>
          </a:xfrm>
          <a:prstGeom prst="rect">
            <a:avLst/>
          </a:prstGeom>
          <a:noFill/>
        </p:spPr>
        <p:txBody>
          <a:bodyPr wrap="square">
            <a:spAutoFit/>
          </a:bodyPr>
          <a:lstStyle/>
          <a:p>
            <a:pPr algn="l"/>
            <a:r>
              <a:rPr sz="1000" b="1">
                <a:solidFill>
                  <a:srgbClr val="A02337"/>
                </a:solidFill>
                <a:latin typeface="Calibri"/>
              </a:rPr>
              <a:t>PART IV  /  MAIN RESULTS · GRID</a:t>
            </a:r>
          </a:p>
        </p:txBody>
      </p:sp>
      <p:sp>
        <p:nvSpPr>
          <p:cNvPr id="4" name="Rectangle 3"/>
          <p:cNvSpPr/>
          <p:nvPr/>
        </p:nvSpPr>
        <p:spPr>
          <a:xfrm>
            <a:off x="530352" y="5650992"/>
            <a:ext cx="25603" cy="448056"/>
          </a:xfrm>
          <a:prstGeom prst="rect">
            <a:avLst/>
          </a:prstGeom>
          <a:solidFill>
            <a:srgbClr val="A023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687568"/>
            <a:ext cx="10872216" cy="420624"/>
          </a:xfrm>
          <a:prstGeom prst="rect">
            <a:avLst/>
          </a:prstGeom>
          <a:noFill/>
        </p:spPr>
        <p:txBody>
          <a:bodyPr wrap="square">
            <a:spAutoFit/>
          </a:bodyPr>
          <a:lstStyle/>
          <a:p>
            <a:pPr algn="l"/>
            <a:r>
              <a:rPr sz="1700" b="1">
                <a:solidFill>
                  <a:srgbClr val="A02337"/>
                </a:solidFill>
                <a:latin typeface="Calibri"/>
              </a:rPr>
              <a:t>Every cell is the same QP on the same 198,608 training rows</a:t>
            </a:r>
          </a:p>
        </p:txBody>
      </p:sp>
      <p:sp>
        <p:nvSpPr>
          <p:cNvPr id="6" name="Rectangle 5"/>
          <p:cNvSpPr/>
          <p:nvPr/>
        </p:nvSpPr>
        <p:spPr>
          <a:xfrm>
            <a:off x="530352" y="6336792"/>
            <a:ext cx="11128248" cy="12801"/>
          </a:xfrm>
          <a:prstGeom prst="rect">
            <a:avLst/>
          </a:prstGeom>
          <a:solidFill>
            <a:srgbClr val="C9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46520"/>
            <a:ext cx="10351008" cy="219456"/>
          </a:xfrm>
          <a:prstGeom prst="rect">
            <a:avLst/>
          </a:prstGeom>
          <a:noFill/>
        </p:spPr>
        <p:txBody>
          <a:bodyPr wrap="square">
            <a:spAutoFit/>
          </a:bodyPr>
          <a:lstStyle/>
          <a:p>
            <a:pPr algn="l"/>
            <a:r>
              <a:rPr sz="900" b="0">
                <a:solidFill>
                  <a:srgbClr val="526574"/>
                </a:solidFill>
                <a:latin typeface="Calibri"/>
              </a:rPr>
              <a:t>results/raw/main_full · 42,559 test rows with 71 frauds · C = 1 · tolerance 1e-3</a:t>
            </a:r>
          </a:p>
        </p:txBody>
      </p:sp>
      <p:sp>
        <p:nvSpPr>
          <p:cNvPr id="8" name="TextBox 7"/>
          <p:cNvSpPr txBox="1"/>
          <p:nvPr/>
        </p:nvSpPr>
        <p:spPr>
          <a:xfrm>
            <a:off x="11109960" y="6419088"/>
            <a:ext cx="566928" cy="274320"/>
          </a:xfrm>
          <a:prstGeom prst="rect">
            <a:avLst/>
          </a:prstGeom>
          <a:noFill/>
        </p:spPr>
        <p:txBody>
          <a:bodyPr wrap="square">
            <a:spAutoFit/>
          </a:bodyPr>
          <a:lstStyle/>
          <a:p>
            <a:pPr algn="l"/>
            <a:r>
              <a:rPr sz="1000" b="0">
                <a:solidFill>
                  <a:srgbClr val="526574"/>
                </a:solidFill>
                <a:latin typeface="Calibri"/>
              </a:rPr>
              <a:t>IV · 08</a:t>
            </a:r>
          </a:p>
        </p:txBody>
      </p:sp>
      <p:graphicFrame>
        <p:nvGraphicFramePr>
          <p:cNvPr id="9" name="Table 8"/>
          <p:cNvGraphicFramePr>
            <a:graphicFrameLocks noGrp="1"/>
          </p:cNvGraphicFramePr>
          <p:nvPr/>
        </p:nvGraphicFramePr>
        <p:xfrm>
          <a:off x="530352" y="1536192"/>
          <a:ext cx="10515597" cy="3671315"/>
        </p:xfrm>
        <a:graphic>
          <a:graphicData uri="http://schemas.openxmlformats.org/drawingml/2006/table">
            <a:tbl>
              <a:tblPr firstRow="1" bandRow="1">
                <a:tableStyleId>{5C22544A-7EE6-4342-B048-85BDC9FD1C3A}</a:tableStyleId>
              </a:tblPr>
              <a:tblGrid>
                <a:gridCol w="1408339"/>
                <a:gridCol w="751114"/>
                <a:gridCol w="1032782"/>
                <a:gridCol w="1596117"/>
                <a:gridCol w="1314450"/>
                <a:gridCol w="1220560"/>
                <a:gridCol w="1783896"/>
                <a:gridCol w="1408339"/>
              </a:tblGrid>
              <a:tr h="282408">
                <a:tc>
                  <a:txBody>
                    <a:bodyPr wrap="square"/>
                    <a:lstStyle/>
                    <a:p>
                      <a:r>
                        <a:rPr sz="1050" b="1">
                          <a:solidFill>
                            <a:srgbClr val="FFFFFF"/>
                          </a:solidFill>
                          <a:latin typeface="Calibri"/>
                        </a:rPr>
                        <a:t>solver</a:t>
                      </a:r>
                    </a:p>
                  </a:txBody>
                  <a:tcPr marL="54864" marR="36576" marT="18288" marB="18288">
                    <a:solidFill>
                      <a:srgbClr val="A02337"/>
                    </a:solidFill>
                  </a:tcPr>
                </a:tc>
                <a:tc>
                  <a:txBody>
                    <a:bodyPr wrap="square"/>
                    <a:lstStyle/>
                    <a:p>
                      <a:r>
                        <a:rPr sz="1050" b="1">
                          <a:solidFill>
                            <a:srgbClr val="FFFFFF"/>
                          </a:solidFill>
                          <a:latin typeface="Calibri"/>
                        </a:rPr>
                        <a:t>ratio</a:t>
                      </a:r>
                    </a:p>
                  </a:txBody>
                  <a:tcPr marL="54864" marR="36576" marT="18288" marB="18288">
                    <a:solidFill>
                      <a:srgbClr val="A02337"/>
                    </a:solidFill>
                  </a:tcPr>
                </a:tc>
                <a:tc>
                  <a:txBody>
                    <a:bodyPr wrap="square"/>
                    <a:lstStyle/>
                    <a:p>
                      <a:r>
                        <a:rPr sz="1050" b="1">
                          <a:solidFill>
                            <a:srgbClr val="FFFFFF"/>
                          </a:solidFill>
                          <a:latin typeface="Calibri"/>
                        </a:rPr>
                        <a:t>certified</a:t>
                      </a:r>
                    </a:p>
                  </a:txBody>
                  <a:tcPr marL="54864" marR="36576" marT="18288" marB="18288">
                    <a:solidFill>
                      <a:srgbClr val="A02337"/>
                    </a:solidFill>
                  </a:tcPr>
                </a:tc>
                <a:tc>
                  <a:txBody>
                    <a:bodyPr wrap="square"/>
                    <a:lstStyle/>
                    <a:p>
                      <a:r>
                        <a:rPr sz="1050" b="1">
                          <a:solidFill>
                            <a:srgbClr val="FFFFFF"/>
                          </a:solidFill>
                          <a:latin typeface="Calibri"/>
                        </a:rPr>
                        <a:t>median t-to-tol (s)</a:t>
                      </a:r>
                    </a:p>
                  </a:txBody>
                  <a:tcPr marL="54864" marR="36576" marT="18288" marB="18288">
                    <a:solidFill>
                      <a:srgbClr val="A02337"/>
                    </a:solidFill>
                  </a:tcPr>
                </a:tc>
                <a:tc>
                  <a:txBody>
                    <a:bodyPr wrap="square"/>
                    <a:lstStyle/>
                    <a:p>
                      <a:r>
                        <a:rPr sz="1050" b="1">
                          <a:solidFill>
                            <a:srgbClr val="FFFFFF"/>
                          </a:solidFill>
                          <a:latin typeface="Calibri"/>
                        </a:rPr>
                        <a:t>median fit (s)</a:t>
                      </a:r>
                    </a:p>
                  </a:txBody>
                  <a:tcPr marL="54864" marR="36576" marT="18288" marB="18288">
                    <a:solidFill>
                      <a:srgbClr val="A02337"/>
                    </a:solidFill>
                  </a:tcPr>
                </a:tc>
                <a:tc>
                  <a:txBody>
                    <a:bodyPr wrap="square"/>
                    <a:lstStyle/>
                    <a:p>
                      <a:r>
                        <a:rPr sz="1050" b="1">
                          <a:solidFill>
                            <a:srgbClr val="FFFFFF"/>
                          </a:solidFill>
                          <a:latin typeface="Calibri"/>
                        </a:rPr>
                        <a:t>objective</a:t>
                      </a:r>
                    </a:p>
                  </a:txBody>
                  <a:tcPr marL="54864" marR="36576" marT="18288" marB="18288">
                    <a:solidFill>
                      <a:srgbClr val="A02337"/>
                    </a:solidFill>
                  </a:tcPr>
                </a:tc>
                <a:tc>
                  <a:txBody>
                    <a:bodyPr wrap="square"/>
                    <a:lstStyle/>
                    <a:p>
                      <a:r>
                        <a:rPr sz="1050" b="1">
                          <a:solidFill>
                            <a:srgbClr val="FFFFFF"/>
                          </a:solidFill>
                          <a:latin typeface="Calibri"/>
                        </a:rPr>
                        <a:t>PR-AUC</a:t>
                      </a:r>
                    </a:p>
                  </a:txBody>
                  <a:tcPr marL="54864" marR="36576" marT="18288" marB="18288">
                    <a:solidFill>
                      <a:srgbClr val="A02337"/>
                    </a:solidFill>
                  </a:tcPr>
                </a:tc>
                <a:tc>
                  <a:txBody>
                    <a:bodyPr wrap="square"/>
                    <a:lstStyle/>
                    <a:p>
                      <a:r>
                        <a:rPr sz="1050" b="1">
                          <a:solidFill>
                            <a:srgbClr val="FFFFFF"/>
                          </a:solidFill>
                          <a:latin typeface="Calibri"/>
                        </a:rPr>
                        <a:t>cost / example</a:t>
                      </a:r>
                    </a:p>
                  </a:txBody>
                  <a:tcPr marL="54864" marR="36576" marT="18288" marB="18288">
                    <a:solidFill>
                      <a:srgbClr val="A02337"/>
                    </a:solidFill>
                  </a:tcPr>
                </a:tc>
              </a:tr>
              <a:tr h="282408">
                <a:tc>
                  <a:txBody>
                    <a:bodyPr wrap="square"/>
                    <a:lstStyle/>
                    <a:p>
                      <a:r>
                        <a:rPr sz="1050" b="0">
                          <a:solidFill>
                            <a:srgbClr val="182B3A"/>
                          </a:solidFill>
                          <a:latin typeface="Calibri"/>
                        </a:rPr>
                        <a:t>SMO</a:t>
                      </a:r>
                    </a:p>
                  </a:txBody>
                  <a:tcPr marL="54864" marR="36576" marT="18288" marB="18288">
                    <a:solidFill>
                      <a:srgbClr val="FFFFFF"/>
                    </a:solidFill>
                  </a:tcPr>
                </a:tc>
                <a:tc>
                  <a:txBody>
                    <a:bodyPr wrap="square"/>
                    <a:lstStyle/>
                    <a:p>
                      <a:r>
                        <a:rPr sz="1050" b="0">
                          <a:solidFill>
                            <a:srgbClr val="182B3A"/>
                          </a:solidFill>
                          <a:latin typeface="Calibri"/>
                        </a:rPr>
                        <a:t>10:1</a:t>
                      </a:r>
                    </a:p>
                  </a:txBody>
                  <a:tcPr marL="54864" marR="36576" marT="18288" marB="18288">
                    <a:solidFill>
                      <a:srgbClr val="FFFFFF"/>
                    </a:solidFill>
                  </a:tcPr>
                </a:tc>
                <a:tc>
                  <a:txBody>
                    <a:bodyPr wrap="square"/>
                    <a:lstStyle/>
                    <a:p>
                      <a:r>
                        <a:rPr sz="1050" b="0">
                          <a:solidFill>
                            <a:srgbClr val="182B3A"/>
                          </a:solidFill>
                          <a:latin typeface="Calibri"/>
                        </a:rPr>
                        <a:t>0/5</a:t>
                      </a:r>
                    </a:p>
                  </a:txBody>
                  <a:tcPr marL="54864" marR="36576" marT="18288" marB="18288">
                    <a:solidFill>
                      <a:srgbClr val="FFFFFF"/>
                    </a:solidFill>
                  </a:tcPr>
                </a:tc>
                <a:tc>
                  <a:txBody>
                    <a:bodyPr wrap="square"/>
                    <a:lstStyle/>
                    <a:p>
                      <a:r>
                        <a:rPr sz="1050" b="0">
                          <a:solidFill>
                            <a:srgbClr val="182B3A"/>
                          </a:solidFill>
                          <a:latin typeface="Calibri"/>
                        </a:rPr>
                        <a:t>n/a</a:t>
                      </a:r>
                    </a:p>
                  </a:txBody>
                  <a:tcPr marL="54864" marR="36576" marT="18288" marB="18288">
                    <a:solidFill>
                      <a:srgbClr val="FFFFFF"/>
                    </a:solidFill>
                  </a:tcPr>
                </a:tc>
                <a:tc>
                  <a:txBody>
                    <a:bodyPr wrap="square"/>
                    <a:lstStyle/>
                    <a:p>
                      <a:r>
                        <a:rPr sz="1050" b="0">
                          <a:solidFill>
                            <a:srgbClr val="182B3A"/>
                          </a:solidFill>
                          <a:latin typeface="Calibri"/>
                        </a:rPr>
                        <a:t>1363</a:t>
                      </a:r>
                    </a:p>
                  </a:txBody>
                  <a:tcPr marL="54864" marR="36576" marT="18288" marB="18288">
                    <a:solidFill>
                      <a:srgbClr val="FFFFFF"/>
                    </a:solidFill>
                  </a:tcPr>
                </a:tc>
                <a:tc>
                  <a:txBody>
                    <a:bodyPr wrap="square"/>
                    <a:lstStyle/>
                    <a:p>
                      <a:r>
                        <a:rPr sz="1050" b="0">
                          <a:solidFill>
                            <a:srgbClr val="182B3A"/>
                          </a:solidFill>
                          <a:latin typeface="Calibri"/>
                        </a:rPr>
                        <a:t>1612.3</a:t>
                      </a:r>
                    </a:p>
                  </a:txBody>
                  <a:tcPr marL="54864" marR="36576" marT="18288" marB="18288">
                    <a:solidFill>
                      <a:srgbClr val="FFFFFF"/>
                    </a:solidFill>
                  </a:tcPr>
                </a:tc>
                <a:tc>
                  <a:txBody>
                    <a:bodyPr wrap="square"/>
                    <a:lstStyle/>
                    <a:p>
                      <a:r>
                        <a:rPr sz="1050" b="0">
                          <a:solidFill>
                            <a:srgbClr val="182B3A"/>
                          </a:solidFill>
                          <a:latin typeface="Calibri"/>
                        </a:rPr>
                        <a:t>0.75 ± 0.05</a:t>
                      </a:r>
                    </a:p>
                  </a:txBody>
                  <a:tcPr marL="54864" marR="36576" marT="18288" marB="18288">
                    <a:solidFill>
                      <a:srgbClr val="FFFFFF"/>
                    </a:solidFill>
                  </a:tcPr>
                </a:tc>
                <a:tc>
                  <a:txBody>
                    <a:bodyPr wrap="square"/>
                    <a:lstStyle/>
                    <a:p>
                      <a:r>
                        <a:rPr sz="1050" b="0">
                          <a:solidFill>
                            <a:srgbClr val="182B3A"/>
                          </a:solidFill>
                          <a:latin typeface="Calibri"/>
                        </a:rPr>
                        <a:t>0.00394</a:t>
                      </a:r>
                    </a:p>
                  </a:txBody>
                  <a:tcPr marL="54864" marR="36576" marT="18288" marB="18288">
                    <a:solidFill>
                      <a:srgbClr val="FFFFFF"/>
                    </a:solidFill>
                  </a:tcPr>
                </a:tc>
              </a:tr>
              <a:tr h="282408">
                <a:tc>
                  <a:txBody>
                    <a:bodyPr wrap="square"/>
                    <a:lstStyle/>
                    <a:p>
                      <a:r>
                        <a:rPr sz="1050" b="0">
                          <a:solidFill>
                            <a:srgbClr val="182B3A"/>
                          </a:solidFill>
                          <a:latin typeface="Calibri"/>
                        </a:rPr>
                        <a:t>Pegasos</a:t>
                      </a:r>
                    </a:p>
                  </a:txBody>
                  <a:tcPr marL="54864" marR="36576" marT="18288" marB="18288">
                    <a:solidFill>
                      <a:srgbClr val="F2F4F6"/>
                    </a:solidFill>
                  </a:tcPr>
                </a:tc>
                <a:tc>
                  <a:txBody>
                    <a:bodyPr wrap="square"/>
                    <a:lstStyle/>
                    <a:p>
                      <a:r>
                        <a:rPr sz="1050" b="0">
                          <a:solidFill>
                            <a:srgbClr val="182B3A"/>
                          </a:solidFill>
                          <a:latin typeface="Calibri"/>
                        </a:rPr>
                        <a:t>10:1</a:t>
                      </a:r>
                    </a:p>
                  </a:txBody>
                  <a:tcPr marL="54864" marR="36576" marT="18288" marB="18288">
                    <a:solidFill>
                      <a:srgbClr val="F2F4F6"/>
                    </a:solidFill>
                  </a:tcPr>
                </a:tc>
                <a:tc>
                  <a:txBody>
                    <a:bodyPr wrap="square"/>
                    <a:lstStyle/>
                    <a:p>
                      <a:r>
                        <a:rPr sz="1050" b="0">
                          <a:solidFill>
                            <a:srgbClr val="182B3A"/>
                          </a:solidFill>
                          <a:latin typeface="Calibri"/>
                        </a:rPr>
                        <a:t>0/5</a:t>
                      </a:r>
                    </a:p>
                  </a:txBody>
                  <a:tcPr marL="54864" marR="36576" marT="18288" marB="18288">
                    <a:solidFill>
                      <a:srgbClr val="F2F4F6"/>
                    </a:solidFill>
                  </a:tcPr>
                </a:tc>
                <a:tc>
                  <a:txBody>
                    <a:bodyPr wrap="square"/>
                    <a:lstStyle/>
                    <a:p>
                      <a:r>
                        <a:rPr sz="1050" b="0">
                          <a:solidFill>
                            <a:srgbClr val="182B3A"/>
                          </a:solidFill>
                          <a:latin typeface="Calibri"/>
                        </a:rPr>
                        <a:t>n/a</a:t>
                      </a:r>
                    </a:p>
                  </a:txBody>
                  <a:tcPr marL="54864" marR="36576" marT="18288" marB="18288">
                    <a:solidFill>
                      <a:srgbClr val="F2F4F6"/>
                    </a:solidFill>
                  </a:tcPr>
                </a:tc>
                <a:tc>
                  <a:txBody>
                    <a:bodyPr wrap="square"/>
                    <a:lstStyle/>
                    <a:p>
                      <a:r>
                        <a:rPr sz="1050" b="0">
                          <a:solidFill>
                            <a:srgbClr val="182B3A"/>
                          </a:solidFill>
                          <a:latin typeface="Calibri"/>
                        </a:rPr>
                        <a:t>688</a:t>
                      </a:r>
                    </a:p>
                  </a:txBody>
                  <a:tcPr marL="54864" marR="36576" marT="18288" marB="18288">
                    <a:solidFill>
                      <a:srgbClr val="F2F4F6"/>
                    </a:solidFill>
                  </a:tcPr>
                </a:tc>
                <a:tc>
                  <a:txBody>
                    <a:bodyPr wrap="square"/>
                    <a:lstStyle/>
                    <a:p>
                      <a:r>
                        <a:rPr sz="1050" b="0">
                          <a:solidFill>
                            <a:srgbClr val="182B3A"/>
                          </a:solidFill>
                          <a:latin typeface="Calibri"/>
                        </a:rPr>
                        <a:t>1876.7</a:t>
                      </a:r>
                    </a:p>
                  </a:txBody>
                  <a:tcPr marL="54864" marR="36576" marT="18288" marB="18288">
                    <a:solidFill>
                      <a:srgbClr val="F2F4F6"/>
                    </a:solidFill>
                  </a:tcPr>
                </a:tc>
                <a:tc>
                  <a:txBody>
                    <a:bodyPr wrap="square"/>
                    <a:lstStyle/>
                    <a:p>
                      <a:r>
                        <a:rPr sz="1050" b="0">
                          <a:solidFill>
                            <a:srgbClr val="182B3A"/>
                          </a:solidFill>
                          <a:latin typeface="Calibri"/>
                        </a:rPr>
                        <a:t>0.75 ± 0.05</a:t>
                      </a:r>
                    </a:p>
                  </a:txBody>
                  <a:tcPr marL="54864" marR="36576" marT="18288" marB="18288">
                    <a:solidFill>
                      <a:srgbClr val="F2F4F6"/>
                    </a:solidFill>
                  </a:tcPr>
                </a:tc>
                <a:tc>
                  <a:txBody>
                    <a:bodyPr wrap="square"/>
                    <a:lstStyle/>
                    <a:p>
                      <a:r>
                        <a:rPr sz="1050" b="0">
                          <a:solidFill>
                            <a:srgbClr val="182B3A"/>
                          </a:solidFill>
                          <a:latin typeface="Calibri"/>
                        </a:rPr>
                        <a:t>0.00341</a:t>
                      </a:r>
                    </a:p>
                  </a:txBody>
                  <a:tcPr marL="54864" marR="36576" marT="18288" marB="18288">
                    <a:solidFill>
                      <a:srgbClr val="F2F4F6"/>
                    </a:solidFill>
                  </a:tcPr>
                </a:tc>
              </a:tr>
              <a:tr h="282408">
                <a:tc>
                  <a:txBody>
                    <a:bodyPr wrap="square"/>
                    <a:lstStyle/>
                    <a:p>
                      <a:r>
                        <a:rPr sz="1050" b="0">
                          <a:solidFill>
                            <a:srgbClr val="182B3A"/>
                          </a:solidFill>
                          <a:latin typeface="Calibri"/>
                        </a:rPr>
                        <a:t>ADMM</a:t>
                      </a:r>
                    </a:p>
                  </a:txBody>
                  <a:tcPr marL="54864" marR="36576" marT="18288" marB="18288">
                    <a:solidFill>
                      <a:srgbClr val="FFFFFF"/>
                    </a:solidFill>
                  </a:tcPr>
                </a:tc>
                <a:tc>
                  <a:txBody>
                    <a:bodyPr wrap="square"/>
                    <a:lstStyle/>
                    <a:p>
                      <a:r>
                        <a:rPr sz="1050" b="0">
                          <a:solidFill>
                            <a:srgbClr val="182B3A"/>
                          </a:solidFill>
                          <a:latin typeface="Calibri"/>
                        </a:rPr>
                        <a:t>10:1</a:t>
                      </a:r>
                    </a:p>
                  </a:txBody>
                  <a:tcPr marL="54864" marR="36576" marT="18288" marB="18288">
                    <a:solidFill>
                      <a:srgbClr val="FFFFFF"/>
                    </a:solidFill>
                  </a:tcPr>
                </a:tc>
                <a:tc>
                  <a:txBody>
                    <a:bodyPr wrap="square"/>
                    <a:lstStyle/>
                    <a:p>
                      <a:r>
                        <a:rPr sz="1050" b="0">
                          <a:solidFill>
                            <a:srgbClr val="182B3A"/>
                          </a:solidFill>
                          <a:latin typeface="Calibri"/>
                        </a:rPr>
                        <a:t>4/5</a:t>
                      </a:r>
                    </a:p>
                  </a:txBody>
                  <a:tcPr marL="54864" marR="36576" marT="18288" marB="18288">
                    <a:solidFill>
                      <a:srgbClr val="FFFFFF"/>
                    </a:solidFill>
                  </a:tcPr>
                </a:tc>
                <a:tc>
                  <a:txBody>
                    <a:bodyPr wrap="square"/>
                    <a:lstStyle/>
                    <a:p>
                      <a:r>
                        <a:rPr sz="1050" b="0">
                          <a:solidFill>
                            <a:srgbClr val="182B3A"/>
                          </a:solidFill>
                          <a:latin typeface="Calibri"/>
                        </a:rPr>
                        <a:t>44</a:t>
                      </a:r>
                    </a:p>
                  </a:txBody>
                  <a:tcPr marL="54864" marR="36576" marT="18288" marB="18288">
                    <a:solidFill>
                      <a:srgbClr val="FFFFFF"/>
                    </a:solidFill>
                  </a:tcPr>
                </a:tc>
                <a:tc>
                  <a:txBody>
                    <a:bodyPr wrap="square"/>
                    <a:lstStyle/>
                    <a:p>
                      <a:r>
                        <a:rPr sz="1050" b="0">
                          <a:solidFill>
                            <a:srgbClr val="182B3A"/>
                          </a:solidFill>
                          <a:latin typeface="Calibri"/>
                        </a:rPr>
                        <a:t>411</a:t>
                      </a:r>
                    </a:p>
                  </a:txBody>
                  <a:tcPr marL="54864" marR="36576" marT="18288" marB="18288">
                    <a:solidFill>
                      <a:srgbClr val="FFFFFF"/>
                    </a:solidFill>
                  </a:tcPr>
                </a:tc>
                <a:tc>
                  <a:txBody>
                    <a:bodyPr wrap="square"/>
                    <a:lstStyle/>
                    <a:p>
                      <a:r>
                        <a:rPr sz="1050" b="0">
                          <a:solidFill>
                            <a:srgbClr val="182B3A"/>
                          </a:solidFill>
                          <a:latin typeface="Calibri"/>
                        </a:rPr>
                        <a:t>1584.1</a:t>
                      </a:r>
                    </a:p>
                  </a:txBody>
                  <a:tcPr marL="54864" marR="36576" marT="18288" marB="18288">
                    <a:solidFill>
                      <a:srgbClr val="FFFFFF"/>
                    </a:solidFill>
                  </a:tcPr>
                </a:tc>
                <a:tc>
                  <a:txBody>
                    <a:bodyPr wrap="square"/>
                    <a:lstStyle/>
                    <a:p>
                      <a:r>
                        <a:rPr sz="1050" b="0">
                          <a:solidFill>
                            <a:srgbClr val="182B3A"/>
                          </a:solidFill>
                          <a:latin typeface="Calibri"/>
                        </a:rPr>
                        <a:t>0.75 ± 0.05</a:t>
                      </a:r>
                    </a:p>
                  </a:txBody>
                  <a:tcPr marL="54864" marR="36576" marT="18288" marB="18288">
                    <a:solidFill>
                      <a:srgbClr val="FFFFFF"/>
                    </a:solidFill>
                  </a:tcPr>
                </a:tc>
                <a:tc>
                  <a:txBody>
                    <a:bodyPr wrap="square"/>
                    <a:lstStyle/>
                    <a:p>
                      <a:r>
                        <a:rPr sz="1050" b="0">
                          <a:solidFill>
                            <a:srgbClr val="182B3A"/>
                          </a:solidFill>
                          <a:latin typeface="Calibri"/>
                        </a:rPr>
                        <a:t>0.00380</a:t>
                      </a:r>
                    </a:p>
                  </a:txBody>
                  <a:tcPr marL="54864" marR="36576" marT="18288" marB="18288">
                    <a:solidFill>
                      <a:srgbClr val="FFFFFF"/>
                    </a:solidFill>
                  </a:tcPr>
                </a:tc>
              </a:tr>
              <a:tr h="282408">
                <a:tc>
                  <a:txBody>
                    <a:bodyPr wrap="square"/>
                    <a:lstStyle/>
                    <a:p>
                      <a:r>
                        <a:rPr sz="1050" b="0">
                          <a:solidFill>
                            <a:srgbClr val="182B3A"/>
                          </a:solidFill>
                          <a:latin typeface="Calibri"/>
                        </a:rPr>
                        <a:t>PA-ADMM</a:t>
                      </a:r>
                    </a:p>
                  </a:txBody>
                  <a:tcPr marL="54864" marR="36576" marT="18288" marB="18288">
                    <a:solidFill>
                      <a:srgbClr val="F2F4F6"/>
                    </a:solidFill>
                  </a:tcPr>
                </a:tc>
                <a:tc>
                  <a:txBody>
                    <a:bodyPr wrap="square"/>
                    <a:lstStyle/>
                    <a:p>
                      <a:r>
                        <a:rPr sz="1050" b="0">
                          <a:solidFill>
                            <a:srgbClr val="182B3A"/>
                          </a:solidFill>
                          <a:latin typeface="Calibri"/>
                        </a:rPr>
                        <a:t>10:1</a:t>
                      </a:r>
                    </a:p>
                  </a:txBody>
                  <a:tcPr marL="54864" marR="36576" marT="18288" marB="18288">
                    <a:solidFill>
                      <a:srgbClr val="F2F4F6"/>
                    </a:solidFill>
                  </a:tcPr>
                </a:tc>
                <a:tc>
                  <a:txBody>
                    <a:bodyPr wrap="square"/>
                    <a:lstStyle/>
                    <a:p>
                      <a:r>
                        <a:rPr sz="1050" b="0">
                          <a:solidFill>
                            <a:srgbClr val="182B3A"/>
                          </a:solidFill>
                          <a:latin typeface="Calibri"/>
                        </a:rPr>
                        <a:t>4/5</a:t>
                      </a:r>
                    </a:p>
                  </a:txBody>
                  <a:tcPr marL="54864" marR="36576" marT="18288" marB="18288">
                    <a:solidFill>
                      <a:srgbClr val="F2F4F6"/>
                    </a:solidFill>
                  </a:tcPr>
                </a:tc>
                <a:tc>
                  <a:txBody>
                    <a:bodyPr wrap="square"/>
                    <a:lstStyle/>
                    <a:p>
                      <a:r>
                        <a:rPr sz="1050" b="0">
                          <a:solidFill>
                            <a:srgbClr val="182B3A"/>
                          </a:solidFill>
                          <a:latin typeface="Calibri"/>
                        </a:rPr>
                        <a:t>48</a:t>
                      </a:r>
                    </a:p>
                  </a:txBody>
                  <a:tcPr marL="54864" marR="36576" marT="18288" marB="18288">
                    <a:solidFill>
                      <a:srgbClr val="F2F4F6"/>
                    </a:solidFill>
                  </a:tcPr>
                </a:tc>
                <a:tc>
                  <a:txBody>
                    <a:bodyPr wrap="square"/>
                    <a:lstStyle/>
                    <a:p>
                      <a:r>
                        <a:rPr sz="1050" b="0">
                          <a:solidFill>
                            <a:srgbClr val="182B3A"/>
                          </a:solidFill>
                          <a:latin typeface="Calibri"/>
                        </a:rPr>
                        <a:t>500</a:t>
                      </a:r>
                    </a:p>
                  </a:txBody>
                  <a:tcPr marL="54864" marR="36576" marT="18288" marB="18288">
                    <a:solidFill>
                      <a:srgbClr val="F2F4F6"/>
                    </a:solidFill>
                  </a:tcPr>
                </a:tc>
                <a:tc>
                  <a:txBody>
                    <a:bodyPr wrap="square"/>
                    <a:lstStyle/>
                    <a:p>
                      <a:r>
                        <a:rPr sz="1050" b="0">
                          <a:solidFill>
                            <a:srgbClr val="182B3A"/>
                          </a:solidFill>
                          <a:latin typeface="Calibri"/>
                        </a:rPr>
                        <a:t>1584.1</a:t>
                      </a:r>
                    </a:p>
                  </a:txBody>
                  <a:tcPr marL="54864" marR="36576" marT="18288" marB="18288">
                    <a:solidFill>
                      <a:srgbClr val="F2F4F6"/>
                    </a:solidFill>
                  </a:tcPr>
                </a:tc>
                <a:tc>
                  <a:txBody>
                    <a:bodyPr wrap="square"/>
                    <a:lstStyle/>
                    <a:p>
                      <a:r>
                        <a:rPr sz="1050" b="0">
                          <a:solidFill>
                            <a:srgbClr val="182B3A"/>
                          </a:solidFill>
                          <a:latin typeface="Calibri"/>
                        </a:rPr>
                        <a:t>0.75 ± 0.05</a:t>
                      </a:r>
                    </a:p>
                  </a:txBody>
                  <a:tcPr marL="54864" marR="36576" marT="18288" marB="18288">
                    <a:solidFill>
                      <a:srgbClr val="F2F4F6"/>
                    </a:solidFill>
                  </a:tcPr>
                </a:tc>
                <a:tc>
                  <a:txBody>
                    <a:bodyPr wrap="square"/>
                    <a:lstStyle/>
                    <a:p>
                      <a:r>
                        <a:rPr sz="1050" b="0">
                          <a:solidFill>
                            <a:srgbClr val="182B3A"/>
                          </a:solidFill>
                          <a:latin typeface="Calibri"/>
                        </a:rPr>
                        <a:t>0.00385</a:t>
                      </a:r>
                    </a:p>
                  </a:txBody>
                  <a:tcPr marL="54864" marR="36576" marT="18288" marB="18288">
                    <a:solidFill>
                      <a:srgbClr val="F2F4F6"/>
                    </a:solidFill>
                  </a:tcPr>
                </a:tc>
              </a:tr>
              <a:tr h="282408">
                <a:tc>
                  <a:txBody>
                    <a:bodyPr wrap="square"/>
                    <a:lstStyle/>
                    <a:p>
                      <a:r>
                        <a:rPr sz="1050" b="0">
                          <a:solidFill>
                            <a:srgbClr val="182B3A"/>
                          </a:solidFill>
                          <a:latin typeface="Calibri"/>
                        </a:rPr>
                        <a:t>SMO</a:t>
                      </a:r>
                    </a:p>
                  </a:txBody>
                  <a:tcPr marL="54864" marR="36576" marT="18288" marB="18288">
                    <a:solidFill>
                      <a:srgbClr val="FFFFFF"/>
                    </a:solidFill>
                  </a:tcPr>
                </a:tc>
                <a:tc>
                  <a:txBody>
                    <a:bodyPr wrap="square"/>
                    <a:lstStyle/>
                    <a:p>
                      <a:r>
                        <a:rPr sz="1050" b="0">
                          <a:solidFill>
                            <a:srgbClr val="182B3A"/>
                          </a:solidFill>
                          <a:latin typeface="Calibri"/>
                        </a:rPr>
                        <a:t>20:1</a:t>
                      </a:r>
                    </a:p>
                  </a:txBody>
                  <a:tcPr marL="54864" marR="36576" marT="18288" marB="18288">
                    <a:solidFill>
                      <a:srgbClr val="FFFFFF"/>
                    </a:solidFill>
                  </a:tcPr>
                </a:tc>
                <a:tc>
                  <a:txBody>
                    <a:bodyPr wrap="square"/>
                    <a:lstStyle/>
                    <a:p>
                      <a:r>
                        <a:rPr sz="1050" b="0">
                          <a:solidFill>
                            <a:srgbClr val="182B3A"/>
                          </a:solidFill>
                          <a:latin typeface="Calibri"/>
                        </a:rPr>
                        <a:t>0/5</a:t>
                      </a:r>
                    </a:p>
                  </a:txBody>
                  <a:tcPr marL="54864" marR="36576" marT="18288" marB="18288">
                    <a:solidFill>
                      <a:srgbClr val="FFFFFF"/>
                    </a:solidFill>
                  </a:tcPr>
                </a:tc>
                <a:tc>
                  <a:txBody>
                    <a:bodyPr wrap="square"/>
                    <a:lstStyle/>
                    <a:p>
                      <a:r>
                        <a:rPr sz="1050" b="0">
                          <a:solidFill>
                            <a:srgbClr val="182B3A"/>
                          </a:solidFill>
                          <a:latin typeface="Calibri"/>
                        </a:rPr>
                        <a:t>n/a</a:t>
                      </a:r>
                    </a:p>
                  </a:txBody>
                  <a:tcPr marL="54864" marR="36576" marT="18288" marB="18288">
                    <a:solidFill>
                      <a:srgbClr val="FFFFFF"/>
                    </a:solidFill>
                  </a:tcPr>
                </a:tc>
                <a:tc>
                  <a:txBody>
                    <a:bodyPr wrap="square"/>
                    <a:lstStyle/>
                    <a:p>
                      <a:r>
                        <a:rPr sz="1050" b="0">
                          <a:solidFill>
                            <a:srgbClr val="182B3A"/>
                          </a:solidFill>
                          <a:latin typeface="Calibri"/>
                        </a:rPr>
                        <a:t>1373</a:t>
                      </a:r>
                    </a:p>
                  </a:txBody>
                  <a:tcPr marL="54864" marR="36576" marT="18288" marB="18288">
                    <a:solidFill>
                      <a:srgbClr val="FFFFFF"/>
                    </a:solidFill>
                  </a:tcPr>
                </a:tc>
                <a:tc>
                  <a:txBody>
                    <a:bodyPr wrap="square"/>
                    <a:lstStyle/>
                    <a:p>
                      <a:r>
                        <a:rPr sz="1050" b="0">
                          <a:solidFill>
                            <a:srgbClr val="182B3A"/>
                          </a:solidFill>
                          <a:latin typeface="Calibri"/>
                        </a:rPr>
                        <a:t>2911.8</a:t>
                      </a:r>
                    </a:p>
                  </a:txBody>
                  <a:tcPr marL="54864" marR="36576" marT="18288" marB="18288">
                    <a:solidFill>
                      <a:srgbClr val="FFFFFF"/>
                    </a:solidFill>
                  </a:tcPr>
                </a:tc>
                <a:tc>
                  <a:txBody>
                    <a:bodyPr wrap="square"/>
                    <a:lstStyle/>
                    <a:p>
                      <a:r>
                        <a:rPr sz="1050" b="0">
                          <a:solidFill>
                            <a:srgbClr val="182B3A"/>
                          </a:solidFill>
                          <a:latin typeface="Calibri"/>
                        </a:rPr>
                        <a:t>0.76 ± 0.05</a:t>
                      </a:r>
                    </a:p>
                  </a:txBody>
                  <a:tcPr marL="54864" marR="36576" marT="18288" marB="18288">
                    <a:solidFill>
                      <a:srgbClr val="FFFFFF"/>
                    </a:solidFill>
                  </a:tcPr>
                </a:tc>
                <a:tc>
                  <a:txBody>
                    <a:bodyPr wrap="square"/>
                    <a:lstStyle/>
                    <a:p>
                      <a:r>
                        <a:rPr sz="1050" b="0">
                          <a:solidFill>
                            <a:srgbClr val="182B3A"/>
                          </a:solidFill>
                          <a:latin typeface="Calibri"/>
                        </a:rPr>
                        <a:t>0.00681</a:t>
                      </a:r>
                    </a:p>
                  </a:txBody>
                  <a:tcPr marL="54864" marR="36576" marT="18288" marB="18288">
                    <a:solidFill>
                      <a:srgbClr val="FFFFFF"/>
                    </a:solidFill>
                  </a:tcPr>
                </a:tc>
              </a:tr>
              <a:tr h="282408">
                <a:tc>
                  <a:txBody>
                    <a:bodyPr wrap="square"/>
                    <a:lstStyle/>
                    <a:p>
                      <a:r>
                        <a:rPr sz="1050" b="0">
                          <a:solidFill>
                            <a:srgbClr val="182B3A"/>
                          </a:solidFill>
                          <a:latin typeface="Calibri"/>
                        </a:rPr>
                        <a:t>Pegasos</a:t>
                      </a:r>
                    </a:p>
                  </a:txBody>
                  <a:tcPr marL="54864" marR="36576" marT="18288" marB="18288">
                    <a:solidFill>
                      <a:srgbClr val="F2F4F6"/>
                    </a:solidFill>
                  </a:tcPr>
                </a:tc>
                <a:tc>
                  <a:txBody>
                    <a:bodyPr wrap="square"/>
                    <a:lstStyle/>
                    <a:p>
                      <a:r>
                        <a:rPr sz="1050" b="0">
                          <a:solidFill>
                            <a:srgbClr val="182B3A"/>
                          </a:solidFill>
                          <a:latin typeface="Calibri"/>
                        </a:rPr>
                        <a:t>20:1</a:t>
                      </a:r>
                    </a:p>
                  </a:txBody>
                  <a:tcPr marL="54864" marR="36576" marT="18288" marB="18288">
                    <a:solidFill>
                      <a:srgbClr val="F2F4F6"/>
                    </a:solidFill>
                  </a:tcPr>
                </a:tc>
                <a:tc>
                  <a:txBody>
                    <a:bodyPr wrap="square"/>
                    <a:lstStyle/>
                    <a:p>
                      <a:r>
                        <a:rPr sz="1050" b="0">
                          <a:solidFill>
                            <a:srgbClr val="182B3A"/>
                          </a:solidFill>
                          <a:latin typeface="Calibri"/>
                        </a:rPr>
                        <a:t>0/5</a:t>
                      </a:r>
                    </a:p>
                  </a:txBody>
                  <a:tcPr marL="54864" marR="36576" marT="18288" marB="18288">
                    <a:solidFill>
                      <a:srgbClr val="F2F4F6"/>
                    </a:solidFill>
                  </a:tcPr>
                </a:tc>
                <a:tc>
                  <a:txBody>
                    <a:bodyPr wrap="square"/>
                    <a:lstStyle/>
                    <a:p>
                      <a:r>
                        <a:rPr sz="1050" b="0">
                          <a:solidFill>
                            <a:srgbClr val="182B3A"/>
                          </a:solidFill>
                          <a:latin typeface="Calibri"/>
                        </a:rPr>
                        <a:t>n/a</a:t>
                      </a:r>
                    </a:p>
                  </a:txBody>
                  <a:tcPr marL="54864" marR="36576" marT="18288" marB="18288">
                    <a:solidFill>
                      <a:srgbClr val="F2F4F6"/>
                    </a:solidFill>
                  </a:tcPr>
                </a:tc>
                <a:tc>
                  <a:txBody>
                    <a:bodyPr wrap="square"/>
                    <a:lstStyle/>
                    <a:p>
                      <a:r>
                        <a:rPr sz="1050" b="0">
                          <a:solidFill>
                            <a:srgbClr val="182B3A"/>
                          </a:solidFill>
                          <a:latin typeface="Calibri"/>
                        </a:rPr>
                        <a:t>726</a:t>
                      </a:r>
                    </a:p>
                  </a:txBody>
                  <a:tcPr marL="54864" marR="36576" marT="18288" marB="18288">
                    <a:solidFill>
                      <a:srgbClr val="F2F4F6"/>
                    </a:solidFill>
                  </a:tcPr>
                </a:tc>
                <a:tc>
                  <a:txBody>
                    <a:bodyPr wrap="square"/>
                    <a:lstStyle/>
                    <a:p>
                      <a:r>
                        <a:rPr sz="1050" b="0">
                          <a:solidFill>
                            <a:srgbClr val="182B3A"/>
                          </a:solidFill>
                          <a:latin typeface="Calibri"/>
                        </a:rPr>
                        <a:t>3633.3</a:t>
                      </a:r>
                    </a:p>
                  </a:txBody>
                  <a:tcPr marL="54864" marR="36576" marT="18288" marB="18288">
                    <a:solidFill>
                      <a:srgbClr val="F2F4F6"/>
                    </a:solidFill>
                  </a:tcPr>
                </a:tc>
                <a:tc>
                  <a:txBody>
                    <a:bodyPr wrap="square"/>
                    <a:lstStyle/>
                    <a:p>
                      <a:r>
                        <a:rPr sz="1050" b="0">
                          <a:solidFill>
                            <a:srgbClr val="182B3A"/>
                          </a:solidFill>
                          <a:latin typeface="Calibri"/>
                        </a:rPr>
                        <a:t>0.76 ± 0.05</a:t>
                      </a:r>
                    </a:p>
                  </a:txBody>
                  <a:tcPr marL="54864" marR="36576" marT="18288" marB="18288">
                    <a:solidFill>
                      <a:srgbClr val="F2F4F6"/>
                    </a:solidFill>
                  </a:tcPr>
                </a:tc>
                <a:tc>
                  <a:txBody>
                    <a:bodyPr wrap="square"/>
                    <a:lstStyle/>
                    <a:p>
                      <a:r>
                        <a:rPr sz="1050" b="0">
                          <a:solidFill>
                            <a:srgbClr val="182B3A"/>
                          </a:solidFill>
                          <a:latin typeface="Calibri"/>
                        </a:rPr>
                        <a:t>0.00623</a:t>
                      </a:r>
                    </a:p>
                  </a:txBody>
                  <a:tcPr marL="54864" marR="36576" marT="18288" marB="18288">
                    <a:solidFill>
                      <a:srgbClr val="F2F4F6"/>
                    </a:solidFill>
                  </a:tcPr>
                </a:tc>
              </a:tr>
              <a:tr h="282408">
                <a:tc>
                  <a:txBody>
                    <a:bodyPr wrap="square"/>
                    <a:lstStyle/>
                    <a:p>
                      <a:r>
                        <a:rPr sz="1050" b="0">
                          <a:solidFill>
                            <a:srgbClr val="182B3A"/>
                          </a:solidFill>
                          <a:latin typeface="Calibri"/>
                        </a:rPr>
                        <a:t>ADMM</a:t>
                      </a:r>
                    </a:p>
                  </a:txBody>
                  <a:tcPr marL="54864" marR="36576" marT="18288" marB="18288">
                    <a:solidFill>
                      <a:srgbClr val="FFFFFF"/>
                    </a:solidFill>
                  </a:tcPr>
                </a:tc>
                <a:tc>
                  <a:txBody>
                    <a:bodyPr wrap="square"/>
                    <a:lstStyle/>
                    <a:p>
                      <a:r>
                        <a:rPr sz="1050" b="0">
                          <a:solidFill>
                            <a:srgbClr val="182B3A"/>
                          </a:solidFill>
                          <a:latin typeface="Calibri"/>
                        </a:rPr>
                        <a:t>20:1</a:t>
                      </a:r>
                    </a:p>
                  </a:txBody>
                  <a:tcPr marL="54864" marR="36576" marT="18288" marB="18288">
                    <a:solidFill>
                      <a:srgbClr val="FFFFFF"/>
                    </a:solidFill>
                  </a:tcPr>
                </a:tc>
                <a:tc>
                  <a:txBody>
                    <a:bodyPr wrap="square"/>
                    <a:lstStyle/>
                    <a:p>
                      <a:r>
                        <a:rPr sz="1050" b="0">
                          <a:solidFill>
                            <a:srgbClr val="182B3A"/>
                          </a:solidFill>
                          <a:latin typeface="Calibri"/>
                        </a:rPr>
                        <a:t>3/5</a:t>
                      </a:r>
                    </a:p>
                  </a:txBody>
                  <a:tcPr marL="54864" marR="36576" marT="18288" marB="18288">
                    <a:solidFill>
                      <a:srgbClr val="FFFFFF"/>
                    </a:solidFill>
                  </a:tcPr>
                </a:tc>
                <a:tc>
                  <a:txBody>
                    <a:bodyPr wrap="square"/>
                    <a:lstStyle/>
                    <a:p>
                      <a:r>
                        <a:rPr sz="1050" b="0">
                          <a:solidFill>
                            <a:srgbClr val="182B3A"/>
                          </a:solidFill>
                          <a:latin typeface="Calibri"/>
                        </a:rPr>
                        <a:t>43</a:t>
                      </a:r>
                    </a:p>
                  </a:txBody>
                  <a:tcPr marL="54864" marR="36576" marT="18288" marB="18288">
                    <a:solidFill>
                      <a:srgbClr val="FFFFFF"/>
                    </a:solidFill>
                  </a:tcPr>
                </a:tc>
                <a:tc>
                  <a:txBody>
                    <a:bodyPr wrap="square"/>
                    <a:lstStyle/>
                    <a:p>
                      <a:r>
                        <a:rPr sz="1050" b="0">
                          <a:solidFill>
                            <a:srgbClr val="182B3A"/>
                          </a:solidFill>
                          <a:latin typeface="Calibri"/>
                        </a:rPr>
                        <a:t>360</a:t>
                      </a:r>
                    </a:p>
                  </a:txBody>
                  <a:tcPr marL="54864" marR="36576" marT="18288" marB="18288">
                    <a:solidFill>
                      <a:srgbClr val="FFFFFF"/>
                    </a:solidFill>
                  </a:tcPr>
                </a:tc>
                <a:tc>
                  <a:txBody>
                    <a:bodyPr wrap="square"/>
                    <a:lstStyle/>
                    <a:p>
                      <a:r>
                        <a:rPr sz="1050" b="0">
                          <a:solidFill>
                            <a:srgbClr val="182B3A"/>
                          </a:solidFill>
                          <a:latin typeface="Calibri"/>
                        </a:rPr>
                        <a:t>2877.9</a:t>
                      </a:r>
                    </a:p>
                  </a:txBody>
                  <a:tcPr marL="54864" marR="36576" marT="18288" marB="18288">
                    <a:solidFill>
                      <a:srgbClr val="FFFFFF"/>
                    </a:solidFill>
                  </a:tcPr>
                </a:tc>
                <a:tc>
                  <a:txBody>
                    <a:bodyPr wrap="square"/>
                    <a:lstStyle/>
                    <a:p>
                      <a:r>
                        <a:rPr sz="1050" b="0">
                          <a:solidFill>
                            <a:srgbClr val="182B3A"/>
                          </a:solidFill>
                          <a:latin typeface="Calibri"/>
                        </a:rPr>
                        <a:t>0.76 ± 0.05</a:t>
                      </a:r>
                    </a:p>
                  </a:txBody>
                  <a:tcPr marL="54864" marR="36576" marT="18288" marB="18288">
                    <a:solidFill>
                      <a:srgbClr val="FFFFFF"/>
                    </a:solidFill>
                  </a:tcPr>
                </a:tc>
                <a:tc>
                  <a:txBody>
                    <a:bodyPr wrap="square"/>
                    <a:lstStyle/>
                    <a:p>
                      <a:r>
                        <a:rPr sz="1050" b="0">
                          <a:solidFill>
                            <a:srgbClr val="182B3A"/>
                          </a:solidFill>
                          <a:latin typeface="Calibri"/>
                        </a:rPr>
                        <a:t>0.00648</a:t>
                      </a:r>
                    </a:p>
                  </a:txBody>
                  <a:tcPr marL="54864" marR="36576" marT="18288" marB="18288">
                    <a:solidFill>
                      <a:srgbClr val="FFFFFF"/>
                    </a:solidFill>
                  </a:tcPr>
                </a:tc>
              </a:tr>
              <a:tr h="282408">
                <a:tc>
                  <a:txBody>
                    <a:bodyPr wrap="square"/>
                    <a:lstStyle/>
                    <a:p>
                      <a:r>
                        <a:rPr sz="1050" b="0">
                          <a:solidFill>
                            <a:srgbClr val="182B3A"/>
                          </a:solidFill>
                          <a:latin typeface="Calibri"/>
                        </a:rPr>
                        <a:t>PA-ADMM</a:t>
                      </a:r>
                    </a:p>
                  </a:txBody>
                  <a:tcPr marL="54864" marR="36576" marT="18288" marB="18288">
                    <a:solidFill>
                      <a:srgbClr val="F2F4F6"/>
                    </a:solidFill>
                  </a:tcPr>
                </a:tc>
                <a:tc>
                  <a:txBody>
                    <a:bodyPr wrap="square"/>
                    <a:lstStyle/>
                    <a:p>
                      <a:r>
                        <a:rPr sz="1050" b="0">
                          <a:solidFill>
                            <a:srgbClr val="182B3A"/>
                          </a:solidFill>
                          <a:latin typeface="Calibri"/>
                        </a:rPr>
                        <a:t>20:1</a:t>
                      </a:r>
                    </a:p>
                  </a:txBody>
                  <a:tcPr marL="54864" marR="36576" marT="18288" marB="18288">
                    <a:solidFill>
                      <a:srgbClr val="F2F4F6"/>
                    </a:solidFill>
                  </a:tcPr>
                </a:tc>
                <a:tc>
                  <a:txBody>
                    <a:bodyPr wrap="square"/>
                    <a:lstStyle/>
                    <a:p>
                      <a:r>
                        <a:rPr sz="1050" b="0">
                          <a:solidFill>
                            <a:srgbClr val="182B3A"/>
                          </a:solidFill>
                          <a:latin typeface="Calibri"/>
                        </a:rPr>
                        <a:t>5/5</a:t>
                      </a:r>
                    </a:p>
                  </a:txBody>
                  <a:tcPr marL="54864" marR="36576" marT="18288" marB="18288">
                    <a:solidFill>
                      <a:srgbClr val="F2F4F6"/>
                    </a:solidFill>
                  </a:tcPr>
                </a:tc>
                <a:tc>
                  <a:txBody>
                    <a:bodyPr wrap="square"/>
                    <a:lstStyle/>
                    <a:p>
                      <a:r>
                        <a:rPr sz="1050" b="0">
                          <a:solidFill>
                            <a:srgbClr val="182B3A"/>
                          </a:solidFill>
                          <a:latin typeface="Calibri"/>
                        </a:rPr>
                        <a:t>49</a:t>
                      </a:r>
                    </a:p>
                  </a:txBody>
                  <a:tcPr marL="54864" marR="36576" marT="18288" marB="18288">
                    <a:solidFill>
                      <a:srgbClr val="F2F4F6"/>
                    </a:solidFill>
                  </a:tcPr>
                </a:tc>
                <a:tc>
                  <a:txBody>
                    <a:bodyPr wrap="square"/>
                    <a:lstStyle/>
                    <a:p>
                      <a:r>
                        <a:rPr sz="1050" b="0">
                          <a:solidFill>
                            <a:srgbClr val="182B3A"/>
                          </a:solidFill>
                          <a:latin typeface="Calibri"/>
                        </a:rPr>
                        <a:t>444</a:t>
                      </a:r>
                    </a:p>
                  </a:txBody>
                  <a:tcPr marL="54864" marR="36576" marT="18288" marB="18288">
                    <a:solidFill>
                      <a:srgbClr val="F2F4F6"/>
                    </a:solidFill>
                  </a:tcPr>
                </a:tc>
                <a:tc>
                  <a:txBody>
                    <a:bodyPr wrap="square"/>
                    <a:lstStyle/>
                    <a:p>
                      <a:r>
                        <a:rPr sz="1050" b="0">
                          <a:solidFill>
                            <a:srgbClr val="182B3A"/>
                          </a:solidFill>
                          <a:latin typeface="Calibri"/>
                        </a:rPr>
                        <a:t>2877.9</a:t>
                      </a:r>
                    </a:p>
                  </a:txBody>
                  <a:tcPr marL="54864" marR="36576" marT="18288" marB="18288">
                    <a:solidFill>
                      <a:srgbClr val="F2F4F6"/>
                    </a:solidFill>
                  </a:tcPr>
                </a:tc>
                <a:tc>
                  <a:txBody>
                    <a:bodyPr wrap="square"/>
                    <a:lstStyle/>
                    <a:p>
                      <a:r>
                        <a:rPr sz="1050" b="0">
                          <a:solidFill>
                            <a:srgbClr val="182B3A"/>
                          </a:solidFill>
                          <a:latin typeface="Calibri"/>
                        </a:rPr>
                        <a:t>0.76 ± 0.05</a:t>
                      </a:r>
                    </a:p>
                  </a:txBody>
                  <a:tcPr marL="54864" marR="36576" marT="18288" marB="18288">
                    <a:solidFill>
                      <a:srgbClr val="F2F4F6"/>
                    </a:solidFill>
                  </a:tcPr>
                </a:tc>
                <a:tc>
                  <a:txBody>
                    <a:bodyPr wrap="square"/>
                    <a:lstStyle/>
                    <a:p>
                      <a:r>
                        <a:rPr sz="1050" b="0">
                          <a:solidFill>
                            <a:srgbClr val="182B3A"/>
                          </a:solidFill>
                          <a:latin typeface="Calibri"/>
                        </a:rPr>
                        <a:t>0.00651</a:t>
                      </a:r>
                    </a:p>
                  </a:txBody>
                  <a:tcPr marL="54864" marR="36576" marT="18288" marB="18288">
                    <a:solidFill>
                      <a:srgbClr val="F2F4F6"/>
                    </a:solidFill>
                  </a:tcPr>
                </a:tc>
              </a:tr>
              <a:tr h="282408">
                <a:tc>
                  <a:txBody>
                    <a:bodyPr wrap="square"/>
                    <a:lstStyle/>
                    <a:p>
                      <a:r>
                        <a:rPr sz="1050" b="0">
                          <a:solidFill>
                            <a:srgbClr val="182B3A"/>
                          </a:solidFill>
                          <a:latin typeface="Calibri"/>
                        </a:rPr>
                        <a:t>SMO</a:t>
                      </a:r>
                    </a:p>
                  </a:txBody>
                  <a:tcPr marL="54864" marR="36576" marT="18288" marB="18288">
                    <a:solidFill>
                      <a:srgbClr val="FFFFFF"/>
                    </a:solidFill>
                  </a:tcPr>
                </a:tc>
                <a:tc>
                  <a:txBody>
                    <a:bodyPr wrap="square"/>
                    <a:lstStyle/>
                    <a:p>
                      <a:r>
                        <a:rPr sz="1050" b="0">
                          <a:solidFill>
                            <a:srgbClr val="182B3A"/>
                          </a:solidFill>
                          <a:latin typeface="Calibri"/>
                        </a:rPr>
                        <a:t>50:1</a:t>
                      </a:r>
                    </a:p>
                  </a:txBody>
                  <a:tcPr marL="54864" marR="36576" marT="18288" marB="18288">
                    <a:solidFill>
                      <a:srgbClr val="FFFFFF"/>
                    </a:solidFill>
                  </a:tcPr>
                </a:tc>
                <a:tc>
                  <a:txBody>
                    <a:bodyPr wrap="square"/>
                    <a:lstStyle/>
                    <a:p>
                      <a:r>
                        <a:rPr sz="1050" b="0">
                          <a:solidFill>
                            <a:srgbClr val="182B3A"/>
                          </a:solidFill>
                          <a:latin typeface="Calibri"/>
                        </a:rPr>
                        <a:t>0/5</a:t>
                      </a:r>
                    </a:p>
                  </a:txBody>
                  <a:tcPr marL="54864" marR="36576" marT="18288" marB="18288">
                    <a:solidFill>
                      <a:srgbClr val="FFFFFF"/>
                    </a:solidFill>
                  </a:tcPr>
                </a:tc>
                <a:tc>
                  <a:txBody>
                    <a:bodyPr wrap="square"/>
                    <a:lstStyle/>
                    <a:p>
                      <a:r>
                        <a:rPr sz="1050" b="0">
                          <a:solidFill>
                            <a:srgbClr val="182B3A"/>
                          </a:solidFill>
                          <a:latin typeface="Calibri"/>
                        </a:rPr>
                        <a:t>n/a</a:t>
                      </a:r>
                    </a:p>
                  </a:txBody>
                  <a:tcPr marL="54864" marR="36576" marT="18288" marB="18288">
                    <a:solidFill>
                      <a:srgbClr val="FFFFFF"/>
                    </a:solidFill>
                  </a:tcPr>
                </a:tc>
                <a:tc>
                  <a:txBody>
                    <a:bodyPr wrap="square"/>
                    <a:lstStyle/>
                    <a:p>
                      <a:r>
                        <a:rPr sz="1050" b="0">
                          <a:solidFill>
                            <a:srgbClr val="182B3A"/>
                          </a:solidFill>
                          <a:latin typeface="Calibri"/>
                        </a:rPr>
                        <a:t>1431</a:t>
                      </a:r>
                    </a:p>
                  </a:txBody>
                  <a:tcPr marL="54864" marR="36576" marT="18288" marB="18288">
                    <a:solidFill>
                      <a:srgbClr val="FFFFFF"/>
                    </a:solidFill>
                  </a:tcPr>
                </a:tc>
                <a:tc>
                  <a:txBody>
                    <a:bodyPr wrap="square"/>
                    <a:lstStyle/>
                    <a:p>
                      <a:r>
                        <a:rPr sz="1050" b="0">
                          <a:solidFill>
                            <a:srgbClr val="182B3A"/>
                          </a:solidFill>
                          <a:latin typeface="Calibri"/>
                        </a:rPr>
                        <a:t>6323.1</a:t>
                      </a:r>
                    </a:p>
                  </a:txBody>
                  <a:tcPr marL="54864" marR="36576" marT="18288" marB="18288">
                    <a:solidFill>
                      <a:srgbClr val="FFFFFF"/>
                    </a:solidFill>
                  </a:tcPr>
                </a:tc>
                <a:tc>
                  <a:txBody>
                    <a:bodyPr wrap="square"/>
                    <a:lstStyle/>
                    <a:p>
                      <a:r>
                        <a:rPr sz="1050" b="0">
                          <a:solidFill>
                            <a:srgbClr val="182B3A"/>
                          </a:solidFill>
                          <a:latin typeface="Calibri"/>
                        </a:rPr>
                        <a:t>0.76 ± 0.05</a:t>
                      </a:r>
                    </a:p>
                  </a:txBody>
                  <a:tcPr marL="54864" marR="36576" marT="18288" marB="18288">
                    <a:solidFill>
                      <a:srgbClr val="FFFFFF"/>
                    </a:solidFill>
                  </a:tcPr>
                </a:tc>
                <a:tc>
                  <a:txBody>
                    <a:bodyPr wrap="square"/>
                    <a:lstStyle/>
                    <a:p>
                      <a:r>
                        <a:rPr sz="1050" b="0">
                          <a:solidFill>
                            <a:srgbClr val="182B3A"/>
                          </a:solidFill>
                          <a:latin typeface="Calibri"/>
                        </a:rPr>
                        <a:t>0.01462</a:t>
                      </a:r>
                    </a:p>
                  </a:txBody>
                  <a:tcPr marL="54864" marR="36576" marT="18288" marB="18288">
                    <a:solidFill>
                      <a:srgbClr val="FFFFFF"/>
                    </a:solidFill>
                  </a:tcPr>
                </a:tc>
              </a:tr>
              <a:tr h="282408">
                <a:tc>
                  <a:txBody>
                    <a:bodyPr wrap="square"/>
                    <a:lstStyle/>
                    <a:p>
                      <a:r>
                        <a:rPr sz="1050" b="0">
                          <a:solidFill>
                            <a:srgbClr val="182B3A"/>
                          </a:solidFill>
                          <a:latin typeface="Calibri"/>
                        </a:rPr>
                        <a:t>Pegasos</a:t>
                      </a:r>
                    </a:p>
                  </a:txBody>
                  <a:tcPr marL="54864" marR="36576" marT="18288" marB="18288">
                    <a:solidFill>
                      <a:srgbClr val="F2F4F6"/>
                    </a:solidFill>
                  </a:tcPr>
                </a:tc>
                <a:tc>
                  <a:txBody>
                    <a:bodyPr wrap="square"/>
                    <a:lstStyle/>
                    <a:p>
                      <a:r>
                        <a:rPr sz="1050" b="0">
                          <a:solidFill>
                            <a:srgbClr val="182B3A"/>
                          </a:solidFill>
                          <a:latin typeface="Calibri"/>
                        </a:rPr>
                        <a:t>50:1</a:t>
                      </a:r>
                    </a:p>
                  </a:txBody>
                  <a:tcPr marL="54864" marR="36576" marT="18288" marB="18288">
                    <a:solidFill>
                      <a:srgbClr val="F2F4F6"/>
                    </a:solidFill>
                  </a:tcPr>
                </a:tc>
                <a:tc>
                  <a:txBody>
                    <a:bodyPr wrap="square"/>
                    <a:lstStyle/>
                    <a:p>
                      <a:r>
                        <a:rPr sz="1050" b="0">
                          <a:solidFill>
                            <a:srgbClr val="182B3A"/>
                          </a:solidFill>
                          <a:latin typeface="Calibri"/>
                        </a:rPr>
                        <a:t>0/5</a:t>
                      </a:r>
                    </a:p>
                  </a:txBody>
                  <a:tcPr marL="54864" marR="36576" marT="18288" marB="18288">
                    <a:solidFill>
                      <a:srgbClr val="F2F4F6"/>
                    </a:solidFill>
                  </a:tcPr>
                </a:tc>
                <a:tc>
                  <a:txBody>
                    <a:bodyPr wrap="square"/>
                    <a:lstStyle/>
                    <a:p>
                      <a:r>
                        <a:rPr sz="1050" b="0">
                          <a:solidFill>
                            <a:srgbClr val="182B3A"/>
                          </a:solidFill>
                          <a:latin typeface="Calibri"/>
                        </a:rPr>
                        <a:t>n/a</a:t>
                      </a:r>
                    </a:p>
                  </a:txBody>
                  <a:tcPr marL="54864" marR="36576" marT="18288" marB="18288">
                    <a:solidFill>
                      <a:srgbClr val="F2F4F6"/>
                    </a:solidFill>
                  </a:tcPr>
                </a:tc>
                <a:tc>
                  <a:txBody>
                    <a:bodyPr wrap="square"/>
                    <a:lstStyle/>
                    <a:p>
                      <a:r>
                        <a:rPr sz="1050" b="0">
                          <a:solidFill>
                            <a:srgbClr val="182B3A"/>
                          </a:solidFill>
                          <a:latin typeface="Calibri"/>
                        </a:rPr>
                        <a:t>706</a:t>
                      </a:r>
                    </a:p>
                  </a:txBody>
                  <a:tcPr marL="54864" marR="36576" marT="18288" marB="18288">
                    <a:solidFill>
                      <a:srgbClr val="F2F4F6"/>
                    </a:solidFill>
                  </a:tcPr>
                </a:tc>
                <a:tc>
                  <a:txBody>
                    <a:bodyPr wrap="square"/>
                    <a:lstStyle/>
                    <a:p>
                      <a:r>
                        <a:rPr sz="1050" b="0">
                          <a:solidFill>
                            <a:srgbClr val="182B3A"/>
                          </a:solidFill>
                          <a:latin typeface="Calibri"/>
                        </a:rPr>
                        <a:t>8667.0</a:t>
                      </a:r>
                    </a:p>
                  </a:txBody>
                  <a:tcPr marL="54864" marR="36576" marT="18288" marB="18288">
                    <a:solidFill>
                      <a:srgbClr val="F2F4F6"/>
                    </a:solidFill>
                  </a:tcPr>
                </a:tc>
                <a:tc>
                  <a:txBody>
                    <a:bodyPr wrap="square"/>
                    <a:lstStyle/>
                    <a:p>
                      <a:r>
                        <a:rPr sz="1050" b="0">
                          <a:solidFill>
                            <a:srgbClr val="182B3A"/>
                          </a:solidFill>
                          <a:latin typeface="Calibri"/>
                        </a:rPr>
                        <a:t>0.75 ± 0.05</a:t>
                      </a:r>
                    </a:p>
                  </a:txBody>
                  <a:tcPr marL="54864" marR="36576" marT="18288" marB="18288">
                    <a:solidFill>
                      <a:srgbClr val="F2F4F6"/>
                    </a:solidFill>
                  </a:tcPr>
                </a:tc>
                <a:tc>
                  <a:txBody>
                    <a:bodyPr wrap="square"/>
                    <a:lstStyle/>
                    <a:p>
                      <a:r>
                        <a:rPr sz="1050" b="0">
                          <a:solidFill>
                            <a:srgbClr val="182B3A"/>
                          </a:solidFill>
                          <a:latin typeface="Calibri"/>
                        </a:rPr>
                        <a:t>0.01447</a:t>
                      </a:r>
                    </a:p>
                  </a:txBody>
                  <a:tcPr marL="54864" marR="36576" marT="18288" marB="18288">
                    <a:solidFill>
                      <a:srgbClr val="F2F4F6"/>
                    </a:solidFill>
                  </a:tcPr>
                </a:tc>
              </a:tr>
              <a:tr h="282408">
                <a:tc>
                  <a:txBody>
                    <a:bodyPr wrap="square"/>
                    <a:lstStyle/>
                    <a:p>
                      <a:r>
                        <a:rPr sz="1050" b="0">
                          <a:solidFill>
                            <a:srgbClr val="182B3A"/>
                          </a:solidFill>
                          <a:latin typeface="Calibri"/>
                        </a:rPr>
                        <a:t>ADMM</a:t>
                      </a:r>
                    </a:p>
                  </a:txBody>
                  <a:tcPr marL="54864" marR="36576" marT="18288" marB="18288">
                    <a:solidFill>
                      <a:srgbClr val="FFFFFF"/>
                    </a:solidFill>
                  </a:tcPr>
                </a:tc>
                <a:tc>
                  <a:txBody>
                    <a:bodyPr wrap="square"/>
                    <a:lstStyle/>
                    <a:p>
                      <a:r>
                        <a:rPr sz="1050" b="0">
                          <a:solidFill>
                            <a:srgbClr val="182B3A"/>
                          </a:solidFill>
                          <a:latin typeface="Calibri"/>
                        </a:rPr>
                        <a:t>50:1</a:t>
                      </a:r>
                    </a:p>
                  </a:txBody>
                  <a:tcPr marL="54864" marR="36576" marT="18288" marB="18288">
                    <a:solidFill>
                      <a:srgbClr val="FFFFFF"/>
                    </a:solidFill>
                  </a:tcPr>
                </a:tc>
                <a:tc>
                  <a:txBody>
                    <a:bodyPr wrap="square"/>
                    <a:lstStyle/>
                    <a:p>
                      <a:r>
                        <a:rPr sz="1050" b="0">
                          <a:solidFill>
                            <a:srgbClr val="182B3A"/>
                          </a:solidFill>
                          <a:latin typeface="Calibri"/>
                        </a:rPr>
                        <a:t>0/5</a:t>
                      </a:r>
                    </a:p>
                  </a:txBody>
                  <a:tcPr marL="54864" marR="36576" marT="18288" marB="18288">
                    <a:solidFill>
                      <a:srgbClr val="FFFFFF"/>
                    </a:solidFill>
                  </a:tcPr>
                </a:tc>
                <a:tc>
                  <a:txBody>
                    <a:bodyPr wrap="square"/>
                    <a:lstStyle/>
                    <a:p>
                      <a:r>
                        <a:rPr sz="1050" b="0">
                          <a:solidFill>
                            <a:srgbClr val="182B3A"/>
                          </a:solidFill>
                          <a:latin typeface="Calibri"/>
                        </a:rPr>
                        <a:t>102</a:t>
                      </a:r>
                    </a:p>
                  </a:txBody>
                  <a:tcPr marL="54864" marR="36576" marT="18288" marB="18288">
                    <a:solidFill>
                      <a:srgbClr val="FFFFFF"/>
                    </a:solidFill>
                  </a:tcPr>
                </a:tc>
                <a:tc>
                  <a:txBody>
                    <a:bodyPr wrap="square"/>
                    <a:lstStyle/>
                    <a:p>
                      <a:r>
                        <a:rPr sz="1050" b="0">
                          <a:solidFill>
                            <a:srgbClr val="182B3A"/>
                          </a:solidFill>
                          <a:latin typeface="Calibri"/>
                        </a:rPr>
                        <a:t>565</a:t>
                      </a:r>
                    </a:p>
                  </a:txBody>
                  <a:tcPr marL="54864" marR="36576" marT="18288" marB="18288">
                    <a:solidFill>
                      <a:srgbClr val="FFFFFF"/>
                    </a:solidFill>
                  </a:tcPr>
                </a:tc>
                <a:tc>
                  <a:txBody>
                    <a:bodyPr wrap="square"/>
                    <a:lstStyle/>
                    <a:p>
                      <a:r>
                        <a:rPr sz="1050" b="0">
                          <a:solidFill>
                            <a:srgbClr val="182B3A"/>
                          </a:solidFill>
                          <a:latin typeface="Calibri"/>
                        </a:rPr>
                        <a:t>6214.4</a:t>
                      </a:r>
                    </a:p>
                  </a:txBody>
                  <a:tcPr marL="54864" marR="36576" marT="18288" marB="18288">
                    <a:solidFill>
                      <a:srgbClr val="FFFFFF"/>
                    </a:solidFill>
                  </a:tcPr>
                </a:tc>
                <a:tc>
                  <a:txBody>
                    <a:bodyPr wrap="square"/>
                    <a:lstStyle/>
                    <a:p>
                      <a:r>
                        <a:rPr sz="1050" b="0">
                          <a:solidFill>
                            <a:srgbClr val="182B3A"/>
                          </a:solidFill>
                          <a:latin typeface="Calibri"/>
                        </a:rPr>
                        <a:t>0.76 ± 0.05</a:t>
                      </a:r>
                    </a:p>
                  </a:txBody>
                  <a:tcPr marL="54864" marR="36576" marT="18288" marB="18288">
                    <a:solidFill>
                      <a:srgbClr val="FFFFFF"/>
                    </a:solidFill>
                  </a:tcPr>
                </a:tc>
                <a:tc>
                  <a:txBody>
                    <a:bodyPr wrap="square"/>
                    <a:lstStyle/>
                    <a:p>
                      <a:r>
                        <a:rPr sz="1050" b="0">
                          <a:solidFill>
                            <a:srgbClr val="182B3A"/>
                          </a:solidFill>
                          <a:latin typeface="Calibri"/>
                        </a:rPr>
                        <a:t>0.01462</a:t>
                      </a:r>
                    </a:p>
                  </a:txBody>
                  <a:tcPr marL="54864" marR="36576" marT="18288" marB="18288">
                    <a:solidFill>
                      <a:srgbClr val="FFFFFF"/>
                    </a:solidFill>
                  </a:tcPr>
                </a:tc>
              </a:tr>
              <a:tr h="282419">
                <a:tc>
                  <a:txBody>
                    <a:bodyPr wrap="square"/>
                    <a:lstStyle/>
                    <a:p>
                      <a:r>
                        <a:rPr sz="1050" b="0">
                          <a:solidFill>
                            <a:srgbClr val="182B3A"/>
                          </a:solidFill>
                          <a:latin typeface="Calibri"/>
                        </a:rPr>
                        <a:t>PA-ADMM</a:t>
                      </a:r>
                    </a:p>
                  </a:txBody>
                  <a:tcPr marL="54864" marR="36576" marT="18288" marB="18288">
                    <a:solidFill>
                      <a:srgbClr val="F2F4F6"/>
                    </a:solidFill>
                  </a:tcPr>
                </a:tc>
                <a:tc>
                  <a:txBody>
                    <a:bodyPr wrap="square"/>
                    <a:lstStyle/>
                    <a:p>
                      <a:r>
                        <a:rPr sz="1050" b="0">
                          <a:solidFill>
                            <a:srgbClr val="182B3A"/>
                          </a:solidFill>
                          <a:latin typeface="Calibri"/>
                        </a:rPr>
                        <a:t>50:1</a:t>
                      </a:r>
                    </a:p>
                  </a:txBody>
                  <a:tcPr marL="54864" marR="36576" marT="18288" marB="18288">
                    <a:solidFill>
                      <a:srgbClr val="F2F4F6"/>
                    </a:solidFill>
                  </a:tcPr>
                </a:tc>
                <a:tc>
                  <a:txBody>
                    <a:bodyPr wrap="square"/>
                    <a:lstStyle/>
                    <a:p>
                      <a:r>
                        <a:rPr sz="1050" b="0">
                          <a:solidFill>
                            <a:srgbClr val="182B3A"/>
                          </a:solidFill>
                          <a:latin typeface="Calibri"/>
                        </a:rPr>
                        <a:t>3/5</a:t>
                      </a:r>
                    </a:p>
                  </a:txBody>
                  <a:tcPr marL="54864" marR="36576" marT="18288" marB="18288">
                    <a:solidFill>
                      <a:srgbClr val="F2F4F6"/>
                    </a:solidFill>
                  </a:tcPr>
                </a:tc>
                <a:tc>
                  <a:txBody>
                    <a:bodyPr wrap="square"/>
                    <a:lstStyle/>
                    <a:p>
                      <a:r>
                        <a:rPr sz="1050" b="0">
                          <a:solidFill>
                            <a:srgbClr val="182B3A"/>
                          </a:solidFill>
                          <a:latin typeface="Calibri"/>
                        </a:rPr>
                        <a:t>75</a:t>
                      </a:r>
                    </a:p>
                  </a:txBody>
                  <a:tcPr marL="54864" marR="36576" marT="18288" marB="18288">
                    <a:solidFill>
                      <a:srgbClr val="F2F4F6"/>
                    </a:solidFill>
                  </a:tcPr>
                </a:tc>
                <a:tc>
                  <a:txBody>
                    <a:bodyPr wrap="square"/>
                    <a:lstStyle/>
                    <a:p>
                      <a:r>
                        <a:rPr sz="1050" b="0">
                          <a:solidFill>
                            <a:srgbClr val="182B3A"/>
                          </a:solidFill>
                          <a:latin typeface="Calibri"/>
                        </a:rPr>
                        <a:t>425</a:t>
                      </a:r>
                    </a:p>
                  </a:txBody>
                  <a:tcPr marL="54864" marR="36576" marT="18288" marB="18288">
                    <a:solidFill>
                      <a:srgbClr val="F2F4F6"/>
                    </a:solidFill>
                  </a:tcPr>
                </a:tc>
                <a:tc>
                  <a:txBody>
                    <a:bodyPr wrap="square"/>
                    <a:lstStyle/>
                    <a:p>
                      <a:r>
                        <a:rPr sz="1050" b="0">
                          <a:solidFill>
                            <a:srgbClr val="182B3A"/>
                          </a:solidFill>
                          <a:latin typeface="Calibri"/>
                        </a:rPr>
                        <a:t>6214.2</a:t>
                      </a:r>
                    </a:p>
                  </a:txBody>
                  <a:tcPr marL="54864" marR="36576" marT="18288" marB="18288">
                    <a:solidFill>
                      <a:srgbClr val="F2F4F6"/>
                    </a:solidFill>
                  </a:tcPr>
                </a:tc>
                <a:tc>
                  <a:txBody>
                    <a:bodyPr wrap="square"/>
                    <a:lstStyle/>
                    <a:p>
                      <a:r>
                        <a:rPr sz="1050" b="0">
                          <a:solidFill>
                            <a:srgbClr val="182B3A"/>
                          </a:solidFill>
                          <a:latin typeface="Calibri"/>
                        </a:rPr>
                        <a:t>0.76 ± 0.05</a:t>
                      </a:r>
                    </a:p>
                  </a:txBody>
                  <a:tcPr marL="54864" marR="36576" marT="18288" marB="18288">
                    <a:solidFill>
                      <a:srgbClr val="F2F4F6"/>
                    </a:solidFill>
                  </a:tcPr>
                </a:tc>
                <a:tc>
                  <a:txBody>
                    <a:bodyPr wrap="square"/>
                    <a:lstStyle/>
                    <a:p>
                      <a:r>
                        <a:rPr sz="1050" b="0">
                          <a:solidFill>
                            <a:srgbClr val="182B3A"/>
                          </a:solidFill>
                          <a:latin typeface="Calibri"/>
                        </a:rPr>
                        <a:t>0.01484</a:t>
                      </a:r>
                    </a:p>
                  </a:txBody>
                  <a:tcPr marL="54864" marR="36576" marT="18288" marB="18288">
                    <a:solidFill>
                      <a:srgbClr val="F2F4F6"/>
                    </a:solidFill>
                  </a:tcPr>
                </a:tc>
              </a:tr>
            </a:tbl>
          </a:graphicData>
        </a:graphic>
      </p:graphicFrame>
      <p:sp>
        <p:nvSpPr>
          <p:cNvPr id="10" name="TextBox 9"/>
          <p:cNvSpPr txBox="1"/>
          <p:nvPr/>
        </p:nvSpPr>
        <p:spPr>
          <a:xfrm>
            <a:off x="530352" y="5289803"/>
            <a:ext cx="10607040" cy="274320"/>
          </a:xfrm>
          <a:prstGeom prst="rect">
            <a:avLst/>
          </a:prstGeom>
          <a:noFill/>
        </p:spPr>
        <p:txBody>
          <a:bodyPr wrap="square">
            <a:spAutoFit/>
          </a:bodyPr>
          <a:lstStyle/>
          <a:p>
            <a:pPr algn="l"/>
            <a:r>
              <a:rPr sz="1050" b="0">
                <a:solidFill>
                  <a:srgbClr val="526574"/>
                </a:solidFill>
                <a:latin typeface="Calibri"/>
              </a:rPr>
              <a:t>t-to-tol = median over 5 seeds of the first checkpoint within 0.1% of the best; certified = the solver's stopping certificate; PR-AUC is mean ± seed sd.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solidFill>
                  <a:srgbClr val="FFFFFF"/>
                </a:solidFill>
                <a:latin typeface="Calibri"/>
              </a:rPr>
              <a:t>Performance under the deployment cost model</a:t>
            </a:r>
          </a:p>
        </p:txBody>
      </p:sp>
      <p:sp>
        <p:nvSpPr>
          <p:cNvPr id="3" name="TextBox 2"/>
          <p:cNvSpPr txBox="1"/>
          <p:nvPr/>
        </p:nvSpPr>
        <p:spPr>
          <a:xfrm>
            <a:off x="530352" y="1014984"/>
            <a:ext cx="10415016" cy="219456"/>
          </a:xfrm>
          <a:prstGeom prst="rect">
            <a:avLst/>
          </a:prstGeom>
          <a:noFill/>
        </p:spPr>
        <p:txBody>
          <a:bodyPr wrap="square">
            <a:spAutoFit/>
          </a:bodyPr>
          <a:lstStyle/>
          <a:p>
            <a:pPr algn="l"/>
            <a:r>
              <a:rPr sz="1000" b="1">
                <a:solidFill>
                  <a:srgbClr val="A02337"/>
                </a:solidFill>
                <a:latin typeface="Calibri"/>
              </a:rPr>
              <a:t>PART IV  /  MAIN RESULTS · QUALITY</a:t>
            </a:r>
          </a:p>
        </p:txBody>
      </p:sp>
      <p:sp>
        <p:nvSpPr>
          <p:cNvPr id="4" name="Rectangle 3"/>
          <p:cNvSpPr/>
          <p:nvPr/>
        </p:nvSpPr>
        <p:spPr>
          <a:xfrm>
            <a:off x="530352" y="5650992"/>
            <a:ext cx="25603" cy="448056"/>
          </a:xfrm>
          <a:prstGeom prst="rect">
            <a:avLst/>
          </a:prstGeom>
          <a:solidFill>
            <a:srgbClr val="A023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687568"/>
            <a:ext cx="10872216" cy="420624"/>
          </a:xfrm>
          <a:prstGeom prst="rect">
            <a:avLst/>
          </a:prstGeom>
          <a:noFill/>
        </p:spPr>
        <p:txBody>
          <a:bodyPr wrap="square">
            <a:spAutoFit/>
          </a:bodyPr>
          <a:lstStyle/>
          <a:p>
            <a:pPr algn="l"/>
            <a:r>
              <a:rPr sz="1700" b="1">
                <a:solidFill>
                  <a:srgbClr val="A02337"/>
                </a:solidFill>
                <a:latin typeface="Calibri"/>
              </a:rPr>
              <a:t>Detection quality is set by the data, not by which solver you pick</a:t>
            </a:r>
          </a:p>
        </p:txBody>
      </p:sp>
      <p:sp>
        <p:nvSpPr>
          <p:cNvPr id="6" name="Rectangle 5"/>
          <p:cNvSpPr/>
          <p:nvPr/>
        </p:nvSpPr>
        <p:spPr>
          <a:xfrm>
            <a:off x="530352" y="6336792"/>
            <a:ext cx="11128248" cy="12801"/>
          </a:xfrm>
          <a:prstGeom prst="rect">
            <a:avLst/>
          </a:prstGeom>
          <a:solidFill>
            <a:srgbClr val="C9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46520"/>
            <a:ext cx="10351008" cy="219456"/>
          </a:xfrm>
          <a:prstGeom prst="rect">
            <a:avLst/>
          </a:prstGeom>
          <a:noFill/>
        </p:spPr>
        <p:txBody>
          <a:bodyPr wrap="square">
            <a:spAutoFit/>
          </a:bodyPr>
          <a:lstStyle/>
          <a:p>
            <a:pPr algn="l"/>
            <a:r>
              <a:rPr sz="900" b="0">
                <a:solidFill>
                  <a:srgbClr val="526574"/>
                </a:solidFill>
                <a:latin typeface="Calibri"/>
              </a:rPr>
              <a:t>results/tables/main_full_pr_auc.csv · recall_at_fpr · cost_per_example</a:t>
            </a:r>
          </a:p>
        </p:txBody>
      </p:sp>
      <p:sp>
        <p:nvSpPr>
          <p:cNvPr id="8" name="TextBox 7"/>
          <p:cNvSpPr txBox="1"/>
          <p:nvPr/>
        </p:nvSpPr>
        <p:spPr>
          <a:xfrm>
            <a:off x="11109960" y="6419088"/>
            <a:ext cx="566928" cy="274320"/>
          </a:xfrm>
          <a:prstGeom prst="rect">
            <a:avLst/>
          </a:prstGeom>
          <a:noFill/>
        </p:spPr>
        <p:txBody>
          <a:bodyPr wrap="square">
            <a:spAutoFit/>
          </a:bodyPr>
          <a:lstStyle/>
          <a:p>
            <a:pPr algn="l"/>
            <a:r>
              <a:rPr sz="1000" b="0">
                <a:solidFill>
                  <a:srgbClr val="526574"/>
                </a:solidFill>
                <a:latin typeface="Calibri"/>
              </a:rPr>
              <a:t>IV · 09</a:t>
            </a:r>
          </a:p>
        </p:txBody>
      </p:sp>
      <p:pic>
        <p:nvPicPr>
          <p:cNvPr id="9" name="Picture 8" descr="p4_performance.png"/>
          <p:cNvPicPr>
            <a:picLocks noChangeAspect="1"/>
          </p:cNvPicPr>
          <p:nvPr/>
        </p:nvPicPr>
        <p:blipFill>
          <a:blip r:embed="rId2"/>
          <a:stretch>
            <a:fillRect/>
          </a:stretch>
        </p:blipFill>
        <p:spPr>
          <a:xfrm>
            <a:off x="502920" y="1481328"/>
            <a:ext cx="10607040" cy="2419149"/>
          </a:xfrm>
          <a:prstGeom prst="rect">
            <a:avLst/>
          </a:prstGeom>
        </p:spPr>
      </p:pic>
      <p:sp>
        <p:nvSpPr>
          <p:cNvPr id="10" name="TextBox 9"/>
          <p:cNvSpPr txBox="1"/>
          <p:nvPr/>
        </p:nvSpPr>
        <p:spPr>
          <a:xfrm>
            <a:off x="530352" y="4069080"/>
            <a:ext cx="10607040" cy="1371600"/>
          </a:xfrm>
          <a:prstGeom prst="rect">
            <a:avLst/>
          </a:prstGeom>
          <a:noFill/>
        </p:spPr>
        <p:txBody>
          <a:bodyPr wrap="square">
            <a:spAutoFit/>
          </a:bodyPr>
          <a:lstStyle/>
          <a:p>
            <a:pPr algn="l"/>
            <a:r>
              <a:rPr sz="1250" b="0">
                <a:solidFill>
                  <a:srgbClr val="526574"/>
                </a:solidFill>
                <a:latin typeface="Calibri"/>
              </a:rPr>
              <a:t>Full data, 20:1, PA-ADMM: PR-AUC 0.76, recall at 1% FPR 87.3%, cost 0.00651 per example. The largest between-solver PR-AUC gap is 0.011 while the typical seed-to-seed sd is 0.051, so the ranking is noise, not method quality.</a:t>
            </a:r>
          </a:p>
          <a:p>
            <a:pPr algn="l"/>
            <a:r>
              <a:rPr sz="1250" b="0">
                <a:solidFill>
                  <a:srgbClr val="526574"/>
                </a:solidFill>
                <a:latin typeface="Calibri"/>
              </a:rPr>
              <a:t>Test cost rises with the assumed fraud:legit ratio because the threshold is tuned for that ratio — that is a deployment choice, not a solver defect.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solidFill>
                  <a:srgbClr val="FFFFFF"/>
                </a:solidFill>
                <a:latin typeface="Calibri"/>
              </a:rPr>
              <a:t>What we can and cannot claim</a:t>
            </a:r>
          </a:p>
        </p:txBody>
      </p:sp>
      <p:sp>
        <p:nvSpPr>
          <p:cNvPr id="3" name="TextBox 2"/>
          <p:cNvSpPr txBox="1"/>
          <p:nvPr/>
        </p:nvSpPr>
        <p:spPr>
          <a:xfrm>
            <a:off x="530352" y="1014984"/>
            <a:ext cx="10415016" cy="219456"/>
          </a:xfrm>
          <a:prstGeom prst="rect">
            <a:avLst/>
          </a:prstGeom>
          <a:noFill/>
        </p:spPr>
        <p:txBody>
          <a:bodyPr wrap="square">
            <a:spAutoFit/>
          </a:bodyPr>
          <a:lstStyle/>
          <a:p>
            <a:pPr algn="l"/>
            <a:r>
              <a:rPr sz="1000" b="1">
                <a:solidFill>
                  <a:srgbClr val="A02337"/>
                </a:solidFill>
                <a:latin typeface="Calibri"/>
              </a:rPr>
              <a:t>PART IV  /  FINDINGS</a:t>
            </a:r>
          </a:p>
        </p:txBody>
      </p:sp>
      <p:sp>
        <p:nvSpPr>
          <p:cNvPr id="4" name="Rectangle 3"/>
          <p:cNvSpPr/>
          <p:nvPr/>
        </p:nvSpPr>
        <p:spPr>
          <a:xfrm>
            <a:off x="530352" y="5650992"/>
            <a:ext cx="25603" cy="448056"/>
          </a:xfrm>
          <a:prstGeom prst="rect">
            <a:avLst/>
          </a:prstGeom>
          <a:solidFill>
            <a:srgbClr val="A023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687568"/>
            <a:ext cx="10872216" cy="420624"/>
          </a:xfrm>
          <a:prstGeom prst="rect">
            <a:avLst/>
          </a:prstGeom>
          <a:noFill/>
        </p:spPr>
        <p:txBody>
          <a:bodyPr wrap="square">
            <a:spAutoFit/>
          </a:bodyPr>
          <a:lstStyle/>
          <a:p>
            <a:pPr algn="l"/>
            <a:r>
              <a:rPr sz="1700" b="1">
                <a:solidFill>
                  <a:srgbClr val="A02337"/>
                </a:solidFill>
                <a:latin typeface="Calibri"/>
              </a:rPr>
              <a:t>Certified time-to-solution separates the solvers; detection quality does not</a:t>
            </a:r>
          </a:p>
        </p:txBody>
      </p:sp>
      <p:sp>
        <p:nvSpPr>
          <p:cNvPr id="6" name="Rectangle 5"/>
          <p:cNvSpPr/>
          <p:nvPr/>
        </p:nvSpPr>
        <p:spPr>
          <a:xfrm>
            <a:off x="530352" y="6336792"/>
            <a:ext cx="11128248" cy="12801"/>
          </a:xfrm>
          <a:prstGeom prst="rect">
            <a:avLst/>
          </a:prstGeom>
          <a:solidFill>
            <a:srgbClr val="C9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46520"/>
            <a:ext cx="10351008" cy="219456"/>
          </a:xfrm>
          <a:prstGeom prst="rect">
            <a:avLst/>
          </a:prstGeom>
          <a:noFill/>
        </p:spPr>
        <p:txBody>
          <a:bodyPr wrap="square">
            <a:spAutoFit/>
          </a:bodyPr>
          <a:lstStyle/>
          <a:p>
            <a:pPr algn="l"/>
            <a:r>
              <a:rPr sz="900" b="0">
                <a:solidFill>
                  <a:srgbClr val="526574"/>
                </a:solidFill>
                <a:latin typeface="Calibri"/>
              </a:rPr>
              <a:t>results/tables/main_full_wilcoxon.csv · EXPERIMENTS.md §10</a:t>
            </a:r>
          </a:p>
        </p:txBody>
      </p:sp>
      <p:sp>
        <p:nvSpPr>
          <p:cNvPr id="8" name="TextBox 7"/>
          <p:cNvSpPr txBox="1"/>
          <p:nvPr/>
        </p:nvSpPr>
        <p:spPr>
          <a:xfrm>
            <a:off x="11109960" y="6419088"/>
            <a:ext cx="566928" cy="274320"/>
          </a:xfrm>
          <a:prstGeom prst="rect">
            <a:avLst/>
          </a:prstGeom>
          <a:noFill/>
        </p:spPr>
        <p:txBody>
          <a:bodyPr wrap="square">
            <a:spAutoFit/>
          </a:bodyPr>
          <a:lstStyle/>
          <a:p>
            <a:pPr algn="l"/>
            <a:r>
              <a:rPr sz="1000" b="0">
                <a:solidFill>
                  <a:srgbClr val="526574"/>
                </a:solidFill>
                <a:latin typeface="Calibri"/>
              </a:rPr>
              <a:t>IV · 10</a:t>
            </a:r>
          </a:p>
        </p:txBody>
      </p:sp>
      <p:sp>
        <p:nvSpPr>
          <p:cNvPr id="9" name="TextBox 8"/>
          <p:cNvSpPr txBox="1"/>
          <p:nvPr/>
        </p:nvSpPr>
        <p:spPr>
          <a:xfrm>
            <a:off x="548640" y="1572768"/>
            <a:ext cx="640080" cy="365760"/>
          </a:xfrm>
          <a:prstGeom prst="rect">
            <a:avLst/>
          </a:prstGeom>
          <a:noFill/>
        </p:spPr>
        <p:txBody>
          <a:bodyPr wrap="square">
            <a:spAutoFit/>
          </a:bodyPr>
          <a:lstStyle/>
          <a:p>
            <a:pPr algn="l"/>
            <a:r>
              <a:rPr sz="2200" b="1">
                <a:solidFill>
                  <a:srgbClr val="A02337"/>
                </a:solidFill>
                <a:latin typeface="Calibri"/>
              </a:rPr>
              <a:t>01</a:t>
            </a:r>
          </a:p>
        </p:txBody>
      </p:sp>
      <p:sp>
        <p:nvSpPr>
          <p:cNvPr id="10" name="TextBox 9"/>
          <p:cNvSpPr txBox="1"/>
          <p:nvPr/>
        </p:nvSpPr>
        <p:spPr>
          <a:xfrm>
            <a:off x="1280160" y="1572768"/>
            <a:ext cx="10241280" cy="310896"/>
          </a:xfrm>
          <a:prstGeom prst="rect">
            <a:avLst/>
          </a:prstGeom>
          <a:noFill/>
        </p:spPr>
        <p:txBody>
          <a:bodyPr wrap="square">
            <a:spAutoFit/>
          </a:bodyPr>
          <a:lstStyle/>
          <a:p>
            <a:pPr algn="l"/>
            <a:r>
              <a:rPr sz="1700" b="1">
                <a:solidFill>
                  <a:srgbClr val="182B3A"/>
                </a:solidFill>
                <a:latin typeface="Calibri"/>
              </a:rPr>
              <a:t>The QP solution separates the solvers</a:t>
            </a:r>
          </a:p>
        </p:txBody>
      </p:sp>
      <p:sp>
        <p:nvSpPr>
          <p:cNvPr id="11" name="TextBox 10"/>
          <p:cNvSpPr txBox="1"/>
          <p:nvPr/>
        </p:nvSpPr>
        <p:spPr>
          <a:xfrm>
            <a:off x="1280160" y="1901952"/>
            <a:ext cx="10241280" cy="548640"/>
          </a:xfrm>
          <a:prstGeom prst="rect">
            <a:avLst/>
          </a:prstGeom>
          <a:noFill/>
        </p:spPr>
        <p:txBody>
          <a:bodyPr wrap="square">
            <a:spAutoFit/>
          </a:bodyPr>
          <a:lstStyle/>
          <a:p>
            <a:pPr algn="l"/>
            <a:r>
              <a:rPr sz="1250" b="0">
                <a:solidFill>
                  <a:srgbClr val="526574"/>
                </a:solidFill>
                <a:latin typeface="Calibri"/>
              </a:rPr>
              <a:t>Same fixed-C QP on full data: ADMM and PA-ADMM end within 2.5e-05 of the group best, SMO 1.6% above it because it hits its update cap, Pegasos 18%–39% above it. Only the exact solvers reach the shared tolerance.</a:t>
            </a:r>
          </a:p>
        </p:txBody>
      </p:sp>
      <p:sp>
        <p:nvSpPr>
          <p:cNvPr id="12" name="TextBox 11"/>
          <p:cNvSpPr txBox="1"/>
          <p:nvPr/>
        </p:nvSpPr>
        <p:spPr>
          <a:xfrm>
            <a:off x="548640" y="2505456"/>
            <a:ext cx="640080" cy="365760"/>
          </a:xfrm>
          <a:prstGeom prst="rect">
            <a:avLst/>
          </a:prstGeom>
          <a:noFill/>
        </p:spPr>
        <p:txBody>
          <a:bodyPr wrap="square">
            <a:spAutoFit/>
          </a:bodyPr>
          <a:lstStyle/>
          <a:p>
            <a:pPr algn="l"/>
            <a:r>
              <a:rPr sz="2200" b="1">
                <a:solidFill>
                  <a:srgbClr val="A02337"/>
                </a:solidFill>
                <a:latin typeface="Calibri"/>
              </a:rPr>
              <a:t>02</a:t>
            </a:r>
          </a:p>
        </p:txBody>
      </p:sp>
      <p:sp>
        <p:nvSpPr>
          <p:cNvPr id="13" name="TextBox 12"/>
          <p:cNvSpPr txBox="1"/>
          <p:nvPr/>
        </p:nvSpPr>
        <p:spPr>
          <a:xfrm>
            <a:off x="1280160" y="2505456"/>
            <a:ext cx="10241280" cy="310896"/>
          </a:xfrm>
          <a:prstGeom prst="rect">
            <a:avLst/>
          </a:prstGeom>
          <a:noFill/>
        </p:spPr>
        <p:txBody>
          <a:bodyPr wrap="square">
            <a:spAutoFit/>
          </a:bodyPr>
          <a:lstStyle/>
          <a:p>
            <a:pPr algn="l"/>
            <a:r>
              <a:rPr sz="1700" b="1">
                <a:solidFill>
                  <a:srgbClr val="182B3A"/>
                </a:solidFill>
                <a:latin typeface="Calibri"/>
              </a:rPr>
              <a:t>5 seeds cannot certify a winner</a:t>
            </a:r>
          </a:p>
        </p:txBody>
      </p:sp>
      <p:sp>
        <p:nvSpPr>
          <p:cNvPr id="14" name="TextBox 13"/>
          <p:cNvSpPr txBox="1"/>
          <p:nvPr/>
        </p:nvSpPr>
        <p:spPr>
          <a:xfrm>
            <a:off x="1280160" y="2834640"/>
            <a:ext cx="10241280" cy="548640"/>
          </a:xfrm>
          <a:prstGeom prst="rect">
            <a:avLst/>
          </a:prstGeom>
          <a:noFill/>
        </p:spPr>
        <p:txBody>
          <a:bodyPr wrap="square">
            <a:spAutoFit/>
          </a:bodyPr>
          <a:lstStyle/>
          <a:p>
            <a:pPr algn="l"/>
            <a:r>
              <a:rPr sz="1250" b="0">
                <a:solidFill>
                  <a:srgbClr val="526574"/>
                </a:solidFill>
                <a:latin typeface="Calibri"/>
              </a:rPr>
              <a:t>The smallest two-sided p that 5 paired seeds can produce is 0.062. The objective ordering is unanimous (p = 0.062), but PR-AUC never separates (min p = 0.12): the solver changes how fast and how certifiably you reach the QP solution, not what you detect.</a:t>
            </a:r>
          </a:p>
        </p:txBody>
      </p:sp>
      <p:sp>
        <p:nvSpPr>
          <p:cNvPr id="15" name="TextBox 14"/>
          <p:cNvSpPr txBox="1"/>
          <p:nvPr/>
        </p:nvSpPr>
        <p:spPr>
          <a:xfrm>
            <a:off x="548640" y="3438144"/>
            <a:ext cx="640080" cy="365760"/>
          </a:xfrm>
          <a:prstGeom prst="rect">
            <a:avLst/>
          </a:prstGeom>
          <a:noFill/>
        </p:spPr>
        <p:txBody>
          <a:bodyPr wrap="square">
            <a:spAutoFit/>
          </a:bodyPr>
          <a:lstStyle/>
          <a:p>
            <a:pPr algn="l"/>
            <a:r>
              <a:rPr sz="2200" b="1">
                <a:solidFill>
                  <a:srgbClr val="A02337"/>
                </a:solidFill>
                <a:latin typeface="Calibri"/>
              </a:rPr>
              <a:t>03</a:t>
            </a:r>
          </a:p>
        </p:txBody>
      </p:sp>
      <p:sp>
        <p:nvSpPr>
          <p:cNvPr id="16" name="TextBox 15"/>
          <p:cNvSpPr txBox="1"/>
          <p:nvPr/>
        </p:nvSpPr>
        <p:spPr>
          <a:xfrm>
            <a:off x="1280160" y="3438144"/>
            <a:ext cx="10241280" cy="310896"/>
          </a:xfrm>
          <a:prstGeom prst="rect">
            <a:avLst/>
          </a:prstGeom>
          <a:noFill/>
        </p:spPr>
        <p:txBody>
          <a:bodyPr wrap="square">
            <a:spAutoFit/>
          </a:bodyPr>
          <a:lstStyle/>
          <a:p>
            <a:pPr algn="l"/>
            <a:r>
              <a:rPr sz="1700" b="1">
                <a:solidFill>
                  <a:srgbClr val="182B3A"/>
                </a:solidFill>
                <a:latin typeface="Calibri"/>
              </a:rPr>
              <a:t>Reliability is where the methods differ</a:t>
            </a:r>
          </a:p>
        </p:txBody>
      </p:sp>
      <p:sp>
        <p:nvSpPr>
          <p:cNvPr id="17" name="TextBox 16"/>
          <p:cNvSpPr txBox="1"/>
          <p:nvPr/>
        </p:nvSpPr>
        <p:spPr>
          <a:xfrm>
            <a:off x="1280160" y="3767328"/>
            <a:ext cx="10241280" cy="548640"/>
          </a:xfrm>
          <a:prstGeom prst="rect">
            <a:avLst/>
          </a:prstGeom>
          <a:noFill/>
        </p:spPr>
        <p:txBody>
          <a:bodyPr wrap="square">
            <a:spAutoFit/>
          </a:bodyPr>
          <a:lstStyle/>
          <a:p>
            <a:pPr algn="l"/>
            <a:r>
              <a:rPr sz="1250" b="0">
                <a:solidFill>
                  <a:srgbClr val="526574"/>
                </a:solidFill>
                <a:latin typeface="Calibri"/>
              </a:rPr>
              <a:t>At 50:1 the cold ADMM certified 0/5 seeds while PA-ADMM certified 3/5, for about +60s of extra fit time at 20:1 — the warm start buys convergence, not wall-clock speed.</a:t>
            </a:r>
          </a:p>
        </p:txBody>
      </p:sp>
      <p:sp>
        <p:nvSpPr>
          <p:cNvPr id="18" name="TextBox 17"/>
          <p:cNvSpPr txBox="1"/>
          <p:nvPr/>
        </p:nvSpPr>
        <p:spPr>
          <a:xfrm>
            <a:off x="548640" y="4370832"/>
            <a:ext cx="640080" cy="365760"/>
          </a:xfrm>
          <a:prstGeom prst="rect">
            <a:avLst/>
          </a:prstGeom>
          <a:noFill/>
        </p:spPr>
        <p:txBody>
          <a:bodyPr wrap="square">
            <a:spAutoFit/>
          </a:bodyPr>
          <a:lstStyle/>
          <a:p>
            <a:pPr algn="l"/>
            <a:r>
              <a:rPr sz="2200" b="1">
                <a:solidFill>
                  <a:srgbClr val="A02337"/>
                </a:solidFill>
                <a:latin typeface="Calibri"/>
              </a:rPr>
              <a:t>04</a:t>
            </a:r>
          </a:p>
        </p:txBody>
      </p:sp>
      <p:sp>
        <p:nvSpPr>
          <p:cNvPr id="19" name="TextBox 18"/>
          <p:cNvSpPr txBox="1"/>
          <p:nvPr/>
        </p:nvSpPr>
        <p:spPr>
          <a:xfrm>
            <a:off x="1280160" y="4370832"/>
            <a:ext cx="10241280" cy="310896"/>
          </a:xfrm>
          <a:prstGeom prst="rect">
            <a:avLst/>
          </a:prstGeom>
          <a:noFill/>
        </p:spPr>
        <p:txBody>
          <a:bodyPr wrap="square">
            <a:spAutoFit/>
          </a:bodyPr>
          <a:lstStyle/>
          <a:p>
            <a:pPr algn="l"/>
            <a:r>
              <a:rPr sz="1700" b="1">
                <a:solidFill>
                  <a:srgbClr val="182B3A"/>
                </a:solidFill>
                <a:latin typeface="Calibri"/>
              </a:rPr>
              <a:t>Limits to state openly</a:t>
            </a:r>
          </a:p>
        </p:txBody>
      </p:sp>
      <p:sp>
        <p:nvSpPr>
          <p:cNvPr id="20" name="TextBox 19"/>
          <p:cNvSpPr txBox="1"/>
          <p:nvPr/>
        </p:nvSpPr>
        <p:spPr>
          <a:xfrm>
            <a:off x="1280160" y="4700016"/>
            <a:ext cx="10241280" cy="548640"/>
          </a:xfrm>
          <a:prstGeom prst="rect">
            <a:avLst/>
          </a:prstGeom>
          <a:noFill/>
        </p:spPr>
        <p:txBody>
          <a:bodyPr wrap="square">
            <a:spAutoFit/>
          </a:bodyPr>
          <a:lstStyle/>
          <a:p>
            <a:pPr algn="l"/>
            <a:r>
              <a:rPr sz="1250" b="0">
                <a:solidFill>
                  <a:srgbClr val="526574"/>
                </a:solidFill>
                <a:latin typeface="Calibri"/>
              </a:rPr>
              <a:t>SMO is update-capped (100k) and Pegasos is epoch-capped (5,000 epochs = 15.5M steps), so neither gap is a wall-clock failure; the capped-subset quality bars rest on three test frauds, and every timing comes from one single-threaded machine.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solidFill>
                  <a:srgbClr val="FFFFFF"/>
                </a:solidFill>
                <a:latin typeface="Calibri"/>
              </a:rPr>
              <a:t>Appendix: fairness controls in detail</a:t>
            </a:r>
          </a:p>
        </p:txBody>
      </p:sp>
      <p:sp>
        <p:nvSpPr>
          <p:cNvPr id="3" name="TextBox 2"/>
          <p:cNvSpPr txBox="1"/>
          <p:nvPr/>
        </p:nvSpPr>
        <p:spPr>
          <a:xfrm>
            <a:off x="530352" y="1014984"/>
            <a:ext cx="10415016" cy="219456"/>
          </a:xfrm>
          <a:prstGeom prst="rect">
            <a:avLst/>
          </a:prstGeom>
          <a:noFill/>
        </p:spPr>
        <p:txBody>
          <a:bodyPr wrap="square">
            <a:spAutoFit/>
          </a:bodyPr>
          <a:lstStyle/>
          <a:p>
            <a:pPr algn="l"/>
            <a:r>
              <a:rPr sz="1000" b="1">
                <a:solidFill>
                  <a:srgbClr val="A02337"/>
                </a:solidFill>
                <a:latin typeface="Calibri"/>
              </a:rPr>
              <a:t>PART IV  /  APPENDIX · CONTROLS</a:t>
            </a:r>
          </a:p>
        </p:txBody>
      </p:sp>
      <p:sp>
        <p:nvSpPr>
          <p:cNvPr id="4" name="Rectangle 3"/>
          <p:cNvSpPr/>
          <p:nvPr/>
        </p:nvSpPr>
        <p:spPr>
          <a:xfrm>
            <a:off x="530352" y="5650992"/>
            <a:ext cx="25603" cy="448056"/>
          </a:xfrm>
          <a:prstGeom prst="rect">
            <a:avLst/>
          </a:prstGeom>
          <a:solidFill>
            <a:srgbClr val="A023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687568"/>
            <a:ext cx="10872216" cy="420624"/>
          </a:xfrm>
          <a:prstGeom prst="rect">
            <a:avLst/>
          </a:prstGeom>
          <a:noFill/>
        </p:spPr>
        <p:txBody>
          <a:bodyPr wrap="square">
            <a:spAutoFit/>
          </a:bodyPr>
          <a:lstStyle/>
          <a:p>
            <a:pPr algn="l"/>
            <a:r>
              <a:rPr sz="1700" b="1">
                <a:solidFill>
                  <a:srgbClr val="A02337"/>
                </a:solidFill>
                <a:latin typeface="Calibri"/>
              </a:rPr>
              <a:t>Each control exists because a first draft of the harness got it wrong</a:t>
            </a:r>
          </a:p>
        </p:txBody>
      </p:sp>
      <p:sp>
        <p:nvSpPr>
          <p:cNvPr id="6" name="Rectangle 5"/>
          <p:cNvSpPr/>
          <p:nvPr/>
        </p:nvSpPr>
        <p:spPr>
          <a:xfrm>
            <a:off x="530352" y="6336792"/>
            <a:ext cx="11128248" cy="12801"/>
          </a:xfrm>
          <a:prstGeom prst="rect">
            <a:avLst/>
          </a:prstGeom>
          <a:solidFill>
            <a:srgbClr val="C9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46520"/>
            <a:ext cx="10351008" cy="219456"/>
          </a:xfrm>
          <a:prstGeom prst="rect">
            <a:avLst/>
          </a:prstGeom>
          <a:noFill/>
        </p:spPr>
        <p:txBody>
          <a:bodyPr wrap="square">
            <a:spAutoFit/>
          </a:bodyPr>
          <a:lstStyle/>
          <a:p>
            <a:pPr algn="l"/>
            <a:r>
              <a:rPr sz="900" b="0">
                <a:solidFill>
                  <a:srgbClr val="526574"/>
                </a:solidFill>
                <a:latin typeface="Calibri"/>
              </a:rPr>
              <a:t>src/evaluate.py · EXPERIMENTS.md §5.1, §6.5 · tests/test_harness_smoke.py</a:t>
            </a:r>
          </a:p>
        </p:txBody>
      </p:sp>
      <p:sp>
        <p:nvSpPr>
          <p:cNvPr id="8" name="TextBox 7"/>
          <p:cNvSpPr txBox="1"/>
          <p:nvPr/>
        </p:nvSpPr>
        <p:spPr>
          <a:xfrm>
            <a:off x="11109960" y="6419088"/>
            <a:ext cx="566928" cy="274320"/>
          </a:xfrm>
          <a:prstGeom prst="rect">
            <a:avLst/>
          </a:prstGeom>
          <a:noFill/>
        </p:spPr>
        <p:txBody>
          <a:bodyPr wrap="square">
            <a:spAutoFit/>
          </a:bodyPr>
          <a:lstStyle/>
          <a:p>
            <a:pPr algn="l"/>
            <a:r>
              <a:rPr sz="1000" b="0">
                <a:solidFill>
                  <a:srgbClr val="526574"/>
                </a:solidFill>
                <a:latin typeface="Calibri"/>
              </a:rPr>
              <a:t>IV · 11</a:t>
            </a:r>
          </a:p>
        </p:txBody>
      </p:sp>
      <p:graphicFrame>
        <p:nvGraphicFramePr>
          <p:cNvPr id="9" name="Table 8"/>
          <p:cNvGraphicFramePr>
            <a:graphicFrameLocks noGrp="1"/>
          </p:cNvGraphicFramePr>
          <p:nvPr/>
        </p:nvGraphicFramePr>
        <p:xfrm>
          <a:off x="530352" y="1536192"/>
          <a:ext cx="10607039" cy="3108960"/>
        </p:xfrm>
        <a:graphic>
          <a:graphicData uri="http://schemas.openxmlformats.org/drawingml/2006/table">
            <a:tbl>
              <a:tblPr firstRow="1" bandRow="1">
                <a:tableStyleId>{5C22544A-7EE6-4342-B048-85BDC9FD1C3A}</a:tableStyleId>
              </a:tblPr>
              <a:tblGrid>
                <a:gridCol w="4206239"/>
                <a:gridCol w="6400800"/>
              </a:tblGrid>
              <a:tr h="345440">
                <a:tc>
                  <a:txBody>
                    <a:bodyPr wrap="square"/>
                    <a:lstStyle/>
                    <a:p>
                      <a:r>
                        <a:rPr sz="1100" b="1">
                          <a:solidFill>
                            <a:srgbClr val="FFFFFF"/>
                          </a:solidFill>
                          <a:latin typeface="Calibri"/>
                        </a:rPr>
                        <a:t>control</a:t>
                      </a:r>
                    </a:p>
                  </a:txBody>
                  <a:tcPr marL="54864" marR="36576" marT="18288" marB="18288">
                    <a:solidFill>
                      <a:srgbClr val="A02337"/>
                    </a:solidFill>
                  </a:tcPr>
                </a:tc>
                <a:tc>
                  <a:txBody>
                    <a:bodyPr wrap="square"/>
                    <a:lstStyle/>
                    <a:p>
                      <a:r>
                        <a:rPr sz="1100" b="1">
                          <a:solidFill>
                            <a:srgbClr val="FFFFFF"/>
                          </a:solidFill>
                          <a:latin typeface="Calibri"/>
                        </a:rPr>
                        <a:t>what it prevents</a:t>
                      </a:r>
                    </a:p>
                  </a:txBody>
                  <a:tcPr marL="54864" marR="36576" marT="18288" marB="18288">
                    <a:solidFill>
                      <a:srgbClr val="A02337"/>
                    </a:solidFill>
                  </a:tcPr>
                </a:tc>
              </a:tr>
              <a:tr h="345440">
                <a:tc>
                  <a:txBody>
                    <a:bodyPr wrap="square"/>
                    <a:lstStyle/>
                    <a:p>
                      <a:r>
                        <a:rPr sz="1100" b="0">
                          <a:solidFill>
                            <a:srgbClr val="182B3A"/>
                          </a:solidFill>
                          <a:latin typeface="Calibri"/>
                        </a:rPr>
                        <a:t>Identical rows, no per-method caps</a:t>
                      </a:r>
                    </a:p>
                  </a:txBody>
                  <a:tcPr marL="54864" marR="36576" marT="18288" marB="18288">
                    <a:solidFill>
                      <a:srgbClr val="FFFFFF"/>
                    </a:solidFill>
                  </a:tcPr>
                </a:tc>
                <a:tc>
                  <a:txBody>
                    <a:bodyPr wrap="square"/>
                    <a:lstStyle/>
                    <a:p>
                      <a:r>
                        <a:rPr sz="1100" b="0">
                          <a:solidFill>
                            <a:srgbClr val="182B3A"/>
                          </a:solidFill>
                          <a:latin typeface="Calibri"/>
                        </a:rPr>
                        <a:t>comparing a solver on 10k rows against one on 198k rows</a:t>
                      </a:r>
                    </a:p>
                  </a:txBody>
                  <a:tcPr marL="54864" marR="36576" marT="18288" marB="18288">
                    <a:solidFill>
                      <a:srgbClr val="FFFFFF"/>
                    </a:solidFill>
                  </a:tcPr>
                </a:tc>
              </a:tr>
              <a:tr h="345440">
                <a:tc>
                  <a:txBody>
                    <a:bodyPr wrap="square"/>
                    <a:lstStyle/>
                    <a:p>
                      <a:r>
                        <a:rPr sz="1100" b="0">
                          <a:solidFill>
                            <a:srgbClr val="182B3A"/>
                          </a:solidFill>
                          <a:latin typeface="Calibri"/>
                        </a:rPr>
                        <a:t>Fixed C=1 for ranking; C grouped otherwise</a:t>
                      </a:r>
                    </a:p>
                  </a:txBody>
                  <a:tcPr marL="54864" marR="36576" marT="18288" marB="18288">
                    <a:solidFill>
                      <a:srgbClr val="F2F4F6"/>
                    </a:solidFill>
                  </a:tcPr>
                </a:tc>
                <a:tc>
                  <a:txBody>
                    <a:bodyPr wrap="square"/>
                    <a:lstStyle/>
                    <a:p>
                      <a:r>
                        <a:rPr sz="1100" b="0">
                          <a:solidFill>
                            <a:srgbClr val="182B3A"/>
                          </a:solidFill>
                          <a:latin typeface="Calibri"/>
                        </a:rPr>
                        <a:t>comparing objectives of two different QPs after independent C tuning</a:t>
                      </a:r>
                    </a:p>
                  </a:txBody>
                  <a:tcPr marL="54864" marR="36576" marT="18288" marB="18288">
                    <a:solidFill>
                      <a:srgbClr val="F2F4F6"/>
                    </a:solidFill>
                  </a:tcPr>
                </a:tc>
              </a:tr>
              <a:tr h="345440">
                <a:tc>
                  <a:txBody>
                    <a:bodyPr wrap="square"/>
                    <a:lstStyle/>
                    <a:p>
                      <a:r>
                        <a:rPr sz="1100" b="0">
                          <a:solidFill>
                            <a:srgbClr val="182B3A"/>
                          </a:solidFill>
                          <a:latin typeface="Calibri"/>
                        </a:rPr>
                        <a:t>Validation-only threshold and C</a:t>
                      </a:r>
                    </a:p>
                  </a:txBody>
                  <a:tcPr marL="54864" marR="36576" marT="18288" marB="18288">
                    <a:solidFill>
                      <a:srgbClr val="FFFFFF"/>
                    </a:solidFill>
                  </a:tcPr>
                </a:tc>
                <a:tc>
                  <a:txBody>
                    <a:bodyPr wrap="square"/>
                    <a:lstStyle/>
                    <a:p>
                      <a:r>
                        <a:rPr sz="1100" b="0">
                          <a:solidFill>
                            <a:srgbClr val="182B3A"/>
                          </a:solidFill>
                          <a:latin typeface="Calibri"/>
                        </a:rPr>
                        <a:t>test-set tuning; the test split is touched exactly once per run</a:t>
                      </a:r>
                    </a:p>
                  </a:txBody>
                  <a:tcPr marL="54864" marR="36576" marT="18288" marB="18288">
                    <a:solidFill>
                      <a:srgbClr val="FFFFFF"/>
                    </a:solidFill>
                  </a:tcPr>
                </a:tc>
              </a:tr>
              <a:tr h="345440">
                <a:tc>
                  <a:txBody>
                    <a:bodyPr wrap="square"/>
                    <a:lstStyle/>
                    <a:p>
                      <a:r>
                        <a:rPr sz="1100" b="0">
                          <a:solidFill>
                            <a:srgbClr val="182B3A"/>
                          </a:solidFill>
                          <a:latin typeface="Calibri"/>
                        </a:rPr>
                        <a:t>≥ 2 aligned objective/timestamp checkpoints</a:t>
                      </a:r>
                    </a:p>
                  </a:txBody>
                  <a:tcPr marL="54864" marR="36576" marT="18288" marB="18288">
                    <a:solidFill>
                      <a:srgbClr val="F2F4F6"/>
                    </a:solidFill>
                  </a:tcPr>
                </a:tc>
                <a:tc>
                  <a:txBody>
                    <a:bodyPr wrap="square"/>
                    <a:lstStyle/>
                    <a:p>
                      <a:r>
                        <a:rPr sz="1100" b="0">
                          <a:solidFill>
                            <a:srgbClr val="182B3A"/>
                          </a:solidFill>
                          <a:latin typeface="Calibri"/>
                        </a:rPr>
                        <a:t>a single-point solve being reported as a convergence curve</a:t>
                      </a:r>
                    </a:p>
                  </a:txBody>
                  <a:tcPr marL="54864" marR="36576" marT="18288" marB="18288">
                    <a:solidFill>
                      <a:srgbClr val="F2F4F6"/>
                    </a:solidFill>
                  </a:tcPr>
                </a:tc>
              </a:tr>
              <a:tr h="345440">
                <a:tc>
                  <a:txBody>
                    <a:bodyPr wrap="square"/>
                    <a:lstStyle/>
                    <a:p>
                      <a:r>
                        <a:rPr sz="1100" b="0">
                          <a:solidFill>
                            <a:srgbClr val="182B3A"/>
                          </a:solidFill>
                          <a:latin typeface="Calibri"/>
                        </a:rPr>
                        <a:t>Objective recomputed from w, b</a:t>
                      </a:r>
                    </a:p>
                  </a:txBody>
                  <a:tcPr marL="54864" marR="36576" marT="18288" marB="18288">
                    <a:solidFill>
                      <a:srgbClr val="FFFFFF"/>
                    </a:solidFill>
                  </a:tcPr>
                </a:tc>
                <a:tc>
                  <a:txBody>
                    <a:bodyPr wrap="square"/>
                    <a:lstStyle/>
                    <a:p>
                      <a:r>
                        <a:rPr sz="1100" b="0">
                          <a:solidFill>
                            <a:srgbClr val="182B3A"/>
                          </a:solidFill>
                          <a:latin typeface="Calibri"/>
                        </a:rPr>
                        <a:t>a solver reporting a differently normalised (e.g. per-example) objective</a:t>
                      </a:r>
                    </a:p>
                  </a:txBody>
                  <a:tcPr marL="54864" marR="36576" marT="18288" marB="18288">
                    <a:solidFill>
                      <a:srgbClr val="FFFFFF"/>
                    </a:solidFill>
                  </a:tcPr>
                </a:tc>
              </a:tr>
              <a:tr h="345440">
                <a:tc>
                  <a:txBody>
                    <a:bodyPr wrap="square"/>
                    <a:lstStyle/>
                    <a:p>
                      <a:r>
                        <a:rPr sz="1100" b="0">
                          <a:solidFill>
                            <a:srgbClr val="182B3A"/>
                          </a:solidFill>
                          <a:latin typeface="Calibri"/>
                        </a:rPr>
                        <a:t>Nonlinear runs leave the objective comparison</a:t>
                      </a:r>
                    </a:p>
                  </a:txBody>
                  <a:tcPr marL="54864" marR="36576" marT="18288" marB="18288">
                    <a:solidFill>
                      <a:srgbClr val="F2F4F6"/>
                    </a:solidFill>
                  </a:tcPr>
                </a:tc>
                <a:tc>
                  <a:txBody>
                    <a:bodyPr wrap="square"/>
                    <a:lstStyle/>
                    <a:p>
                      <a:r>
                        <a:rPr sz="1100" b="0">
                          <a:solidFill>
                            <a:srgbClr val="182B3A"/>
                          </a:solidFill>
                          <a:latin typeface="Calibri"/>
                        </a:rPr>
                        <a:t>an RKHS objective being ranked against linear-SVM objectives</a:t>
                      </a:r>
                    </a:p>
                  </a:txBody>
                  <a:tcPr marL="54864" marR="36576" marT="18288" marB="18288">
                    <a:solidFill>
                      <a:srgbClr val="F2F4F6"/>
                    </a:solidFill>
                  </a:tcPr>
                </a:tc>
              </a:tr>
              <a:tr h="345440">
                <a:tc>
                  <a:txBody>
                    <a:bodyPr wrap="square"/>
                    <a:lstStyle/>
                    <a:p>
                      <a:r>
                        <a:rPr sz="1100" b="0">
                          <a:solidFill>
                            <a:srgbClr val="182B3A"/>
                          </a:solidFill>
                          <a:latin typeface="Calibri"/>
                        </a:rPr>
                        <a:t>90-minute budget, single thread, one machine</a:t>
                      </a:r>
                    </a:p>
                  </a:txBody>
                  <a:tcPr marL="54864" marR="36576" marT="18288" marB="18288">
                    <a:solidFill>
                      <a:srgbClr val="FFFFFF"/>
                    </a:solidFill>
                  </a:tcPr>
                </a:tc>
                <a:tc>
                  <a:txBody>
                    <a:bodyPr wrap="square"/>
                    <a:lstStyle/>
                    <a:p>
                      <a:r>
                        <a:rPr sz="1100" b="0">
                          <a:solidFill>
                            <a:srgbClr val="182B3A"/>
                          </a:solidFill>
                          <a:latin typeface="Calibri"/>
                        </a:rPr>
                        <a:t>wall-clock comparisons across different hardware or thread counts</a:t>
                      </a:r>
                    </a:p>
                  </a:txBody>
                  <a:tcPr marL="54864" marR="36576" marT="18288" marB="18288">
                    <a:solidFill>
                      <a:srgbClr val="FFFFFF"/>
                    </a:solidFill>
                  </a:tcPr>
                </a:tc>
              </a:tr>
              <a:tr h="345440">
                <a:tc>
                  <a:txBody>
                    <a:bodyPr wrap="square"/>
                    <a:lstStyle/>
                    <a:p>
                      <a:r>
                        <a:rPr sz="1100" b="0">
                          <a:solidFill>
                            <a:srgbClr val="182B3A"/>
                          </a:solidFill>
                          <a:latin typeface="Calibri"/>
                        </a:rPr>
                        <a:t>reuse_existing with exact metadata matching</a:t>
                      </a:r>
                    </a:p>
                  </a:txBody>
                  <a:tcPr marL="54864" marR="36576" marT="18288" marB="18288">
                    <a:solidFill>
                      <a:srgbClr val="F2F4F6"/>
                    </a:solidFill>
                  </a:tcPr>
                </a:tc>
                <a:tc>
                  <a:txBody>
                    <a:bodyPr wrap="square"/>
                    <a:lstStyle/>
                    <a:p>
                      <a:r>
                        <a:rPr sz="1100" b="0">
                          <a:solidFill>
                            <a:srgbClr val="182B3A"/>
                          </a:solidFill>
                          <a:latin typeface="Calibri"/>
                        </a:rPr>
                        <a:t>silently mixing results produced from different splits or hyper-parameters</a:t>
                      </a:r>
                    </a:p>
                  </a:txBody>
                  <a:tcPr marL="54864" marR="36576" marT="18288" marB="18288">
                    <a:solidFill>
                      <a:srgbClr val="F2F4F6"/>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solidFill>
                  <a:srgbClr val="FFFFFF"/>
                </a:solidFill>
                <a:latin typeface="Calibri"/>
              </a:rPr>
              <a:t>Appendix: reproducing these numbers</a:t>
            </a:r>
          </a:p>
        </p:txBody>
      </p:sp>
      <p:sp>
        <p:nvSpPr>
          <p:cNvPr id="3" name="TextBox 2"/>
          <p:cNvSpPr txBox="1"/>
          <p:nvPr/>
        </p:nvSpPr>
        <p:spPr>
          <a:xfrm>
            <a:off x="530352" y="1014984"/>
            <a:ext cx="10415016" cy="219456"/>
          </a:xfrm>
          <a:prstGeom prst="rect">
            <a:avLst/>
          </a:prstGeom>
          <a:noFill/>
        </p:spPr>
        <p:txBody>
          <a:bodyPr wrap="square">
            <a:spAutoFit/>
          </a:bodyPr>
          <a:lstStyle/>
          <a:p>
            <a:pPr algn="l"/>
            <a:r>
              <a:rPr sz="1000" b="1">
                <a:solidFill>
                  <a:srgbClr val="A02337"/>
                </a:solidFill>
                <a:latin typeface="Calibri"/>
              </a:rPr>
              <a:t>PART IV  /  APPENDIX · REPRODUCTION</a:t>
            </a:r>
          </a:p>
        </p:txBody>
      </p:sp>
      <p:sp>
        <p:nvSpPr>
          <p:cNvPr id="4" name="Rectangle 3"/>
          <p:cNvSpPr/>
          <p:nvPr/>
        </p:nvSpPr>
        <p:spPr>
          <a:xfrm>
            <a:off x="530352" y="5650992"/>
            <a:ext cx="25603" cy="448056"/>
          </a:xfrm>
          <a:prstGeom prst="rect">
            <a:avLst/>
          </a:prstGeom>
          <a:solidFill>
            <a:srgbClr val="A023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687568"/>
            <a:ext cx="10872216" cy="420624"/>
          </a:xfrm>
          <a:prstGeom prst="rect">
            <a:avLst/>
          </a:prstGeom>
          <a:noFill/>
        </p:spPr>
        <p:txBody>
          <a:bodyPr wrap="square">
            <a:spAutoFit/>
          </a:bodyPr>
          <a:lstStyle/>
          <a:p>
            <a:pPr algn="l"/>
            <a:r>
              <a:rPr sz="1700" b="1">
                <a:solidFill>
                  <a:srgbClr val="A02337"/>
                </a:solidFill>
                <a:latin typeface="Calibri"/>
              </a:rPr>
              <a:t>One command per experiment; every run carries a config hash</a:t>
            </a:r>
          </a:p>
        </p:txBody>
      </p:sp>
      <p:sp>
        <p:nvSpPr>
          <p:cNvPr id="6" name="Rectangle 5"/>
          <p:cNvSpPr/>
          <p:nvPr/>
        </p:nvSpPr>
        <p:spPr>
          <a:xfrm>
            <a:off x="530352" y="6336792"/>
            <a:ext cx="11128248" cy="12801"/>
          </a:xfrm>
          <a:prstGeom prst="rect">
            <a:avLst/>
          </a:prstGeom>
          <a:solidFill>
            <a:srgbClr val="C9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446520"/>
            <a:ext cx="10351008" cy="219456"/>
          </a:xfrm>
          <a:prstGeom prst="rect">
            <a:avLst/>
          </a:prstGeom>
          <a:noFill/>
        </p:spPr>
        <p:txBody>
          <a:bodyPr wrap="square">
            <a:spAutoFit/>
          </a:bodyPr>
          <a:lstStyle/>
          <a:p>
            <a:pPr algn="l"/>
            <a:r>
              <a:rPr sz="900" b="0">
                <a:solidFill>
                  <a:srgbClr val="526574"/>
                </a:solidFill>
                <a:latin typeface="Calibri"/>
              </a:rPr>
              <a:t>experiments/check_solver.py · run_correctness.py · run_main.py · make_report_assets.py</a:t>
            </a:r>
          </a:p>
        </p:txBody>
      </p:sp>
      <p:sp>
        <p:nvSpPr>
          <p:cNvPr id="8" name="TextBox 7"/>
          <p:cNvSpPr txBox="1"/>
          <p:nvPr/>
        </p:nvSpPr>
        <p:spPr>
          <a:xfrm>
            <a:off x="11109960" y="6419088"/>
            <a:ext cx="566928" cy="274320"/>
          </a:xfrm>
          <a:prstGeom prst="rect">
            <a:avLst/>
          </a:prstGeom>
          <a:noFill/>
        </p:spPr>
        <p:txBody>
          <a:bodyPr wrap="square">
            <a:spAutoFit/>
          </a:bodyPr>
          <a:lstStyle/>
          <a:p>
            <a:pPr algn="l"/>
            <a:r>
              <a:rPr sz="1000" b="0">
                <a:solidFill>
                  <a:srgbClr val="526574"/>
                </a:solidFill>
                <a:latin typeface="Calibri"/>
              </a:rPr>
              <a:t>IV · 12</a:t>
            </a:r>
          </a:p>
        </p:txBody>
      </p:sp>
      <p:sp>
        <p:nvSpPr>
          <p:cNvPr id="9" name="TextBox 8"/>
          <p:cNvSpPr txBox="1"/>
          <p:nvPr/>
        </p:nvSpPr>
        <p:spPr>
          <a:xfrm>
            <a:off x="530352" y="1600200"/>
            <a:ext cx="10607040" cy="2926080"/>
          </a:xfrm>
          <a:prstGeom prst="rect">
            <a:avLst/>
          </a:prstGeom>
          <a:noFill/>
        </p:spPr>
        <p:txBody>
          <a:bodyPr wrap="square">
            <a:spAutoFit/>
          </a:bodyPr>
          <a:lstStyle/>
          <a:p>
            <a:pPr algn="l"/>
            <a:r>
              <a:rPr sz="1300" b="0">
                <a:solidFill>
                  <a:srgbClr val="182B3A"/>
                </a:solidFill>
                <a:latin typeface="Calibri"/>
              </a:rPr>
              <a:t>1.  python experiments/check_solver.py --method smo|pegasos|admm|pa_admm</a:t>
            </a:r>
          </a:p>
          <a:p>
            <a:pPr algn="l"/>
            <a:r>
              <a:rPr sz="1300" b="0">
                <a:solidFill>
                  <a:srgbClr val="182B3A"/>
                </a:solidFill>
                <a:latin typeface="Calibri"/>
              </a:rPr>
              <a:t>     → results/raw/solver_checks/&lt;method&gt;.json (contract + diagnostics)</a:t>
            </a:r>
          </a:p>
          <a:p>
            <a:pPr algn="l"/>
            <a:r>
              <a:rPr sz="1300" b="0">
                <a:solidFill>
                  <a:srgbClr val="182B3A"/>
                </a:solidFill>
                <a:latin typeface="Calibri"/>
              </a:rPr>
              <a:t/>
            </a:r>
          </a:p>
          <a:p>
            <a:pPr algn="l"/>
            <a:r>
              <a:rPr sz="1300" b="0">
                <a:solidFill>
                  <a:srgbClr val="182B3A"/>
                </a:solidFill>
                <a:latin typeface="Calibri"/>
              </a:rPr>
              <a:t>2.  python experiments/run_correctness.py</a:t>
            </a:r>
          </a:p>
          <a:p>
            <a:pPr algn="l"/>
            <a:r>
              <a:rPr sz="1300" b="0">
                <a:solidFill>
                  <a:srgbClr val="182B3A"/>
                </a:solidFill>
                <a:latin typeface="Calibri"/>
              </a:rPr>
              <a:t>     → 7,000-row agreement check, reference = group best (no external solver)</a:t>
            </a:r>
          </a:p>
          <a:p>
            <a:pPr algn="l"/>
            <a:r>
              <a:rPr sz="1300" b="0">
                <a:solidFill>
                  <a:srgbClr val="182B3A"/>
                </a:solidFill>
                <a:latin typeface="Calibri"/>
              </a:rPr>
              <a:t/>
            </a:r>
          </a:p>
          <a:p>
            <a:pPr algn="l"/>
            <a:r>
              <a:rPr sz="1300" b="0">
                <a:solidFill>
                  <a:srgbClr val="182B3A"/>
                </a:solidFill>
                <a:latin typeface="Calibri"/>
              </a:rPr>
              <a:t>3.  python experiments/run_main.py --config configs/main_capped.yaml</a:t>
            </a:r>
          </a:p>
          <a:p>
            <a:pPr algn="l"/>
            <a:r>
              <a:rPr sz="1300" b="0">
                <a:solidFill>
                  <a:srgbClr val="182B3A"/>
                </a:solidFill>
                <a:latin typeface="Calibri"/>
              </a:rPr>
              <a:t>                                       configs/main_fast.yaml</a:t>
            </a:r>
          </a:p>
          <a:p>
            <a:pPr algn="l"/>
            <a:r>
              <a:rPr sz="1300" b="0">
                <a:solidFill>
                  <a:srgbClr val="182B3A"/>
                </a:solidFill>
                <a:latin typeface="Calibri"/>
              </a:rPr>
              <a:t>                                       configs/main_full.yaml</a:t>
            </a:r>
          </a:p>
          <a:p>
            <a:pPr algn="l"/>
            <a:r>
              <a:rPr sz="1300" b="0">
                <a:solidFill>
                  <a:srgbClr val="182B3A"/>
                </a:solidFill>
                <a:latin typeface="Calibri"/>
              </a:rPr>
              <a:t>     → results/raw/&lt;experiment&gt;/…  and results/tables/&lt;experiment&gt;_*.csv</a:t>
            </a:r>
          </a:p>
          <a:p>
            <a:pPr algn="l"/>
            <a:r>
              <a:rPr sz="1300" b="0">
                <a:solidFill>
                  <a:srgbClr val="182B3A"/>
                </a:solidFill>
                <a:latin typeface="Calibri"/>
              </a:rPr>
              <a:t/>
            </a:r>
          </a:p>
          <a:p>
            <a:pPr algn="l"/>
            <a:r>
              <a:rPr sz="1300" b="0">
                <a:solidFill>
                  <a:srgbClr val="182B3A"/>
                </a:solidFill>
                <a:latin typeface="Calibri"/>
              </a:rPr>
              <a:t>4.  python experiments/make_report_assets.py</a:t>
            </a:r>
          </a:p>
          <a:p>
            <a:pPr algn="l"/>
            <a:r>
              <a:rPr sz="1300" b="0">
                <a:solidFill>
                  <a:srgbClr val="182B3A"/>
                </a:solidFill>
                <a:latin typeface="Calibri"/>
              </a:rPr>
              <a:t>     → results/figures/*.pdf from the aggregated tables</a:t>
            </a:r>
          </a:p>
          <a:p>
            <a:pPr algn="l"/>
            <a:r>
              <a:rPr sz="1300" b="0">
                <a:solidFill>
                  <a:srgbClr val="182B3A"/>
                </a:solidFill>
                <a:latin typeface="Calibri"/>
              </a:rPr>
              <a:t/>
            </a:r>
          </a:p>
          <a:p>
            <a:pPr algn="l"/>
            <a:r>
              <a:rPr sz="1300" b="0">
                <a:solidFill>
                  <a:srgbClr val="182B3A"/>
                </a:solidFill>
                <a:latin typeface="Calibri"/>
              </a:rPr>
              <a:t>5.  python slides/build_part4_deck.py --template … --check</a:t>
            </a:r>
          </a:p>
          <a:p>
            <a:pPr algn="l"/>
            <a:r>
              <a:rPr sz="1300" b="0">
                <a:solidFill>
                  <a:srgbClr val="182B3A"/>
                </a:solidFill>
                <a:latin typeface="Calibri"/>
              </a:rPr>
              <a:t>     → this deck, rebuilt from the JSONs; nothing on these slides is typed in</a:t>
            </a:r>
          </a:p>
        </p:txBody>
      </p:sp>
      <p:sp>
        <p:nvSpPr>
          <p:cNvPr id="10" name="TextBox 9"/>
          <p:cNvSpPr txBox="1"/>
          <p:nvPr/>
        </p:nvSpPr>
        <p:spPr>
          <a:xfrm>
            <a:off x="530352" y="4709160"/>
            <a:ext cx="10607040" cy="822960"/>
          </a:xfrm>
          <a:prstGeom prst="rect">
            <a:avLst/>
          </a:prstGeom>
          <a:noFill/>
        </p:spPr>
        <p:txBody>
          <a:bodyPr wrap="square">
            <a:spAutoFit/>
          </a:bodyPr>
          <a:lstStyle/>
          <a:p>
            <a:pPr algn="l"/>
            <a:r>
              <a:rPr sz="1200" b="0">
                <a:solidFill>
                  <a:srgbClr val="526574"/>
                </a:solidFill>
                <a:latin typeface="Calibri"/>
              </a:rPr>
              <a:t>Data is pinned by SHA-256 (76274b69…1a89) and the five stratified split files are committed, so a rerun reproduces the same rows. Raw run JSONs and logs stay out of git; aggregate tables and figures are versioned.</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505046"/>
      </a:dk2>
      <a:lt2>
        <a:srgbClr val="EEECE1"/>
      </a:lt2>
      <a:accent1>
        <a:srgbClr val="AB0634"/>
      </a:accent1>
      <a:accent2>
        <a:srgbClr val="7E0634"/>
      </a:accent2>
      <a:accent3>
        <a:srgbClr val="680634"/>
      </a:accent3>
      <a:accent4>
        <a:srgbClr val="717073"/>
      </a:accent4>
      <a:accent5>
        <a:srgbClr val="464646"/>
      </a:accent5>
      <a:accent6>
        <a:srgbClr val="1E1E1E"/>
      </a:accent6>
      <a:hlink>
        <a:srgbClr val="AB0634"/>
      </a:hlink>
      <a:folHlink>
        <a:srgbClr val="71707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