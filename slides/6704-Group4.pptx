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1"/>
    <p:sldMasterId id="2147483694" r:id="rId2"/>
    <p:sldMasterId id="2147483695" r:id="rId3"/>
  </p:sldMasterIdLst>
  <p:notesMasterIdLst>
    <p:notesMasterId r:id="rId41"/>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embeddedFontLst>
    <p:embeddedFont>
      <p:font typeface="Cambria Math" panose="02040503050406030204" pitchFamily="18" charset="0"/>
      <p:regular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3BF7814-6BB6-4E7D-BF07-EC2FA526ABCD}">
  <a:tblStyle styleId="{33BF7814-6BB6-4E7D-BF07-EC2FA526ABC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4A3829F-DFEE-4833-BC9B-2C6460E323D7}"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1.fntdata"/><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h7cbb6ff1274a79b6_3_1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h7cbb6ff1274a79b6_3_10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Good morning, everyone. I will explain how fraud-detection costs become a convex SVM model, then connect its primal and dual forms to weighted stochastic updates.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h7cbb6ff1274a79b6_3_1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h7cbb6ff1274a79b6_3_1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ULB dataset contains 492 labelled frauds among 284,807 transactions, a fraud rate of about 0.173 percent. Always predicting legitimate achieves 99.827 percent accuracy but zero fraud recall, so accuracy alone hides complete failure to detect fraud. A false negative misses fraud, whereas a false positive raises an alarm on a legitimate transaction. Our proposal considers several error-cost ratios, including twenty to one, as illustrative experimental settings rather than measured bank losses, and we will vary these ratios in sensitivity analysis. This means that, under that setting, we assign twenty times more cost to missing a fraud than to raising a false alarm.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h7cbb6ff1274a79b6_3_1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7" name="Google Shape;347;h7cbb6ff1274a79b6_3_1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label fraud as positive one and legitimate transactions as negative one, then assign each example a weight based on its true class's error cost. Dividing by the training-data average cost, computed using training proportions only, makes the average sample weight one, while preserving the twenty-to-one ratio in this setting. Each sample's penalty, C i, is the common C multiplied by its weight, a i. The weight controls relative importance, while C controls the overall balance between regularization and loss. This is cost weighting, not an automatic correction for class frequency.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h7cbb6ff1274a79b6_3_1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h7cbb6ff1274a79b6_3_1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For our main linear model, the score is w transpose x plus b: a positive score predicts fraud, and a negative score predicts legitimate. Multiplying this score by the true label gives the margin, so a positive margin means the prediction is on the correct side, while a margin of at least one also satisfies the desired separation. The primal objective combines a squared-norm regularizer with weighted slack penalties, balancing a wider margin against violations of that margin, with each cost entering through its sample-specific penalty coefficient, C i. At the optimum, each slack equals the hinge loss, the maximum of zero and one minus the margin. Crucially, positive slack does not always mean a wrong prediction: a margin of 0.6 gives slack 0.4 but is still correctly classified, whereas a margin of minus 0.4 gives slack 1.4 and is misclassified.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h7cbb6ff1274a79b6_3_1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3" name="Google Shape;403;h7cbb6ff1274a79b6_3_1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The dual solves the same model using sample coefficients between zero and their cost-dependent upper bounds, with label-weighted coefficients summing to zero. At an optimum, zero alpha means a margin of at least one, and an interior alpha means a margin of exactly one. Alpha at its upper bound means a margin of at most one, so the point can still be correctly classified. These KKT conditions connect the coefficients to sample positions; a higher cost allows a higher bound, rather than forcing a coefficient to be larger. Convexity and Slater's condition let us use the full KKT conditions to certify optimality.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h7cbb6ff1274a79b6_3_2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4" name="Google Shape;424;h7cbb6ff1274a79b6_3_2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We first eliminate the slack variables and divide the primal objective by n times C, obtaining regularization plus the average weighted hinge loss, with lambda equal to one over n C and the same minimizer. At each iteration, we sample one example uniformly and check its current margin, then shrink w and add a weighted correction only if that margin is below one. The bias receives a corresponding correction without shrinkage, because it is unregularized, and the step size decreases as one over lambda t. A larger weight gives a stronger correction under otherwise identical conditions; each linear update costs order d, while a full pass costs order n d. We use an empirical Pegasos-style variant with an unregularized bias and no projection in the displayed rule, so its behavior must be validated and the original convergence guarantees cannot simply be assumed.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h7cbb6ff1274a79b6_3_2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5" name="Google Shape;445;h7cbb6ff1274a79b6_3_2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Application costs become class weights and then one convex SVM objective, whose dual coefficients and stochastic updates provide different routes to a solution. Weighted updates are a proposed warm start for PA-ADMM, with any speedup still to be tested; next, Member Two will explain how SMO solves the dual using these cost-dependent bounds.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43d44183452b5005_12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3" name="Google Shape;463;h43d44183452b5005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4" name="Google Shape;464;h43d44183452b5005_12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h43d44183452b5005_14_10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0" name="Google Shape;470;h43d44183452b5005_14_10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01 | Group slide 8 | 25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Part One set the costs and SVM objective. Sequential Minimal Optimization, or SMO, solves the same dual problem. The solid line separates classes; dashed lines mark its margin. We will follow legal pair updates in a small example, recover the classifier, and check when training is complete.</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第一部分已经确定了错误代价和SVM训练目标。接下来，序列最小优化，也就是SMO，负责求解同一个问题的对偶形式。实线是分类边界，虚线表示间隔。我们用一个小例子，依次讲清怎样合法更新、恢复分类器，以及判断训练完成。</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承接Part 1：代价已转成惩罚C_i。指实线与虚线，再说明本部分负责把模型算出来。</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point/boundary diagram is a teaching schematic, not measured data. Introduce labeled examples, a classification boundary, and SVM as the training formulation. This first page deliberately contains no alpha, score formula, model parameter or penalty symbol.</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471" name="Google Shape;471;h43d44183452b5005_14_10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h43d44183452b5005_14_13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7" name="Google Shape;497;h43d44183452b5005_14_1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02 | Group slide 9 | 15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Prepare and initialize the problem. Then choose a pair, find legal bounds, optimize, update, and check all samples. Repeat until finished. We now explain each step.</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先准备并初始化训练问题。然后循环选一对变量、求允许范围、找最优步、更新模型，并检查全部样本。未完成就继续。下面解释每一步的含义。</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只走一遍闭环；准备只做一次，更新和检查反复执行。</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This is an orientation map, so it uses action words before technical symbols. Preparation includes the original SVM problem, dual rewriting and initialization. The loop does not repeat dualization. Budget exhaustion without certification yields unconverged, explained in the stopping slide.</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498" name="Google Shape;498;h43d44183452b5005_14_13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43d44183452b5005_14_17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1" name="Google Shape;541;h43d44183452b5005_14_17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03 | Group slide 10 | 40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To calculate the same objective by hand, use one feature x, with label y equal to plus or minus one; i indexes samples. The score is wx plus b. w weights x; b shifts the boundary. Zero separates classes. Normalize the margin scores to plus and minus one: label times score should reach one. Xi measures a nonnegative shortfall. Minimize P: half w squared plus C-weighted shortfalls. Smaller magnitude of w widens the margin; C is the penalty per unit shortfall.</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为方便手算前面的同一个目标，只用一个特征x，标签y取正一或负一，i表示样本编号。分数f等于wx加b：w是特征权重，b移动边界。f等于零是分类边界；把两侧间隔边界的分数定为正负一，标签乘分数就应至少为一。达不到的量用非负的ξ表示。目标P是二分之一w平方，加上各点的C乘不足量。w的绝对值越小，间隔越宽；C是不足的单位代价。原问题就是求w、b和这些不足量，使P最小。</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解释符号后区分f=0与f=±1，再解释ξ、C与目标P。</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displayed equations use a one-feature linear SVM for readable hand calculation. General vector form replaces w squared by ||w|| squared and wx by w^T x. Ci&gt;0 is already cost weighted and is used once. With positive Ci, the smallest feasible xi is max(0,1-yi f), which is hinge loss. Explain xi as shortfall rather than assuming hinge/slack jargon is known.</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542" name="Google Shape;542;h43d44183452b5005_14_17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43d44183452b5005_14_19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0" name="Google Shape;560;h43d44183452b5005_14_19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04 | Group slide 11 | 75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First move each margin constraint to a nonpositive left side. Multiply it by a nonnegative auxiliary coefficient alpha and add it to P. This defines the Lagrangian. For feasible models, the added terms are nonpositive, so its minimum gives a lower bound on the best P. Hold alpha fixed and minimize over unrestricted w and b, and nonnegative xi. The w terms form a quadratic; zero slope at its minimum gives the first equation. Since b can move either way without limit, its coefficient must vanish, giving label-weighted balance. Xi is nonnegative but unbounded above. Its coefficient, C minus alpha, cannot be negative. Together with nonnegative alpha, this gives the box bounds. These are the conditions on the next slide.</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先把每条间隔要求移到左边，写成小于等于零。给它配一个非负辅助系数α，再加到P，形成拉格朗日函数ℒ。对原本合法的模型，加进去的项不会为正，所以ℒ的最小值给出最优训练值的下界。现在固定α，在w、b任取、ξ非负的范围内最小化ℒ。w的部分是二次曲线，最低处斜率为零，得到这一行。b可以向正负两边任取；它前面的系数不为零，就能把ℒ降到负无穷，所以标签加权和必须为零。ξ虽非负，却没有上限；它前面的C减α不能为负。结合α非负，就得到零到C的范围。这就是下一页三个条件的来由。</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先指被移到左边的间隔约束，再指α和花体ℒ；强调固定α、最小化ℒ。随后按w、b、ξ三行逐一指解释和取出的项。花体ℒ不是后文区间端点L。</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combined expression is the Lagrangian, with xi&gt;=0 retained in the inner minimization. Calligraphic ℒ is distinct from the later interval endpoint L. For fixed alpha&gt;=0, inf_{w,b,xi&gt;=0}ℒ is a lower bound on the primal optimum. The w equation is the zero derivative of a convex quadratic. The free b term is -b sum_i yi alpha_i, so finite infimum requires zero coefficient. The xi_i term is (Ci-alpha_i)xi_i, so finite infimum on xi_i&gt;=0 requires Ci-alpha_i&gt;=0. Combining with alpha&gt;=0 gives the box. Eliminating xi from this auxiliary minimization does not set the final model shortfalls to zero. This is an algebraic derivation, not a new empirical claim.</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561" name="Google Shape;561;h43d44183452b5005_14_19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h43d44183452b5005_14_2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5" name="Google Shape;585;h43d44183452b5005_14_2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05 | Group slide 12 | 25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These conditions leave only alpha to optimize. Substitute the minimizing w back into the Lagrangian: the remaining bound D is the alpha sum minus half w squared. Maximize D within the constraints to raise the lower bound. Eliminating b here does not set it to zero; we recover it later.</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整理后，只剩α需要优化。把最小化得到的w代回辅助目标，留下的下界D就是α总和减去二分之一w平方。在这些约束内最大化D，是把下界尽量抬高，这就是对偶问题。此处消去b，并不是把b设成零，之后还要恢复它。</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回指三条结果后，指D；强调优化变量只剩α，w由α计算，b只是稍后恢复。</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preceding bridge derives the three conditions by minimizing the Lagrangian over w,b and xi&gt;=0. Within this domain, substitute the minimizing w to obtain D=sum alpha-half w(alpha)^2. Maximizing this lower bound is the SVM dual problem. Eliminating b does not assign b=0; recover b from the model optimality conditions later.</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586" name="Google Shape;586;h43d44183452b5005_14_2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h43d44183452b5005_14_24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0" name="Google Shape;610;h43d44183452b5005_14_2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06 | Group slide 13 | 30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These preset C values are chosen for hand calculation, not the experimental cost ratio. Alphas are the unknowns. Each feature equals its label, plus or minus one. From zero, moving only the first alpha to zero point one breaks balance; moving both preserves it. Two are the smallest legal working set. These arrows test direction, not the accepted update.</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这里的C为了便于手算而选定，不是实验中的代价比例。C事先给定，α才是我们要算的。两个样本的特征和标签分别是正一与负一。α从零开始，只把第一个加到0.1，会破坏标签加权和为零；两个都加到0.1，则正负抵消。所以两个是保持平衡的最小联动单位。0.1只是试探方向，还不是最终更新。</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先区分教学设置C与实验20:1；再区分给定C_i和未知α_i。0.1仅用于试探方向。</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Both arrows are feasibility candidates from the same zero state. They are not accepted iterations. With only two samples there is only one candidate pair. For equal labels their changes have opposite signs; do not teach all pairs as alpha_i=alpha_j. The balance equation came from eliminating b on the previous slide.</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611" name="Google Shape;611;h43d44183452b5005_14_2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h43d44183452b5005_14_27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0" name="Google Shape;640;h43d44183452b5005_14_27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07 | Group slide 14 | 30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The box gives separate bounds; the diagonal preserves balance. With opposite labels and zero old alphas, both new values must be equal. Call that number t. It cannot exceed either penalty, one point two or zero point four. The legal interval is therefore zero to zero point four. L and H name its endpoints.</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矩形表示各自的上下界，斜线表示标签加权和不变，交集才合法。本例标签相反、旧α为零，所以两个新α相等，记作t。它不能超过1.2，也不能超过0.4，因此合法区间是零到0.4。两端叫L和H。接下来在这个范围里找最好的一点。</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矩形对应各自上下界，斜线对应平衡；先求交集，再命名L和H。</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Only for this opposite-label zero-old-value pair is the balance constant zero and both new coefficients equal t. The graph has equal coordinate scales and box ratio3:1. Bounds come from Ci already introduced in the original objective and dual constraints. L/H are merely names for the resulting interval ends.</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641" name="Google Shape;641;h43d44183452b5005_14_27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h43d44183452b5005_14_29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7" name="Google Shape;667;h43d44183452b5005_14_29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08 | Group slide 15 | 60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Choose the best t using D. The alphas sum to two t. In w, each alpha multiplies its label and feature: both signed products are positive, so w is also two t. Substituting into D gives two t minus half the square of two t, or two t minus two t squared. Completing the square gives zero point five minus twice the square of t minus zero point five. This peaks at zero point five. But the allowed range stops at zero point four, and the curve rises throughout that range. Clip takes the candidate, L and H, keeping it inside or at the nearest endpoint. The best legal t is zero point four.</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最好的一点用D来选。两个α都为t，总和就是2t。按w的公式，每个α都乘标签、再乘特征；本例两点的标签乘特征都是正一，所以w也是2t。代入D，得到2t减去二分之一乘2t的平方，也就是2t减2t平方。配平方后是0.5减去两倍的t减0.5的平方。平方项最小时曲线最高，所以顶点在0.5。但合法范围只到0.4，曲线在这段一直上升，最好取0.4。clip依次接收候选值、L和H：区间内保留，越界取最近端点。因此两个新α都为0.4。</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依次代入w和D，再指配平方、峰值、合法端点与clip参数。</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formula is not introduced as a mysterious closed-form update. Alpha sum is2t; both signed features are+1, hence w=2t; substitution into the already-stated dual gives2t-2t². The exact concave quadratic peaks at.5, outside[0,.4], so.4 maximizes this bounded subproblem. The curve is a mathematical teaching function, not measured data. General pair algebra is provided in the optional preparation notes.</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668" name="Google Shape;668;h43d44183452b5005_14_29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h43d44183452b5005_14_3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6" name="Google Shape;696;h43d44183452b5005_14_3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09 | Group slide 16 | 35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Both alphas are zero point four, giving w of zero point eight. Point one is free: its alpha lies strictly between zero and C. At the optimum, free points lie on the margin, so label times score equals one. Thus b is zero point two. The predictions are correct, yet the normal point scores only minus zero point six, leaving a shortfall of zero point four. We must still check the whole model.</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两个α都是0.4，所以w等于0.8。第一个α严格介于零和C之间，叫自由支持点。在最优解中，这种点恰好在间隔边界上，标签乘分数等于一。因此0.8加b等于一，得到b为0.2。现在两个点都分对了；但正常点分数是负0.6，沿正确方向只有0.6，所以不足量仍是0.4。随后还要检查整个模型。</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自由点先按α在盒内严格居中定义；最优时它落在间隔边界，由此求b，随后仍需全体检查。</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Free means strictly0&lt;alpha&lt;C, not any support vector. The score reconstruction and b use the SVM optimality conditions, introduced here in the exact case needed by the example and summarized as KKT later. Correct classification may retain a positive shortfall. The source maintains gradient on pair updates and restores b at checkpoints; free candidates are averaged, or the no-free working-set bounds supply b. These implementation branches are in the optional notes, not extra variables on the main slide.</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697" name="Google Shape;697;h43d44183452b5005_14_32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h43d44183452b5005_14_33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9" name="Google Shape;709;h43d44183452b5005_14_33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10 | Group slide 17 | 25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With many samples, choose a point needing adjustment and a legal partner; keep other alphas fixed. Our code chooses the partner giving the largest feasible D increase. The changed classifier can change everyone’s scores, so recheck all and repeat. Generally, preserve the pair’s old weighted sum; new alphas need not be equal.</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样本多时，找一个还需调整的点与合法搭档，固定其他α，只优化这一对。当前实现选择带来最大合法D增量的搭档。分类器一变，其他点的分数也可能改变，所以要重查全体，再重复同一闭环。一般要保持旧的标签加权和，两个新α不一定相等。</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只回访同一个闭环；其他α不动不等于其他分数不动，一般新α不必相等。</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coefficient row is a process schematic, not an additional numerical training data set. The source chooses an eligible violating direction and compares actual clipped quadratic gains for partners. SMO implementations may use other working-set heuristics. Preserve the old weighted pair sum when other coefficients are fixed: new alpha_i=ai+s(aj-new alpha_j), s=yi*yj. Thus the equality alpha1=alpha2 from the toy is not a general SMO rule.</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710" name="Google Shape;710;h43d44183452b5005_14_3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h43d44183452b5005_14_36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6" name="Google Shape;736;h43d44183452b5005_14_36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11 | Group slide 18 | 40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KKT checks every sample. Zero alpha requires label times score at least one; a free alpha requires one; a capped alpha requires at most one. Our values, one and zero point six, pass. Bounds and balance pass too. P is zero point three two plus zero point one six, or zero point four eight. D is the same. Equal upper and lower bounds certify this example. Real runs allow numerical tolerances; budget expiry alone does not mean convergence.</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KKT逐点检查：α为零，标签乘分数至少为一；自由α，乘积为一；到上界，乘积不超过一。本例的一和0.6符合，盒约束与平衡也符合。P是0.32加0.16，D是0.8减0.32，都是0.48。最优值夹在二者之间，因此本例已经最优。真实训练允许数值误差；预算用完不代表收敛。最后回顾完整流程。</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KKT按表格三行读；回访本例，再指P与D相等的证书，随后过渡到全程回顾。</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The KKT rows are implications at an optimum, not bidirectional rules for arbitrary margin points. With Ci&gt;0 and primal/dual feasibility they express optimality. The toy satisfies equality balance, box constraints, KKT and zero primal-dual gap. Ci is already weighted and used once. P is an unnormalized sum. The source additionally checks relative primal-dual gap and working-set KKT gap; these exact definitions are in preparation notes. Certification concerns training optimization, not test accuracy.</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737" name="Google Shape;737;h43d44183452b5005_14_36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8"/>
        <p:cNvGrpSpPr/>
        <p:nvPr/>
      </p:nvGrpSpPr>
      <p:grpSpPr>
        <a:xfrm>
          <a:off x="0" y="0"/>
          <a:ext cx="0" cy="0"/>
          <a:chOff x="0" y="0"/>
          <a:chExt cx="0" cy="0"/>
        </a:xfrm>
      </p:grpSpPr>
      <p:sp>
        <p:nvSpPr>
          <p:cNvPr id="759" name="Google Shape;759;h43d44183452b5005_14_38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h43d44183452b5005_14_38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600">
                <a:latin typeface="Arial"/>
                <a:ea typeface="Arial"/>
                <a:cs typeface="Arial"/>
                <a:sym typeface="Arial"/>
              </a:rPr>
              <a:t>Part II 12 | Group slide 19 | 20 seconds</a:t>
            </a:r>
            <a:endParaRPr/>
          </a:p>
          <a:p>
            <a:pPr marL="0" lvl="0" indent="0" algn="l" rtl="0">
              <a:spcBef>
                <a:spcPts val="0"/>
              </a:spcBef>
              <a:spcAft>
                <a:spcPts val="0"/>
              </a:spcAft>
              <a:buNone/>
            </a:pPr>
            <a:r>
              <a:rPr lang="en-US" sz="1600">
                <a:latin typeface="Arial"/>
                <a:ea typeface="Arial"/>
                <a:cs typeface="Arial"/>
                <a:sym typeface="Arial"/>
              </a:rPr>
              <a:t>English spoken script</a:t>
            </a:r>
            <a:endParaRPr/>
          </a:p>
          <a:p>
            <a:pPr marL="0" lvl="0" indent="0" algn="l" rtl="0">
              <a:spcBef>
                <a:spcPts val="0"/>
              </a:spcBef>
              <a:spcAft>
                <a:spcPts val="0"/>
              </a:spcAft>
              <a:buNone/>
            </a:pPr>
            <a:r>
              <a:rPr lang="en-US" sz="1600">
                <a:latin typeface="Arial"/>
                <a:ea typeface="Arial"/>
                <a:cs typeface="Arial"/>
                <a:sym typeface="Arial"/>
              </a:rPr>
              <a:t>SMO repeats legal pair updates and global checks. Our example gives f equal to zero point eight x plus zero point two. Part Three introduces ADMM: splitting model and margins to solve the same objective.</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中文口述</a:t>
            </a:r>
            <a:endParaRPr/>
          </a:p>
          <a:p>
            <a:pPr marL="0" lvl="0" indent="0" algn="l" rtl="0">
              <a:spcBef>
                <a:spcPts val="0"/>
              </a:spcBef>
              <a:spcAft>
                <a:spcPts val="0"/>
              </a:spcAft>
              <a:buNone/>
            </a:pPr>
            <a:r>
              <a:rPr lang="en-US" sz="1600">
                <a:latin typeface="Arial"/>
                <a:ea typeface="Arial"/>
                <a:cs typeface="Arial"/>
                <a:sym typeface="Arial"/>
              </a:rPr>
              <a:t>SMO循环进行合法的两变量更新和全体检查。本例得到f等于0.8x加0.2。接下来，第三部分介绍ADMM：把模型和逐样本间隔拆开，使用另一种更新方式求解同一个目标。</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Teaching cue</a:t>
            </a:r>
            <a:endParaRPr/>
          </a:p>
          <a:p>
            <a:pPr marL="0" lvl="0" indent="0" algn="l" rtl="0">
              <a:spcBef>
                <a:spcPts val="0"/>
              </a:spcBef>
              <a:spcAft>
                <a:spcPts val="0"/>
              </a:spcAft>
              <a:buNone/>
            </a:pPr>
            <a:r>
              <a:rPr lang="en-US" sz="1600">
                <a:latin typeface="Arial"/>
                <a:ea typeface="Arial"/>
                <a:cs typeface="Arial"/>
                <a:sym typeface="Arial"/>
              </a:rPr>
              <a:t>回顾闭环和最终分类器，然后自然交给Part 3，不在小组中途致谢或结束全场。</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Technical notes</a:t>
            </a:r>
            <a:endParaRPr/>
          </a:p>
          <a:p>
            <a:pPr marL="0" lvl="0" indent="0" algn="l" rtl="0">
              <a:spcBef>
                <a:spcPts val="0"/>
              </a:spcBef>
              <a:spcAft>
                <a:spcPts val="0"/>
              </a:spcAft>
              <a:buNone/>
            </a:pPr>
            <a:r>
              <a:rPr lang="en-US" sz="1600">
                <a:latin typeface="Arial"/>
                <a:ea typeface="Arial"/>
                <a:cs typeface="Arial"/>
                <a:sym typeface="Arial"/>
              </a:rPr>
              <a:t>This closing revisits the already-taught flow and the same numerical example; it adds no new optimization concept. Checks mean box and equality feasibility, global optimality/KKT checks and the primal-dual certificate explained on the preceding slide. This certificate concerns training optimization, not generalization accuracy.</a:t>
            </a:r>
            <a:endParaRPr/>
          </a:p>
          <a:p>
            <a:pPr marL="0" lvl="0" indent="0" algn="l" rtl="0">
              <a:spcBef>
                <a:spcPts val="0"/>
              </a:spcBef>
              <a:spcAft>
                <a:spcPts val="0"/>
              </a:spcAft>
              <a:buNone/>
            </a:pPr>
            <a:r>
              <a:rPr lang="en-US" sz="1600">
                <a:latin typeface="Arial"/>
                <a:ea typeface="Arial"/>
                <a:cs typeface="Arial"/>
                <a:sym typeface="Arial"/>
              </a:rPr>
              <a:t>Sources</a:t>
            </a:r>
            <a:endParaRPr/>
          </a:p>
          <a:p>
            <a:pPr marL="0" lvl="0" indent="0" algn="l" rtl="0">
              <a:spcBef>
                <a:spcPts val="0"/>
              </a:spcBef>
              <a:spcAft>
                <a:spcPts val="0"/>
              </a:spcAft>
              <a:buNone/>
            </a:pPr>
            <a:r>
              <a:rPr lang="en-US" sz="1600">
                <a:latin typeface="Arial"/>
                <a:ea typeface="Arial"/>
                <a:cs typeface="Arial"/>
                <a:sym typeface="Arial"/>
              </a:rPr>
              <a:t>src/svm_smo.py; work/member2_seven_min_20261026/review/arithmetic_validation.json; https://www.microsoft.com/en-us/research/wp-content/uploads/2016/02/tr-98-14.pdf</a:t>
            </a:r>
            <a:endParaRPr/>
          </a:p>
          <a:p>
            <a:pPr marL="0" lvl="0" indent="0" algn="l" rtl="0">
              <a:spcBef>
                <a:spcPts val="0"/>
              </a:spcBef>
              <a:spcAft>
                <a:spcPts val="0"/>
              </a:spcAft>
              <a:buNone/>
            </a:pPr>
            <a:endParaRPr sz="1600">
              <a:latin typeface="Arial"/>
              <a:ea typeface="Arial"/>
              <a:cs typeface="Arial"/>
              <a:sym typeface="Arial"/>
            </a:endParaRPr>
          </a:p>
          <a:p>
            <a:pPr marL="0" lvl="0" indent="0" algn="l" rtl="0">
              <a:spcBef>
                <a:spcPts val="0"/>
              </a:spcBef>
              <a:spcAft>
                <a:spcPts val="0"/>
              </a:spcAft>
              <a:buNone/>
            </a:pPr>
            <a:r>
              <a:rPr lang="en-US" sz="1600">
                <a:latin typeface="Arial"/>
                <a:ea typeface="Arial"/>
                <a:cs typeface="Arial"/>
                <a:sym typeface="Arial"/>
              </a:rPr>
              <a:t>Group integration</a:t>
            </a:r>
            <a:endParaRPr/>
          </a:p>
          <a:p>
            <a:pPr marL="0" lvl="0" indent="0" algn="l" rtl="0">
              <a:spcBef>
                <a:spcPts val="0"/>
              </a:spcBef>
              <a:spcAft>
                <a:spcPts val="0"/>
              </a:spcAft>
              <a:buNone/>
            </a:pPr>
            <a:r>
              <a:rPr lang="en-US" sz="1600">
                <a:latin typeface="Arial"/>
                <a:ea typeface="Arial"/>
                <a:cs typeface="Arial"/>
                <a:sym typeface="Arial"/>
              </a:rPr>
              <a:t>Part 1 defines C_i=C a_i. Part 2 solves that same cost-sensitive SVM. The two-sample C values are illustrative, not experiment settings. Part 3 solves the same objective by ADMM variable splitting; its relaxation alpha is a different parameter from SVM alpha_i.</a:t>
            </a:r>
            <a:endParaRPr/>
          </a:p>
        </p:txBody>
      </p:sp>
      <p:sp>
        <p:nvSpPr>
          <p:cNvPr id="761" name="Google Shape;761;h43d44183452b5005_14_38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Arial"/>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0" name="Google Shape;79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1" name="Google Shape;79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h14e179780a55c938_9_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97" name="Google Shape;797;h14e179780a55c938_9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1 页｜25 秒｜ADMM and PA-ADMM</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这一章节讲解如何求解同一个成本敏感线性 SVM，依次介绍变量拆分、ADMM 的三步更新，以及 PA-ADMM 的初始化和更新控制。这里 PA 指 Pegasos-warm-started adaptive ADMM。样本成本 C_i 和 SVM 目标保持不变。</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来源：Proposal §§2.3, 3.2 · src/svm_admm.py · WP3 implementation</a:t>
            </a:r>
            <a:endParaRPr/>
          </a:p>
        </p:txBody>
      </p:sp>
      <p:sp>
        <p:nvSpPr>
          <p:cNvPr id="798" name="Google Shape;798;h14e179780a55c938_9_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h14e179780a55c938_9_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18" name="Google Shape;818;h14e179780a55c938_9_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2 页｜40 秒｜Split global rules from samplewise margins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θ 包含所有交易共用的权重 w 和截距 b。模型给交易打分 f，乘上真实标签 y 后得到 signed margin m：正数表示相对零分类阈值方向正确，达到 1 表示没有 hinge 惩罚。引入 z 作为训练期间辅助变量，它暂时可以不同于 m，但 ADMM 要求二者最终一致。z 不是给每笔交易单独训练一个永久预测规则；新交易仍由同一个 w、b 计算。</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来源：Proposal §2.3 · docs/WP3/WP3_ADMM.md: model and linear system</a:t>
            </a:r>
            <a:endParaRPr/>
          </a:p>
        </p:txBody>
      </p:sp>
      <p:sp>
        <p:nvSpPr>
          <p:cNvPr id="819" name="Google Shape;819;h14e179780a55c938_9_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h14e179780a55c938_9_4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43" name="Google Shape;843;h14e179780a55c938_9_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3 页｜55 秒｜ADMM alternates three simple updates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ADMM 全称是交替方向乘子法。为了统一正负号，我们写约束 z−Aθ=0，并定义缩放对偶变量 q=u/ρ。第一步固定 z 和 q，更新全局规则 θ，相当于解带正则项的最小二乘方程。第二步逐样本更新 z，处理不可微 hinge。第三步把二者不一致的误差累积进 q；它不是标签，而是协调修正量。这里 R 最后一项为零，保证不惩罚截距。固定 ρ 的标准 ADMM 取 α=1。</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来源：src/svm_admm.py: ADMMSVM._fit · constraint z − Aθ = 0; scaled dual q = u/ρ</a:t>
            </a:r>
            <a:endParaRPr/>
          </a:p>
        </p:txBody>
      </p:sp>
      <p:sp>
        <p:nvSpPr>
          <p:cNvPr id="844" name="Google Shape;844;h14e179780a55c938_9_4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h14e179780a55c938_9_6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65" name="Google Shape;865;h14e179780a55c938_9_6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4 页｜45 秒｜The hinge step has a closed-form solution</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近端更新就是在降低 hinge 惩罚和靠近当前模型给出的值之间折中。a 是当前模型 margin 扣除协调修正 q。若 a 已经达到 1，hinge 为零，不需要再推；若不足 1，就向 1 推进 C_i/ρ，但最多推到 1。举例 a=0.2：C_i/ρ 为 0.3 得到 z=0.5，为 0.8 则得到 z=1。较大的样本成本产生较强的修正。这只是辅助 z 的变化，不能直接把它当作模型预测的变化。</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来源：Proposal §2.3 · src/svm_admm.py: _hinge_prox · illustrative values, not measured data</a:t>
            </a:r>
            <a:endParaRPr/>
          </a:p>
        </p:txBody>
      </p:sp>
      <p:sp>
        <p:nvSpPr>
          <p:cNvPr id="866" name="Google Shape;866;h14e179780a55c938_9_6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h14e179780a55c938_9_9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93" name="Google Shape;893;h14e179780a55c938_9_9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5 页｜50 秒｜PA-ADMM adds a warm start and two controls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PA-ADMM 不是改变 SVM 目标，而是在同一个 ADMM 循环外加三个可以独立开关的组件。先做 K 遍加权 Pegasos 随机次梯度，期望快速获得粗略解。为保证与原目标一致，令 S=ΣC_i、λ=1/S、a_i=C_i/mean(C)，则 P/S=λ||w||²/2+(1/n)Σa_i hinge，学习率 η_t=1/(λt)，偏置不做收缩。每个 epoch 记录目标，把零模型也作为候选，取最好检查点初始化 θ、z=Aθ、q=0。随后在 ADMM 内启用自适应 ρ 和过松弛。K=0 只关热启动；还要关闭自适应并令 α=1 才完全等同冷启动。</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来源：Proposal §3.2 · src/svm_admm.py: PAADMMSVM · Pegasos scaling in WP3_ADMM.md</a:t>
            </a:r>
            <a:endParaRPr/>
          </a:p>
        </p:txBody>
      </p:sp>
      <p:sp>
        <p:nvSpPr>
          <p:cNvPr id="894" name="Google Shape;894;h14e179780a55c938_9_9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h14e179780a55c938_9_1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2" name="Google Shape;922;h14e179780a55c938_9_1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6 页｜50 秒｜Adaptive ρ balances two residuals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ρ 是协调强度，不是训练成本 C。原始残差 r=z−Aθ 衡量辅助变量和真实模型是否一致。对偶残差 s=ρAᵀ(z_new−z_old) 是最优性相关的诊断量。代码使用标准的启发式规则：r 范数超过 s 十倍，就把 ρ 加倍；s 超过 r 十倍，就把 ρ 减半；否则保持。增加 ρ 会更强调一致性，但不保证更快。因为 q 是缩放变量，改变 ρ 时必须令 q 反向缩放，保持 u=ρq 不变。系统矩阵也依赖 ρ，所以必须重新分解，这会带来开销。这里比较的是原始范数，阈值是启发式，会受数据尺度影响。</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来源：src/svm_admm.py: residual / rho updates · Boyd et al. (2011), §3.4.1</a:t>
            </a:r>
            <a:endParaRPr/>
          </a:p>
        </p:txBody>
      </p:sp>
      <p:sp>
        <p:nvSpPr>
          <p:cNvPr id="923" name="Google Shape;923;h14e179780a55c938_9_1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h14e179780a55c938_9_1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52" name="Google Shape;952;h14e179780a55c938_9_1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7 页｜45 秒｜Over-relaxation extrapolates the model margin</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过松弛可以理解为顺着新 margin 的方向多走一点。先算 m=Aθ_new，再从旧 z 出发，用 α 倍的位移得到 m_hat。α=1 就是普通 ADMM；1&lt;α&lt;2 是过松弛。示例 z_old=0.2、新 m=0.4，α=1.6 时得到 0.52，比新 m 稍向前。这个 0.52 是中间计算值，不是永久改变模型的预测。实现中必须在 z 的近端更新和 q 的更新里一致使用 m_hat；残差 r 仍用真实 m。α 控制外推幅度，不能预设越大越好。</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来源：src/svm_admm.py: relaxed / z / q updates · Boyd et al. (2011), §3.4.3</a:t>
            </a:r>
            <a:endParaRPr/>
          </a:p>
        </p:txBody>
      </p:sp>
      <p:sp>
        <p:nvSpPr>
          <p:cNvPr id="953" name="Google Shape;953;h14e179780a55c938_9_15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3"/>
        <p:cNvGrpSpPr/>
        <p:nvPr/>
      </p:nvGrpSpPr>
      <p:grpSpPr>
        <a:xfrm>
          <a:off x="0" y="0"/>
          <a:ext cx="0" cy="0"/>
          <a:chOff x="0" y="0"/>
          <a:chExt cx="0" cy="0"/>
        </a:xfrm>
      </p:grpSpPr>
      <p:sp>
        <p:nvSpPr>
          <p:cNvPr id="974" name="Google Shape;974;h14e179780a55c938_9_19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5" name="Google Shape;975;h14e179780a55c938_9_19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第 9 页｜30 秒｜Method summary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ADMM 通过变量拆分，将成本敏感 SVM 的求解分成全局模型更新、逐样本 hinge 近端更新和对偶更新。PA-ADMM 在同一目标下加入加权 Pegasos 热启动、自适应惩罚参数 ρ 和过松弛参数 α。实现时缓存 Gram 矩阵，在 ρ 不变时复用 Cholesky 分解，同时检查原始残差、对偶残差和原始—对偶 gap。两种流程改变的是初始化和更新方式，SVM 目标与给定的样本成本保持不变。</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来源：src/svm_admm.py · WP3_ADMM.md · WP3_REPORT.md</a:t>
            </a:r>
            <a:endParaRPr/>
          </a:p>
        </p:txBody>
      </p:sp>
      <p:sp>
        <p:nvSpPr>
          <p:cNvPr id="976" name="Google Shape;976;h14e179780a55c938_9_19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h43d44183452b5005_18_6: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96" name="Google Shape;996;h43d44183452b5005_18_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Thanks. The first three parts gave us the model and the four solvers; all I do now is measure. On one dataset and one optimisation problem: who gets the right answer, who keeps working as the data grows, who is fast, and who we can trust. [0:25]</a:t>
            </a:r>
            <a:endParaRPr/>
          </a:p>
        </p:txBody>
      </p:sp>
      <p:sp>
        <p:nvSpPr>
          <p:cNvPr id="997" name="Google Shape;997;h43d44183452b5005_18_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h43d44183452b5005_18_13: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4" name="Google Shape;1004;h43d44183452b5005_18_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The data is the ULB credit-card fraud set. After removing exact duplicates: just under two hundred and eighty-four thousand transactions, four hundred and seventy-three frauds, zero point one six seven per cent. Duplicates go because a row can land in both training and test, and then you measure memory, not detection.</a:t>
            </a:r>
            <a:endParaRPr/>
          </a:p>
          <a:p>
            <a:pPr marL="457200" marR="0" lvl="0" indent="-228600" algn="l" rtl="0">
              <a:lnSpc>
                <a:spcPct val="100000"/>
              </a:lnSpc>
              <a:spcBef>
                <a:spcPts val="0"/>
              </a:spcBef>
              <a:spcAft>
                <a:spcPts val="0"/>
              </a:spcAft>
              <a:buSzPts val="1400"/>
              <a:buNone/>
            </a:pPr>
            <a:r>
              <a:rPr lang="en-US"/>
              <a:t>Everyone sees the same seventy fifteen fifteen split, and twenty-nine features: the twenty-eight components plus the amount, standardised on training statistics only.</a:t>
            </a:r>
            <a:endParaRPr/>
          </a:p>
          <a:p>
            <a:pPr marL="457200" marR="0" lvl="0" indent="-228600" algn="l" rtl="0">
              <a:lnSpc>
                <a:spcPct val="100000"/>
              </a:lnSpc>
              <a:spcBef>
                <a:spcPts val="0"/>
              </a:spcBef>
              <a:spcAft>
                <a:spcPts val="0"/>
              </a:spcAft>
              <a:buSzPts val="1400"/>
              <a:buNone/>
            </a:pPr>
            <a:r>
              <a:rPr lang="en-US"/>
              <a:t>At that rate, calling everything legitimate already scores ninety-nine point eight three per cent and catches nothing, so we measure cost and time, not accuracy. [0:55]</a:t>
            </a:r>
            <a:endParaRPr/>
          </a:p>
        </p:txBody>
      </p:sp>
      <p:sp>
        <p:nvSpPr>
          <p:cNvPr id="1005" name="Google Shape;1005;h43d44183452b5005_18_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h43d44183452b5005_18_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8" name="Google Shape;1018;h43d44183452b5005_18_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This slide carries the setting and the vocabulary for everything after it.</a:t>
            </a:r>
            <a:endParaRPr/>
          </a:p>
          <a:p>
            <a:pPr marL="457200" marR="0" lvl="0" indent="-228600" algn="l" rtl="0">
              <a:lnSpc>
                <a:spcPct val="100000"/>
              </a:lnSpc>
              <a:spcBef>
                <a:spcPts val="0"/>
              </a:spcBef>
              <a:spcAft>
                <a:spcPts val="0"/>
              </a:spcAft>
              <a:buSzPts val="1400"/>
              <a:buNone/>
            </a:pPr>
            <a:r>
              <a:rPr lang="en-US"/>
              <a:t>One experiment is six steps: verified data, one shared split per seed, one quadratic program, each solver fitting on its own, the threshold chosen on validation, the test set scored once.</a:t>
            </a:r>
            <a:endParaRPr/>
          </a:p>
          <a:p>
            <a:pPr marL="457200" marR="0" lvl="0" indent="-228600" algn="l" rtl="0">
              <a:lnSpc>
                <a:spcPct val="100000"/>
              </a:lnSpc>
              <a:spcBef>
                <a:spcPts val="0"/>
              </a:spcBef>
              <a:spcAft>
                <a:spcPts val="0"/>
              </a:spcAft>
              <a:buSzPts val="1400"/>
              <a:buNone/>
            </a:pPr>
            <a:r>
              <a:rPr lang="en-US"/>
              <a:t>C is the price of a margin violation — larger C fits the training data harder. It is fixed at one: a different C is a different problem, so neither the objective nor the time would be comparable. The cost ratio is not C — it enters as a per-sample weight, so a fraud counts more than a legitimate transaction, and more so as the ratio gets harsher.</a:t>
            </a:r>
            <a:endParaRPr/>
          </a:p>
          <a:p>
            <a:pPr marL="457200" marR="0" lvl="0" indent="-228600" algn="l" rtl="0">
              <a:lnSpc>
                <a:spcPct val="100000"/>
              </a:lnSpc>
              <a:spcBef>
                <a:spcPts val="0"/>
              </a:spcBef>
              <a:spcAft>
                <a:spcPts val="0"/>
              </a:spcAft>
              <a:buSzPts val="1400"/>
              <a:buNone/>
            </a:pPr>
            <a:r>
              <a:rPr lang="en-US"/>
              <a:t>Four words. Reference: the best objective anyone reached. Tolerance: within a tenth of a per cent of it. Time-to-tolerance: when a solver first gets there, and that is the time we report. Certified: residuals and duality gap all inside tolerance — the difference between looking converged and being converged.</a:t>
            </a:r>
            <a:endParaRPr/>
          </a:p>
          <a:p>
            <a:pPr marL="457200" marR="0" lvl="0" indent="-228600" algn="l" rtl="0">
              <a:lnSpc>
                <a:spcPct val="100000"/>
              </a:lnSpc>
              <a:spcBef>
                <a:spcPts val="0"/>
              </a:spcBef>
              <a:spcAft>
                <a:spcPts val="0"/>
              </a:spcAft>
              <a:buSzPts val="1400"/>
              <a:buNone/>
            </a:pPr>
            <a:r>
              <a:rPr lang="en-US"/>
              <a:t>That also explains the empty cells: no certificate, no time to report. And there is no interior-point baseline here. [1:25]</a:t>
            </a:r>
            <a:endParaRPr/>
          </a:p>
        </p:txBody>
      </p:sp>
      <p:sp>
        <p:nvSpPr>
          <p:cNvPr id="1019" name="Google Shape;1019;h43d44183452b5005_18_2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h43d44183452b5005_18_44:notes"/>
          <p:cNvSpPr>
            <a:spLocks noGrp="1" noRot="1" noChangeAspect="1"/>
          </p:cNvSpPr>
          <p:nvPr>
            <p:ph type="sldImg" idx="2"/>
          </p:nvPr>
        </p:nvSpPr>
        <p:spPr>
          <a:xfrm>
            <a:off x="-1166813" y="0"/>
            <a:ext cx="5334000" cy="3000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7" name="Google Shape;1037;h43d44183452b5005_18_4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Before comparing speed, we check that we compare the same thing: a few thousand rows, the tolerance tightened to one ten-thousandth, everyone starting from zero.</a:t>
            </a:r>
            <a:endParaRPr/>
          </a:p>
          <a:p>
            <a:pPr marL="457200" marR="0" lvl="0" indent="-228600" algn="l" rtl="0">
              <a:lnSpc>
                <a:spcPct val="100000"/>
              </a:lnSpc>
              <a:spcBef>
                <a:spcPts val="0"/>
              </a:spcBef>
              <a:spcAft>
                <a:spcPts val="0"/>
              </a:spcAft>
              <a:buSzPts val="1400"/>
              <a:buNone/>
            </a:pPr>
            <a:r>
              <a:rPr lang="en-US"/>
              <a:t>Lower is better, and the dashed line is the value everyone is chasing. Three solvers land on it — five point zero eight three, spread under one ten-thousandth — so they found the same solution. Pegasos sits at ten point three nine and never certifies.</a:t>
            </a:r>
            <a:endParaRPr/>
          </a:p>
          <a:p>
            <a:pPr marL="457200" marR="0" lvl="0" indent="-228600" algn="l" rtl="0">
              <a:lnSpc>
                <a:spcPct val="100000"/>
              </a:lnSpc>
              <a:spcBef>
                <a:spcPts val="0"/>
              </a:spcBef>
              <a:spcAft>
                <a:spcPts val="0"/>
              </a:spcAft>
              <a:buSzPts val="1400"/>
              <a:buNone/>
            </a:pPr>
            <a:r>
              <a:rPr lang="en-US"/>
              <a:t>That is not a bug in our code: it optimises a stochastic surrogate, averages its iterates and leaves the bias unregularised. So we report it, and we never rank it. [0:50]</a:t>
            </a:r>
            <a:endParaRPr/>
          </a:p>
        </p:txBody>
      </p:sp>
      <p:sp>
        <p:nvSpPr>
          <p:cNvPr id="1038" name="Google Shape;1038;h43d44183452b5005_18_4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h43d44183452b5005_18_5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2" name="Google Shape;1052;h43d44183452b5005_18_5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Same protocol, one thing changed: the number of training rows. Bars are median fit time on a log scale, and a hatched bar never finished.</a:t>
            </a:r>
            <a:endParaRPr/>
          </a:p>
          <a:p>
            <a:pPr marL="457200" marR="0" lvl="0" indent="-228600" algn="l" rtl="0">
              <a:lnSpc>
                <a:spcPct val="100000"/>
              </a:lnSpc>
              <a:spcBef>
                <a:spcPts val="0"/>
              </a:spcBef>
              <a:spcAft>
                <a:spcPts val="0"/>
              </a:spcAft>
              <a:buSzPts val="1400"/>
              <a:buNone/>
            </a:pPr>
            <a:r>
              <a:rPr lang="en-US"/>
              <a:t>At seven thousand rows everything runs, and SMO is the cheapest — about a second. At thirty-five thousand it splits: ADMM fifty-one seconds, PA-ADMM thirty-seven, Pegasos still not converged, and SMO hitting its own cap of a hundred thousand updates. At full scale only the two ADMM variants reach the target, three hundred and sixty against four hundred and forty-four seconds; SMO takes twenty-three minutes and Pegasos twelve, and neither ever comes inside tolerance.</a:t>
            </a:r>
            <a:endParaRPr/>
          </a:p>
          <a:p>
            <a:pPr marL="457200" marR="0" lvl="0" indent="-228600" algn="l" rtl="0">
              <a:lnSpc>
                <a:spcPct val="100000"/>
              </a:lnSpc>
              <a:spcBef>
                <a:spcPts val="0"/>
              </a:spcBef>
              <a:spcAft>
                <a:spcPts val="0"/>
              </a:spcAft>
              <a:buSzPts val="1400"/>
              <a:buNone/>
            </a:pPr>
            <a:r>
              <a:rPr lang="en-US"/>
              <a:t>So SMO's advantage is a small-data advantage. And this is time to finish, not time to tolerance — that is the next slide. [1:05]</a:t>
            </a:r>
            <a:endParaRPr/>
          </a:p>
        </p:txBody>
      </p:sp>
      <p:sp>
        <p:nvSpPr>
          <p:cNvPr id="1053" name="Google Shape;1053;h43d44183452b5005_18_5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4"/>
        <p:cNvGrpSpPr/>
        <p:nvPr/>
      </p:nvGrpSpPr>
      <p:grpSpPr>
        <a:xfrm>
          <a:off x="0" y="0"/>
          <a:ext cx="0" cy="0"/>
          <a:chOff x="0" y="0"/>
          <a:chExt cx="0" cy="0"/>
        </a:xfrm>
      </p:grpSpPr>
      <p:sp>
        <p:nvSpPr>
          <p:cNvPr id="1065" name="Google Shape;1065;h43d44183452b5005_18_7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6" name="Google Shape;1066;h43d44183452b5005_18_7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This is the table to photograph. Full data, C equal to one, tolerance a tenth of a per cent, five seeds across three ratios — fifteen runs per solver, ninety minutes each, one thread.</a:t>
            </a:r>
            <a:endParaRPr/>
          </a:p>
          <a:p>
            <a:pPr marL="457200" marR="0" lvl="0" indent="-228600" algn="l" rtl="0">
              <a:lnSpc>
                <a:spcPct val="100000"/>
              </a:lnSpc>
              <a:spcBef>
                <a:spcPts val="0"/>
              </a:spcBef>
              <a:spcAft>
                <a:spcPts val="0"/>
              </a:spcAft>
              <a:buSzPts val="1400"/>
              <a:buNone/>
            </a:pPr>
            <a:r>
              <a:rPr lang="en-US"/>
              <a:t>Three passes: by ratio, then time, then certificates. SMO reads n/a everywhere: fifteen runs, never inside tolerance. The two ADMM variants are forty-four against forty-eight, then forty-three against forty-nine, and at fifty to one the order flips, a hundred and two against seventy-five. Certificates: twelve for PA-ADMM, seven for ADMM, none for SMO.</a:t>
            </a:r>
            <a:endParaRPr/>
          </a:p>
          <a:p>
            <a:pPr marL="457200" marR="0" lvl="0" indent="-228600" algn="l" rtl="0">
              <a:lnSpc>
                <a:spcPct val="100000"/>
              </a:lnSpc>
              <a:spcBef>
                <a:spcPts val="0"/>
              </a:spcBef>
              <a:spcAft>
                <a:spcPts val="0"/>
              </a:spcAft>
              <a:buSzPts val="1400"/>
              <a:buNone/>
            </a:pPr>
            <a:r>
              <a:rPr lang="en-US"/>
              <a:t>So the two mild ratios are a tie — four to six seconds apart, seed spread at least that large, and a paired test that gives no separation — and I will not call a winner. At the harshest ratio PA-ADMM is the better choice, twenty-seven seconds sooner, and it is more reliable at every ratio. Pegasos is not in the table at all. [1:20]</a:t>
            </a:r>
            <a:endParaRPr/>
          </a:p>
        </p:txBody>
      </p:sp>
      <p:sp>
        <p:nvSpPr>
          <p:cNvPr id="1067" name="Google Shape;1067;h43d44183452b5005_18_7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8"/>
        <p:cNvGrpSpPr/>
        <p:nvPr/>
      </p:nvGrpSpPr>
      <p:grpSpPr>
        <a:xfrm>
          <a:off x="0" y="0"/>
          <a:ext cx="0" cy="0"/>
          <a:chOff x="0" y="0"/>
          <a:chExt cx="0" cy="0"/>
        </a:xfrm>
      </p:grpSpPr>
      <p:sp>
        <p:nvSpPr>
          <p:cNvPr id="1079" name="Google Shape;1079;h43d44183452b5005_18_8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0" name="Google Shape;1080;h43d44183452b5005_18_8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Does the solver change how well we detect fraud? No — which is why this is a table and not a chart; bars would magnify a difference you cannot see.</a:t>
            </a:r>
            <a:endParaRPr/>
          </a:p>
          <a:p>
            <a:pPr marL="457200" marR="0" lvl="0" indent="-228600" algn="l" rtl="0">
              <a:lnSpc>
                <a:spcPct val="100000"/>
              </a:lnSpc>
              <a:spcBef>
                <a:spcPts val="0"/>
              </a:spcBef>
              <a:spcAft>
                <a:spcPts val="0"/>
              </a:spcAft>
              <a:buSzPts val="1400"/>
              <a:buNone/>
            </a:pPr>
            <a:r>
              <a:rPr lang="en-US"/>
              <a:t>Down the rows, the ratio pushes cost up about four times, by construction, while average precision barely moves. Across the rows, the largest gap between two of the three solvers that reach the target is four thousandths, against seed noise of five hundredths.</a:t>
            </a:r>
            <a:endParaRPr/>
          </a:p>
          <a:p>
            <a:pPr marL="457200" marR="0" lvl="0" indent="-228600" algn="l" rtl="0">
              <a:lnSpc>
                <a:spcPct val="100000"/>
              </a:lnSpc>
              <a:spcBef>
                <a:spcPts val="0"/>
              </a:spcBef>
              <a:spcAft>
                <a:spcPts val="0"/>
              </a:spcAft>
              <a:buSzPts val="1400"/>
              <a:buNone/>
            </a:pPr>
            <a:r>
              <a:rPr lang="en-US"/>
              <a:t>So there is no better method here. What you pay is set by the ratio you deploy at — a business choice — which is why we rank on speed and reliability. [0:50]</a:t>
            </a:r>
            <a:endParaRPr/>
          </a:p>
        </p:txBody>
      </p:sp>
      <p:sp>
        <p:nvSpPr>
          <p:cNvPr id="1081" name="Google Shape;1081;h43d44183452b5005_18_8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h43d44183452b5005_18_9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4" name="Google Shape;1094;h43d44183452b5005_18_9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r>
              <a:rPr lang="en-US"/>
              <a:t>Three claims, one admission. The protocol is comparable — same rows, same C, thresholds on validation, same budget — and that is what makes the numbers mean anything. At full scale only the two ADMM variants survive: twelve certificates for PA-ADMM, seven for ADMM, none for the others, and at the harshest ratio PA-ADMM is both faster and more reliable. At the two milder ratios there is no winner in speed or in quality, and I would rather say so. Left for us: a tuned C, a chronological split, an interior-point baseline. Thank you. [0:50]</a:t>
            </a:r>
            <a:endParaRPr/>
          </a:p>
        </p:txBody>
      </p:sp>
      <p:sp>
        <p:nvSpPr>
          <p:cNvPr id="1095" name="Google Shape;1095;h43d44183452b5005_18_9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jp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jp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5"/>
        <p:cNvGrpSpPr/>
        <p:nvPr/>
      </p:nvGrpSpPr>
      <p:grpSpPr>
        <a:xfrm>
          <a:off x="0" y="0"/>
          <a:ext cx="0" cy="0"/>
          <a:chOff x="0" y="0"/>
          <a:chExt cx="0" cy="0"/>
        </a:xfrm>
      </p:grpSpPr>
      <p:sp>
        <p:nvSpPr>
          <p:cNvPr id="16" name="Google Shape;16;p2"/>
          <p:cNvSpPr/>
          <p:nvPr/>
        </p:nvSpPr>
        <p:spPr>
          <a:xfrm>
            <a:off x="0" y="1709738"/>
            <a:ext cx="12192000" cy="4379912"/>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pic>
        <p:nvPicPr>
          <p:cNvPr id="17" name="Google Shape;17;p2"/>
          <p:cNvPicPr preferRelativeResize="0"/>
          <p:nvPr/>
        </p:nvPicPr>
        <p:blipFill rotWithShape="1">
          <a:blip r:embed="rId2">
            <a:alphaModFix amt="7000"/>
          </a:blip>
          <a:srcRect/>
          <a:stretch/>
        </p:blipFill>
        <p:spPr>
          <a:xfrm>
            <a:off x="7477128" y="1702437"/>
            <a:ext cx="4379911" cy="4379911"/>
          </a:xfrm>
          <a:prstGeom prst="rect">
            <a:avLst/>
          </a:prstGeom>
          <a:noFill/>
          <a:ln>
            <a:noFill/>
          </a:ln>
        </p:spPr>
      </p:pic>
      <p:sp>
        <p:nvSpPr>
          <p:cNvPr id="18" name="Google Shape;18;p2"/>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spcBef>
                <a:spcPts val="360"/>
              </a:spcBef>
              <a:spcAft>
                <a:spcPts val="0"/>
              </a:spcAft>
              <a:buClr>
                <a:schemeClr val="lt1"/>
              </a:buClr>
              <a:buSzPts val="1800"/>
              <a:buNone/>
              <a:defRPr sz="1800">
                <a:solidFill>
                  <a:schemeClr val="lt1"/>
                </a:solidFill>
              </a:defRPr>
            </a:lvl1pPr>
            <a:lvl2pPr lvl="1" algn="ctr">
              <a:spcBef>
                <a:spcPts val="400"/>
              </a:spcBef>
              <a:spcAft>
                <a:spcPts val="0"/>
              </a:spcAft>
              <a:buClr>
                <a:schemeClr val="dk1"/>
              </a:buClr>
              <a:buSzPts val="2000"/>
              <a:buNone/>
              <a:defRPr sz="2000"/>
            </a:lvl2pPr>
            <a:lvl3pPr lvl="2" algn="ctr">
              <a:spcBef>
                <a:spcPts val="360"/>
              </a:spcBef>
              <a:spcAft>
                <a:spcPts val="0"/>
              </a:spcAft>
              <a:buClr>
                <a:schemeClr val="dk1"/>
              </a:buClr>
              <a:buSzPts val="1800"/>
              <a:buNone/>
              <a:defRPr sz="1800"/>
            </a:lvl3pPr>
            <a:lvl4pPr lvl="3" algn="ctr">
              <a:spcBef>
                <a:spcPts val="320"/>
              </a:spcBef>
              <a:spcAft>
                <a:spcPts val="0"/>
              </a:spcAft>
              <a:buClr>
                <a:schemeClr val="dk1"/>
              </a:buClr>
              <a:buSzPts val="1600"/>
              <a:buNone/>
              <a:defRPr sz="1600"/>
            </a:lvl4pPr>
            <a:lvl5pPr lvl="4" algn="ctr">
              <a:spcBef>
                <a:spcPts val="320"/>
              </a:spcBef>
              <a:spcAft>
                <a:spcPts val="0"/>
              </a:spcAft>
              <a:buClr>
                <a:schemeClr val="dk1"/>
              </a:buClr>
              <a:buSzPts val="1600"/>
              <a:buNone/>
              <a:defRPr sz="1600"/>
            </a:lvl5pPr>
            <a:lvl6pPr lvl="5" algn="ctr">
              <a:spcBef>
                <a:spcPts val="320"/>
              </a:spcBef>
              <a:spcAft>
                <a:spcPts val="0"/>
              </a:spcAft>
              <a:buClr>
                <a:schemeClr val="dk1"/>
              </a:buClr>
              <a:buSzPts val="1600"/>
              <a:buNone/>
              <a:defRPr sz="1600"/>
            </a:lvl6pPr>
            <a:lvl7pPr lvl="6" algn="ctr">
              <a:spcBef>
                <a:spcPts val="320"/>
              </a:spcBef>
              <a:spcAft>
                <a:spcPts val="0"/>
              </a:spcAft>
              <a:buClr>
                <a:schemeClr val="dk1"/>
              </a:buClr>
              <a:buSzPts val="1600"/>
              <a:buNone/>
              <a:defRPr sz="1600"/>
            </a:lvl7pPr>
            <a:lvl8pPr lvl="7" algn="ctr">
              <a:spcBef>
                <a:spcPts val="320"/>
              </a:spcBef>
              <a:spcAft>
                <a:spcPts val="0"/>
              </a:spcAft>
              <a:buClr>
                <a:schemeClr val="dk1"/>
              </a:buClr>
              <a:buSzPts val="1600"/>
              <a:buNone/>
              <a:defRPr sz="1600"/>
            </a:lvl8pPr>
            <a:lvl9pPr lvl="8" algn="ctr">
              <a:spcBef>
                <a:spcPts val="320"/>
              </a:spcBef>
              <a:spcAft>
                <a:spcPts val="0"/>
              </a:spcAft>
              <a:buClr>
                <a:schemeClr val="dk1"/>
              </a:buClr>
              <a:buSzPts val="1600"/>
              <a:buNone/>
              <a:defRPr sz="1600"/>
            </a:lvl9pPr>
          </a:lstStyle>
          <a:p>
            <a:endParaRPr/>
          </a:p>
        </p:txBody>
      </p:sp>
      <p:sp>
        <p:nvSpPr>
          <p:cNvPr id="20" name="Google Shape;20;p2"/>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000"/>
              <a:buFont typeface="Calibri"/>
              <a:buNone/>
              <a:defRPr sz="1000"/>
            </a:lvl1pPr>
            <a:lvl2pPr marL="0" lvl="1" indent="0" algn="r">
              <a:spcBef>
                <a:spcPts val="0"/>
              </a:spcBef>
              <a:buClr>
                <a:srgbClr val="888888"/>
              </a:buClr>
              <a:buSzPts val="1000"/>
              <a:buFont typeface="Calibri"/>
              <a:buNone/>
              <a:defRPr sz="1000"/>
            </a:lvl2pPr>
            <a:lvl3pPr marL="0" lvl="2" indent="0" algn="r">
              <a:spcBef>
                <a:spcPts val="0"/>
              </a:spcBef>
              <a:buClr>
                <a:srgbClr val="888888"/>
              </a:buClr>
              <a:buSzPts val="1000"/>
              <a:buFont typeface="Calibri"/>
              <a:buNone/>
              <a:defRPr sz="1000"/>
            </a:lvl3pPr>
            <a:lvl4pPr marL="0" lvl="3" indent="0" algn="r">
              <a:spcBef>
                <a:spcPts val="0"/>
              </a:spcBef>
              <a:buClr>
                <a:srgbClr val="888888"/>
              </a:buClr>
              <a:buSzPts val="1000"/>
              <a:buFont typeface="Calibri"/>
              <a:buNone/>
              <a:defRPr sz="1000"/>
            </a:lvl4pPr>
            <a:lvl5pPr marL="0" lvl="4" indent="0" algn="r">
              <a:spcBef>
                <a:spcPts val="0"/>
              </a:spcBef>
              <a:buClr>
                <a:srgbClr val="888888"/>
              </a:buClr>
              <a:buSzPts val="1000"/>
              <a:buFont typeface="Calibri"/>
              <a:buNone/>
              <a:defRPr sz="1000"/>
            </a:lvl5pPr>
            <a:lvl6pPr marL="0" lvl="5" indent="0" algn="r">
              <a:spcBef>
                <a:spcPts val="0"/>
              </a:spcBef>
              <a:buClr>
                <a:srgbClr val="888888"/>
              </a:buClr>
              <a:buSzPts val="1000"/>
              <a:buFont typeface="Calibri"/>
              <a:buNone/>
              <a:defRPr sz="1000"/>
            </a:lvl6pPr>
            <a:lvl7pPr marL="0" lvl="6" indent="0" algn="r">
              <a:spcBef>
                <a:spcPts val="0"/>
              </a:spcBef>
              <a:buClr>
                <a:srgbClr val="888888"/>
              </a:buClr>
              <a:buSzPts val="1000"/>
              <a:buFont typeface="Calibri"/>
              <a:buNone/>
              <a:defRPr sz="1000"/>
            </a:lvl7pPr>
            <a:lvl8pPr marL="0" lvl="7" indent="0" algn="r">
              <a:spcBef>
                <a:spcPts val="0"/>
              </a:spcBef>
              <a:buClr>
                <a:srgbClr val="888888"/>
              </a:buClr>
              <a:buSzPts val="1000"/>
              <a:buFont typeface="Calibri"/>
              <a:buNone/>
              <a:defRPr sz="1000"/>
            </a:lvl8pPr>
            <a:lvl9pPr marL="0" lvl="8" indent="0" algn="r">
              <a:spcBef>
                <a:spcPts val="0"/>
              </a:spcBef>
              <a:buClr>
                <a:srgbClr val="888888"/>
              </a:buClr>
              <a:buSzPts val="1000"/>
              <a:buFont typeface="Calibri"/>
              <a:buNone/>
              <a:defRPr sz="1000"/>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pic>
        <p:nvPicPr>
          <p:cNvPr id="21" name="Google Shape;21;p2"/>
          <p:cNvPicPr preferRelativeResize="0"/>
          <p:nvPr/>
        </p:nvPicPr>
        <p:blipFill rotWithShape="1">
          <a:blip r:embed="rId3">
            <a:alphaModFix/>
          </a:blip>
          <a:srcRect/>
          <a:stretch/>
        </p:blipFill>
        <p:spPr>
          <a:xfrm>
            <a:off x="334963" y="383309"/>
            <a:ext cx="2743200" cy="52558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22"/>
        <p:cNvGrpSpPr/>
        <p:nvPr/>
      </p:nvGrpSpPr>
      <p:grpSpPr>
        <a:xfrm>
          <a:off x="0" y="0"/>
          <a:ext cx="0" cy="0"/>
          <a:chOff x="0" y="0"/>
          <a:chExt cx="0" cy="0"/>
        </a:xfrm>
      </p:grpSpPr>
      <p:sp>
        <p:nvSpPr>
          <p:cNvPr id="23" name="Google Shape;23;p3"/>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000"/>
              <a:buFont typeface="Calibri"/>
              <a:buNone/>
              <a:defRPr sz="1000"/>
            </a:lvl1pPr>
            <a:lvl2pPr marL="0" lvl="1" indent="0" algn="r">
              <a:spcBef>
                <a:spcPts val="0"/>
              </a:spcBef>
              <a:buClr>
                <a:srgbClr val="888888"/>
              </a:buClr>
              <a:buSzPts val="1000"/>
              <a:buFont typeface="Calibri"/>
              <a:buNone/>
              <a:defRPr sz="1000"/>
            </a:lvl2pPr>
            <a:lvl3pPr marL="0" lvl="2" indent="0" algn="r">
              <a:spcBef>
                <a:spcPts val="0"/>
              </a:spcBef>
              <a:buClr>
                <a:srgbClr val="888888"/>
              </a:buClr>
              <a:buSzPts val="1000"/>
              <a:buFont typeface="Calibri"/>
              <a:buNone/>
              <a:defRPr sz="1000"/>
            </a:lvl3pPr>
            <a:lvl4pPr marL="0" lvl="3" indent="0" algn="r">
              <a:spcBef>
                <a:spcPts val="0"/>
              </a:spcBef>
              <a:buClr>
                <a:srgbClr val="888888"/>
              </a:buClr>
              <a:buSzPts val="1000"/>
              <a:buFont typeface="Calibri"/>
              <a:buNone/>
              <a:defRPr sz="1000"/>
            </a:lvl4pPr>
            <a:lvl5pPr marL="0" lvl="4" indent="0" algn="r">
              <a:spcBef>
                <a:spcPts val="0"/>
              </a:spcBef>
              <a:buClr>
                <a:srgbClr val="888888"/>
              </a:buClr>
              <a:buSzPts val="1000"/>
              <a:buFont typeface="Calibri"/>
              <a:buNone/>
              <a:defRPr sz="1000"/>
            </a:lvl5pPr>
            <a:lvl6pPr marL="0" lvl="5" indent="0" algn="r">
              <a:spcBef>
                <a:spcPts val="0"/>
              </a:spcBef>
              <a:buClr>
                <a:srgbClr val="888888"/>
              </a:buClr>
              <a:buSzPts val="1000"/>
              <a:buFont typeface="Calibri"/>
              <a:buNone/>
              <a:defRPr sz="1000"/>
            </a:lvl6pPr>
            <a:lvl7pPr marL="0" lvl="6" indent="0" algn="r">
              <a:spcBef>
                <a:spcPts val="0"/>
              </a:spcBef>
              <a:buClr>
                <a:srgbClr val="888888"/>
              </a:buClr>
              <a:buSzPts val="1000"/>
              <a:buFont typeface="Calibri"/>
              <a:buNone/>
              <a:defRPr sz="1000"/>
            </a:lvl7pPr>
            <a:lvl8pPr marL="0" lvl="7" indent="0" algn="r">
              <a:spcBef>
                <a:spcPts val="0"/>
              </a:spcBef>
              <a:buClr>
                <a:srgbClr val="888888"/>
              </a:buClr>
              <a:buSzPts val="1000"/>
              <a:buFont typeface="Calibri"/>
              <a:buNone/>
              <a:defRPr sz="1000"/>
            </a:lvl8pPr>
            <a:lvl9pPr marL="0" lvl="8" indent="0" algn="r">
              <a:spcBef>
                <a:spcPts val="0"/>
              </a:spcBef>
              <a:buClr>
                <a:srgbClr val="888888"/>
              </a:buClr>
              <a:buSzPts val="1000"/>
              <a:buFont typeface="Calibri"/>
              <a:buNone/>
              <a:defRPr sz="1000"/>
            </a:lvl9pPr>
          </a:lstStyle>
          <a:p>
            <a:pPr marL="0" lvl="0" indent="0" algn="r" rtl="0">
              <a:spcBef>
                <a:spcPts val="0"/>
              </a:spcBef>
              <a:spcAft>
                <a:spcPts val="0"/>
              </a:spcAft>
              <a:buNone/>
            </a:pPr>
            <a:fld id="{00000000-1234-1234-1234-123412341234}" type="slidenum">
              <a:rPr lang="en-US"/>
              <a:t>‹#›</a:t>
            </a:fld>
            <a:endParaRPr>
              <a:solidFill>
                <a:srgbClr val="888888"/>
              </a:solidFill>
              <a:latin typeface="Calibri"/>
              <a:ea typeface="Calibri"/>
              <a:cs typeface="Calibri"/>
              <a:sym typeface="Calibri"/>
            </a:endParaRPr>
          </a:p>
        </p:txBody>
      </p:sp>
      <p:sp>
        <p:nvSpPr>
          <p:cNvPr id="24" name="Google Shape;24;p3"/>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pic>
        <p:nvPicPr>
          <p:cNvPr id="25" name="Google Shape;25;p3"/>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6" name="Google Shape;26;p3"/>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3200"/>
              <a:buFont typeface="Calibri"/>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
          <p:cNvSpPr txBox="1">
            <a:spLocks noGrp="1"/>
          </p:cNvSpPr>
          <p:nvPr>
            <p:ph type="body" idx="1"/>
          </p:nvPr>
        </p:nvSpPr>
        <p:spPr>
          <a:xfrm>
            <a:off x="334962" y="1032641"/>
            <a:ext cx="11522075" cy="5321684"/>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31" name="Google Shape;31;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2" name="Google Shape;32;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3" name="Google Shape;33;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43" name="Google Shape;43;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44" name="Google Shape;44;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45" name="Google Shape;45;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6"/>
        <p:cNvGrpSpPr/>
        <p:nvPr/>
      </p:nvGrpSpPr>
      <p:grpSpPr>
        <a:xfrm>
          <a:off x="0" y="0"/>
          <a:ext cx="0" cy="0"/>
          <a:chOff x="0" y="0"/>
          <a:chExt cx="0" cy="0"/>
        </a:xfrm>
      </p:grpSpPr>
      <p:sp>
        <p:nvSpPr>
          <p:cNvPr id="47" name="Google Shape;47;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 name="Google Shape;48;p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228600" algn="l">
              <a:spcBef>
                <a:spcPts val="480"/>
              </a:spcBef>
              <a:spcAft>
                <a:spcPts val="0"/>
              </a:spcAft>
              <a:buClr>
                <a:schemeClr val="dk1"/>
              </a:buClr>
              <a:buSzPts val="2400"/>
              <a:buNone/>
              <a:defRPr sz="2400"/>
            </a:lvl2pPr>
            <a:lvl3pPr marL="1371600" lvl="2" indent="-228600" algn="l">
              <a:spcBef>
                <a:spcPts val="400"/>
              </a:spcBef>
              <a:spcAft>
                <a:spcPts val="0"/>
              </a:spcAft>
              <a:buClr>
                <a:schemeClr val="dk1"/>
              </a:buClr>
              <a:buSzPts val="2000"/>
              <a:buNone/>
              <a:defRPr sz="2000"/>
            </a:lvl3pPr>
            <a:lvl4pPr marL="1828800" lvl="3" indent="-228600" algn="l">
              <a:spcBef>
                <a:spcPts val="360"/>
              </a:spcBef>
              <a:spcAft>
                <a:spcPts val="0"/>
              </a:spcAft>
              <a:buClr>
                <a:schemeClr val="dk1"/>
              </a:buClr>
              <a:buSzPts val="1800"/>
              <a:buNone/>
              <a:defRPr sz="1800"/>
            </a:lvl4pPr>
            <a:lvl5pPr marL="2286000" lvl="4" indent="-228600" algn="l">
              <a:spcBef>
                <a:spcPts val="360"/>
              </a:spcBef>
              <a:spcAft>
                <a:spcPts val="0"/>
              </a:spcAft>
              <a:buClr>
                <a:schemeClr val="dk1"/>
              </a:buClr>
              <a:buSzPts val="1800"/>
              <a:buNone/>
              <a:defRPr sz="1800"/>
            </a:lvl5pPr>
            <a:lvl6pPr marL="2743200" lvl="5" indent="-228600" algn="l">
              <a:spcBef>
                <a:spcPts val="360"/>
              </a:spcBef>
              <a:spcAft>
                <a:spcPts val="0"/>
              </a:spcAft>
              <a:buClr>
                <a:schemeClr val="dk1"/>
              </a:buClr>
              <a:buSzPts val="1800"/>
              <a:buNone/>
              <a:defRPr sz="1800"/>
            </a:lvl6pPr>
            <a:lvl7pPr marL="3200400" lvl="6" indent="-228600" algn="l">
              <a:spcBef>
                <a:spcPts val="360"/>
              </a:spcBef>
              <a:spcAft>
                <a:spcPts val="0"/>
              </a:spcAft>
              <a:buClr>
                <a:schemeClr val="dk1"/>
              </a:buClr>
              <a:buSzPts val="1800"/>
              <a:buNone/>
              <a:defRPr sz="1800"/>
            </a:lvl7pPr>
            <a:lvl8pPr marL="3657600" lvl="7" indent="-228600" algn="l">
              <a:spcBef>
                <a:spcPts val="360"/>
              </a:spcBef>
              <a:spcAft>
                <a:spcPts val="0"/>
              </a:spcAft>
              <a:buClr>
                <a:schemeClr val="dk1"/>
              </a:buClr>
              <a:buSzPts val="1800"/>
              <a:buNone/>
              <a:defRPr sz="1800"/>
            </a:lvl8pPr>
            <a:lvl9pPr marL="4114800" lvl="8" indent="-228600" algn="l">
              <a:spcBef>
                <a:spcPts val="360"/>
              </a:spcBef>
              <a:spcAft>
                <a:spcPts val="0"/>
              </a:spcAft>
              <a:buClr>
                <a:schemeClr val="dk1"/>
              </a:buClr>
              <a:buSzPts val="1800"/>
              <a:buNone/>
              <a:defRPr sz="1800"/>
            </a:lvl9pPr>
          </a:lstStyle>
          <a:p>
            <a:endParaRPr/>
          </a:p>
        </p:txBody>
      </p:sp>
      <p:sp>
        <p:nvSpPr>
          <p:cNvPr id="49" name="Google Shape;49;p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228600" algn="l">
              <a:spcBef>
                <a:spcPts val="480"/>
              </a:spcBef>
              <a:spcAft>
                <a:spcPts val="0"/>
              </a:spcAft>
              <a:buClr>
                <a:schemeClr val="dk1"/>
              </a:buClr>
              <a:buSzPts val="2400"/>
              <a:buNone/>
              <a:defRPr sz="2400"/>
            </a:lvl2pPr>
            <a:lvl3pPr marL="1371600" lvl="2" indent="-228600" algn="l">
              <a:spcBef>
                <a:spcPts val="400"/>
              </a:spcBef>
              <a:spcAft>
                <a:spcPts val="0"/>
              </a:spcAft>
              <a:buClr>
                <a:schemeClr val="dk1"/>
              </a:buClr>
              <a:buSzPts val="2000"/>
              <a:buNone/>
              <a:defRPr sz="2000"/>
            </a:lvl3pPr>
            <a:lvl4pPr marL="1828800" lvl="3" indent="-228600" algn="l">
              <a:spcBef>
                <a:spcPts val="360"/>
              </a:spcBef>
              <a:spcAft>
                <a:spcPts val="0"/>
              </a:spcAft>
              <a:buClr>
                <a:schemeClr val="dk1"/>
              </a:buClr>
              <a:buSzPts val="1800"/>
              <a:buNone/>
              <a:defRPr sz="1800"/>
            </a:lvl4pPr>
            <a:lvl5pPr marL="2286000" lvl="4" indent="-228600" algn="l">
              <a:spcBef>
                <a:spcPts val="360"/>
              </a:spcBef>
              <a:spcAft>
                <a:spcPts val="0"/>
              </a:spcAft>
              <a:buClr>
                <a:schemeClr val="dk1"/>
              </a:buClr>
              <a:buSzPts val="1800"/>
              <a:buNone/>
              <a:defRPr sz="1800"/>
            </a:lvl5pPr>
            <a:lvl6pPr marL="2743200" lvl="5" indent="-228600" algn="l">
              <a:spcBef>
                <a:spcPts val="360"/>
              </a:spcBef>
              <a:spcAft>
                <a:spcPts val="0"/>
              </a:spcAft>
              <a:buClr>
                <a:schemeClr val="dk1"/>
              </a:buClr>
              <a:buSzPts val="1800"/>
              <a:buNone/>
              <a:defRPr sz="1800"/>
            </a:lvl6pPr>
            <a:lvl7pPr marL="3200400" lvl="6" indent="-228600" algn="l">
              <a:spcBef>
                <a:spcPts val="360"/>
              </a:spcBef>
              <a:spcAft>
                <a:spcPts val="0"/>
              </a:spcAft>
              <a:buClr>
                <a:schemeClr val="dk1"/>
              </a:buClr>
              <a:buSzPts val="1800"/>
              <a:buNone/>
              <a:defRPr sz="1800"/>
            </a:lvl7pPr>
            <a:lvl8pPr marL="3657600" lvl="7" indent="-228600" algn="l">
              <a:spcBef>
                <a:spcPts val="360"/>
              </a:spcBef>
              <a:spcAft>
                <a:spcPts val="0"/>
              </a:spcAft>
              <a:buClr>
                <a:schemeClr val="dk1"/>
              </a:buClr>
              <a:buSzPts val="1800"/>
              <a:buNone/>
              <a:defRPr sz="1800"/>
            </a:lvl8pPr>
            <a:lvl9pPr marL="4114800" lvl="8" indent="-228600" algn="l">
              <a:spcBef>
                <a:spcPts val="360"/>
              </a:spcBef>
              <a:spcAft>
                <a:spcPts val="0"/>
              </a:spcAft>
              <a:buClr>
                <a:schemeClr val="dk1"/>
              </a:buClr>
              <a:buSzPts val="1800"/>
              <a:buNone/>
              <a:defRPr sz="18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6" name="Google Shape;56;p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228600" algn="l">
              <a:spcBef>
                <a:spcPts val="400"/>
              </a:spcBef>
              <a:spcAft>
                <a:spcPts val="0"/>
              </a:spcAft>
              <a:buClr>
                <a:schemeClr val="dk1"/>
              </a:buClr>
              <a:buSzPts val="2000"/>
              <a:buNone/>
              <a:defRPr sz="2000"/>
            </a:lvl2pPr>
            <a:lvl3pPr marL="1371600" lvl="2" indent="-228600" algn="l">
              <a:spcBef>
                <a:spcPts val="360"/>
              </a:spcBef>
              <a:spcAft>
                <a:spcPts val="0"/>
              </a:spcAft>
              <a:buClr>
                <a:schemeClr val="dk1"/>
              </a:buClr>
              <a:buSzPts val="1800"/>
              <a:buNone/>
              <a:defRPr sz="18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228600" algn="l">
              <a:spcBef>
                <a:spcPts val="320"/>
              </a:spcBef>
              <a:spcAft>
                <a:spcPts val="0"/>
              </a:spcAft>
              <a:buClr>
                <a:schemeClr val="dk1"/>
              </a:buClr>
              <a:buSzPts val="1600"/>
              <a:buNone/>
              <a:defRPr sz="1600"/>
            </a:lvl6pPr>
            <a:lvl7pPr marL="3200400" lvl="6" indent="-228600" algn="l">
              <a:spcBef>
                <a:spcPts val="320"/>
              </a:spcBef>
              <a:spcAft>
                <a:spcPts val="0"/>
              </a:spcAft>
              <a:buClr>
                <a:schemeClr val="dk1"/>
              </a:buClr>
              <a:buSzPts val="1600"/>
              <a:buNone/>
              <a:defRPr sz="1600"/>
            </a:lvl7pPr>
            <a:lvl8pPr marL="3657600" lvl="7" indent="-228600" algn="l">
              <a:spcBef>
                <a:spcPts val="320"/>
              </a:spcBef>
              <a:spcAft>
                <a:spcPts val="0"/>
              </a:spcAft>
              <a:buClr>
                <a:schemeClr val="dk1"/>
              </a:buClr>
              <a:buSzPts val="1600"/>
              <a:buNone/>
              <a:defRPr sz="1600"/>
            </a:lvl8pPr>
            <a:lvl9pPr marL="4114800" lvl="8" indent="-228600" algn="l">
              <a:spcBef>
                <a:spcPts val="320"/>
              </a:spcBef>
              <a:spcAft>
                <a:spcPts val="0"/>
              </a:spcAft>
              <a:buClr>
                <a:schemeClr val="dk1"/>
              </a:buClr>
              <a:buSzPts val="1600"/>
              <a:buNone/>
              <a:defRPr sz="1600"/>
            </a:lvl9pPr>
          </a:lstStyle>
          <a:p>
            <a:endParaRPr/>
          </a:p>
        </p:txBody>
      </p:sp>
      <p:sp>
        <p:nvSpPr>
          <p:cNvPr id="57" name="Google Shape;57;p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8" name="Google Shape;58;p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228600" algn="l">
              <a:spcBef>
                <a:spcPts val="400"/>
              </a:spcBef>
              <a:spcAft>
                <a:spcPts val="0"/>
              </a:spcAft>
              <a:buClr>
                <a:schemeClr val="dk1"/>
              </a:buClr>
              <a:buSzPts val="2000"/>
              <a:buNone/>
              <a:defRPr sz="2000"/>
            </a:lvl2pPr>
            <a:lvl3pPr marL="1371600" lvl="2" indent="-228600" algn="l">
              <a:spcBef>
                <a:spcPts val="360"/>
              </a:spcBef>
              <a:spcAft>
                <a:spcPts val="0"/>
              </a:spcAft>
              <a:buClr>
                <a:schemeClr val="dk1"/>
              </a:buClr>
              <a:buSzPts val="1800"/>
              <a:buNone/>
              <a:defRPr sz="18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228600" algn="l">
              <a:spcBef>
                <a:spcPts val="320"/>
              </a:spcBef>
              <a:spcAft>
                <a:spcPts val="0"/>
              </a:spcAft>
              <a:buClr>
                <a:schemeClr val="dk1"/>
              </a:buClr>
              <a:buSzPts val="1600"/>
              <a:buNone/>
              <a:defRPr sz="1600"/>
            </a:lvl6pPr>
            <a:lvl7pPr marL="3200400" lvl="6" indent="-228600" algn="l">
              <a:spcBef>
                <a:spcPts val="320"/>
              </a:spcBef>
              <a:spcAft>
                <a:spcPts val="0"/>
              </a:spcAft>
              <a:buClr>
                <a:schemeClr val="dk1"/>
              </a:buClr>
              <a:buSzPts val="1600"/>
              <a:buNone/>
              <a:defRPr sz="1600"/>
            </a:lvl7pPr>
            <a:lvl8pPr marL="3657600" lvl="7" indent="-228600" algn="l">
              <a:spcBef>
                <a:spcPts val="320"/>
              </a:spcBef>
              <a:spcAft>
                <a:spcPts val="0"/>
              </a:spcAft>
              <a:buClr>
                <a:schemeClr val="dk1"/>
              </a:buClr>
              <a:buSzPts val="1600"/>
              <a:buNone/>
              <a:defRPr sz="1600"/>
            </a:lvl8pPr>
            <a:lvl9pPr marL="4114800" lvl="8" indent="-228600" algn="l">
              <a:spcBef>
                <a:spcPts val="320"/>
              </a:spcBef>
              <a:spcAft>
                <a:spcPts val="0"/>
              </a:spcAft>
              <a:buClr>
                <a:schemeClr val="dk1"/>
              </a:buClr>
              <a:buSzPts val="1600"/>
              <a:buNone/>
              <a:defRPr sz="1600"/>
            </a:lvl9pPr>
          </a:lstStyle>
          <a:p>
            <a:endParaRPr/>
          </a:p>
        </p:txBody>
      </p:sp>
      <p:sp>
        <p:nvSpPr>
          <p:cNvPr id="59" name="Google Shape;59;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0" name="Google Shape;60;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1" name="Google Shape;6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2"/>
        <p:cNvGrpSpPr/>
        <p:nvPr/>
      </p:nvGrpSpPr>
      <p:grpSpPr>
        <a:xfrm>
          <a:off x="0" y="0"/>
          <a:ext cx="0" cy="0"/>
          <a:chOff x="0" y="0"/>
          <a:chExt cx="0" cy="0"/>
        </a:xfrm>
      </p:grpSpPr>
      <p:sp>
        <p:nvSpPr>
          <p:cNvPr id="63" name="Google Shape;63;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5" name="Google Shape;65;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6" name="Google Shape;66;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7"/>
        <p:cNvGrpSpPr/>
        <p:nvPr/>
      </p:nvGrpSpPr>
      <p:grpSpPr>
        <a:xfrm>
          <a:off x="0" y="0"/>
          <a:ext cx="0" cy="0"/>
          <a:chOff x="0" y="0"/>
          <a:chExt cx="0" cy="0"/>
        </a:xfrm>
      </p:grpSpPr>
      <p:sp>
        <p:nvSpPr>
          <p:cNvPr id="68" name="Google Shape;6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69" name="Google Shape;6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70" name="Google Shape;7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1"/>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Clr>
                <a:schemeClr val="dk1"/>
              </a:buClr>
              <a:buSzPts val="3200"/>
              <a:buNone/>
              <a:defRPr sz="3200"/>
            </a:lvl1pPr>
            <a:lvl2pPr marL="914400" lvl="1" indent="-228600" algn="l">
              <a:spcBef>
                <a:spcPts val="560"/>
              </a:spcBef>
              <a:spcAft>
                <a:spcPts val="0"/>
              </a:spcAft>
              <a:buClr>
                <a:schemeClr val="dk1"/>
              </a:buClr>
              <a:buSzPts val="2800"/>
              <a:buNone/>
              <a:defRPr sz="2800"/>
            </a:lvl2pPr>
            <a:lvl3pPr marL="1371600" lvl="2" indent="-228600" algn="l">
              <a:spcBef>
                <a:spcPts val="480"/>
              </a:spcBef>
              <a:spcAft>
                <a:spcPts val="0"/>
              </a:spcAft>
              <a:buClr>
                <a:schemeClr val="dk1"/>
              </a:buClr>
              <a:buSzPts val="2400"/>
              <a:buNone/>
              <a:defRPr sz="2400"/>
            </a:lvl3pPr>
            <a:lvl4pPr marL="1828800" lvl="3" indent="-228600" algn="l">
              <a:spcBef>
                <a:spcPts val="400"/>
              </a:spcBef>
              <a:spcAft>
                <a:spcPts val="0"/>
              </a:spcAft>
              <a:buClr>
                <a:schemeClr val="dk1"/>
              </a:buClr>
              <a:buSzPts val="2000"/>
              <a:buNone/>
              <a:defRPr sz="2000"/>
            </a:lvl4pPr>
            <a:lvl5pPr marL="2286000" lvl="4" indent="-228600" algn="l">
              <a:spcBef>
                <a:spcPts val="400"/>
              </a:spcBef>
              <a:spcAft>
                <a:spcPts val="0"/>
              </a:spcAft>
              <a:buClr>
                <a:schemeClr val="dk1"/>
              </a:buClr>
              <a:buSzPts val="2000"/>
              <a:buNone/>
              <a:defRPr sz="2000"/>
            </a:lvl5pPr>
            <a:lvl6pPr marL="2743200" lvl="5" indent="-228600" algn="l">
              <a:spcBef>
                <a:spcPts val="400"/>
              </a:spcBef>
              <a:spcAft>
                <a:spcPts val="0"/>
              </a:spcAft>
              <a:buClr>
                <a:schemeClr val="dk1"/>
              </a:buClr>
              <a:buSzPts val="2000"/>
              <a:buNone/>
              <a:defRPr sz="2000"/>
            </a:lvl6pPr>
            <a:lvl7pPr marL="3200400" lvl="6" indent="-228600" algn="l">
              <a:spcBef>
                <a:spcPts val="400"/>
              </a:spcBef>
              <a:spcAft>
                <a:spcPts val="0"/>
              </a:spcAft>
              <a:buClr>
                <a:schemeClr val="dk1"/>
              </a:buClr>
              <a:buSzPts val="2000"/>
              <a:buNone/>
              <a:defRPr sz="2000"/>
            </a:lvl7pPr>
            <a:lvl8pPr marL="3657600" lvl="7" indent="-228600" algn="l">
              <a:spcBef>
                <a:spcPts val="400"/>
              </a:spcBef>
              <a:spcAft>
                <a:spcPts val="0"/>
              </a:spcAft>
              <a:buClr>
                <a:schemeClr val="dk1"/>
              </a:buClr>
              <a:buSzPts val="2000"/>
              <a:buNone/>
              <a:defRPr sz="2000"/>
            </a:lvl8pPr>
            <a:lvl9pPr marL="4114800" lvl="8" indent="-228600" algn="l">
              <a:spcBef>
                <a:spcPts val="400"/>
              </a:spcBef>
              <a:spcAft>
                <a:spcPts val="0"/>
              </a:spcAft>
              <a:buClr>
                <a:schemeClr val="dk1"/>
              </a:buClr>
              <a:buSzPts val="2000"/>
              <a:buNone/>
              <a:defRPr sz="2000"/>
            </a:lvl9pPr>
          </a:lstStyle>
          <a:p>
            <a:endParaRPr/>
          </a:p>
        </p:txBody>
      </p:sp>
      <p:sp>
        <p:nvSpPr>
          <p:cNvPr id="74" name="Google Shape;74;p11"/>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a:spLocks noGrp="1"/>
          </p:cNvSpPr>
          <p:nvPr>
            <p:ph type="pic" idx="2"/>
          </p:nvPr>
        </p:nvSpPr>
        <p:spPr>
          <a:xfrm>
            <a:off x="1792288" y="612775"/>
            <a:ext cx="5486400" cy="4114800"/>
          </a:xfrm>
          <a:prstGeom prst="rect">
            <a:avLst/>
          </a:prstGeom>
          <a:noFill/>
          <a:ln>
            <a:noFill/>
          </a:ln>
        </p:spPr>
      </p:sp>
      <p:sp>
        <p:nvSpPr>
          <p:cNvPr id="81" name="Google Shape;81;p1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82" name="Google Shape;82;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3" name="Google Shape;83;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4" name="Google Shape;84;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5"/>
        <p:cNvGrpSpPr/>
        <p:nvPr/>
      </p:nvGrpSpPr>
      <p:grpSpPr>
        <a:xfrm>
          <a:off x="0" y="0"/>
          <a:ext cx="0" cy="0"/>
          <a:chOff x="0" y="0"/>
          <a:chExt cx="0" cy="0"/>
        </a:xfrm>
      </p:grpSpPr>
      <p:sp>
        <p:nvSpPr>
          <p:cNvPr id="86" name="Google Shape;86;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7" name="Google Shape;87;p1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8" name="Google Shape;88;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89" name="Google Shape;89;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90" name="Google Shape;90;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3" name="Google Shape;93;p14"/>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4" name="Google Shape;94;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95" name="Google Shape;95;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888888"/>
              </a:buClr>
              <a:buSzPts val="1800"/>
              <a:buNone/>
              <a:defRPr/>
            </a:lvl1pPr>
            <a:lvl2pPr lvl="1" algn="l">
              <a:spcBef>
                <a:spcPts val="0"/>
              </a:spcBef>
              <a:spcAft>
                <a:spcPts val="0"/>
              </a:spcAft>
              <a:buClr>
                <a:schemeClr val="dk1"/>
              </a:buClr>
              <a:buSzPts val="1800"/>
              <a:buNone/>
              <a:defRPr/>
            </a:lvl2pPr>
            <a:lvl3pPr lvl="2" algn="l">
              <a:spcBef>
                <a:spcPts val="0"/>
              </a:spcBef>
              <a:spcAft>
                <a:spcPts val="0"/>
              </a:spcAft>
              <a:buClr>
                <a:schemeClr val="dk1"/>
              </a:buClr>
              <a:buSzPts val="1800"/>
              <a:buNone/>
              <a:defRPr/>
            </a:lvl3pPr>
            <a:lvl4pPr lvl="3" algn="l">
              <a:spcBef>
                <a:spcPts val="0"/>
              </a:spcBef>
              <a:spcAft>
                <a:spcPts val="0"/>
              </a:spcAft>
              <a:buClr>
                <a:schemeClr val="dk1"/>
              </a:buClr>
              <a:buSzPts val="1800"/>
              <a:buNone/>
              <a:defRPr/>
            </a:lvl4pPr>
            <a:lvl5pPr lvl="4" algn="l">
              <a:spcBef>
                <a:spcPts val="0"/>
              </a:spcBef>
              <a:spcAft>
                <a:spcPts val="0"/>
              </a:spcAft>
              <a:buClr>
                <a:schemeClr val="dk1"/>
              </a:buClr>
              <a:buSzPts val="1800"/>
              <a:buNone/>
              <a:defRPr/>
            </a:lvl5pPr>
            <a:lvl6pPr lvl="5" algn="l">
              <a:spcBef>
                <a:spcPts val="0"/>
              </a:spcBef>
              <a:spcAft>
                <a:spcPts val="0"/>
              </a:spcAft>
              <a:buClr>
                <a:schemeClr val="dk1"/>
              </a:buClr>
              <a:buSzPts val="1800"/>
              <a:buNone/>
              <a:defRPr/>
            </a:lvl6pPr>
            <a:lvl7pPr lvl="6" algn="l">
              <a:spcBef>
                <a:spcPts val="0"/>
              </a:spcBef>
              <a:spcAft>
                <a:spcPts val="0"/>
              </a:spcAft>
              <a:buClr>
                <a:schemeClr val="dk1"/>
              </a:buClr>
              <a:buSzPts val="1800"/>
              <a:buNone/>
              <a:defRPr/>
            </a:lvl7pPr>
            <a:lvl8pPr lvl="7" algn="l">
              <a:spcBef>
                <a:spcPts val="0"/>
              </a:spcBef>
              <a:spcAft>
                <a:spcPts val="0"/>
              </a:spcAft>
              <a:buClr>
                <a:schemeClr val="dk1"/>
              </a:buClr>
              <a:buSzPts val="1800"/>
              <a:buNone/>
              <a:defRPr/>
            </a:lvl8pPr>
            <a:lvl9pPr lvl="8" algn="l">
              <a:spcBef>
                <a:spcPts val="0"/>
              </a:spcBef>
              <a:spcAft>
                <a:spcPts val="0"/>
              </a:spcAft>
              <a:buClr>
                <a:schemeClr val="dk1"/>
              </a:buClr>
              <a:buSzPts val="1800"/>
              <a:buNone/>
              <a:defRPr/>
            </a:lvl9pPr>
          </a:lstStyle>
          <a:p>
            <a:endParaRPr/>
          </a:p>
        </p:txBody>
      </p:sp>
      <p:sp>
        <p:nvSpPr>
          <p:cNvPr id="96" name="Google Shape;96;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888888"/>
              </a:buClr>
              <a:buSzPts val="1200"/>
              <a:buFont typeface="Calibri"/>
              <a:buNone/>
              <a:defRPr sz="1200">
                <a:solidFill>
                  <a:srgbClr val="888888"/>
                </a:solidFill>
              </a:defRPr>
            </a:lvl1pPr>
            <a:lvl2pPr marL="0" lvl="1" indent="0" algn="r">
              <a:spcBef>
                <a:spcPts val="0"/>
              </a:spcBef>
              <a:buClr>
                <a:srgbClr val="888888"/>
              </a:buClr>
              <a:buSzPts val="1200"/>
              <a:buFont typeface="Calibri"/>
              <a:buNone/>
              <a:defRPr sz="1200">
                <a:solidFill>
                  <a:srgbClr val="888888"/>
                </a:solidFill>
              </a:defRPr>
            </a:lvl2pPr>
            <a:lvl3pPr marL="0" lvl="2" indent="0" algn="r">
              <a:spcBef>
                <a:spcPts val="0"/>
              </a:spcBef>
              <a:buClr>
                <a:srgbClr val="888888"/>
              </a:buClr>
              <a:buSzPts val="1200"/>
              <a:buFont typeface="Calibri"/>
              <a:buNone/>
              <a:defRPr sz="1200">
                <a:solidFill>
                  <a:srgbClr val="888888"/>
                </a:solidFill>
              </a:defRPr>
            </a:lvl3pPr>
            <a:lvl4pPr marL="0" lvl="3" indent="0" algn="r">
              <a:spcBef>
                <a:spcPts val="0"/>
              </a:spcBef>
              <a:buClr>
                <a:srgbClr val="888888"/>
              </a:buClr>
              <a:buSzPts val="1200"/>
              <a:buFont typeface="Calibri"/>
              <a:buNone/>
              <a:defRPr sz="1200">
                <a:solidFill>
                  <a:srgbClr val="888888"/>
                </a:solidFill>
              </a:defRPr>
            </a:lvl4pPr>
            <a:lvl5pPr marL="0" lvl="4" indent="0" algn="r">
              <a:spcBef>
                <a:spcPts val="0"/>
              </a:spcBef>
              <a:buClr>
                <a:srgbClr val="888888"/>
              </a:buClr>
              <a:buSzPts val="1200"/>
              <a:buFont typeface="Calibri"/>
              <a:buNone/>
              <a:defRPr sz="1200">
                <a:solidFill>
                  <a:srgbClr val="888888"/>
                </a:solidFill>
              </a:defRPr>
            </a:lvl5pPr>
            <a:lvl6pPr marL="0" lvl="5" indent="0" algn="r">
              <a:spcBef>
                <a:spcPts val="0"/>
              </a:spcBef>
              <a:buClr>
                <a:srgbClr val="888888"/>
              </a:buClr>
              <a:buSzPts val="1200"/>
              <a:buFont typeface="Calibri"/>
              <a:buNone/>
              <a:defRPr sz="1200">
                <a:solidFill>
                  <a:srgbClr val="888888"/>
                </a:solidFill>
              </a:defRPr>
            </a:lvl6pPr>
            <a:lvl7pPr marL="0" lvl="6" indent="0" algn="r">
              <a:spcBef>
                <a:spcPts val="0"/>
              </a:spcBef>
              <a:buClr>
                <a:srgbClr val="888888"/>
              </a:buClr>
              <a:buSzPts val="1200"/>
              <a:buFont typeface="Calibri"/>
              <a:buNone/>
              <a:defRPr sz="1200">
                <a:solidFill>
                  <a:srgbClr val="888888"/>
                </a:solidFill>
              </a:defRPr>
            </a:lvl7pPr>
            <a:lvl8pPr marL="0" lvl="7" indent="0" algn="r">
              <a:spcBef>
                <a:spcPts val="0"/>
              </a:spcBef>
              <a:buClr>
                <a:srgbClr val="888888"/>
              </a:buClr>
              <a:buSzPts val="1200"/>
              <a:buFont typeface="Calibri"/>
              <a:buNone/>
              <a:defRPr sz="1200">
                <a:solidFill>
                  <a:srgbClr val="888888"/>
                </a:solidFill>
              </a:defRPr>
            </a:lvl8pPr>
            <a:lvl9pPr marL="0" lvl="8" indent="0" algn="r">
              <a:spcBef>
                <a:spcPts val="0"/>
              </a:spcBef>
              <a:buClr>
                <a:srgbClr val="888888"/>
              </a:buClr>
              <a:buSzPts val="1200"/>
              <a:buFont typeface="Calibri"/>
              <a:buNone/>
              <a:defRPr sz="12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03"/>
        <p:cNvGrpSpPr/>
        <p:nvPr/>
      </p:nvGrpSpPr>
      <p:grpSpPr>
        <a:xfrm>
          <a:off x="0" y="0"/>
          <a:ext cx="0" cy="0"/>
          <a:chOff x="0" y="0"/>
          <a:chExt cx="0" cy="0"/>
        </a:xfrm>
      </p:grpSpPr>
      <p:sp>
        <p:nvSpPr>
          <p:cNvPr id="104" name="Google Shape;104;p16"/>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05" name="Google Shape;105;p16"/>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6" name="Google Shape;106;p16"/>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07" name="Google Shape;107;p16"/>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108" name="Google Shape;108;p16" descr="A high angle view of a city&#10;&#10;Description automatically generated"/>
          <p:cNvPicPr preferRelativeResize="0"/>
          <p:nvPr/>
        </p:nvPicPr>
        <p:blipFill rotWithShape="1">
          <a:blip r:embed="rId3">
            <a:alphaModFix/>
          </a:blip>
          <a:srcRect/>
          <a:stretch/>
        </p:blipFill>
        <p:spPr>
          <a:xfrm>
            <a:off x="6096000" y="0"/>
            <a:ext cx="6096000" cy="68580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9"/>
        <p:cNvGrpSpPr/>
        <p:nvPr/>
      </p:nvGrpSpPr>
      <p:grpSpPr>
        <a:xfrm>
          <a:off x="0" y="0"/>
          <a:ext cx="0" cy="0"/>
          <a:chOff x="0" y="0"/>
          <a:chExt cx="0" cy="0"/>
        </a:xfrm>
      </p:grpSpPr>
      <p:sp>
        <p:nvSpPr>
          <p:cNvPr id="110" name="Google Shape;110;p17"/>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1" name="Google Shape;111;p17"/>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2" name="Google Shape;112;p17"/>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13" name="Google Shape;113;p17"/>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17"/>
          <p:cNvSpPr txBox="1">
            <a:spLocks noGrp="1"/>
          </p:cNvSpPr>
          <p:nvPr>
            <p:ph type="body" idx="1"/>
          </p:nvPr>
        </p:nvSpPr>
        <p:spPr>
          <a:xfrm>
            <a:off x="334962" y="1032641"/>
            <a:ext cx="11522075" cy="53216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5"/>
        <p:cNvGrpSpPr/>
        <p:nvPr/>
      </p:nvGrpSpPr>
      <p:grpSpPr>
        <a:xfrm>
          <a:off x="0" y="0"/>
          <a:ext cx="0" cy="0"/>
          <a:chOff x="0" y="0"/>
          <a:chExt cx="0" cy="0"/>
        </a:xfrm>
      </p:grpSpPr>
      <p:pic>
        <p:nvPicPr>
          <p:cNvPr id="116" name="Google Shape;116;p18" descr="A building with a sign in front of it&#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17" name="Google Shape;117;p18"/>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 name="Google Shape;118;p18"/>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18"/>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20" name="Google Shape;120;p18"/>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121" name="Google Shape;121;p18"/>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122"/>
        <p:cNvGrpSpPr/>
        <p:nvPr/>
      </p:nvGrpSpPr>
      <p:grpSpPr>
        <a:xfrm>
          <a:off x="0" y="0"/>
          <a:ext cx="0" cy="0"/>
          <a:chOff x="0" y="0"/>
          <a:chExt cx="0" cy="0"/>
        </a:xfrm>
      </p:grpSpPr>
      <p:pic>
        <p:nvPicPr>
          <p:cNvPr id="123" name="Google Shape;123;p19" descr="A building with a large round top&#10;&#10;Description automatically generated with medium confidence"/>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4" name="Google Shape;124;p19"/>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25" name="Google Shape;125;p19"/>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9"/>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27" name="Google Shape;127;p19"/>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128" name="Google Shape;128;p19"/>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29"/>
        <p:cNvGrpSpPr/>
        <p:nvPr/>
      </p:nvGrpSpPr>
      <p:grpSpPr>
        <a:xfrm>
          <a:off x="0" y="0"/>
          <a:ext cx="0" cy="0"/>
          <a:chOff x="0" y="0"/>
          <a:chExt cx="0" cy="0"/>
        </a:xfrm>
      </p:grpSpPr>
      <p:pic>
        <p:nvPicPr>
          <p:cNvPr id="130" name="Google Shape;130;p20" descr="A close-up of a logo&#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1" name="Google Shape;131;p20"/>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2" name="Google Shape;132;p20"/>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20"/>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34" name="Google Shape;134;p20"/>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135" name="Google Shape;135;p20"/>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136"/>
        <p:cNvGrpSpPr/>
        <p:nvPr/>
      </p:nvGrpSpPr>
      <p:grpSpPr>
        <a:xfrm>
          <a:off x="0" y="0"/>
          <a:ext cx="0" cy="0"/>
          <a:chOff x="0" y="0"/>
          <a:chExt cx="0" cy="0"/>
        </a:xfrm>
      </p:grpSpPr>
      <p:pic>
        <p:nvPicPr>
          <p:cNvPr id="137" name="Google Shape;137;p21" descr="A building with trees around it&#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8" name="Google Shape;138;p21"/>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39" name="Google Shape;139;p21"/>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0" name="Google Shape;140;p21"/>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1" name="Google Shape;141;p21"/>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142" name="Google Shape;142;p21"/>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143"/>
        <p:cNvGrpSpPr/>
        <p:nvPr/>
      </p:nvGrpSpPr>
      <p:grpSpPr>
        <a:xfrm>
          <a:off x="0" y="0"/>
          <a:ext cx="0" cy="0"/>
          <a:chOff x="0" y="0"/>
          <a:chExt cx="0" cy="0"/>
        </a:xfrm>
      </p:grpSpPr>
      <p:pic>
        <p:nvPicPr>
          <p:cNvPr id="144" name="Google Shape;144;p22" descr="A building with a green lawn&#10;&#10;Description automatically generated"/>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45" name="Google Shape;145;p22"/>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6" name="Google Shape;146;p22"/>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7" name="Google Shape;147;p22"/>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8" name="Google Shape;148;p22"/>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149" name="Google Shape;149;p22"/>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11">
          <p15:clr>
            <a:srgbClr val="FBAE40"/>
          </p15:clr>
        </p15:guide>
        <p15:guide id="4" orient="horz" pos="232">
          <p15:clr>
            <a:srgbClr val="FBAE40"/>
          </p15:clr>
        </p15:guide>
        <p15:guide id="5" pos="746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50"/>
        <p:cNvGrpSpPr/>
        <p:nvPr/>
      </p:nvGrpSpPr>
      <p:grpSpPr>
        <a:xfrm>
          <a:off x="0" y="0"/>
          <a:ext cx="0" cy="0"/>
          <a:chOff x="0" y="0"/>
          <a:chExt cx="0" cy="0"/>
        </a:xfrm>
      </p:grpSpPr>
      <p:sp>
        <p:nvSpPr>
          <p:cNvPr id="151" name="Google Shape;151;p23"/>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2" name="Google Shape;152;p23"/>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23"/>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54" name="Google Shape;154;p23"/>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155" name="Google Shape;155;p23" descr="A group of people walking in a hallway&#10;&#10;Description automatically generated"/>
          <p:cNvPicPr preferRelativeResize="0"/>
          <p:nvPr/>
        </p:nvPicPr>
        <p:blipFill rotWithShape="1">
          <a:blip r:embed="rId3">
            <a:alphaModFix/>
          </a:blip>
          <a:srcRect/>
          <a:stretch/>
        </p:blipFill>
        <p:spPr>
          <a:xfrm>
            <a:off x="6096000" y="0"/>
            <a:ext cx="6096000" cy="6858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156"/>
        <p:cNvGrpSpPr/>
        <p:nvPr/>
      </p:nvGrpSpPr>
      <p:grpSpPr>
        <a:xfrm>
          <a:off x="0" y="0"/>
          <a:ext cx="0" cy="0"/>
          <a:chOff x="0" y="0"/>
          <a:chExt cx="0" cy="0"/>
        </a:xfrm>
      </p:grpSpPr>
      <p:sp>
        <p:nvSpPr>
          <p:cNvPr id="157" name="Google Shape;157;p24"/>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8" name="Google Shape;158;p24"/>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24"/>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60" name="Google Shape;160;p24"/>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161" name="Google Shape;161;p24" descr="A group of people standing outside of a building&#10;&#10;Description automatically generated"/>
          <p:cNvPicPr preferRelativeResize="0"/>
          <p:nvPr/>
        </p:nvPicPr>
        <p:blipFill rotWithShape="1">
          <a:blip r:embed="rId3">
            <a:alphaModFix/>
          </a:blip>
          <a:srcRect/>
          <a:stretch/>
        </p:blipFill>
        <p:spPr>
          <a:xfrm>
            <a:off x="6096000" y="18257"/>
            <a:ext cx="6096000" cy="68580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2"/>
        <p:cNvGrpSpPr/>
        <p:nvPr/>
      </p:nvGrpSpPr>
      <p:grpSpPr>
        <a:xfrm>
          <a:off x="0" y="0"/>
          <a:ext cx="0" cy="0"/>
          <a:chOff x="0" y="0"/>
          <a:chExt cx="0" cy="0"/>
        </a:xfrm>
      </p:grpSpPr>
      <p:sp>
        <p:nvSpPr>
          <p:cNvPr id="163" name="Google Shape;163;p25"/>
          <p:cNvSpPr/>
          <p:nvPr/>
        </p:nvSpPr>
        <p:spPr>
          <a:xfrm>
            <a:off x="0" y="1709738"/>
            <a:ext cx="12192000" cy="4379912"/>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64" name="Google Shape;164;p25"/>
          <p:cNvPicPr preferRelativeResize="0"/>
          <p:nvPr/>
        </p:nvPicPr>
        <p:blipFill rotWithShape="1">
          <a:blip r:embed="rId2">
            <a:alphaModFix amt="7000"/>
          </a:blip>
          <a:srcRect/>
          <a:stretch/>
        </p:blipFill>
        <p:spPr>
          <a:xfrm>
            <a:off x="7477128" y="1702437"/>
            <a:ext cx="4379911" cy="4379911"/>
          </a:xfrm>
          <a:prstGeom prst="rect">
            <a:avLst/>
          </a:prstGeom>
          <a:noFill/>
          <a:ln>
            <a:noFill/>
          </a:ln>
        </p:spPr>
      </p:pic>
      <p:sp>
        <p:nvSpPr>
          <p:cNvPr id="165" name="Google Shape;165;p25"/>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6" name="Google Shape;166;p25"/>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7" name="Google Shape;167;p25"/>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168" name="Google Shape;168;p25"/>
          <p:cNvPicPr preferRelativeResize="0"/>
          <p:nvPr/>
        </p:nvPicPr>
        <p:blipFill rotWithShape="1">
          <a:blip r:embed="rId3">
            <a:alphaModFix/>
          </a:blip>
          <a:srcRect/>
          <a:stretch/>
        </p:blipFill>
        <p:spPr>
          <a:xfrm>
            <a:off x="334963" y="383309"/>
            <a:ext cx="2743200" cy="52558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169"/>
        <p:cNvGrpSpPr/>
        <p:nvPr/>
      </p:nvGrpSpPr>
      <p:grpSpPr>
        <a:xfrm>
          <a:off x="0" y="0"/>
          <a:ext cx="0" cy="0"/>
          <a:chOff x="0" y="0"/>
          <a:chExt cx="0" cy="0"/>
        </a:xfrm>
      </p:grpSpPr>
      <p:sp>
        <p:nvSpPr>
          <p:cNvPr id="170" name="Google Shape;170;p26"/>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1" name="Google Shape;171;p26"/>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2" name="Google Shape;172;p26"/>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73" name="Google Shape;173;p26"/>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4" name="Google Shape;174;p26"/>
          <p:cNvSpPr txBox="1">
            <a:spLocks noGrp="1"/>
          </p:cNvSpPr>
          <p:nvPr>
            <p:ph type="body" idx="1"/>
          </p:nvPr>
        </p:nvSpPr>
        <p:spPr>
          <a:xfrm>
            <a:off x="334962" y="1253331"/>
            <a:ext cx="5506161"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5" name="Google Shape;175;p26"/>
          <p:cNvSpPr txBox="1">
            <a:spLocks noGrp="1"/>
          </p:cNvSpPr>
          <p:nvPr>
            <p:ph type="body" idx="2"/>
          </p:nvPr>
        </p:nvSpPr>
        <p:spPr>
          <a:xfrm>
            <a:off x="6350876" y="1250156"/>
            <a:ext cx="5506161"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Section Header">
  <p:cSld name="3_Section Header">
    <p:spTree>
      <p:nvGrpSpPr>
        <p:cNvPr id="1" name="Shape 176"/>
        <p:cNvGrpSpPr/>
        <p:nvPr/>
      </p:nvGrpSpPr>
      <p:grpSpPr>
        <a:xfrm>
          <a:off x="0" y="0"/>
          <a:ext cx="0" cy="0"/>
          <a:chOff x="0" y="0"/>
          <a:chExt cx="0" cy="0"/>
        </a:xfrm>
      </p:grpSpPr>
      <p:sp>
        <p:nvSpPr>
          <p:cNvPr id="177" name="Google Shape;177;p27"/>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78" name="Google Shape;178;p27"/>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79" name="Google Shape;179;p27"/>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80" name="Google Shape;180;p27"/>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7"/>
          <p:cNvSpPr txBox="1">
            <a:spLocks noGrp="1"/>
          </p:cNvSpPr>
          <p:nvPr>
            <p:ph type="body" idx="1"/>
          </p:nvPr>
        </p:nvSpPr>
        <p:spPr>
          <a:xfrm>
            <a:off x="839788" y="98028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2" name="Google Shape;182;p27"/>
          <p:cNvSpPr txBox="1">
            <a:spLocks noGrp="1"/>
          </p:cNvSpPr>
          <p:nvPr>
            <p:ph type="body" idx="2"/>
          </p:nvPr>
        </p:nvSpPr>
        <p:spPr>
          <a:xfrm>
            <a:off x="839788" y="1804192"/>
            <a:ext cx="5157787" cy="468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27"/>
          <p:cNvSpPr txBox="1">
            <a:spLocks noGrp="1"/>
          </p:cNvSpPr>
          <p:nvPr>
            <p:ph type="body" idx="3"/>
          </p:nvPr>
        </p:nvSpPr>
        <p:spPr>
          <a:xfrm>
            <a:off x="6172200" y="98028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4" name="Google Shape;184;p27"/>
          <p:cNvSpPr txBox="1">
            <a:spLocks noGrp="1"/>
          </p:cNvSpPr>
          <p:nvPr>
            <p:ph type="body" idx="4"/>
          </p:nvPr>
        </p:nvSpPr>
        <p:spPr>
          <a:xfrm>
            <a:off x="6172200" y="1804192"/>
            <a:ext cx="5183188" cy="468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_Section Header">
  <p:cSld name="4_Section Header">
    <p:spTree>
      <p:nvGrpSpPr>
        <p:cNvPr id="1" name="Shape 185"/>
        <p:cNvGrpSpPr/>
        <p:nvPr/>
      </p:nvGrpSpPr>
      <p:grpSpPr>
        <a:xfrm>
          <a:off x="0" y="0"/>
          <a:ext cx="0" cy="0"/>
          <a:chOff x="0" y="0"/>
          <a:chExt cx="0" cy="0"/>
        </a:xfrm>
      </p:grpSpPr>
      <p:sp>
        <p:nvSpPr>
          <p:cNvPr id="186" name="Google Shape;186;p28"/>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7" name="Google Shape;187;p28"/>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88" name="Google Shape;188;p28"/>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89" name="Google Shape;189;p28"/>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0"/>
        <p:cNvGrpSpPr/>
        <p:nvPr/>
      </p:nvGrpSpPr>
      <p:grpSpPr>
        <a:xfrm>
          <a:off x="0" y="0"/>
          <a:ext cx="0" cy="0"/>
          <a:chOff x="0" y="0"/>
          <a:chExt cx="0" cy="0"/>
        </a:xfrm>
      </p:grpSpPr>
      <p:pic>
        <p:nvPicPr>
          <p:cNvPr id="191" name="Google Shape;191;p29"/>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92" name="Google Shape;192;p29"/>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193"/>
        <p:cNvGrpSpPr/>
        <p:nvPr/>
      </p:nvGrpSpPr>
      <p:grpSpPr>
        <a:xfrm>
          <a:off x="0" y="0"/>
          <a:ext cx="0" cy="0"/>
          <a:chOff x="0" y="0"/>
          <a:chExt cx="0" cy="0"/>
        </a:xfrm>
      </p:grpSpPr>
      <p:pic>
        <p:nvPicPr>
          <p:cNvPr id="194" name="Google Shape;194;p30"/>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195" name="Google Shape;195;p30"/>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6" name="Google Shape;19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8" name="Google Shape;198;p3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99"/>
        <p:cNvGrpSpPr/>
        <p:nvPr/>
      </p:nvGrpSpPr>
      <p:grpSpPr>
        <a:xfrm>
          <a:off x="0" y="0"/>
          <a:ext cx="0" cy="0"/>
          <a:chOff x="0" y="0"/>
          <a:chExt cx="0" cy="0"/>
        </a:xfrm>
      </p:grpSpPr>
      <p:pic>
        <p:nvPicPr>
          <p:cNvPr id="200" name="Google Shape;200;p31"/>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01" name="Google Shape;201;p31"/>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00">
                <a:solidFill>
                  <a:srgbClr val="757575"/>
                </a:solidFill>
                <a:latin typeface="Arial"/>
                <a:ea typeface="Arial"/>
                <a:cs typeface="Arial"/>
                <a:sym typeface="Arial"/>
              </a:defRPr>
            </a:lvl1pPr>
            <a:lvl2pPr marL="0" lvl="1" indent="0" algn="r">
              <a:spcBef>
                <a:spcPts val="0"/>
              </a:spcBef>
              <a:buNone/>
              <a:defRPr sz="1000">
                <a:solidFill>
                  <a:srgbClr val="757575"/>
                </a:solidFill>
                <a:latin typeface="Arial"/>
                <a:ea typeface="Arial"/>
                <a:cs typeface="Arial"/>
                <a:sym typeface="Arial"/>
              </a:defRPr>
            </a:lvl2pPr>
            <a:lvl3pPr marL="0" lvl="2" indent="0" algn="r">
              <a:spcBef>
                <a:spcPts val="0"/>
              </a:spcBef>
              <a:buNone/>
              <a:defRPr sz="1000">
                <a:solidFill>
                  <a:srgbClr val="757575"/>
                </a:solidFill>
                <a:latin typeface="Arial"/>
                <a:ea typeface="Arial"/>
                <a:cs typeface="Arial"/>
                <a:sym typeface="Arial"/>
              </a:defRPr>
            </a:lvl3pPr>
            <a:lvl4pPr marL="0" lvl="3" indent="0" algn="r">
              <a:spcBef>
                <a:spcPts val="0"/>
              </a:spcBef>
              <a:buNone/>
              <a:defRPr sz="1000">
                <a:solidFill>
                  <a:srgbClr val="757575"/>
                </a:solidFill>
                <a:latin typeface="Arial"/>
                <a:ea typeface="Arial"/>
                <a:cs typeface="Arial"/>
                <a:sym typeface="Arial"/>
              </a:defRPr>
            </a:lvl4pPr>
            <a:lvl5pPr marL="0" lvl="4" indent="0" algn="r">
              <a:spcBef>
                <a:spcPts val="0"/>
              </a:spcBef>
              <a:buNone/>
              <a:defRPr sz="1000">
                <a:solidFill>
                  <a:srgbClr val="757575"/>
                </a:solidFill>
                <a:latin typeface="Arial"/>
                <a:ea typeface="Arial"/>
                <a:cs typeface="Arial"/>
                <a:sym typeface="Arial"/>
              </a:defRPr>
            </a:lvl5pPr>
            <a:lvl6pPr marL="0" lvl="5" indent="0" algn="r">
              <a:spcBef>
                <a:spcPts val="0"/>
              </a:spcBef>
              <a:buNone/>
              <a:defRPr sz="1000">
                <a:solidFill>
                  <a:srgbClr val="757575"/>
                </a:solidFill>
                <a:latin typeface="Arial"/>
                <a:ea typeface="Arial"/>
                <a:cs typeface="Arial"/>
                <a:sym typeface="Arial"/>
              </a:defRPr>
            </a:lvl6pPr>
            <a:lvl7pPr marL="0" lvl="6" indent="0" algn="r">
              <a:spcBef>
                <a:spcPts val="0"/>
              </a:spcBef>
              <a:buNone/>
              <a:defRPr sz="1000">
                <a:solidFill>
                  <a:srgbClr val="757575"/>
                </a:solidFill>
                <a:latin typeface="Arial"/>
                <a:ea typeface="Arial"/>
                <a:cs typeface="Arial"/>
                <a:sym typeface="Arial"/>
              </a:defRPr>
            </a:lvl7pPr>
            <a:lvl8pPr marL="0" lvl="7" indent="0" algn="r">
              <a:spcBef>
                <a:spcPts val="0"/>
              </a:spcBef>
              <a:buNone/>
              <a:defRPr sz="1000">
                <a:solidFill>
                  <a:srgbClr val="757575"/>
                </a:solidFill>
                <a:latin typeface="Arial"/>
                <a:ea typeface="Arial"/>
                <a:cs typeface="Arial"/>
                <a:sym typeface="Arial"/>
              </a:defRPr>
            </a:lvl8pPr>
            <a:lvl9pPr marL="0" lvl="8" indent="0" algn="r">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02" name="Google Shape;202;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3" name="Google Shape;203;p31"/>
          <p:cNvSpPr>
            <a:spLocks noGrp="1"/>
          </p:cNvSpPr>
          <p:nvPr>
            <p:ph type="pic" idx="2"/>
          </p:nvPr>
        </p:nvSpPr>
        <p:spPr>
          <a:xfrm>
            <a:off x="5183188" y="987425"/>
            <a:ext cx="6172200" cy="4873625"/>
          </a:xfrm>
          <a:prstGeom prst="rect">
            <a:avLst/>
          </a:prstGeom>
          <a:noFill/>
          <a:ln>
            <a:noFill/>
          </a:ln>
        </p:spPr>
      </p:sp>
      <p:sp>
        <p:nvSpPr>
          <p:cNvPr id="204" name="Google Shape;204;p3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11"/>
        <p:cNvGrpSpPr/>
        <p:nvPr/>
      </p:nvGrpSpPr>
      <p:grpSpPr>
        <a:xfrm>
          <a:off x="0" y="0"/>
          <a:ext cx="0" cy="0"/>
          <a:chOff x="0" y="0"/>
          <a:chExt cx="0" cy="0"/>
        </a:xfrm>
      </p:grpSpPr>
      <p:sp>
        <p:nvSpPr>
          <p:cNvPr id="212" name="Google Shape;212;p33"/>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213" name="Google Shape;213;p33"/>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14" name="Google Shape;214;p33"/>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15" name="Google Shape;215;p33"/>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6" name="Google Shape;216;p33"/>
          <p:cNvSpPr txBox="1">
            <a:spLocks noGrp="1"/>
          </p:cNvSpPr>
          <p:nvPr>
            <p:ph type="body" idx="1"/>
          </p:nvPr>
        </p:nvSpPr>
        <p:spPr>
          <a:xfrm>
            <a:off x="334962" y="1032641"/>
            <a:ext cx="11522075" cy="532168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7"/>
        <p:cNvGrpSpPr/>
        <p:nvPr/>
      </p:nvGrpSpPr>
      <p:grpSpPr>
        <a:xfrm>
          <a:off x="0" y="0"/>
          <a:ext cx="0" cy="0"/>
          <a:chOff x="0" y="0"/>
          <a:chExt cx="0" cy="0"/>
        </a:xfrm>
      </p:grpSpPr>
      <p:pic>
        <p:nvPicPr>
          <p:cNvPr id="218" name="Google Shape;218;p3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19" name="Google Shape;219;p34"/>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20" name="Google Shape;220;p34"/>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1" name="Google Shape;221;p34"/>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22" name="Google Shape;222;p34"/>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223" name="Google Shape;223;p34"/>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4_Title Slide">
  <p:cSld name="4_Title Slide">
    <p:spTree>
      <p:nvGrpSpPr>
        <p:cNvPr id="1" name="Shape 224"/>
        <p:cNvGrpSpPr/>
        <p:nvPr/>
      </p:nvGrpSpPr>
      <p:grpSpPr>
        <a:xfrm>
          <a:off x="0" y="0"/>
          <a:ext cx="0" cy="0"/>
          <a:chOff x="0" y="0"/>
          <a:chExt cx="0" cy="0"/>
        </a:xfrm>
      </p:grpSpPr>
      <p:pic>
        <p:nvPicPr>
          <p:cNvPr id="225" name="Google Shape;225;p3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26" name="Google Shape;226;p35"/>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27" name="Google Shape;227;p35"/>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8" name="Google Shape;228;p35"/>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29" name="Google Shape;229;p35"/>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230" name="Google Shape;230;p35"/>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31"/>
        <p:cNvGrpSpPr/>
        <p:nvPr/>
      </p:nvGrpSpPr>
      <p:grpSpPr>
        <a:xfrm>
          <a:off x="0" y="0"/>
          <a:ext cx="0" cy="0"/>
          <a:chOff x="0" y="0"/>
          <a:chExt cx="0" cy="0"/>
        </a:xfrm>
      </p:grpSpPr>
      <p:pic>
        <p:nvPicPr>
          <p:cNvPr id="232" name="Google Shape;232;p36"/>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33" name="Google Shape;233;p36"/>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34" name="Google Shape;234;p36"/>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36"/>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36" name="Google Shape;236;p36"/>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237" name="Google Shape;237;p36"/>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238"/>
        <p:cNvGrpSpPr/>
        <p:nvPr/>
      </p:nvGrpSpPr>
      <p:grpSpPr>
        <a:xfrm>
          <a:off x="0" y="0"/>
          <a:ext cx="0" cy="0"/>
          <a:chOff x="0" y="0"/>
          <a:chExt cx="0" cy="0"/>
        </a:xfrm>
      </p:grpSpPr>
      <p:pic>
        <p:nvPicPr>
          <p:cNvPr id="239" name="Google Shape;239;p37"/>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40" name="Google Shape;240;p37"/>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41" name="Google Shape;241;p37"/>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37"/>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43" name="Google Shape;243;p37"/>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244" name="Google Shape;244;p37"/>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245"/>
        <p:cNvGrpSpPr/>
        <p:nvPr/>
      </p:nvGrpSpPr>
      <p:grpSpPr>
        <a:xfrm>
          <a:off x="0" y="0"/>
          <a:ext cx="0" cy="0"/>
          <a:chOff x="0" y="0"/>
          <a:chExt cx="0" cy="0"/>
        </a:xfrm>
      </p:grpSpPr>
      <p:pic>
        <p:nvPicPr>
          <p:cNvPr id="246" name="Google Shape;246;p3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47" name="Google Shape;247;p38"/>
          <p:cNvSpPr/>
          <p:nvPr/>
        </p:nvSpPr>
        <p:spPr>
          <a:xfrm>
            <a:off x="-1" y="0"/>
            <a:ext cx="4548249" cy="6858000"/>
          </a:xfrm>
          <a:prstGeom prst="rect">
            <a:avLst/>
          </a:prstGeom>
          <a:solidFill>
            <a:schemeClr val="lt1">
              <a:alpha val="70196"/>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48" name="Google Shape;248;p38"/>
          <p:cNvSpPr txBox="1">
            <a:spLocks noGrp="1"/>
          </p:cNvSpPr>
          <p:nvPr>
            <p:ph type="ctrTitle"/>
          </p:nvPr>
        </p:nvSpPr>
        <p:spPr>
          <a:xfrm>
            <a:off x="334963" y="908897"/>
            <a:ext cx="3779837" cy="260106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9" name="Google Shape;249;p38"/>
          <p:cNvSpPr txBox="1">
            <a:spLocks noGrp="1"/>
          </p:cNvSpPr>
          <p:nvPr>
            <p:ph type="subTitle" idx="1"/>
          </p:nvPr>
        </p:nvSpPr>
        <p:spPr>
          <a:xfrm>
            <a:off x="334963" y="3528219"/>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800"/>
              <a:buNone/>
              <a:defRPr sz="18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50" name="Google Shape;250;p38"/>
          <p:cNvPicPr preferRelativeResize="0"/>
          <p:nvPr/>
        </p:nvPicPr>
        <p:blipFill rotWithShape="1">
          <a:blip r:embed="rId3">
            <a:alphaModFix/>
          </a:blip>
          <a:srcRect/>
          <a:stretch/>
        </p:blipFill>
        <p:spPr>
          <a:xfrm>
            <a:off x="334963" y="383309"/>
            <a:ext cx="2743200" cy="525588"/>
          </a:xfrm>
          <a:prstGeom prst="rect">
            <a:avLst/>
          </a:prstGeom>
          <a:noFill/>
          <a:ln>
            <a:noFill/>
          </a:ln>
        </p:spPr>
      </p:pic>
      <p:sp>
        <p:nvSpPr>
          <p:cNvPr id="251" name="Google Shape;251;p38"/>
          <p:cNvSpPr/>
          <p:nvPr/>
        </p:nvSpPr>
        <p:spPr>
          <a:xfrm>
            <a:off x="0" y="-1"/>
            <a:ext cx="12192000" cy="169843"/>
          </a:xfrm>
          <a:prstGeom prst="rect">
            <a:avLst/>
          </a:prstGeom>
          <a:solidFill>
            <a:srgbClr val="AB0634"/>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52"/>
        <p:cNvGrpSpPr/>
        <p:nvPr/>
      </p:nvGrpSpPr>
      <p:grpSpPr>
        <a:xfrm>
          <a:off x="0" y="0"/>
          <a:ext cx="0" cy="0"/>
          <a:chOff x="0" y="0"/>
          <a:chExt cx="0" cy="0"/>
        </a:xfrm>
      </p:grpSpPr>
      <p:sp>
        <p:nvSpPr>
          <p:cNvPr id="253" name="Google Shape;253;p39"/>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54" name="Google Shape;254;p39"/>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39"/>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56" name="Google Shape;256;p39"/>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257" name="Google Shape;257;p39"/>
          <p:cNvPicPr preferRelativeResize="0"/>
          <p:nvPr/>
        </p:nvPicPr>
        <p:blipFill rotWithShape="1">
          <a:blip r:embed="rId3">
            <a:alphaModFix/>
          </a:blip>
          <a:srcRect/>
          <a:stretch/>
        </p:blipFill>
        <p:spPr>
          <a:xfrm>
            <a:off x="6096000" y="0"/>
            <a:ext cx="6096000" cy="6858000"/>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258"/>
        <p:cNvGrpSpPr/>
        <p:nvPr/>
      </p:nvGrpSpPr>
      <p:grpSpPr>
        <a:xfrm>
          <a:off x="0" y="0"/>
          <a:ext cx="0" cy="0"/>
          <a:chOff x="0" y="0"/>
          <a:chExt cx="0" cy="0"/>
        </a:xfrm>
      </p:grpSpPr>
      <p:sp>
        <p:nvSpPr>
          <p:cNvPr id="259" name="Google Shape;259;p40"/>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60" name="Google Shape;260;p40"/>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40"/>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62" name="Google Shape;262;p40"/>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263" name="Google Shape;263;p40"/>
          <p:cNvPicPr preferRelativeResize="0"/>
          <p:nvPr/>
        </p:nvPicPr>
        <p:blipFill rotWithShape="1">
          <a:blip r:embed="rId3">
            <a:alphaModFix/>
          </a:blip>
          <a:srcRect/>
          <a:stretch/>
        </p:blipFill>
        <p:spPr>
          <a:xfrm>
            <a:off x="6096000" y="0"/>
            <a:ext cx="6096000" cy="6858000"/>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_Title and Content">
  <p:cSld name="2_Title and Content">
    <p:spTree>
      <p:nvGrpSpPr>
        <p:cNvPr id="1" name="Shape 264"/>
        <p:cNvGrpSpPr/>
        <p:nvPr/>
      </p:nvGrpSpPr>
      <p:grpSpPr>
        <a:xfrm>
          <a:off x="0" y="0"/>
          <a:ext cx="0" cy="0"/>
          <a:chOff x="0" y="0"/>
          <a:chExt cx="0" cy="0"/>
        </a:xfrm>
      </p:grpSpPr>
      <p:sp>
        <p:nvSpPr>
          <p:cNvPr id="265" name="Google Shape;265;p41"/>
          <p:cNvSpPr/>
          <p:nvPr/>
        </p:nvSpPr>
        <p:spPr>
          <a:xfrm>
            <a:off x="0" y="0"/>
            <a:ext cx="6096000" cy="68580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sp>
        <p:nvSpPr>
          <p:cNvPr id="266" name="Google Shape;266;p41"/>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1"/>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268" name="Google Shape;268;p41"/>
          <p:cNvPicPr preferRelativeResize="0"/>
          <p:nvPr/>
        </p:nvPicPr>
        <p:blipFill rotWithShape="1">
          <a:blip r:embed="rId2">
            <a:alphaModFix/>
          </a:blip>
          <a:srcRect/>
          <a:stretch/>
        </p:blipFill>
        <p:spPr>
          <a:xfrm>
            <a:off x="334963" y="323971"/>
            <a:ext cx="2957614" cy="566669"/>
          </a:xfrm>
          <a:prstGeom prst="rect">
            <a:avLst/>
          </a:prstGeom>
          <a:noFill/>
          <a:ln>
            <a:noFill/>
          </a:ln>
        </p:spPr>
      </p:pic>
      <p:pic>
        <p:nvPicPr>
          <p:cNvPr id="269" name="Google Shape;269;p41"/>
          <p:cNvPicPr preferRelativeResize="0"/>
          <p:nvPr/>
        </p:nvPicPr>
        <p:blipFill rotWithShape="1">
          <a:blip r:embed="rId3">
            <a:alphaModFix/>
          </a:blip>
          <a:srcRect/>
          <a:stretch/>
        </p:blipFill>
        <p:spPr>
          <a:xfrm>
            <a:off x="6096000" y="18257"/>
            <a:ext cx="6096000" cy="6858000"/>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270"/>
        <p:cNvGrpSpPr/>
        <p:nvPr/>
      </p:nvGrpSpPr>
      <p:grpSpPr>
        <a:xfrm>
          <a:off x="0" y="0"/>
          <a:ext cx="0" cy="0"/>
          <a:chOff x="0" y="0"/>
          <a:chExt cx="0" cy="0"/>
        </a:xfrm>
      </p:grpSpPr>
      <p:sp>
        <p:nvSpPr>
          <p:cNvPr id="271" name="Google Shape;271;p42"/>
          <p:cNvSpPr/>
          <p:nvPr/>
        </p:nvSpPr>
        <p:spPr>
          <a:xfrm>
            <a:off x="0" y="1709738"/>
            <a:ext cx="12192000" cy="4379912"/>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72" name="Google Shape;272;p42"/>
          <p:cNvPicPr preferRelativeResize="0"/>
          <p:nvPr/>
        </p:nvPicPr>
        <p:blipFill rotWithShape="1">
          <a:blip r:embed="rId2">
            <a:alphaModFix amt="7000"/>
          </a:blip>
          <a:srcRect/>
          <a:stretch/>
        </p:blipFill>
        <p:spPr>
          <a:xfrm>
            <a:off x="7477128" y="1702437"/>
            <a:ext cx="4379911" cy="4379911"/>
          </a:xfrm>
          <a:prstGeom prst="rect">
            <a:avLst/>
          </a:prstGeom>
          <a:noFill/>
          <a:ln>
            <a:noFill/>
          </a:ln>
        </p:spPr>
      </p:pic>
      <p:sp>
        <p:nvSpPr>
          <p:cNvPr id="273" name="Google Shape;273;p42"/>
          <p:cNvSpPr txBox="1">
            <a:spLocks noGrp="1"/>
          </p:cNvSpPr>
          <p:nvPr>
            <p:ph type="ctrTitle"/>
          </p:nvPr>
        </p:nvSpPr>
        <p:spPr>
          <a:xfrm>
            <a:off x="334963" y="908897"/>
            <a:ext cx="3779837" cy="252010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42"/>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800"/>
              <a:buNone/>
              <a:defRPr sz="18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75" name="Google Shape;275;p42"/>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pic>
        <p:nvPicPr>
          <p:cNvPr id="276" name="Google Shape;276;p42"/>
          <p:cNvPicPr preferRelativeResize="0"/>
          <p:nvPr/>
        </p:nvPicPr>
        <p:blipFill rotWithShape="1">
          <a:blip r:embed="rId3">
            <a:alphaModFix/>
          </a:blip>
          <a:srcRect/>
          <a:stretch/>
        </p:blipFill>
        <p:spPr>
          <a:xfrm>
            <a:off x="334963" y="383309"/>
            <a:ext cx="2743200" cy="525588"/>
          </a:xfrm>
          <a:prstGeom prst="rect">
            <a:avLst/>
          </a:prstGeom>
          <a:noFill/>
          <a:ln>
            <a:noFill/>
          </a:ln>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2_Section Header">
  <p:cSld name="2_Section Header">
    <p:spTree>
      <p:nvGrpSpPr>
        <p:cNvPr id="1" name="Shape 277"/>
        <p:cNvGrpSpPr/>
        <p:nvPr/>
      </p:nvGrpSpPr>
      <p:grpSpPr>
        <a:xfrm>
          <a:off x="0" y="0"/>
          <a:ext cx="0" cy="0"/>
          <a:chOff x="0" y="0"/>
          <a:chExt cx="0" cy="0"/>
        </a:xfrm>
      </p:grpSpPr>
      <p:sp>
        <p:nvSpPr>
          <p:cNvPr id="278" name="Google Shape;278;p43"/>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279" name="Google Shape;279;p43"/>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80" name="Google Shape;280;p43"/>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81" name="Google Shape;281;p43"/>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43"/>
          <p:cNvSpPr txBox="1">
            <a:spLocks noGrp="1"/>
          </p:cNvSpPr>
          <p:nvPr>
            <p:ph type="body" idx="1"/>
          </p:nvPr>
        </p:nvSpPr>
        <p:spPr>
          <a:xfrm>
            <a:off x="334962" y="1253331"/>
            <a:ext cx="5506161"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3" name="Google Shape;283;p43"/>
          <p:cNvSpPr txBox="1">
            <a:spLocks noGrp="1"/>
          </p:cNvSpPr>
          <p:nvPr>
            <p:ph type="body" idx="2"/>
          </p:nvPr>
        </p:nvSpPr>
        <p:spPr>
          <a:xfrm>
            <a:off x="6350876" y="1250156"/>
            <a:ext cx="5506161"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3_Section Header">
  <p:cSld name="3_Section Header">
    <p:spTree>
      <p:nvGrpSpPr>
        <p:cNvPr id="1" name="Shape 284"/>
        <p:cNvGrpSpPr/>
        <p:nvPr/>
      </p:nvGrpSpPr>
      <p:grpSpPr>
        <a:xfrm>
          <a:off x="0" y="0"/>
          <a:ext cx="0" cy="0"/>
          <a:chOff x="0" y="0"/>
          <a:chExt cx="0" cy="0"/>
        </a:xfrm>
      </p:grpSpPr>
      <p:sp>
        <p:nvSpPr>
          <p:cNvPr id="285" name="Google Shape;285;p44"/>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286" name="Google Shape;286;p44"/>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87" name="Google Shape;287;p44"/>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88" name="Google Shape;288;p44"/>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9" name="Google Shape;289;p44"/>
          <p:cNvSpPr txBox="1">
            <a:spLocks noGrp="1"/>
          </p:cNvSpPr>
          <p:nvPr>
            <p:ph type="body" idx="1"/>
          </p:nvPr>
        </p:nvSpPr>
        <p:spPr>
          <a:xfrm>
            <a:off x="839788" y="98028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0" name="Google Shape;290;p44"/>
          <p:cNvSpPr txBox="1">
            <a:spLocks noGrp="1"/>
          </p:cNvSpPr>
          <p:nvPr>
            <p:ph type="body" idx="2"/>
          </p:nvPr>
        </p:nvSpPr>
        <p:spPr>
          <a:xfrm>
            <a:off x="839788" y="1804192"/>
            <a:ext cx="5157787" cy="468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1" name="Google Shape;291;p44"/>
          <p:cNvSpPr txBox="1">
            <a:spLocks noGrp="1"/>
          </p:cNvSpPr>
          <p:nvPr>
            <p:ph type="body" idx="3"/>
          </p:nvPr>
        </p:nvSpPr>
        <p:spPr>
          <a:xfrm>
            <a:off x="6172200" y="98028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92" name="Google Shape;292;p44"/>
          <p:cNvSpPr txBox="1">
            <a:spLocks noGrp="1"/>
          </p:cNvSpPr>
          <p:nvPr>
            <p:ph type="body" idx="4"/>
          </p:nvPr>
        </p:nvSpPr>
        <p:spPr>
          <a:xfrm>
            <a:off x="6172200" y="1804192"/>
            <a:ext cx="5183188" cy="468868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4_Section Header">
  <p:cSld name="4_Section Header">
    <p:spTree>
      <p:nvGrpSpPr>
        <p:cNvPr id="1" name="Shape 293"/>
        <p:cNvGrpSpPr/>
        <p:nvPr/>
      </p:nvGrpSpPr>
      <p:grpSpPr>
        <a:xfrm>
          <a:off x="0" y="0"/>
          <a:ext cx="0" cy="0"/>
          <a:chOff x="0" y="0"/>
          <a:chExt cx="0" cy="0"/>
        </a:xfrm>
      </p:grpSpPr>
      <p:sp>
        <p:nvSpPr>
          <p:cNvPr id="294" name="Google Shape;294;p45"/>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295" name="Google Shape;295;p45"/>
          <p:cNvSpPr/>
          <p:nvPr/>
        </p:nvSpPr>
        <p:spPr>
          <a:xfrm>
            <a:off x="0" y="0"/>
            <a:ext cx="12192000" cy="8001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lt1"/>
              </a:solidFill>
              <a:latin typeface="Arial"/>
              <a:ea typeface="Arial"/>
              <a:cs typeface="Arial"/>
              <a:sym typeface="Arial"/>
            </a:endParaRPr>
          </a:p>
        </p:txBody>
      </p:sp>
      <p:pic>
        <p:nvPicPr>
          <p:cNvPr id="296" name="Google Shape;296;p45"/>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297" name="Google Shape;297;p45"/>
          <p:cNvSpPr txBox="1">
            <a:spLocks noGrp="1"/>
          </p:cNvSpPr>
          <p:nvPr>
            <p:ph type="title"/>
          </p:nvPr>
        </p:nvSpPr>
        <p:spPr>
          <a:xfrm>
            <a:off x="334963" y="-2026"/>
            <a:ext cx="10637838" cy="80212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3200"/>
              <a:buFont typeface="Arial"/>
              <a:buNone/>
              <a:defRPr sz="32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98"/>
        <p:cNvGrpSpPr/>
        <p:nvPr/>
      </p:nvGrpSpPr>
      <p:grpSpPr>
        <a:xfrm>
          <a:off x="0" y="0"/>
          <a:ext cx="0" cy="0"/>
          <a:chOff x="0" y="0"/>
          <a:chExt cx="0" cy="0"/>
        </a:xfrm>
      </p:grpSpPr>
      <p:pic>
        <p:nvPicPr>
          <p:cNvPr id="299" name="Google Shape;299;p46"/>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300" name="Google Shape;300;p46"/>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01"/>
        <p:cNvGrpSpPr/>
        <p:nvPr/>
      </p:nvGrpSpPr>
      <p:grpSpPr>
        <a:xfrm>
          <a:off x="0" y="0"/>
          <a:ext cx="0" cy="0"/>
          <a:chOff x="0" y="0"/>
          <a:chExt cx="0" cy="0"/>
        </a:xfrm>
      </p:grpSpPr>
      <p:pic>
        <p:nvPicPr>
          <p:cNvPr id="302" name="Google Shape;302;p47"/>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303" name="Google Shape;303;p47"/>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304" name="Google Shape;304;p4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5" name="Google Shape;305;p4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3200"/>
              <a:buNone/>
              <a:defRPr sz="3200"/>
            </a:lvl1pPr>
            <a:lvl2pPr marL="914400" lvl="1" indent="-228600" algn="l">
              <a:lnSpc>
                <a:spcPct val="90000"/>
              </a:lnSpc>
              <a:spcBef>
                <a:spcPts val="500"/>
              </a:spcBef>
              <a:spcAft>
                <a:spcPts val="0"/>
              </a:spcAft>
              <a:buClr>
                <a:schemeClr val="dk1"/>
              </a:buClr>
              <a:buSzPts val="2800"/>
              <a:buNone/>
              <a:defRPr sz="2800"/>
            </a:lvl2pPr>
            <a:lvl3pPr marL="1371600" lvl="2" indent="-228600" algn="l">
              <a:lnSpc>
                <a:spcPct val="90000"/>
              </a:lnSpc>
              <a:spcBef>
                <a:spcPts val="500"/>
              </a:spcBef>
              <a:spcAft>
                <a:spcPts val="0"/>
              </a:spcAft>
              <a:buClr>
                <a:schemeClr val="dk1"/>
              </a:buClr>
              <a:buSzPts val="2400"/>
              <a:buNone/>
              <a:defRPr sz="2400"/>
            </a:lvl3pPr>
            <a:lvl4pPr marL="1828800" lvl="3" indent="-228600" algn="l">
              <a:lnSpc>
                <a:spcPct val="90000"/>
              </a:lnSpc>
              <a:spcBef>
                <a:spcPts val="500"/>
              </a:spcBef>
              <a:spcAft>
                <a:spcPts val="0"/>
              </a:spcAft>
              <a:buClr>
                <a:schemeClr val="dk1"/>
              </a:buClr>
              <a:buSzPts val="2000"/>
              <a:buNone/>
              <a:defRPr sz="2000"/>
            </a:lvl4pPr>
            <a:lvl5pPr marL="2286000" lvl="4" indent="-228600" algn="l">
              <a:lnSpc>
                <a:spcPct val="90000"/>
              </a:lnSpc>
              <a:spcBef>
                <a:spcPts val="500"/>
              </a:spcBef>
              <a:spcAft>
                <a:spcPts val="0"/>
              </a:spcAft>
              <a:buClr>
                <a:schemeClr val="dk1"/>
              </a:buClr>
              <a:buSzPts val="2000"/>
              <a:buNone/>
              <a:defRPr sz="2000"/>
            </a:lvl5pPr>
            <a:lvl6pPr marL="2743200" lvl="5" indent="-228600" algn="l">
              <a:lnSpc>
                <a:spcPct val="90000"/>
              </a:lnSpc>
              <a:spcBef>
                <a:spcPts val="500"/>
              </a:spcBef>
              <a:spcAft>
                <a:spcPts val="0"/>
              </a:spcAft>
              <a:buClr>
                <a:schemeClr val="dk1"/>
              </a:buClr>
              <a:buSzPts val="2000"/>
              <a:buNone/>
              <a:defRPr sz="2000"/>
            </a:lvl6pPr>
            <a:lvl7pPr marL="3200400" lvl="6" indent="-228600" algn="l">
              <a:lnSpc>
                <a:spcPct val="90000"/>
              </a:lnSpc>
              <a:spcBef>
                <a:spcPts val="500"/>
              </a:spcBef>
              <a:spcAft>
                <a:spcPts val="0"/>
              </a:spcAft>
              <a:buClr>
                <a:schemeClr val="dk1"/>
              </a:buClr>
              <a:buSzPts val="2000"/>
              <a:buNone/>
              <a:defRPr sz="2000"/>
            </a:lvl7pPr>
            <a:lvl8pPr marL="3657600" lvl="7" indent="-228600" algn="l">
              <a:lnSpc>
                <a:spcPct val="90000"/>
              </a:lnSpc>
              <a:spcBef>
                <a:spcPts val="500"/>
              </a:spcBef>
              <a:spcAft>
                <a:spcPts val="0"/>
              </a:spcAft>
              <a:buClr>
                <a:schemeClr val="dk1"/>
              </a:buClr>
              <a:buSzPts val="2000"/>
              <a:buNone/>
              <a:defRPr sz="2000"/>
            </a:lvl8pPr>
            <a:lvl9pPr marL="4114800" lvl="8" indent="-228600" algn="l">
              <a:lnSpc>
                <a:spcPct val="90000"/>
              </a:lnSpc>
              <a:spcBef>
                <a:spcPts val="500"/>
              </a:spcBef>
              <a:spcAft>
                <a:spcPts val="0"/>
              </a:spcAft>
              <a:buClr>
                <a:schemeClr val="dk1"/>
              </a:buClr>
              <a:buSzPts val="2000"/>
              <a:buNone/>
              <a:defRPr sz="2000"/>
            </a:lvl9pPr>
          </a:lstStyle>
          <a:p>
            <a:endParaRPr/>
          </a:p>
        </p:txBody>
      </p:sp>
      <p:sp>
        <p:nvSpPr>
          <p:cNvPr id="306" name="Google Shape;306;p4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307"/>
        <p:cNvGrpSpPr/>
        <p:nvPr/>
      </p:nvGrpSpPr>
      <p:grpSpPr>
        <a:xfrm>
          <a:off x="0" y="0"/>
          <a:ext cx="0" cy="0"/>
          <a:chOff x="0" y="0"/>
          <a:chExt cx="0" cy="0"/>
        </a:xfrm>
      </p:grpSpPr>
      <p:pic>
        <p:nvPicPr>
          <p:cNvPr id="308" name="Google Shape;308;p48"/>
          <p:cNvPicPr preferRelativeResize="0"/>
          <p:nvPr/>
        </p:nvPicPr>
        <p:blipFill rotWithShape="1">
          <a:blip r:embed="rId2">
            <a:alphaModFix/>
          </a:blip>
          <a:srcRect/>
          <a:stretch/>
        </p:blipFill>
        <p:spPr>
          <a:xfrm>
            <a:off x="11335762" y="156642"/>
            <a:ext cx="521276" cy="521276"/>
          </a:xfrm>
          <a:prstGeom prst="rect">
            <a:avLst/>
          </a:prstGeom>
          <a:noFill/>
          <a:ln>
            <a:noFill/>
          </a:ln>
        </p:spPr>
      </p:pic>
      <p:sp>
        <p:nvSpPr>
          <p:cNvPr id="309" name="Google Shape;309;p48"/>
          <p:cNvSpPr txBox="1">
            <a:spLocks noGrp="1"/>
          </p:cNvSpPr>
          <p:nvPr>
            <p:ph type="sldNum" idx="12"/>
          </p:nvPr>
        </p:nvSpPr>
        <p:spPr>
          <a:xfrm>
            <a:off x="9113837" y="6492875"/>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Clr>
                <a:srgbClr val="757575"/>
              </a:buClr>
              <a:buSzPts val="1000"/>
              <a:buFont typeface="Arial"/>
              <a:buNone/>
              <a:defRPr sz="1000"/>
            </a:lvl1pPr>
            <a:lvl2pPr marL="0" lvl="1" indent="0" algn="r">
              <a:spcBef>
                <a:spcPts val="0"/>
              </a:spcBef>
              <a:buClr>
                <a:srgbClr val="757575"/>
              </a:buClr>
              <a:buSzPts val="1000"/>
              <a:buFont typeface="Arial"/>
              <a:buNone/>
              <a:defRPr sz="1000"/>
            </a:lvl2pPr>
            <a:lvl3pPr marL="0" lvl="2" indent="0" algn="r">
              <a:spcBef>
                <a:spcPts val="0"/>
              </a:spcBef>
              <a:buClr>
                <a:srgbClr val="757575"/>
              </a:buClr>
              <a:buSzPts val="1000"/>
              <a:buFont typeface="Arial"/>
              <a:buNone/>
              <a:defRPr sz="1000"/>
            </a:lvl3pPr>
            <a:lvl4pPr marL="0" lvl="3" indent="0" algn="r">
              <a:spcBef>
                <a:spcPts val="0"/>
              </a:spcBef>
              <a:buClr>
                <a:srgbClr val="757575"/>
              </a:buClr>
              <a:buSzPts val="1000"/>
              <a:buFont typeface="Arial"/>
              <a:buNone/>
              <a:defRPr sz="1000"/>
            </a:lvl4pPr>
            <a:lvl5pPr marL="0" lvl="4" indent="0" algn="r">
              <a:spcBef>
                <a:spcPts val="0"/>
              </a:spcBef>
              <a:buClr>
                <a:srgbClr val="757575"/>
              </a:buClr>
              <a:buSzPts val="1000"/>
              <a:buFont typeface="Arial"/>
              <a:buNone/>
              <a:defRPr sz="1000"/>
            </a:lvl5pPr>
            <a:lvl6pPr marL="0" lvl="5" indent="0" algn="r">
              <a:spcBef>
                <a:spcPts val="0"/>
              </a:spcBef>
              <a:buClr>
                <a:srgbClr val="757575"/>
              </a:buClr>
              <a:buSzPts val="1000"/>
              <a:buFont typeface="Arial"/>
              <a:buNone/>
              <a:defRPr sz="1000"/>
            </a:lvl6pPr>
            <a:lvl7pPr marL="0" lvl="6" indent="0" algn="r">
              <a:spcBef>
                <a:spcPts val="0"/>
              </a:spcBef>
              <a:buClr>
                <a:srgbClr val="757575"/>
              </a:buClr>
              <a:buSzPts val="1000"/>
              <a:buFont typeface="Arial"/>
              <a:buNone/>
              <a:defRPr sz="1000"/>
            </a:lvl7pPr>
            <a:lvl8pPr marL="0" lvl="7" indent="0" algn="r">
              <a:spcBef>
                <a:spcPts val="0"/>
              </a:spcBef>
              <a:buClr>
                <a:srgbClr val="757575"/>
              </a:buClr>
              <a:buSzPts val="1000"/>
              <a:buFont typeface="Arial"/>
              <a:buNone/>
              <a:defRPr sz="1000"/>
            </a:lvl8pPr>
            <a:lvl9pPr marL="0" lvl="8" indent="0" algn="r">
              <a:spcBef>
                <a:spcPts val="0"/>
              </a:spcBef>
              <a:buClr>
                <a:srgbClr val="757575"/>
              </a:buClr>
              <a:buSzPts val="1000"/>
              <a:buFont typeface="Arial"/>
              <a:buNone/>
              <a:defRPr sz="1000"/>
            </a:lvl9pPr>
          </a:lstStyle>
          <a:p>
            <a:pPr marL="0" lvl="0" indent="0" algn="r" rtl="0">
              <a:spcBef>
                <a:spcPts val="0"/>
              </a:spcBef>
              <a:spcAft>
                <a:spcPts val="0"/>
              </a:spcAft>
              <a:buNone/>
            </a:pPr>
            <a:fld id="{00000000-1234-1234-1234-123412341234}" type="slidenum">
              <a:rPr lang="en-US"/>
              <a:t>‹#›</a:t>
            </a:fld>
            <a:endParaRPr>
              <a:solidFill>
                <a:srgbClr val="757575"/>
              </a:solidFill>
              <a:latin typeface="Arial"/>
              <a:ea typeface="Arial"/>
              <a:cs typeface="Arial"/>
              <a:sym typeface="Arial"/>
            </a:endParaRPr>
          </a:p>
        </p:txBody>
      </p:sp>
      <p:sp>
        <p:nvSpPr>
          <p:cNvPr id="310" name="Google Shape;310;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1" name="Google Shape;311;p48"/>
          <p:cNvSpPr>
            <a:spLocks noGrp="1"/>
          </p:cNvSpPr>
          <p:nvPr>
            <p:ph type="pic" idx="2"/>
          </p:nvPr>
        </p:nvSpPr>
        <p:spPr>
          <a:xfrm>
            <a:off x="5183188" y="987425"/>
            <a:ext cx="6172200" cy="4873625"/>
          </a:xfrm>
          <a:prstGeom prst="rect">
            <a:avLst/>
          </a:prstGeom>
          <a:noFill/>
          <a:ln>
            <a:noFill/>
          </a:ln>
        </p:spPr>
      </p:sp>
      <p:sp>
        <p:nvSpPr>
          <p:cNvPr id="312" name="Google Shape;312;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theme" Target="../theme/theme2.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slideLayout" Target="../slideLayouts/slideLayout42.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17" Type="http://schemas.openxmlformats.org/officeDocument/2006/relationships/theme" Target="../theme/theme3.xml"/><Relationship Id="rId2" Type="http://schemas.openxmlformats.org/officeDocument/2006/relationships/slideLayout" Target="../slideLayouts/slideLayout31.xml"/><Relationship Id="rId16" Type="http://schemas.openxmlformats.org/officeDocument/2006/relationships/slideLayout" Target="../slideLayouts/slideLayout45.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5" Type="http://schemas.openxmlformats.org/officeDocument/2006/relationships/slideLayout" Target="../slideLayouts/slideLayout4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 Id="rId14"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888888"/>
              </a:buClr>
              <a:buSzPts val="1200"/>
              <a:buFont typeface="Calibri"/>
              <a:buNone/>
              <a:defRPr sz="1200">
                <a:solidFill>
                  <a:srgbClr val="888888"/>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1pPr>
            <a:lvl2pPr marL="0" marR="0" lvl="1"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2pPr>
            <a:lvl3pPr marL="0" marR="0" lvl="2"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3pPr>
            <a:lvl4pPr marL="0" marR="0" lvl="3"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4pPr>
            <a:lvl5pPr marL="0" marR="0" lvl="4"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5pPr>
            <a:lvl6pPr marL="0" marR="0" lvl="5"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6pPr>
            <a:lvl7pPr marL="0" marR="0" lvl="6"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7pPr>
            <a:lvl8pPr marL="0" marR="0" lvl="7"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8pPr>
            <a:lvl9pPr marL="0" marR="0" lvl="8" indent="0" algn="r" rtl="0">
              <a:spcBef>
                <a:spcPts val="0"/>
              </a:spcBef>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334963" y="365125"/>
            <a:ext cx="1152207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9" name="Google Shape;99;p15"/>
          <p:cNvSpPr txBox="1">
            <a:spLocks noGrp="1"/>
          </p:cNvSpPr>
          <p:nvPr>
            <p:ph type="body" idx="1"/>
          </p:nvPr>
        </p:nvSpPr>
        <p:spPr>
          <a:xfrm>
            <a:off x="334963" y="1825625"/>
            <a:ext cx="11522075"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0" name="Google Shape;100;p15"/>
          <p:cNvSpPr txBox="1">
            <a:spLocks noGrp="1"/>
          </p:cNvSpPr>
          <p:nvPr>
            <p:ph type="dt" idx="10"/>
          </p:nvPr>
        </p:nvSpPr>
        <p:spPr>
          <a:xfrm>
            <a:off x="334963"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1" name="Google Shape;101;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2" name="Google Shape;102;p15"/>
          <p:cNvSpPr txBox="1">
            <a:spLocks noGrp="1"/>
          </p:cNvSpPr>
          <p:nvPr>
            <p:ph type="sldNum" idx="12"/>
          </p:nvPr>
        </p:nvSpPr>
        <p:spPr>
          <a:xfrm>
            <a:off x="911383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a:solidFill>
                  <a:srgbClr val="757575"/>
                </a:solidFill>
                <a:latin typeface="Arial"/>
                <a:ea typeface="Arial"/>
                <a:cs typeface="Arial"/>
                <a:sym typeface="Arial"/>
              </a:defRPr>
            </a:lvl1pPr>
            <a:lvl2pPr marL="0" marR="0" lvl="1" indent="0" algn="r" rtl="0">
              <a:spcBef>
                <a:spcPts val="0"/>
              </a:spcBef>
              <a:buNone/>
              <a:defRPr sz="1000">
                <a:solidFill>
                  <a:srgbClr val="757575"/>
                </a:solidFill>
                <a:latin typeface="Arial"/>
                <a:ea typeface="Arial"/>
                <a:cs typeface="Arial"/>
                <a:sym typeface="Arial"/>
              </a:defRPr>
            </a:lvl2pPr>
            <a:lvl3pPr marL="0" marR="0" lvl="2" indent="0" algn="r" rtl="0">
              <a:spcBef>
                <a:spcPts val="0"/>
              </a:spcBef>
              <a:buNone/>
              <a:defRPr sz="1000">
                <a:solidFill>
                  <a:srgbClr val="757575"/>
                </a:solidFill>
                <a:latin typeface="Arial"/>
                <a:ea typeface="Arial"/>
                <a:cs typeface="Arial"/>
                <a:sym typeface="Arial"/>
              </a:defRPr>
            </a:lvl3pPr>
            <a:lvl4pPr marL="0" marR="0" lvl="3" indent="0" algn="r" rtl="0">
              <a:spcBef>
                <a:spcPts val="0"/>
              </a:spcBef>
              <a:buNone/>
              <a:defRPr sz="1000">
                <a:solidFill>
                  <a:srgbClr val="757575"/>
                </a:solidFill>
                <a:latin typeface="Arial"/>
                <a:ea typeface="Arial"/>
                <a:cs typeface="Arial"/>
                <a:sym typeface="Arial"/>
              </a:defRPr>
            </a:lvl4pPr>
            <a:lvl5pPr marL="0" marR="0" lvl="4" indent="0" algn="r" rtl="0">
              <a:spcBef>
                <a:spcPts val="0"/>
              </a:spcBef>
              <a:buNone/>
              <a:defRPr sz="1000">
                <a:solidFill>
                  <a:srgbClr val="757575"/>
                </a:solidFill>
                <a:latin typeface="Arial"/>
                <a:ea typeface="Arial"/>
                <a:cs typeface="Arial"/>
                <a:sym typeface="Arial"/>
              </a:defRPr>
            </a:lvl5pPr>
            <a:lvl6pPr marL="0" marR="0" lvl="5" indent="0" algn="r" rtl="0">
              <a:spcBef>
                <a:spcPts val="0"/>
              </a:spcBef>
              <a:buNone/>
              <a:defRPr sz="1000">
                <a:solidFill>
                  <a:srgbClr val="757575"/>
                </a:solidFill>
                <a:latin typeface="Arial"/>
                <a:ea typeface="Arial"/>
                <a:cs typeface="Arial"/>
                <a:sym typeface="Arial"/>
              </a:defRPr>
            </a:lvl6pPr>
            <a:lvl7pPr marL="0" marR="0" lvl="6" indent="0" algn="r" rtl="0">
              <a:spcBef>
                <a:spcPts val="0"/>
              </a:spcBef>
              <a:buNone/>
              <a:defRPr sz="1000">
                <a:solidFill>
                  <a:srgbClr val="757575"/>
                </a:solidFill>
                <a:latin typeface="Arial"/>
                <a:ea typeface="Arial"/>
                <a:cs typeface="Arial"/>
                <a:sym typeface="Arial"/>
              </a:defRPr>
            </a:lvl7pPr>
            <a:lvl8pPr marL="0" marR="0" lvl="7" indent="0" algn="r" rtl="0">
              <a:spcBef>
                <a:spcPts val="0"/>
              </a:spcBef>
              <a:buNone/>
              <a:defRPr sz="1000">
                <a:solidFill>
                  <a:srgbClr val="757575"/>
                </a:solidFill>
                <a:latin typeface="Arial"/>
                <a:ea typeface="Arial"/>
                <a:cs typeface="Arial"/>
                <a:sym typeface="Arial"/>
              </a:defRPr>
            </a:lvl8pPr>
            <a:lvl9pPr marL="0" marR="0" lvl="8" indent="0" algn="r" rtl="0">
              <a:spcBef>
                <a:spcPts val="0"/>
              </a:spcBef>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50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334963" y="365125"/>
            <a:ext cx="11522075"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7" name="Google Shape;207;p32"/>
          <p:cNvSpPr txBox="1">
            <a:spLocks noGrp="1"/>
          </p:cNvSpPr>
          <p:nvPr>
            <p:ph type="body" idx="1"/>
          </p:nvPr>
        </p:nvSpPr>
        <p:spPr>
          <a:xfrm>
            <a:off x="334963" y="1825625"/>
            <a:ext cx="11522075"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90000"/>
              </a:lnSpc>
              <a:spcBef>
                <a:spcPts val="10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08" name="Google Shape;208;p32"/>
          <p:cNvSpPr txBox="1">
            <a:spLocks noGrp="1"/>
          </p:cNvSpPr>
          <p:nvPr>
            <p:ph type="dt" idx="10"/>
          </p:nvPr>
        </p:nvSpPr>
        <p:spPr>
          <a:xfrm>
            <a:off x="334963"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1pPr>
            <a:lvl2pPr marR="0" lvl="1"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209" name="Google Shape;209;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rgbClr val="757575"/>
              </a:buClr>
              <a:buSzPts val="1200"/>
              <a:buFont typeface="Arial"/>
              <a:buNone/>
              <a:defRPr sz="1200">
                <a:solidFill>
                  <a:srgbClr val="757575"/>
                </a:solidFill>
                <a:latin typeface="Arial"/>
                <a:ea typeface="Arial"/>
                <a:cs typeface="Arial"/>
                <a:sym typeface="Arial"/>
              </a:defRPr>
            </a:lvl1pPr>
            <a:lvl2pPr marR="0" lvl="1"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9pPr>
          </a:lstStyle>
          <a:p>
            <a:endParaRPr/>
          </a:p>
        </p:txBody>
      </p:sp>
      <p:sp>
        <p:nvSpPr>
          <p:cNvPr id="210" name="Google Shape;210;p32"/>
          <p:cNvSpPr txBox="1">
            <a:spLocks noGrp="1"/>
          </p:cNvSpPr>
          <p:nvPr>
            <p:ph type="sldNum" idx="12"/>
          </p:nvPr>
        </p:nvSpPr>
        <p:spPr>
          <a:xfrm>
            <a:off x="9113838"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Clr>
                <a:srgbClr val="757575"/>
              </a:buClr>
              <a:buSzPts val="1000"/>
              <a:buFont typeface="Arial"/>
              <a:buNone/>
              <a:defRPr sz="1000">
                <a:solidFill>
                  <a:srgbClr val="757575"/>
                </a:solidFill>
                <a:latin typeface="Arial"/>
                <a:ea typeface="Arial"/>
                <a:cs typeface="Arial"/>
                <a:sym typeface="Arial"/>
              </a:defRPr>
            </a:lvl1pPr>
            <a:lvl2pPr marL="0" marR="0" lvl="1" indent="0" algn="r" rtl="0">
              <a:spcBef>
                <a:spcPts val="0"/>
              </a:spcBef>
              <a:buClr>
                <a:srgbClr val="757575"/>
              </a:buClr>
              <a:buSzPts val="1000"/>
              <a:buFont typeface="Arial"/>
              <a:buNone/>
              <a:defRPr sz="1000">
                <a:solidFill>
                  <a:srgbClr val="757575"/>
                </a:solidFill>
                <a:latin typeface="Arial"/>
                <a:ea typeface="Arial"/>
                <a:cs typeface="Arial"/>
                <a:sym typeface="Arial"/>
              </a:defRPr>
            </a:lvl2pPr>
            <a:lvl3pPr marL="0" marR="0" lvl="2" indent="0" algn="r" rtl="0">
              <a:spcBef>
                <a:spcPts val="0"/>
              </a:spcBef>
              <a:buClr>
                <a:srgbClr val="757575"/>
              </a:buClr>
              <a:buSzPts val="1000"/>
              <a:buFont typeface="Arial"/>
              <a:buNone/>
              <a:defRPr sz="1000">
                <a:solidFill>
                  <a:srgbClr val="757575"/>
                </a:solidFill>
                <a:latin typeface="Arial"/>
                <a:ea typeface="Arial"/>
                <a:cs typeface="Arial"/>
                <a:sym typeface="Arial"/>
              </a:defRPr>
            </a:lvl3pPr>
            <a:lvl4pPr marL="0" marR="0" lvl="3" indent="0" algn="r" rtl="0">
              <a:spcBef>
                <a:spcPts val="0"/>
              </a:spcBef>
              <a:buClr>
                <a:srgbClr val="757575"/>
              </a:buClr>
              <a:buSzPts val="1000"/>
              <a:buFont typeface="Arial"/>
              <a:buNone/>
              <a:defRPr sz="1000">
                <a:solidFill>
                  <a:srgbClr val="757575"/>
                </a:solidFill>
                <a:latin typeface="Arial"/>
                <a:ea typeface="Arial"/>
                <a:cs typeface="Arial"/>
                <a:sym typeface="Arial"/>
              </a:defRPr>
            </a:lvl4pPr>
            <a:lvl5pPr marL="0" marR="0" lvl="4" indent="0" algn="r" rtl="0">
              <a:spcBef>
                <a:spcPts val="0"/>
              </a:spcBef>
              <a:buClr>
                <a:srgbClr val="757575"/>
              </a:buClr>
              <a:buSzPts val="1000"/>
              <a:buFont typeface="Arial"/>
              <a:buNone/>
              <a:defRPr sz="1000">
                <a:solidFill>
                  <a:srgbClr val="757575"/>
                </a:solidFill>
                <a:latin typeface="Arial"/>
                <a:ea typeface="Arial"/>
                <a:cs typeface="Arial"/>
                <a:sym typeface="Arial"/>
              </a:defRPr>
            </a:lvl5pPr>
            <a:lvl6pPr marL="0" marR="0" lvl="5" indent="0" algn="r" rtl="0">
              <a:spcBef>
                <a:spcPts val="0"/>
              </a:spcBef>
              <a:buClr>
                <a:srgbClr val="757575"/>
              </a:buClr>
              <a:buSzPts val="1000"/>
              <a:buFont typeface="Arial"/>
              <a:buNone/>
              <a:defRPr sz="1000">
                <a:solidFill>
                  <a:srgbClr val="757575"/>
                </a:solidFill>
                <a:latin typeface="Arial"/>
                <a:ea typeface="Arial"/>
                <a:cs typeface="Arial"/>
                <a:sym typeface="Arial"/>
              </a:defRPr>
            </a:lvl6pPr>
            <a:lvl7pPr marL="0" marR="0" lvl="6" indent="0" algn="r" rtl="0">
              <a:spcBef>
                <a:spcPts val="0"/>
              </a:spcBef>
              <a:buClr>
                <a:srgbClr val="757575"/>
              </a:buClr>
              <a:buSzPts val="1000"/>
              <a:buFont typeface="Arial"/>
              <a:buNone/>
              <a:defRPr sz="1000">
                <a:solidFill>
                  <a:srgbClr val="757575"/>
                </a:solidFill>
                <a:latin typeface="Arial"/>
                <a:ea typeface="Arial"/>
                <a:cs typeface="Arial"/>
                <a:sym typeface="Arial"/>
              </a:defRPr>
            </a:lvl7pPr>
            <a:lvl8pPr marL="0" marR="0" lvl="7" indent="0" algn="r" rtl="0">
              <a:spcBef>
                <a:spcPts val="0"/>
              </a:spcBef>
              <a:buClr>
                <a:srgbClr val="757575"/>
              </a:buClr>
              <a:buSzPts val="1000"/>
              <a:buFont typeface="Arial"/>
              <a:buNone/>
              <a:defRPr sz="1000">
                <a:solidFill>
                  <a:srgbClr val="757575"/>
                </a:solidFill>
                <a:latin typeface="Arial"/>
                <a:ea typeface="Arial"/>
                <a:cs typeface="Arial"/>
                <a:sym typeface="Arial"/>
              </a:defRPr>
            </a:lvl8pPr>
            <a:lvl9pPr marL="0" marR="0" lvl="8" indent="0" algn="r" rtl="0">
              <a:spcBef>
                <a:spcPts val="0"/>
              </a:spcBef>
              <a:buClr>
                <a:srgbClr val="757575"/>
              </a:buClr>
              <a:buSzPts val="1000"/>
              <a:buFont typeface="Arial"/>
              <a:buNone/>
              <a:defRPr sz="1000">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50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grpSp>
        <p:nvGrpSpPr>
          <p:cNvPr id="317" name="Google Shape;317;p49"/>
          <p:cNvGrpSpPr/>
          <p:nvPr/>
        </p:nvGrpSpPr>
        <p:grpSpPr>
          <a:xfrm>
            <a:off x="438912" y="1744980"/>
            <a:ext cx="4668358" cy="1884521"/>
            <a:chOff x="438912" y="1744980"/>
            <a:chExt cx="4668358" cy="1884521"/>
          </a:xfrm>
        </p:grpSpPr>
        <p:sp>
          <p:nvSpPr>
            <p:cNvPr id="318" name="Google Shape;318;p49"/>
            <p:cNvSpPr txBox="1"/>
            <p:nvPr/>
          </p:nvSpPr>
          <p:spPr>
            <a:xfrm>
              <a:off x="438912" y="1744980"/>
              <a:ext cx="4668358" cy="7040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FFFFFF"/>
                  </a:solidFill>
                  <a:latin typeface="Arial"/>
                  <a:ea typeface="Arial"/>
                  <a:cs typeface="Arial"/>
                  <a:sym typeface="Arial"/>
                </a:rPr>
                <a:t>Cost-Sensitive SVM</a:t>
              </a:r>
              <a:endParaRPr/>
            </a:p>
          </p:txBody>
        </p:sp>
        <p:sp>
          <p:nvSpPr>
            <p:cNvPr id="319" name="Google Shape;319;p49"/>
            <p:cNvSpPr txBox="1"/>
            <p:nvPr/>
          </p:nvSpPr>
          <p:spPr>
            <a:xfrm>
              <a:off x="440055" y="2378869"/>
              <a:ext cx="3273000" cy="660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80" b="1">
                  <a:solidFill>
                    <a:srgbClr val="FFFFFF"/>
                  </a:solidFill>
                  <a:latin typeface="Arial"/>
                  <a:ea typeface="Arial"/>
                  <a:cs typeface="Arial"/>
                  <a:sym typeface="Arial"/>
                </a:rPr>
                <a:t>for Credit Card</a:t>
              </a:r>
              <a:endParaRPr/>
            </a:p>
          </p:txBody>
        </p:sp>
        <p:sp>
          <p:nvSpPr>
            <p:cNvPr id="320" name="Google Shape;320;p49"/>
            <p:cNvSpPr txBox="1"/>
            <p:nvPr/>
          </p:nvSpPr>
          <p:spPr>
            <a:xfrm>
              <a:off x="440055" y="2969419"/>
              <a:ext cx="3525784" cy="66008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80" b="1">
                  <a:solidFill>
                    <a:srgbClr val="FFFFFF"/>
                  </a:solidFill>
                  <a:latin typeface="Arial"/>
                  <a:ea typeface="Arial"/>
                  <a:cs typeface="Arial"/>
                  <a:sym typeface="Arial"/>
                </a:rPr>
                <a:t>Fraud Detection</a:t>
              </a:r>
              <a:endParaRPr/>
            </a:p>
          </p:txBody>
        </p:sp>
      </p:grpSp>
      <p:grpSp>
        <p:nvGrpSpPr>
          <p:cNvPr id="321" name="Google Shape;321;p49"/>
          <p:cNvGrpSpPr/>
          <p:nvPr/>
        </p:nvGrpSpPr>
        <p:grpSpPr>
          <a:xfrm>
            <a:off x="438906" y="3776490"/>
            <a:ext cx="4842594" cy="1939500"/>
            <a:chOff x="438906" y="3776490"/>
            <a:chExt cx="4842594" cy="1939500"/>
          </a:xfrm>
        </p:grpSpPr>
        <p:sp>
          <p:nvSpPr>
            <p:cNvPr id="322" name="Google Shape;322;p49"/>
            <p:cNvSpPr txBox="1"/>
            <p:nvPr/>
          </p:nvSpPr>
          <p:spPr>
            <a:xfrm>
              <a:off x="447300" y="4191177"/>
              <a:ext cx="48342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323" name="Google Shape;323;p49"/>
            <p:cNvSpPr txBox="1"/>
            <p:nvPr/>
          </p:nvSpPr>
          <p:spPr>
            <a:xfrm>
              <a:off x="438906" y="3776490"/>
              <a:ext cx="3284700" cy="1939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Arial"/>
                  <a:ea typeface="Arial"/>
                  <a:cs typeface="Arial"/>
                  <a:sym typeface="Arial"/>
                </a:rPr>
                <a:t>COMP6704 | Group 4</a:t>
              </a:r>
              <a:br>
                <a:rPr lang="en-US" sz="1800">
                  <a:solidFill>
                    <a:srgbClr val="FFFFFF"/>
                  </a:solidFill>
                  <a:latin typeface="Arial"/>
                  <a:ea typeface="Arial"/>
                  <a:cs typeface="Arial"/>
                  <a:sym typeface="Arial"/>
                </a:rPr>
              </a:br>
              <a:r>
                <a:rPr lang="en-US" sz="1800">
                  <a:solidFill>
                    <a:srgbClr val="FFFFFF"/>
                  </a:solidFill>
                  <a:latin typeface="Arial"/>
                  <a:ea typeface="Arial"/>
                  <a:cs typeface="Arial"/>
                  <a:sym typeface="Arial"/>
                </a:rPr>
                <a:t>26026607R 尧泽斌</a:t>
              </a:r>
              <a:endParaRPr sz="1800">
                <a:solidFill>
                  <a:srgbClr val="FFFFFF"/>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800">
                  <a:solidFill>
                    <a:srgbClr val="FFFFFF"/>
                  </a:solidFill>
                  <a:latin typeface="Arial"/>
                  <a:ea typeface="Arial"/>
                  <a:cs typeface="Arial"/>
                  <a:sym typeface="Arial"/>
                </a:rPr>
                <a:t>26018464R 李松桃</a:t>
              </a:r>
              <a:endParaRPr sz="1800">
                <a:solidFill>
                  <a:srgbClr val="FFFFFF"/>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US" sz="1800">
                  <a:solidFill>
                    <a:srgbClr val="FFFFFF"/>
                  </a:solidFill>
                </a:rPr>
                <a:t>26034504R 王子逸</a:t>
              </a:r>
              <a:endParaRPr sz="1800">
                <a:solidFill>
                  <a:srgbClr val="FFFFFF"/>
                </a:solidFill>
              </a:endParaRPr>
            </a:p>
            <a:p>
              <a:pPr marL="0" lvl="0" indent="0" algn="l" rtl="0">
                <a:spcBef>
                  <a:spcPts val="0"/>
                </a:spcBef>
                <a:spcAft>
                  <a:spcPts val="0"/>
                </a:spcAft>
                <a:buClr>
                  <a:schemeClr val="dk1"/>
                </a:buClr>
                <a:buSzPts val="1100"/>
                <a:buFont typeface="Arial"/>
                <a:buNone/>
              </a:pPr>
              <a:r>
                <a:rPr lang="en-US" sz="1800">
                  <a:solidFill>
                    <a:srgbClr val="FFFFFF"/>
                  </a:solidFill>
                </a:rPr>
                <a:t>26060214R 刘炜斌</a:t>
              </a:r>
              <a:endParaRPr sz="1800">
                <a:solidFill>
                  <a:srgbClr val="FFFFFF"/>
                </a:solidFill>
              </a:endParaRPr>
            </a:p>
            <a:p>
              <a:pPr marL="0" marR="0" lvl="0" indent="0" algn="l" rtl="0">
                <a:spcBef>
                  <a:spcPts val="0"/>
                </a:spcBef>
                <a:spcAft>
                  <a:spcPts val="0"/>
                </a:spcAft>
                <a:buNone/>
              </a:pPr>
              <a:endParaRPr sz="1800">
                <a:solidFill>
                  <a:srgbClr val="FFFFFF"/>
                </a:solidFill>
                <a:latin typeface="Arial"/>
                <a:ea typeface="Arial"/>
                <a:cs typeface="Arial"/>
                <a:sym typeface="Arial"/>
              </a:endParaRPr>
            </a:p>
            <a:p>
              <a:pPr marL="0" marR="0" lvl="0" indent="0" algn="l" rtl="0">
                <a:spcBef>
                  <a:spcPts val="0"/>
                </a:spcBef>
                <a:spcAft>
                  <a:spcPts val="0"/>
                </a:spcAft>
                <a:buNone/>
              </a:pPr>
              <a:r>
                <a:rPr lang="en-US" sz="1800">
                  <a:solidFill>
                    <a:srgbClr val="FFFFFF"/>
                  </a:solidFill>
                  <a:latin typeface="Arial"/>
                  <a:ea typeface="Arial"/>
                  <a:cs typeface="Arial"/>
                  <a:sym typeface="Arial"/>
                </a:rPr>
                <a:t>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0"/>
          <p:cNvSpPr txBox="1"/>
          <p:nvPr/>
        </p:nvSpPr>
        <p:spPr>
          <a:xfrm>
            <a:off x="367284" y="241935"/>
            <a:ext cx="5512316"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Fraud detection and error costs</a:t>
            </a:r>
            <a:endParaRPr/>
          </a:p>
        </p:txBody>
      </p:sp>
      <p:grpSp>
        <p:nvGrpSpPr>
          <p:cNvPr id="329" name="Google Shape;329;p50"/>
          <p:cNvGrpSpPr/>
          <p:nvPr/>
        </p:nvGrpSpPr>
        <p:grpSpPr>
          <a:xfrm>
            <a:off x="393954" y="6499860"/>
            <a:ext cx="11280267" cy="234696"/>
            <a:chOff x="393954" y="6499860"/>
            <a:chExt cx="11280267" cy="234696"/>
          </a:xfrm>
        </p:grpSpPr>
        <p:sp>
          <p:nvSpPr>
            <p:cNvPr id="330" name="Google Shape;330;p50"/>
            <p:cNvSpPr txBox="1"/>
            <p:nvPr/>
          </p:nvSpPr>
          <p:spPr>
            <a:xfrm>
              <a:off x="393954" y="6499860"/>
              <a:ext cx="6522622"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Source: Group 4 proposal, pp. 1–2 and §3.4. The cost ratio is an experimental assumption.</a:t>
              </a:r>
              <a:endParaRPr/>
            </a:p>
          </p:txBody>
        </p:sp>
        <p:sp>
          <p:nvSpPr>
            <p:cNvPr id="331" name="Google Shape;331;p50"/>
            <p:cNvSpPr txBox="1"/>
            <p:nvPr/>
          </p:nvSpPr>
          <p:spPr>
            <a:xfrm>
              <a:off x="11572178" y="6499860"/>
              <a:ext cx="102043" cy="23469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2</a:t>
              </a:r>
              <a:endParaRPr/>
            </a:p>
          </p:txBody>
        </p:sp>
      </p:grpSp>
      <p:grpSp>
        <p:nvGrpSpPr>
          <p:cNvPr id="332" name="Google Shape;332;p50"/>
          <p:cNvGrpSpPr/>
          <p:nvPr/>
        </p:nvGrpSpPr>
        <p:grpSpPr>
          <a:xfrm>
            <a:off x="556260" y="1278255"/>
            <a:ext cx="9788638" cy="1090327"/>
            <a:chOff x="556260" y="1278255"/>
            <a:chExt cx="9788638" cy="1090327"/>
          </a:xfrm>
        </p:grpSpPr>
        <p:sp>
          <p:nvSpPr>
            <p:cNvPr id="333" name="Google Shape;333;p50"/>
            <p:cNvSpPr txBox="1"/>
            <p:nvPr/>
          </p:nvSpPr>
          <p:spPr>
            <a:xfrm>
              <a:off x="560832" y="1278255"/>
              <a:ext cx="2624190"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a:solidFill>
                    <a:srgbClr val="626262"/>
                  </a:solidFill>
                  <a:latin typeface="Arial"/>
                  <a:ea typeface="Arial"/>
                  <a:cs typeface="Arial"/>
                  <a:sym typeface="Arial"/>
                </a:rPr>
                <a:t>ULB credit card data</a:t>
              </a:r>
              <a:endParaRPr/>
            </a:p>
          </p:txBody>
        </p:sp>
        <p:sp>
          <p:nvSpPr>
            <p:cNvPr id="334" name="Google Shape;334;p50"/>
            <p:cNvSpPr txBox="1"/>
            <p:nvPr/>
          </p:nvSpPr>
          <p:spPr>
            <a:xfrm>
              <a:off x="556260" y="1781175"/>
              <a:ext cx="6361066" cy="5867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a:solidFill>
                    <a:srgbClr val="A02337"/>
                  </a:solidFill>
                  <a:latin typeface="Arial"/>
                  <a:ea typeface="Arial"/>
                  <a:cs typeface="Arial"/>
                  <a:sym typeface="Arial"/>
                </a:rPr>
                <a:t>492 frauds / 284,807 transactions</a:t>
              </a:r>
              <a:endParaRPr/>
            </a:p>
          </p:txBody>
        </p:sp>
        <p:sp>
          <p:nvSpPr>
            <p:cNvPr id="335" name="Google Shape;335;p50"/>
            <p:cNvSpPr txBox="1"/>
            <p:nvPr/>
          </p:nvSpPr>
          <p:spPr>
            <a:xfrm>
              <a:off x="8841867" y="1737836"/>
              <a:ext cx="1503031" cy="63074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20" b="1">
                  <a:solidFill>
                    <a:srgbClr val="A02337"/>
                  </a:solidFill>
                  <a:latin typeface="Arial"/>
                  <a:ea typeface="Arial"/>
                  <a:cs typeface="Arial"/>
                  <a:sym typeface="Arial"/>
                </a:rPr>
                <a:t>0.173%</a:t>
              </a:r>
              <a:endParaRPr/>
            </a:p>
          </p:txBody>
        </p:sp>
      </p:grpSp>
      <p:grpSp>
        <p:nvGrpSpPr>
          <p:cNvPr id="336" name="Google Shape;336;p50"/>
          <p:cNvGrpSpPr/>
          <p:nvPr/>
        </p:nvGrpSpPr>
        <p:grpSpPr>
          <a:xfrm>
            <a:off x="555117" y="2716530"/>
            <a:ext cx="8831691" cy="1071277"/>
            <a:chOff x="555117" y="2716530"/>
            <a:chExt cx="8831691" cy="1071277"/>
          </a:xfrm>
        </p:grpSpPr>
        <p:sp>
          <p:nvSpPr>
            <p:cNvPr id="337" name="Google Shape;337;p50"/>
            <p:cNvSpPr txBox="1"/>
            <p:nvPr/>
          </p:nvSpPr>
          <p:spPr>
            <a:xfrm>
              <a:off x="560832" y="2716530"/>
              <a:ext cx="5921733"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a:solidFill>
                    <a:srgbClr val="262626"/>
                  </a:solidFill>
                  <a:latin typeface="Arial"/>
                  <a:ea typeface="Arial"/>
                  <a:cs typeface="Arial"/>
                  <a:sym typeface="Arial"/>
                </a:rPr>
                <a:t>Predicting every transaction as legitimate gives</a:t>
              </a:r>
              <a:endParaRPr/>
            </a:p>
          </p:txBody>
        </p:sp>
        <p:sp>
          <p:nvSpPr>
            <p:cNvPr id="338" name="Google Shape;338;p50"/>
            <p:cNvSpPr txBox="1"/>
            <p:nvPr/>
          </p:nvSpPr>
          <p:spPr>
            <a:xfrm>
              <a:off x="555117" y="3157061"/>
              <a:ext cx="3744624" cy="63074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20" b="1">
                  <a:solidFill>
                    <a:srgbClr val="A02337"/>
                  </a:solidFill>
                  <a:latin typeface="Arial"/>
                  <a:ea typeface="Arial"/>
                  <a:cs typeface="Arial"/>
                  <a:sym typeface="Arial"/>
                </a:rPr>
                <a:t>99.827% accuracy</a:t>
              </a:r>
              <a:endParaRPr/>
            </a:p>
          </p:txBody>
        </p:sp>
        <p:sp>
          <p:nvSpPr>
            <p:cNvPr id="339" name="Google Shape;339;p50"/>
            <p:cNvSpPr txBox="1"/>
            <p:nvPr/>
          </p:nvSpPr>
          <p:spPr>
            <a:xfrm>
              <a:off x="6270117" y="3157061"/>
              <a:ext cx="3116691" cy="63074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20" b="1">
                  <a:solidFill>
                    <a:srgbClr val="A02337"/>
                  </a:solidFill>
                  <a:latin typeface="Arial"/>
                  <a:ea typeface="Arial"/>
                  <a:cs typeface="Arial"/>
                  <a:sym typeface="Arial"/>
                </a:rPr>
                <a:t>0% fraud recall</a:t>
              </a:r>
              <a:endParaRPr/>
            </a:p>
          </p:txBody>
        </p:sp>
      </p:grpSp>
      <p:grpSp>
        <p:nvGrpSpPr>
          <p:cNvPr id="340" name="Google Shape;340;p50"/>
          <p:cNvGrpSpPr/>
          <p:nvPr/>
        </p:nvGrpSpPr>
        <p:grpSpPr>
          <a:xfrm>
            <a:off x="557022" y="4233862"/>
            <a:ext cx="7916154" cy="1808703"/>
            <a:chOff x="557022" y="4233862"/>
            <a:chExt cx="7916154" cy="1808703"/>
          </a:xfrm>
        </p:grpSpPr>
        <p:sp>
          <p:nvSpPr>
            <p:cNvPr id="341" name="Google Shape;341;p50"/>
            <p:cNvSpPr txBox="1"/>
            <p:nvPr/>
          </p:nvSpPr>
          <p:spPr>
            <a:xfrm>
              <a:off x="560070" y="4233862"/>
              <a:ext cx="2518451" cy="44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1">
                  <a:solidFill>
                    <a:srgbClr val="262626"/>
                  </a:solidFill>
                  <a:latin typeface="Arial"/>
                  <a:ea typeface="Arial"/>
                  <a:cs typeface="Arial"/>
                  <a:sym typeface="Arial"/>
                </a:rPr>
                <a:t>FN: missed fraud</a:t>
              </a:r>
              <a:endParaRPr/>
            </a:p>
          </p:txBody>
        </p:sp>
        <p:sp>
          <p:nvSpPr>
            <p:cNvPr id="342" name="Google Shape;342;p50"/>
            <p:cNvSpPr txBox="1"/>
            <p:nvPr/>
          </p:nvSpPr>
          <p:spPr>
            <a:xfrm>
              <a:off x="6275070" y="4233862"/>
              <a:ext cx="2198106" cy="44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1">
                  <a:solidFill>
                    <a:srgbClr val="262626"/>
                  </a:solidFill>
                  <a:latin typeface="Arial"/>
                  <a:ea typeface="Arial"/>
                  <a:cs typeface="Arial"/>
                  <a:sym typeface="Arial"/>
                </a:rPr>
                <a:t>FP: false alarm</a:t>
              </a:r>
              <a:endParaRPr/>
            </a:p>
          </p:txBody>
        </p:sp>
        <p:sp>
          <p:nvSpPr>
            <p:cNvPr id="343" name="Google Shape;343;p50"/>
            <p:cNvSpPr txBox="1"/>
            <p:nvPr/>
          </p:nvSpPr>
          <p:spPr>
            <a:xfrm>
              <a:off x="557022" y="4835842"/>
              <a:ext cx="4919780" cy="55740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850">
                  <a:solidFill>
                    <a:srgbClr val="262626"/>
                  </a:solidFill>
                  <a:latin typeface="Cambria Math"/>
                  <a:ea typeface="Cambria Math"/>
                  <a:cs typeface="Cambria Math"/>
                  <a:sym typeface="Cambria Math"/>
                </a:rPr>
                <a:t>Cost = cFN · FN + cFP · FP</a:t>
              </a:r>
              <a:endParaRPr/>
            </a:p>
          </p:txBody>
        </p:sp>
        <p:sp>
          <p:nvSpPr>
            <p:cNvPr id="344" name="Google Shape;344;p50"/>
            <p:cNvSpPr txBox="1"/>
            <p:nvPr/>
          </p:nvSpPr>
          <p:spPr>
            <a:xfrm>
              <a:off x="559689" y="5587841"/>
              <a:ext cx="5277799" cy="4547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20" b="1">
                  <a:solidFill>
                    <a:srgbClr val="A02337"/>
                  </a:solidFill>
                  <a:latin typeface="Arial"/>
                  <a:ea typeface="Arial"/>
                  <a:cs typeface="Arial"/>
                  <a:sym typeface="Arial"/>
                </a:rPr>
                <a:t>Example setting: cFN : cFP = 20 : 1</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p51"/>
          <p:cNvSpPr/>
          <p:nvPr/>
        </p:nvSpPr>
        <p:spPr>
          <a:xfrm>
            <a:off x="367284" y="241935"/>
            <a:ext cx="4907280" cy="528066"/>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Cost-dependent penalties</a:t>
            </a:r>
            <a:endParaRPr/>
          </a:p>
        </p:txBody>
      </p:sp>
      <p:grpSp>
        <p:nvGrpSpPr>
          <p:cNvPr id="350" name="Google Shape;350;p51"/>
          <p:cNvGrpSpPr/>
          <p:nvPr/>
        </p:nvGrpSpPr>
        <p:grpSpPr>
          <a:xfrm>
            <a:off x="393954" y="6499860"/>
            <a:ext cx="11280267" cy="234696"/>
            <a:chOff x="393954" y="6499860"/>
            <a:chExt cx="11280267" cy="234696"/>
          </a:xfrm>
        </p:grpSpPr>
        <p:sp>
          <p:nvSpPr>
            <p:cNvPr id="351" name="Google Shape;351;p51"/>
            <p:cNvSpPr txBox="1"/>
            <p:nvPr/>
          </p:nvSpPr>
          <p:spPr>
            <a:xfrm>
              <a:off x="393954" y="6499860"/>
              <a:ext cx="5297566"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Use training-set class proportions; C &gt; 0 and both error costs are positive.</a:t>
              </a:r>
              <a:endParaRPr/>
            </a:p>
          </p:txBody>
        </p:sp>
        <p:sp>
          <p:nvSpPr>
            <p:cNvPr id="352" name="Google Shape;352;p51"/>
            <p:cNvSpPr/>
            <p:nvPr/>
          </p:nvSpPr>
          <p:spPr>
            <a:xfrm>
              <a:off x="11572208" y="6499860"/>
              <a:ext cx="102013" cy="23469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3</a:t>
              </a:r>
              <a:endParaRPr/>
            </a:p>
          </p:txBody>
        </p:sp>
      </p:grpSp>
      <p:grpSp>
        <p:nvGrpSpPr>
          <p:cNvPr id="353" name="Google Shape;353;p51"/>
          <p:cNvGrpSpPr/>
          <p:nvPr/>
        </p:nvGrpSpPr>
        <p:grpSpPr>
          <a:xfrm>
            <a:off x="555498" y="1312545"/>
            <a:ext cx="10035441" cy="1192340"/>
            <a:chOff x="555498" y="1312545"/>
            <a:chExt cx="10035441" cy="1192340"/>
          </a:xfrm>
        </p:grpSpPr>
        <p:sp>
          <p:nvSpPr>
            <p:cNvPr id="354" name="Google Shape;354;p51"/>
            <p:cNvSpPr txBox="1"/>
            <p:nvPr/>
          </p:nvSpPr>
          <p:spPr>
            <a:xfrm>
              <a:off x="559308" y="1312545"/>
              <a:ext cx="4809503"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Arial"/>
                  <a:ea typeface="Arial"/>
                  <a:cs typeface="Arial"/>
                  <a:sym typeface="Arial"/>
                </a:rPr>
                <a:t>Fraud: y = +1 | Legitimate: y = −1</a:t>
              </a:r>
              <a:endParaRPr/>
            </a:p>
          </p:txBody>
        </p:sp>
        <p:sp>
          <p:nvSpPr>
            <p:cNvPr id="355" name="Google Shape;355;p51"/>
            <p:cNvSpPr txBox="1"/>
            <p:nvPr/>
          </p:nvSpPr>
          <p:spPr>
            <a:xfrm>
              <a:off x="555498" y="1888808"/>
              <a:ext cx="3934692" cy="6160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a:solidFill>
                    <a:srgbClr val="A02337"/>
                  </a:solidFill>
                  <a:latin typeface="Cambria Math"/>
                  <a:ea typeface="Cambria Math"/>
                  <a:cs typeface="Cambria Math"/>
                  <a:sym typeface="Cambria Math"/>
                </a:rPr>
                <a:t>a₊ / a₋ = cFN / cFP</a:t>
              </a:r>
              <a:endParaRPr/>
            </a:p>
          </p:txBody>
        </p:sp>
        <p:sp>
          <p:nvSpPr>
            <p:cNvPr id="356" name="Google Shape;356;p51"/>
            <p:cNvSpPr txBox="1"/>
            <p:nvPr/>
          </p:nvSpPr>
          <p:spPr>
            <a:xfrm>
              <a:off x="6371463" y="1962626"/>
              <a:ext cx="4219476"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Cost ratio 20:1 → weight ratio 20:1</a:t>
              </a:r>
              <a:endParaRPr/>
            </a:p>
          </p:txBody>
        </p:sp>
      </p:grpSp>
      <p:grpSp>
        <p:nvGrpSpPr>
          <p:cNvPr id="357" name="Google Shape;357;p51"/>
          <p:cNvGrpSpPr/>
          <p:nvPr/>
        </p:nvGrpSpPr>
        <p:grpSpPr>
          <a:xfrm>
            <a:off x="556641" y="2922746"/>
            <a:ext cx="7254545" cy="2064830"/>
            <a:chOff x="556641" y="2922746"/>
            <a:chExt cx="7254545" cy="2064830"/>
          </a:xfrm>
        </p:grpSpPr>
        <p:sp>
          <p:nvSpPr>
            <p:cNvPr id="358" name="Google Shape;358;p51"/>
            <p:cNvSpPr txBox="1"/>
            <p:nvPr/>
          </p:nvSpPr>
          <p:spPr>
            <a:xfrm>
              <a:off x="556641" y="2922746"/>
              <a:ext cx="3636384" cy="5720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920">
                  <a:solidFill>
                    <a:srgbClr val="262626"/>
                  </a:solidFill>
                  <a:latin typeface="Cambria Math"/>
                  <a:ea typeface="Cambria Math"/>
                  <a:cs typeface="Cambria Math"/>
                  <a:sym typeface="Cambria Math"/>
                </a:rPr>
                <a:t>c̄ = p₊ cFN + p₋ cFP</a:t>
              </a:r>
              <a:endParaRPr/>
            </a:p>
          </p:txBody>
        </p:sp>
        <p:sp>
          <p:nvSpPr>
            <p:cNvPr id="359" name="Google Shape;359;p51"/>
            <p:cNvSpPr txBox="1"/>
            <p:nvPr/>
          </p:nvSpPr>
          <p:spPr>
            <a:xfrm>
              <a:off x="556641" y="3570446"/>
              <a:ext cx="2663424" cy="5720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920">
                  <a:solidFill>
                    <a:srgbClr val="262626"/>
                  </a:solidFill>
                  <a:latin typeface="Cambria Math"/>
                  <a:ea typeface="Cambria Math"/>
                  <a:cs typeface="Cambria Math"/>
                  <a:sym typeface="Cambria Math"/>
                </a:rPr>
                <a:t>aᵢ = c(yᵢ) / c̄</a:t>
              </a:r>
              <a:endParaRPr/>
            </a:p>
          </p:txBody>
        </p:sp>
        <p:sp>
          <p:nvSpPr>
            <p:cNvPr id="360" name="Google Shape;360;p51"/>
            <p:cNvSpPr txBox="1"/>
            <p:nvPr/>
          </p:nvSpPr>
          <p:spPr>
            <a:xfrm>
              <a:off x="5889117" y="3538061"/>
              <a:ext cx="1922069" cy="63074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20">
                  <a:solidFill>
                    <a:srgbClr val="A02337"/>
                  </a:solidFill>
                  <a:latin typeface="Cambria Math"/>
                  <a:ea typeface="Cambria Math"/>
                  <a:cs typeface="Cambria Math"/>
                  <a:sym typeface="Cambria Math"/>
                </a:rPr>
                <a:t>Cᵢ = C aᵢ</a:t>
              </a:r>
              <a:endParaRPr/>
            </a:p>
          </p:txBody>
        </p:sp>
        <p:sp>
          <p:nvSpPr>
            <p:cNvPr id="361" name="Google Shape;361;p51"/>
            <p:cNvSpPr txBox="1"/>
            <p:nvPr/>
          </p:nvSpPr>
          <p:spPr>
            <a:xfrm>
              <a:off x="561213" y="4153376"/>
              <a:ext cx="3112707"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626262"/>
                  </a:solidFill>
                  <a:latin typeface="Arial"/>
                  <a:ea typeface="Arial"/>
                  <a:cs typeface="Arial"/>
                  <a:sym typeface="Arial"/>
                </a:rPr>
                <a:t>c(+1) = cFN; c(−1) = cFP</a:t>
              </a:r>
              <a:endParaRPr/>
            </a:p>
          </p:txBody>
        </p:sp>
        <p:sp>
          <p:nvSpPr>
            <p:cNvPr id="362" name="Google Shape;362;p51"/>
            <p:cNvSpPr txBox="1"/>
            <p:nvPr/>
          </p:nvSpPr>
          <p:spPr>
            <a:xfrm>
              <a:off x="561213" y="4591526"/>
              <a:ext cx="6048935"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626262"/>
                  </a:solidFill>
                  <a:latin typeface="Arial"/>
                  <a:ea typeface="Arial"/>
                  <a:cs typeface="Arial"/>
                  <a:sym typeface="Arial"/>
                </a:rPr>
                <a:t>p₊ and p₋ are class proportions in the training set.</a:t>
              </a:r>
              <a:endParaRPr/>
            </a:p>
          </p:txBody>
        </p:sp>
      </p:grpSp>
      <p:grpSp>
        <p:nvGrpSpPr>
          <p:cNvPr id="363" name="Google Shape;363;p51"/>
          <p:cNvGrpSpPr/>
          <p:nvPr/>
        </p:nvGrpSpPr>
        <p:grpSpPr>
          <a:xfrm>
            <a:off x="560070" y="5291138"/>
            <a:ext cx="8641700" cy="947832"/>
            <a:chOff x="560070" y="5291138"/>
            <a:chExt cx="8641700" cy="947832"/>
          </a:xfrm>
        </p:grpSpPr>
        <p:sp>
          <p:nvSpPr>
            <p:cNvPr id="364" name="Google Shape;364;p51"/>
            <p:cNvSpPr txBox="1"/>
            <p:nvPr/>
          </p:nvSpPr>
          <p:spPr>
            <a:xfrm>
              <a:off x="560070" y="5291138"/>
              <a:ext cx="8641700" cy="44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1">
                  <a:solidFill>
                    <a:srgbClr val="262626"/>
                  </a:solidFill>
                  <a:latin typeface="Arial"/>
                  <a:ea typeface="Arial"/>
                  <a:cs typeface="Arial"/>
                  <a:sym typeface="Arial"/>
                </a:rPr>
                <a:t>aᵢ sets relative error importance; C sets the overall penalty.</a:t>
              </a:r>
              <a:endParaRPr/>
            </a:p>
          </p:txBody>
        </p:sp>
        <p:sp>
          <p:nvSpPr>
            <p:cNvPr id="365" name="Google Shape;365;p51"/>
            <p:cNvSpPr txBox="1"/>
            <p:nvPr/>
          </p:nvSpPr>
          <p:spPr>
            <a:xfrm>
              <a:off x="560451" y="5813584"/>
              <a:ext cx="6682667"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a:solidFill>
                    <a:srgbClr val="262626"/>
                  </a:solidFill>
                  <a:latin typeface="Cambria Math"/>
                  <a:ea typeface="Cambria Math"/>
                  <a:cs typeface="Cambria Math"/>
                  <a:sym typeface="Cambria Math"/>
                </a:rPr>
                <a:t>Sample-average normalization: (1/n) ∑ᵢ aᵢ = 1</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sp>
        <p:nvSpPr>
          <p:cNvPr id="370" name="Google Shape;370;p52"/>
          <p:cNvSpPr txBox="1"/>
          <p:nvPr/>
        </p:nvSpPr>
        <p:spPr>
          <a:xfrm>
            <a:off x="367284" y="241935"/>
            <a:ext cx="5407887"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Cost-sensitive SVM: the primal</a:t>
            </a:r>
            <a:endParaRPr/>
          </a:p>
        </p:txBody>
      </p:sp>
      <p:grpSp>
        <p:nvGrpSpPr>
          <p:cNvPr id="371" name="Google Shape;371;p52"/>
          <p:cNvGrpSpPr/>
          <p:nvPr/>
        </p:nvGrpSpPr>
        <p:grpSpPr>
          <a:xfrm>
            <a:off x="393954" y="6499860"/>
            <a:ext cx="11280267" cy="234696"/>
            <a:chOff x="393954" y="6499860"/>
            <a:chExt cx="11280267" cy="234696"/>
          </a:xfrm>
        </p:grpSpPr>
        <p:sp>
          <p:nvSpPr>
            <p:cNvPr id="372" name="Google Shape;372;p52"/>
            <p:cNvSpPr txBox="1"/>
            <p:nvPr/>
          </p:nvSpPr>
          <p:spPr>
            <a:xfrm>
              <a:off x="393954" y="6499860"/>
              <a:ext cx="5891107"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Source: Group 4 proposal, §2.2; Cortes &amp; Vapnik (1995). Linear main benchmark.</a:t>
              </a:r>
              <a:endParaRPr/>
            </a:p>
          </p:txBody>
        </p:sp>
        <p:sp>
          <p:nvSpPr>
            <p:cNvPr id="373" name="Google Shape;373;p52"/>
            <p:cNvSpPr/>
            <p:nvPr/>
          </p:nvSpPr>
          <p:spPr>
            <a:xfrm>
              <a:off x="11572208" y="6499860"/>
              <a:ext cx="102013" cy="23469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4</a:t>
              </a:r>
              <a:endParaRPr/>
            </a:p>
          </p:txBody>
        </p:sp>
      </p:grpSp>
      <p:grpSp>
        <p:nvGrpSpPr>
          <p:cNvPr id="374" name="Google Shape;374;p52"/>
          <p:cNvGrpSpPr/>
          <p:nvPr/>
        </p:nvGrpSpPr>
        <p:grpSpPr>
          <a:xfrm>
            <a:off x="554736" y="1311116"/>
            <a:ext cx="5699493" cy="2606707"/>
            <a:chOff x="554736" y="1311116"/>
            <a:chExt cx="5699493" cy="2606707"/>
          </a:xfrm>
        </p:grpSpPr>
        <p:sp>
          <p:nvSpPr>
            <p:cNvPr id="375" name="Google Shape;375;p52"/>
            <p:cNvSpPr txBox="1"/>
            <p:nvPr/>
          </p:nvSpPr>
          <p:spPr>
            <a:xfrm>
              <a:off x="559689" y="1311116"/>
              <a:ext cx="4848941" cy="45472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320">
                  <a:solidFill>
                    <a:srgbClr val="262626"/>
                  </a:solidFill>
                  <a:latin typeface="Cambria Math"/>
                  <a:ea typeface="Cambria Math"/>
                  <a:cs typeface="Cambria Math"/>
                  <a:sym typeface="Cambria Math"/>
                </a:rPr>
                <a:t>f(xᵢ) = wᵀxᵢ + b; mᵢ = yᵢ f(xᵢ)</a:t>
              </a:r>
              <a:endParaRPr/>
            </a:p>
          </p:txBody>
        </p:sp>
        <p:sp>
          <p:nvSpPr>
            <p:cNvPr id="376" name="Google Shape;376;p52"/>
            <p:cNvSpPr txBox="1"/>
            <p:nvPr/>
          </p:nvSpPr>
          <p:spPr>
            <a:xfrm>
              <a:off x="554736" y="2005965"/>
              <a:ext cx="4473054" cy="64541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a:solidFill>
                    <a:srgbClr val="A02337"/>
                  </a:solidFill>
                  <a:latin typeface="Cambria Math"/>
                  <a:ea typeface="Cambria Math"/>
                  <a:cs typeface="Cambria Math"/>
                  <a:sym typeface="Cambria Math"/>
                </a:rPr>
                <a:t>min ½‖w‖² + ∑ᵢ Cᵢ ξᵢ</a:t>
              </a:r>
              <a:endParaRPr/>
            </a:p>
          </p:txBody>
        </p:sp>
        <p:sp>
          <p:nvSpPr>
            <p:cNvPr id="377" name="Google Shape;377;p52"/>
            <p:cNvSpPr txBox="1"/>
            <p:nvPr/>
          </p:nvSpPr>
          <p:spPr>
            <a:xfrm>
              <a:off x="559308" y="2788920"/>
              <a:ext cx="4612234"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Cambria Math"/>
                  <a:ea typeface="Cambria Math"/>
                  <a:cs typeface="Cambria Math"/>
                  <a:sym typeface="Cambria Math"/>
                </a:rPr>
                <a:t>subject to mᵢ ≥ 1 − ξᵢ, ξᵢ ≥ 0</a:t>
              </a:r>
              <a:endParaRPr/>
            </a:p>
          </p:txBody>
        </p:sp>
        <p:sp>
          <p:nvSpPr>
            <p:cNvPr id="378" name="Google Shape;378;p52"/>
            <p:cNvSpPr txBox="1"/>
            <p:nvPr/>
          </p:nvSpPr>
          <p:spPr>
            <a:xfrm>
              <a:off x="560832" y="3507105"/>
              <a:ext cx="5693397"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262626"/>
                  </a:solidFill>
                  <a:latin typeface="Arial"/>
                  <a:ea typeface="Arial"/>
                  <a:cs typeface="Arial"/>
                  <a:sym typeface="Arial"/>
                </a:rPr>
                <a:t>Wide margin + weighted margin violations</a:t>
              </a:r>
              <a:endParaRPr/>
            </a:p>
          </p:txBody>
        </p:sp>
      </p:grpSp>
      <p:grpSp>
        <p:nvGrpSpPr>
          <p:cNvPr id="379" name="Google Shape;379;p52"/>
          <p:cNvGrpSpPr/>
          <p:nvPr/>
        </p:nvGrpSpPr>
        <p:grpSpPr>
          <a:xfrm>
            <a:off x="559308" y="4598670"/>
            <a:ext cx="5419954" cy="1408081"/>
            <a:chOff x="559308" y="4598670"/>
            <a:chExt cx="5419954" cy="1408081"/>
          </a:xfrm>
        </p:grpSpPr>
        <p:sp>
          <p:nvSpPr>
            <p:cNvPr id="380" name="Google Shape;380;p52"/>
            <p:cNvSpPr txBox="1"/>
            <p:nvPr/>
          </p:nvSpPr>
          <p:spPr>
            <a:xfrm>
              <a:off x="559308" y="4598670"/>
              <a:ext cx="5419954"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Cambria Math"/>
                  <a:ea typeface="Cambria Math"/>
                  <a:cs typeface="Cambria Math"/>
                  <a:sym typeface="Cambria Math"/>
                </a:rPr>
                <a:t>ξᵢ = max(0, 1 − mᵢ) at an optimum</a:t>
              </a:r>
              <a:endParaRPr/>
            </a:p>
          </p:txBody>
        </p:sp>
        <p:sp>
          <p:nvSpPr>
            <p:cNvPr id="381" name="Google Shape;381;p52"/>
            <p:cNvSpPr txBox="1"/>
            <p:nvPr/>
          </p:nvSpPr>
          <p:spPr>
            <a:xfrm>
              <a:off x="561213" y="5191601"/>
              <a:ext cx="4976705"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0 &lt; mᵢ &lt; 1: correct, but inside the margin</a:t>
              </a:r>
              <a:endParaRPr/>
            </a:p>
          </p:txBody>
        </p:sp>
        <p:sp>
          <p:nvSpPr>
            <p:cNvPr id="382" name="Google Shape;382;p52"/>
            <p:cNvSpPr txBox="1"/>
            <p:nvPr/>
          </p:nvSpPr>
          <p:spPr>
            <a:xfrm>
              <a:off x="561213" y="5610701"/>
              <a:ext cx="2550252"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mᵢ &lt; 0: misclassified</a:t>
              </a:r>
              <a:endParaRPr/>
            </a:p>
          </p:txBody>
        </p:sp>
      </p:grpSp>
      <p:grpSp>
        <p:nvGrpSpPr>
          <p:cNvPr id="383" name="Google Shape;383;p52"/>
          <p:cNvGrpSpPr/>
          <p:nvPr/>
        </p:nvGrpSpPr>
        <p:grpSpPr>
          <a:xfrm>
            <a:off x="7469505" y="1257776"/>
            <a:ext cx="3674745" cy="4874419"/>
            <a:chOff x="7469505" y="1257776"/>
            <a:chExt cx="3674745" cy="4874419"/>
          </a:xfrm>
        </p:grpSpPr>
        <p:sp>
          <p:nvSpPr>
            <p:cNvPr id="384" name="Google Shape;384;p52"/>
            <p:cNvSpPr txBox="1"/>
            <p:nvPr/>
          </p:nvSpPr>
          <p:spPr>
            <a:xfrm>
              <a:off x="7514463" y="1257776"/>
              <a:ext cx="3034642"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b="1">
                  <a:solidFill>
                    <a:srgbClr val="262626"/>
                  </a:solidFill>
                  <a:latin typeface="Arial"/>
                  <a:ea typeface="Arial"/>
                  <a:cs typeface="Arial"/>
                  <a:sym typeface="Arial"/>
                </a:rPr>
                <a:t>A linear SVM boundary</a:t>
              </a:r>
              <a:endParaRPr/>
            </a:p>
          </p:txBody>
        </p:sp>
        <p:sp>
          <p:nvSpPr>
            <p:cNvPr id="385" name="Google Shape;385;p52"/>
            <p:cNvSpPr/>
            <p:nvPr/>
          </p:nvSpPr>
          <p:spPr>
            <a:xfrm>
              <a:off x="8239125" y="1952625"/>
              <a:ext cx="2000250" cy="3238500"/>
            </a:xfrm>
            <a:prstGeom prst="rect">
              <a:avLst/>
            </a:prstGeom>
            <a:solidFill>
              <a:srgbClr val="F8F2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52"/>
            <p:cNvSpPr/>
            <p:nvPr/>
          </p:nvSpPr>
          <p:spPr>
            <a:xfrm>
              <a:off x="9239250" y="1952625"/>
              <a:ext cx="9525" cy="3238500"/>
            </a:xfrm>
            <a:custGeom>
              <a:avLst/>
              <a:gdLst/>
              <a:ahLst/>
              <a:cxnLst/>
              <a:rect l="l" t="t" r="r" b="b"/>
              <a:pathLst>
                <a:path w="9525" h="3238500" extrusionOk="0">
                  <a:moveTo>
                    <a:pt x="0" y="0"/>
                  </a:moveTo>
                  <a:lnTo>
                    <a:pt x="0" y="3238500"/>
                  </a:lnTo>
                </a:path>
              </a:pathLst>
            </a:custGeom>
            <a:noFill/>
            <a:ln w="28575" cap="flat" cmpd="sng">
              <a:solidFill>
                <a:srgbClr val="262626"/>
              </a:solidFill>
              <a:prstDash val="solid"/>
              <a:round/>
              <a:headEnd type="none" w="sm" len="sm"/>
              <a:tailEnd type="none" w="sm" len="sm"/>
            </a:ln>
          </p:spPr>
        </p:sp>
        <p:sp>
          <p:nvSpPr>
            <p:cNvPr id="387" name="Google Shape;387;p52"/>
            <p:cNvSpPr/>
            <p:nvPr/>
          </p:nvSpPr>
          <p:spPr>
            <a:xfrm>
              <a:off x="8239125" y="1952625"/>
              <a:ext cx="9525" cy="3238500"/>
            </a:xfrm>
            <a:custGeom>
              <a:avLst/>
              <a:gdLst/>
              <a:ahLst/>
              <a:cxnLst/>
              <a:rect l="l" t="t" r="r" b="b"/>
              <a:pathLst>
                <a:path w="9525" h="3238500" extrusionOk="0">
                  <a:moveTo>
                    <a:pt x="0" y="0"/>
                  </a:moveTo>
                  <a:lnTo>
                    <a:pt x="0" y="3238500"/>
                  </a:lnTo>
                </a:path>
              </a:pathLst>
            </a:custGeom>
            <a:noFill/>
            <a:ln w="19050" cap="flat" cmpd="sng">
              <a:solidFill>
                <a:srgbClr val="A02337"/>
              </a:solidFill>
              <a:prstDash val="dash"/>
              <a:round/>
              <a:headEnd type="none" w="sm" len="sm"/>
              <a:tailEnd type="none" w="sm" len="sm"/>
            </a:ln>
          </p:spPr>
        </p:sp>
        <p:sp>
          <p:nvSpPr>
            <p:cNvPr id="388" name="Google Shape;388;p52"/>
            <p:cNvSpPr/>
            <p:nvPr/>
          </p:nvSpPr>
          <p:spPr>
            <a:xfrm>
              <a:off x="10239375" y="1952625"/>
              <a:ext cx="9525" cy="3238500"/>
            </a:xfrm>
            <a:custGeom>
              <a:avLst/>
              <a:gdLst/>
              <a:ahLst/>
              <a:cxnLst/>
              <a:rect l="l" t="t" r="r" b="b"/>
              <a:pathLst>
                <a:path w="9525" h="3238500" extrusionOk="0">
                  <a:moveTo>
                    <a:pt x="0" y="0"/>
                  </a:moveTo>
                  <a:lnTo>
                    <a:pt x="0" y="3238500"/>
                  </a:lnTo>
                </a:path>
              </a:pathLst>
            </a:custGeom>
            <a:noFill/>
            <a:ln w="19050" cap="flat" cmpd="sng">
              <a:solidFill>
                <a:srgbClr val="A02337"/>
              </a:solidFill>
              <a:prstDash val="dash"/>
              <a:round/>
              <a:headEnd type="none" w="sm" len="sm"/>
              <a:tailEnd type="none" w="sm" len="sm"/>
            </a:ln>
          </p:spPr>
        </p:sp>
        <p:sp>
          <p:nvSpPr>
            <p:cNvPr id="389" name="Google Shape;389;p52"/>
            <p:cNvSpPr/>
            <p:nvPr/>
          </p:nvSpPr>
          <p:spPr>
            <a:xfrm>
              <a:off x="10572750" y="2286000"/>
              <a:ext cx="190500" cy="190500"/>
            </a:xfrm>
            <a:prstGeom prst="ellipse">
              <a:avLst/>
            </a:prstGeom>
            <a:solidFill>
              <a:srgbClr val="A02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52"/>
            <p:cNvSpPr/>
            <p:nvPr/>
          </p:nvSpPr>
          <p:spPr>
            <a:xfrm>
              <a:off x="10953750" y="3571875"/>
              <a:ext cx="190500" cy="190500"/>
            </a:xfrm>
            <a:prstGeom prst="ellipse">
              <a:avLst/>
            </a:prstGeom>
            <a:solidFill>
              <a:srgbClr val="A02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2"/>
            <p:cNvSpPr/>
            <p:nvPr/>
          </p:nvSpPr>
          <p:spPr>
            <a:xfrm>
              <a:off x="10353675" y="4429125"/>
              <a:ext cx="190500" cy="190500"/>
            </a:xfrm>
            <a:prstGeom prst="ellipse">
              <a:avLst/>
            </a:prstGeom>
            <a:solidFill>
              <a:srgbClr val="A02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2"/>
            <p:cNvSpPr/>
            <p:nvPr/>
          </p:nvSpPr>
          <p:spPr>
            <a:xfrm>
              <a:off x="10144125" y="2952750"/>
              <a:ext cx="190500" cy="190500"/>
            </a:xfrm>
            <a:prstGeom prst="ellipse">
              <a:avLst/>
            </a:prstGeom>
            <a:solidFill>
              <a:srgbClr val="A023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2"/>
            <p:cNvSpPr/>
            <p:nvPr/>
          </p:nvSpPr>
          <p:spPr>
            <a:xfrm>
              <a:off x="7534275" y="2152650"/>
              <a:ext cx="171450" cy="171450"/>
            </a:xfrm>
            <a:prstGeom prst="rect">
              <a:avLst/>
            </a:prstGeom>
            <a:solidFill>
              <a:srgbClr val="187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2"/>
            <p:cNvSpPr/>
            <p:nvPr/>
          </p:nvSpPr>
          <p:spPr>
            <a:xfrm>
              <a:off x="7867650" y="4057650"/>
              <a:ext cx="171450" cy="171450"/>
            </a:xfrm>
            <a:prstGeom prst="rect">
              <a:avLst/>
            </a:prstGeom>
            <a:solidFill>
              <a:srgbClr val="187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2"/>
            <p:cNvSpPr/>
            <p:nvPr/>
          </p:nvSpPr>
          <p:spPr>
            <a:xfrm>
              <a:off x="8153400" y="3390900"/>
              <a:ext cx="171450" cy="171450"/>
            </a:xfrm>
            <a:prstGeom prst="rect">
              <a:avLst/>
            </a:prstGeom>
            <a:solidFill>
              <a:srgbClr val="187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52"/>
            <p:cNvSpPr/>
            <p:nvPr/>
          </p:nvSpPr>
          <p:spPr>
            <a:xfrm>
              <a:off x="7677150" y="4676775"/>
              <a:ext cx="171450" cy="171450"/>
            </a:xfrm>
            <a:prstGeom prst="rect">
              <a:avLst/>
            </a:prstGeom>
            <a:solidFill>
              <a:srgbClr val="187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2"/>
            <p:cNvSpPr txBox="1"/>
            <p:nvPr/>
          </p:nvSpPr>
          <p:spPr>
            <a:xfrm>
              <a:off x="7773543" y="5365432"/>
              <a:ext cx="584866" cy="3227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a:solidFill>
                    <a:srgbClr val="626262"/>
                  </a:solidFill>
                  <a:latin typeface="Arial"/>
                  <a:ea typeface="Arial"/>
                  <a:cs typeface="Arial"/>
                  <a:sym typeface="Arial"/>
                </a:rPr>
                <a:t>f = −1</a:t>
              </a:r>
              <a:endParaRPr/>
            </a:p>
          </p:txBody>
        </p:sp>
        <p:sp>
          <p:nvSpPr>
            <p:cNvPr id="398" name="Google Shape;398;p52"/>
            <p:cNvSpPr txBox="1"/>
            <p:nvPr/>
          </p:nvSpPr>
          <p:spPr>
            <a:xfrm>
              <a:off x="8973693" y="5365432"/>
              <a:ext cx="455146" cy="3227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a:solidFill>
                    <a:srgbClr val="626262"/>
                  </a:solidFill>
                  <a:latin typeface="Arial"/>
                  <a:ea typeface="Arial"/>
                  <a:cs typeface="Arial"/>
                  <a:sym typeface="Arial"/>
                </a:rPr>
                <a:t>f = 0</a:t>
              </a:r>
              <a:endParaRPr/>
            </a:p>
          </p:txBody>
        </p:sp>
        <p:sp>
          <p:nvSpPr>
            <p:cNvPr id="399" name="Google Shape;399;p52"/>
            <p:cNvSpPr txBox="1"/>
            <p:nvPr/>
          </p:nvSpPr>
          <p:spPr>
            <a:xfrm>
              <a:off x="10154793" y="5365432"/>
              <a:ext cx="584866" cy="32270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a:solidFill>
                    <a:srgbClr val="626262"/>
                  </a:solidFill>
                  <a:latin typeface="Arial"/>
                  <a:ea typeface="Arial"/>
                  <a:cs typeface="Arial"/>
                  <a:sym typeface="Arial"/>
                </a:rPr>
                <a:t>f = +1</a:t>
              </a:r>
              <a:endParaRPr/>
            </a:p>
          </p:txBody>
        </p:sp>
        <p:sp>
          <p:nvSpPr>
            <p:cNvPr id="400" name="Google Shape;400;p52"/>
            <p:cNvSpPr txBox="1"/>
            <p:nvPr/>
          </p:nvSpPr>
          <p:spPr>
            <a:xfrm>
              <a:off x="7469505" y="5838825"/>
              <a:ext cx="2972541" cy="29337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a:solidFill>
                    <a:srgbClr val="626262"/>
                  </a:solidFill>
                  <a:latin typeface="Arial"/>
                  <a:ea typeface="Arial"/>
                  <a:cs typeface="Arial"/>
                  <a:sym typeface="Arial"/>
                </a:rPr>
                <a:t>Schematic; points are illustrative.</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53"/>
          <p:cNvSpPr txBox="1"/>
          <p:nvPr/>
        </p:nvSpPr>
        <p:spPr>
          <a:xfrm>
            <a:off x="367284" y="241935"/>
            <a:ext cx="4577443"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Dual coefficients and KKT</a:t>
            </a:r>
            <a:endParaRPr/>
          </a:p>
        </p:txBody>
      </p:sp>
      <p:grpSp>
        <p:nvGrpSpPr>
          <p:cNvPr id="406" name="Google Shape;406;p53"/>
          <p:cNvGrpSpPr/>
          <p:nvPr/>
        </p:nvGrpSpPr>
        <p:grpSpPr>
          <a:xfrm>
            <a:off x="393954" y="6499860"/>
            <a:ext cx="11280267" cy="234696"/>
            <a:chOff x="393954" y="6499860"/>
            <a:chExt cx="11280267" cy="234696"/>
          </a:xfrm>
        </p:grpSpPr>
        <p:sp>
          <p:nvSpPr>
            <p:cNvPr id="407" name="Google Shape;407;p53"/>
            <p:cNvSpPr txBox="1"/>
            <p:nvPr/>
          </p:nvSpPr>
          <p:spPr>
            <a:xfrm>
              <a:off x="393954" y="6499860"/>
              <a:ext cx="6930256"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Source: Group 4 proposal, §2.2; Boyd &amp; Vandenberghe (2004), Chapter 5. Derivation in backup.</a:t>
              </a:r>
              <a:endParaRPr/>
            </a:p>
          </p:txBody>
        </p:sp>
        <p:sp>
          <p:nvSpPr>
            <p:cNvPr id="408" name="Google Shape;408;p53"/>
            <p:cNvSpPr txBox="1"/>
            <p:nvPr/>
          </p:nvSpPr>
          <p:spPr>
            <a:xfrm>
              <a:off x="11572178" y="6499860"/>
              <a:ext cx="102043" cy="23469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5</a:t>
              </a:r>
              <a:endParaRPr/>
            </a:p>
          </p:txBody>
        </p:sp>
      </p:grpSp>
      <p:grpSp>
        <p:nvGrpSpPr>
          <p:cNvPr id="409" name="Google Shape;409;p53"/>
          <p:cNvGrpSpPr/>
          <p:nvPr/>
        </p:nvGrpSpPr>
        <p:grpSpPr>
          <a:xfrm>
            <a:off x="556641" y="1265396"/>
            <a:ext cx="7565135" cy="1690402"/>
            <a:chOff x="556641" y="1265396"/>
            <a:chExt cx="7565135" cy="1690402"/>
          </a:xfrm>
        </p:grpSpPr>
        <p:sp>
          <p:nvSpPr>
            <p:cNvPr id="410" name="Google Shape;410;p53"/>
            <p:cNvSpPr txBox="1"/>
            <p:nvPr/>
          </p:nvSpPr>
          <p:spPr>
            <a:xfrm>
              <a:off x="556641" y="1265396"/>
              <a:ext cx="6160939" cy="5720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920">
                  <a:solidFill>
                    <a:srgbClr val="262626"/>
                  </a:solidFill>
                  <a:latin typeface="Cambria Math"/>
                  <a:ea typeface="Cambria Math"/>
                  <a:cs typeface="Cambria Math"/>
                  <a:sym typeface="Cambria Math"/>
                </a:rPr>
                <a:t>max ∑ᵢ αᵢ − ½ ∑ᵢ∑ⱼ αᵢαⱼyᵢyⱼ Kᵢⱼ</a:t>
              </a:r>
              <a:endParaRPr/>
            </a:p>
          </p:txBody>
        </p:sp>
        <p:sp>
          <p:nvSpPr>
            <p:cNvPr id="411" name="Google Shape;411;p53"/>
            <p:cNvSpPr txBox="1"/>
            <p:nvPr/>
          </p:nvSpPr>
          <p:spPr>
            <a:xfrm>
              <a:off x="557403" y="1929289"/>
              <a:ext cx="4781794" cy="5427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80">
                  <a:solidFill>
                    <a:srgbClr val="A02337"/>
                  </a:solidFill>
                  <a:latin typeface="Cambria Math"/>
                  <a:ea typeface="Cambria Math"/>
                  <a:cs typeface="Cambria Math"/>
                  <a:sym typeface="Cambria Math"/>
                </a:rPr>
                <a:t>0 ≤ αᵢ ≤ Cᵢ and ∑ᵢ αᵢyᵢ = 0</a:t>
              </a:r>
              <a:endParaRPr/>
            </a:p>
          </p:txBody>
        </p:sp>
        <p:sp>
          <p:nvSpPr>
            <p:cNvPr id="412" name="Google Shape;412;p53"/>
            <p:cNvSpPr txBox="1"/>
            <p:nvPr/>
          </p:nvSpPr>
          <p:spPr>
            <a:xfrm>
              <a:off x="560832" y="2545080"/>
              <a:ext cx="7560944"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a:solidFill>
                    <a:srgbClr val="262626"/>
                  </a:solidFill>
                  <a:latin typeface="Arial"/>
                  <a:ea typeface="Arial"/>
                  <a:cs typeface="Arial"/>
                  <a:sym typeface="Arial"/>
                </a:rPr>
                <a:t>Linear model: Kᵢⱼ = xᵢᵀxⱼ. Costs set the upper bounds Cᵢ.</a:t>
              </a:r>
              <a:endParaRPr/>
            </a:p>
          </p:txBody>
        </p:sp>
      </p:grpSp>
      <p:grpSp>
        <p:nvGrpSpPr>
          <p:cNvPr id="413" name="Google Shape;413;p53"/>
          <p:cNvGrpSpPr/>
          <p:nvPr/>
        </p:nvGrpSpPr>
        <p:grpSpPr>
          <a:xfrm>
            <a:off x="559308" y="3452812"/>
            <a:ext cx="9239832" cy="2139125"/>
            <a:chOff x="559308" y="3452812"/>
            <a:chExt cx="9239832" cy="2139125"/>
          </a:xfrm>
        </p:grpSpPr>
        <p:sp>
          <p:nvSpPr>
            <p:cNvPr id="414" name="Google Shape;414;p53"/>
            <p:cNvSpPr txBox="1"/>
            <p:nvPr/>
          </p:nvSpPr>
          <p:spPr>
            <a:xfrm>
              <a:off x="560070" y="3452812"/>
              <a:ext cx="7164917" cy="44005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250" b="1">
                  <a:solidFill>
                    <a:srgbClr val="262626"/>
                  </a:solidFill>
                  <a:latin typeface="Arial"/>
                  <a:ea typeface="Arial"/>
                  <a:cs typeface="Arial"/>
                  <a:sym typeface="Arial"/>
                </a:rPr>
                <a:t>At an optimum: KKT links coefficients to margins</a:t>
              </a:r>
              <a:endParaRPr/>
            </a:p>
          </p:txBody>
        </p:sp>
        <p:sp>
          <p:nvSpPr>
            <p:cNvPr id="415" name="Google Shape;415;p53"/>
            <p:cNvSpPr txBox="1"/>
            <p:nvPr/>
          </p:nvSpPr>
          <p:spPr>
            <a:xfrm>
              <a:off x="559308" y="4036695"/>
              <a:ext cx="2269846"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Cambria Math"/>
                  <a:ea typeface="Cambria Math"/>
                  <a:cs typeface="Cambria Math"/>
                  <a:sym typeface="Cambria Math"/>
                </a:rPr>
                <a:t>αᵢ = 0 ⇒ mᵢ ≥ 1</a:t>
              </a:r>
              <a:endParaRPr/>
            </a:p>
          </p:txBody>
        </p:sp>
        <p:sp>
          <p:nvSpPr>
            <p:cNvPr id="416" name="Google Shape;416;p53"/>
            <p:cNvSpPr txBox="1"/>
            <p:nvPr/>
          </p:nvSpPr>
          <p:spPr>
            <a:xfrm>
              <a:off x="6038088" y="4058126"/>
              <a:ext cx="2356066"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No margin violation</a:t>
              </a:r>
              <a:endParaRPr/>
            </a:p>
          </p:txBody>
        </p:sp>
        <p:sp>
          <p:nvSpPr>
            <p:cNvPr id="417" name="Google Shape;417;p53"/>
            <p:cNvSpPr txBox="1"/>
            <p:nvPr/>
          </p:nvSpPr>
          <p:spPr>
            <a:xfrm>
              <a:off x="559308" y="4579620"/>
              <a:ext cx="3052877"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Cambria Math"/>
                  <a:ea typeface="Cambria Math"/>
                  <a:cs typeface="Cambria Math"/>
                  <a:sym typeface="Cambria Math"/>
                </a:rPr>
                <a:t>0 &lt; αᵢ &lt; Cᵢ ⇒ mᵢ = 1</a:t>
              </a:r>
              <a:endParaRPr/>
            </a:p>
          </p:txBody>
        </p:sp>
        <p:sp>
          <p:nvSpPr>
            <p:cNvPr id="418" name="Google Shape;418;p53"/>
            <p:cNvSpPr txBox="1"/>
            <p:nvPr/>
          </p:nvSpPr>
          <p:spPr>
            <a:xfrm>
              <a:off x="6038088" y="4601051"/>
              <a:ext cx="2961993"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On the margin boundary</a:t>
              </a:r>
              <a:endParaRPr/>
            </a:p>
          </p:txBody>
        </p:sp>
        <p:sp>
          <p:nvSpPr>
            <p:cNvPr id="419" name="Google Shape;419;p53"/>
            <p:cNvSpPr txBox="1"/>
            <p:nvPr/>
          </p:nvSpPr>
          <p:spPr>
            <a:xfrm>
              <a:off x="559308" y="5122545"/>
              <a:ext cx="2493264" cy="46939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a:solidFill>
                    <a:srgbClr val="262626"/>
                  </a:solidFill>
                  <a:latin typeface="Cambria Math"/>
                  <a:ea typeface="Cambria Math"/>
                  <a:cs typeface="Cambria Math"/>
                  <a:sym typeface="Cambria Math"/>
                </a:rPr>
                <a:t>αᵢ = Cᵢ ⇒ mᵢ ≤ 1</a:t>
              </a:r>
              <a:endParaRPr/>
            </a:p>
          </p:txBody>
        </p:sp>
        <p:sp>
          <p:nvSpPr>
            <p:cNvPr id="420" name="Google Shape;420;p53"/>
            <p:cNvSpPr txBox="1"/>
            <p:nvPr/>
          </p:nvSpPr>
          <p:spPr>
            <a:xfrm>
              <a:off x="6038088" y="5143976"/>
              <a:ext cx="3761052" cy="396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20">
                  <a:solidFill>
                    <a:srgbClr val="262626"/>
                  </a:solidFill>
                  <a:latin typeface="Arial"/>
                  <a:ea typeface="Arial"/>
                  <a:cs typeface="Arial"/>
                  <a:sym typeface="Arial"/>
                </a:rPr>
                <a:t>May be correct or misclassified</a:t>
              </a:r>
              <a:endParaRPr/>
            </a:p>
          </p:txBody>
        </p:sp>
      </p:grpSp>
      <p:sp>
        <p:nvSpPr>
          <p:cNvPr id="421" name="Google Shape;421;p53"/>
          <p:cNvSpPr txBox="1"/>
          <p:nvPr/>
        </p:nvSpPr>
        <p:spPr>
          <a:xfrm>
            <a:off x="560451" y="5880259"/>
            <a:ext cx="8026027"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b="1">
                <a:solidFill>
                  <a:srgbClr val="A02337"/>
                </a:solidFill>
                <a:latin typeface="Arial"/>
                <a:ea typeface="Arial"/>
                <a:cs typeface="Arial"/>
                <a:sym typeface="Arial"/>
              </a:rPr>
              <a:t>Convexity and Slater’s condition support KKT optimality.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54"/>
          <p:cNvSpPr txBox="1"/>
          <p:nvPr/>
        </p:nvSpPr>
        <p:spPr>
          <a:xfrm>
            <a:off x="367284" y="241935"/>
            <a:ext cx="4777786"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Weighted Pegasos updates</a:t>
            </a:r>
            <a:endParaRPr/>
          </a:p>
        </p:txBody>
      </p:sp>
      <p:grpSp>
        <p:nvGrpSpPr>
          <p:cNvPr id="427" name="Google Shape;427;p54"/>
          <p:cNvGrpSpPr/>
          <p:nvPr/>
        </p:nvGrpSpPr>
        <p:grpSpPr>
          <a:xfrm>
            <a:off x="393954" y="6499860"/>
            <a:ext cx="11280267" cy="234696"/>
            <a:chOff x="393954" y="6499860"/>
            <a:chExt cx="11280267" cy="234696"/>
          </a:xfrm>
        </p:grpSpPr>
        <p:sp>
          <p:nvSpPr>
            <p:cNvPr id="428" name="Google Shape;428;p54"/>
            <p:cNvSpPr txBox="1"/>
            <p:nvPr/>
          </p:nvSpPr>
          <p:spPr>
            <a:xfrm>
              <a:off x="393954" y="6499860"/>
              <a:ext cx="7084845"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Weighted Pegasos-style variant; b is unregularized. Original convergence guarantees require care.</a:t>
              </a:r>
              <a:endParaRPr/>
            </a:p>
          </p:txBody>
        </p:sp>
        <p:sp>
          <p:nvSpPr>
            <p:cNvPr id="429" name="Google Shape;429;p54"/>
            <p:cNvSpPr txBox="1"/>
            <p:nvPr/>
          </p:nvSpPr>
          <p:spPr>
            <a:xfrm>
              <a:off x="11572178" y="6499860"/>
              <a:ext cx="102043" cy="234696"/>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6</a:t>
              </a:r>
              <a:endParaRPr/>
            </a:p>
          </p:txBody>
        </p:sp>
      </p:grpSp>
      <p:grpSp>
        <p:nvGrpSpPr>
          <p:cNvPr id="430" name="Google Shape;430;p54"/>
          <p:cNvGrpSpPr/>
          <p:nvPr/>
        </p:nvGrpSpPr>
        <p:grpSpPr>
          <a:xfrm>
            <a:off x="557403" y="1253014"/>
            <a:ext cx="8809990" cy="1113567"/>
            <a:chOff x="557403" y="1253014"/>
            <a:chExt cx="8809990" cy="1113567"/>
          </a:xfrm>
        </p:grpSpPr>
        <p:sp>
          <p:nvSpPr>
            <p:cNvPr id="431" name="Google Shape;431;p54"/>
            <p:cNvSpPr txBox="1"/>
            <p:nvPr/>
          </p:nvSpPr>
          <p:spPr>
            <a:xfrm>
              <a:off x="557403" y="1253014"/>
              <a:ext cx="8225585" cy="54273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80">
                  <a:solidFill>
                    <a:srgbClr val="262626"/>
                  </a:solidFill>
                  <a:latin typeface="Cambria Math"/>
                  <a:ea typeface="Cambria Math"/>
                  <a:cs typeface="Cambria Math"/>
                  <a:sym typeface="Cambria Math"/>
                </a:rPr>
                <a:t>F(w,b) = (λ/2) ‖w‖² + (1/n) ∑ᵢ aᵢ [1 − mᵢ]₊</a:t>
              </a:r>
              <a:endParaRPr/>
            </a:p>
          </p:txBody>
        </p:sp>
        <p:sp>
          <p:nvSpPr>
            <p:cNvPr id="432" name="Google Shape;432;p54"/>
            <p:cNvSpPr txBox="1"/>
            <p:nvPr/>
          </p:nvSpPr>
          <p:spPr>
            <a:xfrm>
              <a:off x="558546" y="1867852"/>
              <a:ext cx="1774698" cy="4987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a:solidFill>
                    <a:srgbClr val="A02337"/>
                  </a:solidFill>
                  <a:latin typeface="Cambria Math"/>
                  <a:ea typeface="Cambria Math"/>
                  <a:cs typeface="Cambria Math"/>
                  <a:sym typeface="Cambria Math"/>
                </a:rPr>
                <a:t>λ = 1/(nC)</a:t>
              </a:r>
              <a:endParaRPr/>
            </a:p>
          </p:txBody>
        </p:sp>
        <p:sp>
          <p:nvSpPr>
            <p:cNvPr id="433" name="Google Shape;433;p54"/>
            <p:cNvSpPr txBox="1"/>
            <p:nvPr/>
          </p:nvSpPr>
          <p:spPr>
            <a:xfrm>
              <a:off x="4084701" y="1898809"/>
              <a:ext cx="5282692"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a:solidFill>
                    <a:srgbClr val="262626"/>
                  </a:solidFill>
                  <a:latin typeface="Arial"/>
                  <a:ea typeface="Arial"/>
                  <a:cs typeface="Arial"/>
                  <a:sym typeface="Arial"/>
                </a:rPr>
                <a:t>Same minimizers as the primal objective</a:t>
              </a:r>
              <a:endParaRPr/>
            </a:p>
          </p:txBody>
        </p:sp>
      </p:grpSp>
      <p:grpSp>
        <p:nvGrpSpPr>
          <p:cNvPr id="434" name="Google Shape;434;p54"/>
          <p:cNvGrpSpPr/>
          <p:nvPr/>
        </p:nvGrpSpPr>
        <p:grpSpPr>
          <a:xfrm>
            <a:off x="560451" y="2889409"/>
            <a:ext cx="7894451" cy="866489"/>
            <a:chOff x="560451" y="2889409"/>
            <a:chExt cx="7894451" cy="866489"/>
          </a:xfrm>
        </p:grpSpPr>
        <p:sp>
          <p:nvSpPr>
            <p:cNvPr id="435" name="Google Shape;435;p54"/>
            <p:cNvSpPr txBox="1"/>
            <p:nvPr/>
          </p:nvSpPr>
          <p:spPr>
            <a:xfrm>
              <a:off x="560451" y="2889409"/>
              <a:ext cx="7479206"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a:solidFill>
                    <a:srgbClr val="262626"/>
                  </a:solidFill>
                  <a:latin typeface="Arial"/>
                  <a:ea typeface="Arial"/>
                  <a:cs typeface="Arial"/>
                  <a:sym typeface="Arial"/>
                </a:rPr>
                <a:t>Sample i uniformly. Compute the margin before updating.</a:t>
              </a:r>
              <a:endParaRPr/>
            </a:p>
          </p:txBody>
        </p:sp>
        <p:sp>
          <p:nvSpPr>
            <p:cNvPr id="436" name="Google Shape;436;p54"/>
            <p:cNvSpPr txBox="1"/>
            <p:nvPr/>
          </p:nvSpPr>
          <p:spPr>
            <a:xfrm>
              <a:off x="560832" y="3345180"/>
              <a:ext cx="7894070"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a:solidFill>
                    <a:srgbClr val="262626"/>
                  </a:solidFill>
                  <a:latin typeface="Cambria Math"/>
                  <a:ea typeface="Cambria Math"/>
                  <a:cs typeface="Cambria Math"/>
                  <a:sym typeface="Cambria Math"/>
                </a:rPr>
                <a:t>ηₜ = 1/(λt), mᵢ = yᵢ(wₜᵀxᵢ + bₜ), Iₜ = 1 if mᵢ &lt; 1, else 0</a:t>
              </a:r>
              <a:endParaRPr/>
            </a:p>
          </p:txBody>
        </p:sp>
      </p:grpSp>
      <p:grpSp>
        <p:nvGrpSpPr>
          <p:cNvPr id="437" name="Google Shape;437;p54"/>
          <p:cNvGrpSpPr/>
          <p:nvPr/>
        </p:nvGrpSpPr>
        <p:grpSpPr>
          <a:xfrm>
            <a:off x="556641" y="4084796"/>
            <a:ext cx="6833396" cy="1209580"/>
            <a:chOff x="556641" y="4084796"/>
            <a:chExt cx="6833396" cy="1209580"/>
          </a:xfrm>
        </p:grpSpPr>
        <p:sp>
          <p:nvSpPr>
            <p:cNvPr id="438" name="Google Shape;438;p54"/>
            <p:cNvSpPr txBox="1"/>
            <p:nvPr/>
          </p:nvSpPr>
          <p:spPr>
            <a:xfrm>
              <a:off x="556641" y="4084796"/>
              <a:ext cx="6833396" cy="57207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920">
                  <a:solidFill>
                    <a:srgbClr val="A02337"/>
                  </a:solidFill>
                  <a:latin typeface="Cambria Math"/>
                  <a:ea typeface="Cambria Math"/>
                  <a:cs typeface="Cambria Math"/>
                  <a:sym typeface="Cambria Math"/>
                </a:rPr>
                <a:t>wₜ₊₁ = (1 − ηₜλ) wₜ + ηₜ aᵢ yᵢ xᵢ Iₜ</a:t>
              </a:r>
              <a:endParaRPr/>
            </a:p>
          </p:txBody>
        </p:sp>
        <p:sp>
          <p:nvSpPr>
            <p:cNvPr id="439" name="Google Shape;439;p54"/>
            <p:cNvSpPr txBox="1"/>
            <p:nvPr/>
          </p:nvSpPr>
          <p:spPr>
            <a:xfrm>
              <a:off x="557784" y="4766310"/>
              <a:ext cx="3934949"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a:solidFill>
                    <a:srgbClr val="262626"/>
                  </a:solidFill>
                  <a:latin typeface="Cambria Math"/>
                  <a:ea typeface="Cambria Math"/>
                  <a:cs typeface="Cambria Math"/>
                  <a:sym typeface="Cambria Math"/>
                </a:rPr>
                <a:t>bₜ₊₁ = bₜ + ηₜ aᵢ yᵢ Iₜ</a:t>
              </a:r>
              <a:endParaRPr/>
            </a:p>
          </p:txBody>
        </p:sp>
      </p:grpSp>
      <p:grpSp>
        <p:nvGrpSpPr>
          <p:cNvPr id="440" name="Google Shape;440;p54"/>
          <p:cNvGrpSpPr/>
          <p:nvPr/>
        </p:nvGrpSpPr>
        <p:grpSpPr>
          <a:xfrm>
            <a:off x="560832" y="5621655"/>
            <a:ext cx="7397854" cy="717804"/>
            <a:chOff x="560832" y="5621655"/>
            <a:chExt cx="7397854" cy="717804"/>
          </a:xfrm>
        </p:grpSpPr>
        <p:sp>
          <p:nvSpPr>
            <p:cNvPr id="441" name="Google Shape;441;p54"/>
            <p:cNvSpPr txBox="1"/>
            <p:nvPr/>
          </p:nvSpPr>
          <p:spPr>
            <a:xfrm>
              <a:off x="560832" y="5621655"/>
              <a:ext cx="7397854" cy="41071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a:solidFill>
                    <a:srgbClr val="262626"/>
                  </a:solidFill>
                  <a:latin typeface="Arial"/>
                  <a:ea typeface="Arial"/>
                  <a:cs typeface="Arial"/>
                  <a:sym typeface="Arial"/>
                </a:rPr>
                <a:t>Shrink w, then add a weighted correction when mᵢ &lt; 1.</a:t>
              </a:r>
              <a:endParaRPr/>
            </a:p>
          </p:txBody>
        </p:sp>
        <p:sp>
          <p:nvSpPr>
            <p:cNvPr id="442" name="Google Shape;442;p54"/>
            <p:cNvSpPr txBox="1"/>
            <p:nvPr/>
          </p:nvSpPr>
          <p:spPr>
            <a:xfrm>
              <a:off x="562356" y="5987415"/>
              <a:ext cx="2316572" cy="3520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626262"/>
                  </a:solidFill>
                  <a:latin typeface="Arial"/>
                  <a:ea typeface="Arial"/>
                  <a:cs typeface="Arial"/>
                  <a:sym typeface="Arial"/>
                </a:rPr>
                <a:t>O(d) work per update</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55"/>
          <p:cNvSpPr txBox="1"/>
          <p:nvPr/>
        </p:nvSpPr>
        <p:spPr>
          <a:xfrm>
            <a:off x="367284" y="241935"/>
            <a:ext cx="4181222" cy="5280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700" b="1">
                <a:solidFill>
                  <a:srgbClr val="FFFFFF"/>
                </a:solidFill>
                <a:latin typeface="Arial"/>
                <a:ea typeface="Arial"/>
                <a:cs typeface="Arial"/>
                <a:sym typeface="Arial"/>
              </a:rPr>
              <a:t>Summary and handover</a:t>
            </a:r>
            <a:endParaRPr/>
          </a:p>
        </p:txBody>
      </p:sp>
      <p:grpSp>
        <p:nvGrpSpPr>
          <p:cNvPr id="448" name="Google Shape;448;p55"/>
          <p:cNvGrpSpPr/>
          <p:nvPr/>
        </p:nvGrpSpPr>
        <p:grpSpPr>
          <a:xfrm>
            <a:off x="393954" y="6499860"/>
            <a:ext cx="11280267" cy="234696"/>
            <a:chOff x="393954" y="6499860"/>
            <a:chExt cx="11280267" cy="234696"/>
          </a:xfrm>
        </p:grpSpPr>
        <p:sp>
          <p:nvSpPr>
            <p:cNvPr id="449" name="Google Shape;449;p55"/>
            <p:cNvSpPr txBox="1"/>
            <p:nvPr/>
          </p:nvSpPr>
          <p:spPr>
            <a:xfrm>
              <a:off x="393954" y="6499860"/>
              <a:ext cx="4668762" cy="23469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626262"/>
                  </a:solidFill>
                  <a:latin typeface="Arial"/>
                  <a:ea typeface="Arial"/>
                  <a:cs typeface="Arial"/>
                  <a:sym typeface="Arial"/>
                </a:rPr>
                <a:t>Research plan only: improvements must be tested, not assumed.</a:t>
              </a:r>
              <a:endParaRPr/>
            </a:p>
          </p:txBody>
        </p:sp>
        <p:sp>
          <p:nvSpPr>
            <p:cNvPr id="450" name="Google Shape;450;p55"/>
            <p:cNvSpPr/>
            <p:nvPr/>
          </p:nvSpPr>
          <p:spPr>
            <a:xfrm>
              <a:off x="11482292" y="6499860"/>
              <a:ext cx="191929" cy="234696"/>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200">
                  <a:solidFill>
                    <a:srgbClr val="626262"/>
                  </a:solidFill>
                  <a:latin typeface="Arial"/>
                  <a:ea typeface="Arial"/>
                  <a:cs typeface="Arial"/>
                  <a:sym typeface="Arial"/>
                </a:rPr>
                <a:t>7</a:t>
              </a:r>
              <a:endParaRPr/>
            </a:p>
          </p:txBody>
        </p:sp>
      </p:grpSp>
      <p:grpSp>
        <p:nvGrpSpPr>
          <p:cNvPr id="451" name="Google Shape;451;p55"/>
          <p:cNvGrpSpPr/>
          <p:nvPr/>
        </p:nvGrpSpPr>
        <p:grpSpPr>
          <a:xfrm>
            <a:off x="553212" y="1335405"/>
            <a:ext cx="8319652" cy="3152013"/>
            <a:chOff x="553212" y="1335405"/>
            <a:chExt cx="8319652" cy="3152013"/>
          </a:xfrm>
        </p:grpSpPr>
        <p:sp>
          <p:nvSpPr>
            <p:cNvPr id="452" name="Google Shape;452;p55"/>
            <p:cNvSpPr txBox="1"/>
            <p:nvPr/>
          </p:nvSpPr>
          <p:spPr>
            <a:xfrm>
              <a:off x="553212" y="1335405"/>
              <a:ext cx="306128" cy="7040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A02337"/>
                  </a:solidFill>
                  <a:latin typeface="Arial"/>
                  <a:ea typeface="Arial"/>
                  <a:cs typeface="Arial"/>
                  <a:sym typeface="Arial"/>
                </a:rPr>
                <a:t>1</a:t>
              </a:r>
              <a:endParaRPr/>
            </a:p>
          </p:txBody>
        </p:sp>
        <p:sp>
          <p:nvSpPr>
            <p:cNvPr id="453" name="Google Shape;453;p55"/>
            <p:cNvSpPr txBox="1"/>
            <p:nvPr/>
          </p:nvSpPr>
          <p:spPr>
            <a:xfrm>
              <a:off x="1244346" y="1420178"/>
              <a:ext cx="5970165" cy="4987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a:solidFill>
                    <a:srgbClr val="262626"/>
                  </a:solidFill>
                  <a:latin typeface="Arial"/>
                  <a:ea typeface="Arial"/>
                  <a:cs typeface="Arial"/>
                  <a:sym typeface="Arial"/>
                </a:rPr>
                <a:t>Costs define which mistakes matter.</a:t>
              </a:r>
              <a:endParaRPr/>
            </a:p>
          </p:txBody>
        </p:sp>
        <p:sp>
          <p:nvSpPr>
            <p:cNvPr id="454" name="Google Shape;454;p55"/>
            <p:cNvSpPr txBox="1"/>
            <p:nvPr/>
          </p:nvSpPr>
          <p:spPr>
            <a:xfrm>
              <a:off x="1246251" y="1898809"/>
              <a:ext cx="6947794"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a:solidFill>
                    <a:srgbClr val="626262"/>
                  </a:solidFill>
                  <a:latin typeface="Arial"/>
                  <a:ea typeface="Arial"/>
                  <a:cs typeface="Arial"/>
                  <a:sym typeface="Arial"/>
                </a:rPr>
                <a:t>Convert the cost ratio into class-dependent penalties.</a:t>
              </a:r>
              <a:endParaRPr/>
            </a:p>
          </p:txBody>
        </p:sp>
        <p:sp>
          <p:nvSpPr>
            <p:cNvPr id="455" name="Google Shape;455;p55"/>
            <p:cNvSpPr txBox="1"/>
            <p:nvPr/>
          </p:nvSpPr>
          <p:spPr>
            <a:xfrm>
              <a:off x="553212" y="2564130"/>
              <a:ext cx="306128" cy="7040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A02337"/>
                  </a:solidFill>
                  <a:latin typeface="Arial"/>
                  <a:ea typeface="Arial"/>
                  <a:cs typeface="Arial"/>
                  <a:sym typeface="Arial"/>
                </a:rPr>
                <a:t>2</a:t>
              </a:r>
              <a:endParaRPr/>
            </a:p>
          </p:txBody>
        </p:sp>
        <p:sp>
          <p:nvSpPr>
            <p:cNvPr id="456" name="Google Shape;456;p55"/>
            <p:cNvSpPr txBox="1"/>
            <p:nvPr/>
          </p:nvSpPr>
          <p:spPr>
            <a:xfrm>
              <a:off x="1244346" y="2648902"/>
              <a:ext cx="7628518" cy="4987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a:solidFill>
                    <a:srgbClr val="262626"/>
                  </a:solidFill>
                  <a:latin typeface="Arial"/>
                  <a:ea typeface="Arial"/>
                  <a:cs typeface="Arial"/>
                  <a:sym typeface="Arial"/>
                </a:rPr>
                <a:t>One convex SVM, several solver perspectives.</a:t>
              </a:r>
              <a:endParaRPr/>
            </a:p>
          </p:txBody>
        </p:sp>
        <p:sp>
          <p:nvSpPr>
            <p:cNvPr id="457" name="Google Shape;457;p55"/>
            <p:cNvSpPr txBox="1"/>
            <p:nvPr/>
          </p:nvSpPr>
          <p:spPr>
            <a:xfrm>
              <a:off x="1246251" y="3127534"/>
              <a:ext cx="6358190" cy="42538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80">
                  <a:solidFill>
                    <a:srgbClr val="626262"/>
                  </a:solidFill>
                  <a:latin typeface="Arial"/>
                  <a:ea typeface="Arial"/>
                  <a:cs typeface="Arial"/>
                  <a:sym typeface="Arial"/>
                </a:rPr>
                <a:t>Primal, dual, and KKT describe the same model.</a:t>
              </a:r>
              <a:endParaRPr/>
            </a:p>
          </p:txBody>
        </p:sp>
        <p:sp>
          <p:nvSpPr>
            <p:cNvPr id="458" name="Google Shape;458;p55"/>
            <p:cNvSpPr txBox="1"/>
            <p:nvPr/>
          </p:nvSpPr>
          <p:spPr>
            <a:xfrm>
              <a:off x="553212" y="3783330"/>
              <a:ext cx="306128" cy="70408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a:solidFill>
                    <a:srgbClr val="A02337"/>
                  </a:solidFill>
                  <a:latin typeface="Arial"/>
                  <a:ea typeface="Arial"/>
                  <a:cs typeface="Arial"/>
                  <a:sym typeface="Arial"/>
                </a:rPr>
                <a:t>3</a:t>
              </a:r>
              <a:endParaRPr/>
            </a:p>
          </p:txBody>
        </p:sp>
        <p:sp>
          <p:nvSpPr>
            <p:cNvPr id="459" name="Google Shape;459;p55"/>
            <p:cNvSpPr txBox="1"/>
            <p:nvPr/>
          </p:nvSpPr>
          <p:spPr>
            <a:xfrm>
              <a:off x="1244346" y="3868102"/>
              <a:ext cx="7001644" cy="49872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a:solidFill>
                    <a:srgbClr val="262626"/>
                  </a:solidFill>
                  <a:latin typeface="Arial"/>
                  <a:ea typeface="Arial"/>
                  <a:cs typeface="Arial"/>
                  <a:sym typeface="Arial"/>
                </a:rPr>
                <a:t>Pegasos makes cheap stochastic updates.</a:t>
              </a:r>
              <a:endParaRPr/>
            </a:p>
          </p:txBody>
        </p:sp>
      </p:grpSp>
      <p:sp>
        <p:nvSpPr>
          <p:cNvPr id="460" name="Google Shape;460;p55"/>
          <p:cNvSpPr txBox="1"/>
          <p:nvPr/>
        </p:nvSpPr>
        <p:spPr>
          <a:xfrm>
            <a:off x="558546" y="5687378"/>
            <a:ext cx="9248100" cy="392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550" b="1">
                <a:solidFill>
                  <a:srgbClr val="A02337"/>
                </a:solidFill>
                <a:latin typeface="Arial"/>
                <a:ea typeface="Arial"/>
                <a:cs typeface="Arial"/>
                <a:sym typeface="Arial"/>
              </a:rPr>
              <a:t>Next: SMO solves the dual with cost-dependent bounds.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56"/>
          <p:cNvSpPr txBox="1">
            <a:spLocks noGrp="1"/>
          </p:cNvSpPr>
          <p:nvPr>
            <p:ph type="ctrTitle"/>
          </p:nvPr>
        </p:nvSpPr>
        <p:spPr>
          <a:xfrm>
            <a:off x="334974" y="1949375"/>
            <a:ext cx="11103300" cy="1497900"/>
          </a:xfrm>
          <a:prstGeom prst="rect">
            <a:avLst/>
          </a:prstGeom>
          <a:noFill/>
          <a:ln>
            <a:noFill/>
          </a:ln>
        </p:spPr>
        <p:txBody>
          <a:bodyPr spcFirstLastPara="1" wrap="square" lIns="91425" tIns="45700" rIns="91425" bIns="45700" anchor="b" anchorCtr="0">
            <a:noAutofit/>
          </a:bodyPr>
          <a:lstStyle/>
          <a:p>
            <a:pPr marL="0" marR="0" lvl="0" indent="0" algn="l" rtl="0">
              <a:lnSpc>
                <a:spcPct val="106000"/>
              </a:lnSpc>
              <a:spcBef>
                <a:spcPts val="0"/>
              </a:spcBef>
              <a:spcAft>
                <a:spcPts val="0"/>
              </a:spcAft>
              <a:buClr>
                <a:srgbClr val="FFFFFF"/>
              </a:buClr>
              <a:buSzPts val="4400"/>
              <a:buFont typeface="Calibri"/>
              <a:buNone/>
            </a:pPr>
            <a:r>
              <a:rPr lang="en-US" sz="4400">
                <a:solidFill>
                  <a:srgbClr val="FFFFFF"/>
                </a:solidFill>
              </a:rPr>
              <a:t>Sequential Minimal Optimization（SMO）</a:t>
            </a:r>
            <a:endParaRPr sz="4400" b="0" i="0" u="none" strike="noStrike" cap="none">
              <a:solidFill>
                <a:srgbClr val="FFFFFF"/>
              </a:solidFill>
              <a:latin typeface="Calibri"/>
              <a:ea typeface="Calibri"/>
              <a:cs typeface="Calibri"/>
              <a:sym typeface="Calibri"/>
            </a:endParaRPr>
          </a:p>
        </p:txBody>
      </p:sp>
      <p:sp>
        <p:nvSpPr>
          <p:cNvPr id="467" name="Google Shape;467;p56"/>
          <p:cNvSpPr txBox="1">
            <a:spLocks noGrp="1"/>
          </p:cNvSpPr>
          <p:nvPr>
            <p:ph type="subTitle" idx="1"/>
          </p:nvPr>
        </p:nvSpPr>
        <p:spPr>
          <a:xfrm>
            <a:off x="334963" y="3447257"/>
            <a:ext cx="3779700" cy="2207400"/>
          </a:xfrm>
          <a:prstGeom prst="rect">
            <a:avLst/>
          </a:prstGeom>
          <a:noFill/>
          <a:ln>
            <a:noFill/>
          </a:ln>
        </p:spPr>
        <p:txBody>
          <a:bodyPr spcFirstLastPara="1" wrap="square" lIns="91425" tIns="45700" rIns="91425" bIns="45700" anchor="t" anchorCtr="0">
            <a:noAutofit/>
          </a:bodyPr>
          <a:lstStyle/>
          <a:p>
            <a:pPr marL="0" marR="0" lvl="0" indent="0" algn="l" rtl="0">
              <a:lnSpc>
                <a:spcPct val="116000"/>
              </a:lnSpc>
              <a:spcBef>
                <a:spcPts val="0"/>
              </a:spcBef>
              <a:spcAft>
                <a:spcPts val="0"/>
              </a:spcAft>
              <a:buClr>
                <a:srgbClr val="FFFFFF"/>
              </a:buClr>
              <a:buSzPts val="2400"/>
              <a:buFont typeface="Arial"/>
              <a:buNone/>
            </a:pPr>
            <a:r>
              <a:rPr lang="en-US" sz="2400" b="0" i="0" u="none" strike="noStrike" cap="none">
                <a:solidFill>
                  <a:srgbClr val="FFFFFF"/>
                </a:solidFill>
                <a:latin typeface="Calibri"/>
                <a:ea typeface="Calibri"/>
                <a:cs typeface="Calibri"/>
                <a:sym typeface="Calibri"/>
              </a:rPr>
              <a:t>PART II</a:t>
            </a:r>
            <a:endParaRPr sz="2400" b="0" i="0" u="none" strike="noStrike" cap="none">
              <a:solidFill>
                <a:srgbClr val="FFFFFF"/>
              </a:solidFill>
              <a:latin typeface="Calibri"/>
              <a:ea typeface="Calibri"/>
              <a:cs typeface="Calibri"/>
              <a:sym typeface="Calibri"/>
            </a:endParaRPr>
          </a:p>
          <a:p>
            <a:pPr marL="0" marR="0" lvl="0" indent="0" algn="l" rtl="0">
              <a:lnSpc>
                <a:spcPct val="116000"/>
              </a:lnSpc>
              <a:spcBef>
                <a:spcPts val="480"/>
              </a:spcBef>
              <a:spcAft>
                <a:spcPts val="0"/>
              </a:spcAft>
              <a:buClr>
                <a:srgbClr val="FFFFFF"/>
              </a:buClr>
              <a:buSzPts val="2400"/>
              <a:buFont typeface="Arial"/>
              <a:buNone/>
            </a:pPr>
            <a:r>
              <a:rPr lang="en-US" sz="2400" b="0" i="0" u="none" strike="noStrike" cap="none">
                <a:solidFill>
                  <a:srgbClr val="FFFFFF"/>
                </a:solidFill>
                <a:latin typeface="Calibri"/>
                <a:ea typeface="Calibri"/>
                <a:cs typeface="Calibri"/>
                <a:sym typeface="Calibri"/>
              </a:rPr>
              <a:t>OPTIMIZATION METHODS</a:t>
            </a:r>
            <a:endParaRPr sz="2400" b="0" i="0" u="none" strike="noStrike" cap="none">
              <a:solidFill>
                <a:srgbClr val="FFFFF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7"/>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SMO trains an SVM classifier</a:t>
            </a:r>
            <a:endParaRPr/>
          </a:p>
        </p:txBody>
      </p:sp>
      <p:sp>
        <p:nvSpPr>
          <p:cNvPr id="474" name="Google Shape;474;p57"/>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01</a:t>
            </a:r>
            <a:endParaRPr/>
          </a:p>
        </p:txBody>
      </p:sp>
      <p:sp>
        <p:nvSpPr>
          <p:cNvPr id="475" name="Google Shape;475;p57"/>
          <p:cNvSpPr/>
          <p:nvPr/>
        </p:nvSpPr>
        <p:spPr>
          <a:xfrm>
            <a:off x="571500" y="1057275"/>
            <a:ext cx="11049000" cy="419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250"/>
              <a:buFont typeface="Arial"/>
              <a:buNone/>
            </a:pPr>
            <a:r>
              <a:rPr lang="en-US" sz="2250" b="0">
                <a:solidFill>
                  <a:srgbClr val="111111"/>
                </a:solidFill>
                <a:latin typeface="Arial"/>
                <a:ea typeface="Arial"/>
                <a:cs typeface="Arial"/>
                <a:sym typeface="Arial"/>
              </a:rPr>
              <a:t>Part II: solving the same cost-sensitive SVM</a:t>
            </a:r>
            <a:endParaRPr/>
          </a:p>
        </p:txBody>
      </p:sp>
      <p:sp>
        <p:nvSpPr>
          <p:cNvPr id="476" name="Google Shape;476;p57"/>
          <p:cNvSpPr/>
          <p:nvPr/>
        </p:nvSpPr>
        <p:spPr>
          <a:xfrm>
            <a:off x="1619250" y="4381500"/>
            <a:ext cx="190500" cy="1905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77" name="Google Shape;477;p57"/>
          <p:cNvSpPr/>
          <p:nvPr/>
        </p:nvSpPr>
        <p:spPr>
          <a:xfrm>
            <a:off x="2095500" y="3810000"/>
            <a:ext cx="190500" cy="1905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78" name="Google Shape;478;p57"/>
          <p:cNvSpPr/>
          <p:nvPr/>
        </p:nvSpPr>
        <p:spPr>
          <a:xfrm>
            <a:off x="1809750" y="3190875"/>
            <a:ext cx="190500" cy="1905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79" name="Google Shape;479;p57"/>
          <p:cNvSpPr/>
          <p:nvPr/>
        </p:nvSpPr>
        <p:spPr>
          <a:xfrm>
            <a:off x="2905125" y="4048125"/>
            <a:ext cx="190500" cy="1905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0" name="Google Shape;480;p57"/>
          <p:cNvSpPr/>
          <p:nvPr/>
        </p:nvSpPr>
        <p:spPr>
          <a:xfrm>
            <a:off x="2667000" y="4762500"/>
            <a:ext cx="190500" cy="1905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1" name="Google Shape;481;p57"/>
          <p:cNvSpPr/>
          <p:nvPr/>
        </p:nvSpPr>
        <p:spPr>
          <a:xfrm>
            <a:off x="5048250" y="2095500"/>
            <a:ext cx="190500" cy="1905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2" name="Google Shape;482;p57"/>
          <p:cNvSpPr/>
          <p:nvPr/>
        </p:nvSpPr>
        <p:spPr>
          <a:xfrm>
            <a:off x="5429250" y="2762250"/>
            <a:ext cx="190500" cy="1905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3" name="Google Shape;483;p57"/>
          <p:cNvSpPr/>
          <p:nvPr/>
        </p:nvSpPr>
        <p:spPr>
          <a:xfrm>
            <a:off x="4667250" y="3238500"/>
            <a:ext cx="190500" cy="1905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4" name="Google Shape;484;p57"/>
          <p:cNvSpPr/>
          <p:nvPr/>
        </p:nvSpPr>
        <p:spPr>
          <a:xfrm>
            <a:off x="5953125" y="2476500"/>
            <a:ext cx="190500" cy="1905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485" name="Google Shape;485;p57"/>
          <p:cNvSpPr/>
          <p:nvPr/>
        </p:nvSpPr>
        <p:spPr>
          <a:xfrm>
            <a:off x="5667375" y="3619500"/>
            <a:ext cx="190500" cy="1905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486" name="Google Shape;486;p57"/>
          <p:cNvCxnSpPr/>
          <p:nvPr/>
        </p:nvCxnSpPr>
        <p:spPr>
          <a:xfrm rot="10800000" flipH="1">
            <a:off x="3286125" y="1724025"/>
            <a:ext cx="981075" cy="3752850"/>
          </a:xfrm>
          <a:prstGeom prst="straightConnector1">
            <a:avLst/>
          </a:prstGeom>
          <a:noFill/>
          <a:ln w="28575" cap="flat" cmpd="sng">
            <a:solidFill>
              <a:srgbClr val="111111"/>
            </a:solidFill>
            <a:prstDash val="solid"/>
            <a:round/>
            <a:headEnd type="none" w="sm" len="sm"/>
            <a:tailEnd type="none" w="sm" len="sm"/>
          </a:ln>
        </p:spPr>
      </p:cxnSp>
      <p:cxnSp>
        <p:nvCxnSpPr>
          <p:cNvPr id="487" name="Google Shape;487;p57"/>
          <p:cNvCxnSpPr/>
          <p:nvPr/>
        </p:nvCxnSpPr>
        <p:spPr>
          <a:xfrm rot="10800000" flipH="1">
            <a:off x="2809875" y="1724025"/>
            <a:ext cx="981075" cy="3752850"/>
          </a:xfrm>
          <a:prstGeom prst="straightConnector1">
            <a:avLst/>
          </a:prstGeom>
          <a:noFill/>
          <a:ln w="14275" cap="flat" cmpd="sng">
            <a:solidFill>
              <a:srgbClr val="8A9096"/>
            </a:solidFill>
            <a:prstDash val="dash"/>
            <a:round/>
            <a:headEnd type="none" w="sm" len="sm"/>
            <a:tailEnd type="none" w="sm" len="sm"/>
          </a:ln>
        </p:spPr>
      </p:cxnSp>
      <p:cxnSp>
        <p:nvCxnSpPr>
          <p:cNvPr id="488" name="Google Shape;488;p57"/>
          <p:cNvCxnSpPr/>
          <p:nvPr/>
        </p:nvCxnSpPr>
        <p:spPr>
          <a:xfrm rot="10800000" flipH="1">
            <a:off x="3762375" y="1724025"/>
            <a:ext cx="981075" cy="3752850"/>
          </a:xfrm>
          <a:prstGeom prst="straightConnector1">
            <a:avLst/>
          </a:prstGeom>
          <a:noFill/>
          <a:ln w="14275" cap="flat" cmpd="sng">
            <a:solidFill>
              <a:srgbClr val="8A9096"/>
            </a:solidFill>
            <a:prstDash val="dash"/>
            <a:round/>
            <a:headEnd type="none" w="sm" len="sm"/>
            <a:tailEnd type="none" w="sm" len="sm"/>
          </a:ln>
        </p:spPr>
      </p:cxnSp>
      <p:sp>
        <p:nvSpPr>
          <p:cNvPr id="489" name="Google Shape;489;p57"/>
          <p:cNvSpPr/>
          <p:nvPr/>
        </p:nvSpPr>
        <p:spPr>
          <a:xfrm>
            <a:off x="857250" y="5429250"/>
            <a:ext cx="2286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Normal</a:t>
            </a:r>
            <a:endParaRPr/>
          </a:p>
        </p:txBody>
      </p:sp>
      <p:sp>
        <p:nvSpPr>
          <p:cNvPr id="490" name="Google Shape;490;p57"/>
          <p:cNvSpPr/>
          <p:nvPr/>
        </p:nvSpPr>
        <p:spPr>
          <a:xfrm>
            <a:off x="4857750" y="1704975"/>
            <a:ext cx="2286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100"/>
              <a:buFont typeface="Arial"/>
              <a:buNone/>
            </a:pPr>
            <a:r>
              <a:rPr lang="en-US" sz="2100" b="1">
                <a:solidFill>
                  <a:srgbClr val="A02337"/>
                </a:solidFill>
                <a:latin typeface="Arial"/>
                <a:ea typeface="Arial"/>
                <a:cs typeface="Arial"/>
                <a:sym typeface="Arial"/>
              </a:rPr>
              <a:t>Fraud</a:t>
            </a:r>
            <a:endParaRPr/>
          </a:p>
        </p:txBody>
      </p:sp>
      <p:sp>
        <p:nvSpPr>
          <p:cNvPr id="491" name="Google Shape;491;p57"/>
          <p:cNvSpPr/>
          <p:nvPr/>
        </p:nvSpPr>
        <p:spPr>
          <a:xfrm>
            <a:off x="7620000" y="2076450"/>
            <a:ext cx="4000500" cy="9239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325"/>
              <a:buFont typeface="Arial"/>
              <a:buNone/>
            </a:pPr>
            <a:r>
              <a:rPr lang="en-US" sz="2325" b="1">
                <a:solidFill>
                  <a:srgbClr val="111111"/>
                </a:solidFill>
                <a:latin typeface="Arial"/>
                <a:ea typeface="Arial"/>
                <a:cs typeface="Arial"/>
                <a:sym typeface="Arial"/>
              </a:rPr>
              <a:t>Part I sets the costs</a:t>
            </a:r>
            <a:endParaRPr/>
          </a:p>
          <a:p>
            <a:pPr marL="0" marR="0" lvl="0" indent="0" algn="l" rtl="0">
              <a:lnSpc>
                <a:spcPct val="108000"/>
              </a:lnSpc>
              <a:spcBef>
                <a:spcPts val="0"/>
              </a:spcBef>
              <a:spcAft>
                <a:spcPts val="0"/>
              </a:spcAft>
              <a:buClr>
                <a:srgbClr val="111111"/>
              </a:buClr>
              <a:buSzPts val="2325"/>
              <a:buFont typeface="Arial"/>
              <a:buNone/>
            </a:pPr>
            <a:r>
              <a:rPr lang="en-US" sz="2325" b="1">
                <a:solidFill>
                  <a:srgbClr val="111111"/>
                </a:solidFill>
                <a:latin typeface="Arial"/>
                <a:ea typeface="Arial"/>
                <a:cs typeface="Arial"/>
                <a:sym typeface="Arial"/>
              </a:rPr>
              <a:t>and SVM objective.</a:t>
            </a:r>
            <a:endParaRPr/>
          </a:p>
        </p:txBody>
      </p:sp>
      <p:sp>
        <p:nvSpPr>
          <p:cNvPr id="492" name="Google Shape;492;p57"/>
          <p:cNvSpPr/>
          <p:nvPr/>
        </p:nvSpPr>
        <p:spPr>
          <a:xfrm>
            <a:off x="7620000" y="3571875"/>
            <a:ext cx="4000500" cy="9239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475"/>
              <a:buFont typeface="Arial"/>
              <a:buNone/>
            </a:pPr>
            <a:r>
              <a:rPr lang="en-US" sz="2475" b="1">
                <a:solidFill>
                  <a:srgbClr val="A02337"/>
                </a:solidFill>
                <a:latin typeface="Arial"/>
                <a:ea typeface="Arial"/>
                <a:cs typeface="Arial"/>
                <a:sym typeface="Arial"/>
              </a:rPr>
              <a:t>Part II solves it</a:t>
            </a:r>
            <a:endParaRPr/>
          </a:p>
          <a:p>
            <a:pPr marL="0" marR="0" lvl="0" indent="0" algn="l" rtl="0">
              <a:lnSpc>
                <a:spcPct val="108000"/>
              </a:lnSpc>
              <a:spcBef>
                <a:spcPts val="0"/>
              </a:spcBef>
              <a:spcAft>
                <a:spcPts val="0"/>
              </a:spcAft>
              <a:buClr>
                <a:srgbClr val="A02337"/>
              </a:buClr>
              <a:buSzPts val="2475"/>
              <a:buFont typeface="Arial"/>
              <a:buNone/>
            </a:pPr>
            <a:r>
              <a:rPr lang="en-US" sz="2475" b="1">
                <a:solidFill>
                  <a:srgbClr val="A02337"/>
                </a:solidFill>
                <a:latin typeface="Arial"/>
                <a:ea typeface="Arial"/>
                <a:cs typeface="Arial"/>
                <a:sym typeface="Arial"/>
              </a:rPr>
              <a:t>with SMO pair updates.</a:t>
            </a:r>
            <a:endParaRPr/>
          </a:p>
        </p:txBody>
      </p:sp>
      <p:cxnSp>
        <p:nvCxnSpPr>
          <p:cNvPr id="493" name="Google Shape;493;p57"/>
          <p:cNvCxnSpPr/>
          <p:nvPr/>
        </p:nvCxnSpPr>
        <p:spPr>
          <a:xfrm>
            <a:off x="571500" y="5972175"/>
            <a:ext cx="11049000" cy="95"/>
          </a:xfrm>
          <a:prstGeom prst="straightConnector1">
            <a:avLst/>
          </a:prstGeom>
          <a:noFill/>
          <a:ln w="9525" cap="flat" cmpd="sng">
            <a:solidFill>
              <a:srgbClr val="D8DDE2"/>
            </a:solidFill>
            <a:prstDash val="solid"/>
            <a:round/>
            <a:headEnd type="none" w="sm" len="sm"/>
            <a:tailEnd type="none" w="sm" len="sm"/>
          </a:ln>
        </p:spPr>
      </p:cxnSp>
      <p:sp>
        <p:nvSpPr>
          <p:cNvPr id="494" name="Google Shape;494;p57"/>
          <p:cNvSpPr/>
          <p:nvPr/>
        </p:nvSpPr>
        <p:spPr>
          <a:xfrm>
            <a:off x="571500" y="6153150"/>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175"/>
              <a:buFont typeface="Arial"/>
              <a:buNone/>
            </a:pPr>
            <a:r>
              <a:rPr lang="en-US" sz="2175" b="0">
                <a:solidFill>
                  <a:srgbClr val="215C9D"/>
                </a:solidFill>
                <a:latin typeface="Arial"/>
                <a:ea typeface="Arial"/>
                <a:cs typeface="Arial"/>
                <a:sym typeface="Arial"/>
              </a:rPr>
              <a:t>SMO = Sequential Minimal Optimization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8"/>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The SMO training loop</a:t>
            </a:r>
            <a:endParaRPr/>
          </a:p>
        </p:txBody>
      </p:sp>
      <p:sp>
        <p:nvSpPr>
          <p:cNvPr id="501" name="Google Shape;501;p58"/>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02</a:t>
            </a:r>
            <a:endParaRPr/>
          </a:p>
        </p:txBody>
      </p:sp>
      <p:sp>
        <p:nvSpPr>
          <p:cNvPr id="502" name="Google Shape;502;p58"/>
          <p:cNvSpPr/>
          <p:nvPr/>
        </p:nvSpPr>
        <p:spPr>
          <a:xfrm>
            <a:off x="571500" y="1057275"/>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250"/>
              <a:buFont typeface="Arial"/>
              <a:buNone/>
            </a:pPr>
            <a:r>
              <a:rPr lang="en-US" sz="2250" b="0">
                <a:solidFill>
                  <a:srgbClr val="111111"/>
                </a:solidFill>
                <a:latin typeface="Arial"/>
                <a:ea typeface="Arial"/>
                <a:cs typeface="Arial"/>
                <a:sym typeface="Arial"/>
              </a:rPr>
              <a:t>Prepare once, then repeat a small legal update.</a:t>
            </a:r>
            <a:endParaRPr/>
          </a:p>
        </p:txBody>
      </p:sp>
      <p:sp>
        <p:nvSpPr>
          <p:cNvPr id="503" name="Google Shape;503;p58"/>
          <p:cNvSpPr/>
          <p:nvPr/>
        </p:nvSpPr>
        <p:spPr>
          <a:xfrm>
            <a:off x="571500" y="1809750"/>
            <a:ext cx="257175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04" name="Google Shape;504;p58"/>
          <p:cNvSpPr/>
          <p:nvPr/>
        </p:nvSpPr>
        <p:spPr>
          <a:xfrm>
            <a:off x="685800" y="1885950"/>
            <a:ext cx="234315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Prepare the problem</a:t>
            </a:r>
            <a:endParaRPr/>
          </a:p>
        </p:txBody>
      </p:sp>
      <p:sp>
        <p:nvSpPr>
          <p:cNvPr id="505" name="Google Shape;505;p58"/>
          <p:cNvSpPr/>
          <p:nvPr/>
        </p:nvSpPr>
        <p:spPr>
          <a:xfrm>
            <a:off x="4476750" y="1809750"/>
            <a:ext cx="266700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06" name="Google Shape;506;p58"/>
          <p:cNvSpPr/>
          <p:nvPr/>
        </p:nvSpPr>
        <p:spPr>
          <a:xfrm>
            <a:off x="4591050" y="1885950"/>
            <a:ext cx="243840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Choose a pair</a:t>
            </a:r>
            <a:endParaRPr/>
          </a:p>
        </p:txBody>
      </p:sp>
      <p:sp>
        <p:nvSpPr>
          <p:cNvPr id="507" name="Google Shape;507;p58"/>
          <p:cNvSpPr/>
          <p:nvPr/>
        </p:nvSpPr>
        <p:spPr>
          <a:xfrm>
            <a:off x="8858250" y="1809750"/>
            <a:ext cx="276225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08" name="Google Shape;508;p58"/>
          <p:cNvSpPr/>
          <p:nvPr/>
        </p:nvSpPr>
        <p:spPr>
          <a:xfrm>
            <a:off x="8972550" y="1885950"/>
            <a:ext cx="253365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Find legal bounds</a:t>
            </a:r>
            <a:endParaRPr/>
          </a:p>
        </p:txBody>
      </p:sp>
      <p:cxnSp>
        <p:nvCxnSpPr>
          <p:cNvPr id="509" name="Google Shape;509;p58"/>
          <p:cNvCxnSpPr/>
          <p:nvPr/>
        </p:nvCxnSpPr>
        <p:spPr>
          <a:xfrm>
            <a:off x="3143250" y="2171700"/>
            <a:ext cx="1333500" cy="95"/>
          </a:xfrm>
          <a:prstGeom prst="straightConnector1">
            <a:avLst/>
          </a:prstGeom>
          <a:noFill/>
          <a:ln w="20950" cap="flat" cmpd="sng">
            <a:solidFill>
              <a:srgbClr val="215C9D"/>
            </a:solidFill>
            <a:prstDash val="solid"/>
            <a:round/>
            <a:headEnd type="none" w="sm" len="sm"/>
            <a:tailEnd type="none" w="sm" len="sm"/>
          </a:ln>
        </p:spPr>
      </p:cxnSp>
      <p:sp>
        <p:nvSpPr>
          <p:cNvPr id="510" name="Google Shape;510;p58"/>
          <p:cNvSpPr/>
          <p:nvPr/>
        </p:nvSpPr>
        <p:spPr>
          <a:xfrm>
            <a:off x="4391025" y="2133124"/>
            <a:ext cx="85725" cy="77153"/>
          </a:xfrm>
          <a:custGeom>
            <a:avLst/>
            <a:gdLst/>
            <a:ahLst/>
            <a:cxnLst/>
            <a:rect l="l" t="t" r="r" b="b"/>
            <a:pathLst>
              <a:path w="85725" h="77153" extrusionOk="0">
                <a:moveTo>
                  <a:pt x="85725" y="38576"/>
                </a:moveTo>
                <a:lnTo>
                  <a:pt x="0" y="0"/>
                </a:lnTo>
                <a:lnTo>
                  <a:pt x="0" y="77153"/>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11" name="Google Shape;511;p58"/>
          <p:cNvCxnSpPr/>
          <p:nvPr/>
        </p:nvCxnSpPr>
        <p:spPr>
          <a:xfrm>
            <a:off x="7143750" y="2171700"/>
            <a:ext cx="1714500" cy="95"/>
          </a:xfrm>
          <a:prstGeom prst="straightConnector1">
            <a:avLst/>
          </a:prstGeom>
          <a:noFill/>
          <a:ln w="20950" cap="flat" cmpd="sng">
            <a:solidFill>
              <a:srgbClr val="215C9D"/>
            </a:solidFill>
            <a:prstDash val="solid"/>
            <a:round/>
            <a:headEnd type="none" w="sm" len="sm"/>
            <a:tailEnd type="none" w="sm" len="sm"/>
          </a:ln>
        </p:spPr>
      </p:cxnSp>
      <p:sp>
        <p:nvSpPr>
          <p:cNvPr id="512" name="Google Shape;512;p58"/>
          <p:cNvSpPr/>
          <p:nvPr/>
        </p:nvSpPr>
        <p:spPr>
          <a:xfrm>
            <a:off x="8772525" y="2133124"/>
            <a:ext cx="85725" cy="77153"/>
          </a:xfrm>
          <a:custGeom>
            <a:avLst/>
            <a:gdLst/>
            <a:ahLst/>
            <a:cxnLst/>
            <a:rect l="l" t="t" r="r" b="b"/>
            <a:pathLst>
              <a:path w="85725" h="77153" extrusionOk="0">
                <a:moveTo>
                  <a:pt x="85725" y="38576"/>
                </a:moveTo>
                <a:lnTo>
                  <a:pt x="0" y="0"/>
                </a:lnTo>
                <a:lnTo>
                  <a:pt x="0" y="77153"/>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13" name="Google Shape;513;p58"/>
          <p:cNvCxnSpPr/>
          <p:nvPr/>
        </p:nvCxnSpPr>
        <p:spPr>
          <a:xfrm>
            <a:off x="10239375" y="2533650"/>
            <a:ext cx="95" cy="1143000"/>
          </a:xfrm>
          <a:prstGeom prst="straightConnector1">
            <a:avLst/>
          </a:prstGeom>
          <a:noFill/>
          <a:ln w="20950" cap="flat" cmpd="sng">
            <a:solidFill>
              <a:srgbClr val="215C9D"/>
            </a:solidFill>
            <a:prstDash val="solid"/>
            <a:round/>
            <a:headEnd type="none" w="sm" len="sm"/>
            <a:tailEnd type="none" w="sm" len="sm"/>
          </a:ln>
        </p:spPr>
      </p:cxnSp>
      <p:sp>
        <p:nvSpPr>
          <p:cNvPr id="514" name="Google Shape;514;p58"/>
          <p:cNvSpPr/>
          <p:nvPr/>
        </p:nvSpPr>
        <p:spPr>
          <a:xfrm>
            <a:off x="10200799" y="3590925"/>
            <a:ext cx="77152" cy="85725"/>
          </a:xfrm>
          <a:custGeom>
            <a:avLst/>
            <a:gdLst/>
            <a:ahLst/>
            <a:cxnLst/>
            <a:rect l="l" t="t" r="r" b="b"/>
            <a:pathLst>
              <a:path w="77152" h="85725" extrusionOk="0">
                <a:moveTo>
                  <a:pt x="38576" y="85725"/>
                </a:moveTo>
                <a:lnTo>
                  <a:pt x="77152" y="0"/>
                </a:lnTo>
                <a:lnTo>
                  <a:pt x="0" y="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5" name="Google Shape;515;p58"/>
          <p:cNvSpPr/>
          <p:nvPr/>
        </p:nvSpPr>
        <p:spPr>
          <a:xfrm>
            <a:off x="8858250" y="3676650"/>
            <a:ext cx="276225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6" name="Google Shape;516;p58"/>
          <p:cNvSpPr/>
          <p:nvPr/>
        </p:nvSpPr>
        <p:spPr>
          <a:xfrm>
            <a:off x="8972550" y="3752850"/>
            <a:ext cx="253365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Find the best step</a:t>
            </a:r>
            <a:endParaRPr/>
          </a:p>
        </p:txBody>
      </p:sp>
      <p:sp>
        <p:nvSpPr>
          <p:cNvPr id="517" name="Google Shape;517;p58"/>
          <p:cNvSpPr/>
          <p:nvPr/>
        </p:nvSpPr>
        <p:spPr>
          <a:xfrm>
            <a:off x="4476750" y="3676650"/>
            <a:ext cx="266700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18" name="Google Shape;518;p58"/>
          <p:cNvSpPr/>
          <p:nvPr/>
        </p:nvSpPr>
        <p:spPr>
          <a:xfrm>
            <a:off x="4591050" y="3752850"/>
            <a:ext cx="243840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Update the model</a:t>
            </a:r>
            <a:endParaRPr/>
          </a:p>
        </p:txBody>
      </p:sp>
      <p:sp>
        <p:nvSpPr>
          <p:cNvPr id="519" name="Google Shape;519;p58"/>
          <p:cNvSpPr/>
          <p:nvPr/>
        </p:nvSpPr>
        <p:spPr>
          <a:xfrm>
            <a:off x="571500" y="3676650"/>
            <a:ext cx="257175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20" name="Google Shape;520;p58"/>
          <p:cNvSpPr/>
          <p:nvPr/>
        </p:nvSpPr>
        <p:spPr>
          <a:xfrm>
            <a:off x="685800" y="3752850"/>
            <a:ext cx="234315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Check all samples</a:t>
            </a:r>
            <a:endParaRPr/>
          </a:p>
        </p:txBody>
      </p:sp>
      <p:cxnSp>
        <p:nvCxnSpPr>
          <p:cNvPr id="521" name="Google Shape;521;p58"/>
          <p:cNvCxnSpPr/>
          <p:nvPr/>
        </p:nvCxnSpPr>
        <p:spPr>
          <a:xfrm flipH="1">
            <a:off x="7143750" y="4038600"/>
            <a:ext cx="1714500" cy="95"/>
          </a:xfrm>
          <a:prstGeom prst="straightConnector1">
            <a:avLst/>
          </a:prstGeom>
          <a:noFill/>
          <a:ln w="20950" cap="flat" cmpd="sng">
            <a:solidFill>
              <a:srgbClr val="215C9D"/>
            </a:solidFill>
            <a:prstDash val="solid"/>
            <a:round/>
            <a:headEnd type="none" w="sm" len="sm"/>
            <a:tailEnd type="none" w="sm" len="sm"/>
          </a:ln>
        </p:spPr>
      </p:cxnSp>
      <p:sp>
        <p:nvSpPr>
          <p:cNvPr id="522" name="Google Shape;522;p58"/>
          <p:cNvSpPr/>
          <p:nvPr/>
        </p:nvSpPr>
        <p:spPr>
          <a:xfrm>
            <a:off x="7143750" y="4000024"/>
            <a:ext cx="85725" cy="77153"/>
          </a:xfrm>
          <a:custGeom>
            <a:avLst/>
            <a:gdLst/>
            <a:ahLst/>
            <a:cxnLst/>
            <a:rect l="l" t="t" r="r" b="b"/>
            <a:pathLst>
              <a:path w="85725" h="77153" extrusionOk="0">
                <a:moveTo>
                  <a:pt x="0" y="38576"/>
                </a:moveTo>
                <a:lnTo>
                  <a:pt x="85725" y="77153"/>
                </a:lnTo>
                <a:lnTo>
                  <a:pt x="85725" y="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23" name="Google Shape;523;p58"/>
          <p:cNvCxnSpPr/>
          <p:nvPr/>
        </p:nvCxnSpPr>
        <p:spPr>
          <a:xfrm flipH="1">
            <a:off x="3143250" y="4038600"/>
            <a:ext cx="1333500" cy="95"/>
          </a:xfrm>
          <a:prstGeom prst="straightConnector1">
            <a:avLst/>
          </a:prstGeom>
          <a:noFill/>
          <a:ln w="20950" cap="flat" cmpd="sng">
            <a:solidFill>
              <a:srgbClr val="215C9D"/>
            </a:solidFill>
            <a:prstDash val="solid"/>
            <a:round/>
            <a:headEnd type="none" w="sm" len="sm"/>
            <a:tailEnd type="none" w="sm" len="sm"/>
          </a:ln>
        </p:spPr>
      </p:cxnSp>
      <p:sp>
        <p:nvSpPr>
          <p:cNvPr id="524" name="Google Shape;524;p58"/>
          <p:cNvSpPr/>
          <p:nvPr/>
        </p:nvSpPr>
        <p:spPr>
          <a:xfrm>
            <a:off x="3143250" y="4000024"/>
            <a:ext cx="85725" cy="77153"/>
          </a:xfrm>
          <a:custGeom>
            <a:avLst/>
            <a:gdLst/>
            <a:ahLst/>
            <a:cxnLst/>
            <a:rect l="l" t="t" r="r" b="b"/>
            <a:pathLst>
              <a:path w="85725" h="77153" extrusionOk="0">
                <a:moveTo>
                  <a:pt x="0" y="38576"/>
                </a:moveTo>
                <a:lnTo>
                  <a:pt x="85725" y="77153"/>
                </a:lnTo>
                <a:lnTo>
                  <a:pt x="85725" y="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25" name="Google Shape;525;p58"/>
          <p:cNvCxnSpPr/>
          <p:nvPr/>
        </p:nvCxnSpPr>
        <p:spPr>
          <a:xfrm>
            <a:off x="1857375" y="4400550"/>
            <a:ext cx="95" cy="533400"/>
          </a:xfrm>
          <a:prstGeom prst="straightConnector1">
            <a:avLst/>
          </a:prstGeom>
          <a:noFill/>
          <a:ln w="20950" cap="flat" cmpd="sng">
            <a:solidFill>
              <a:srgbClr val="215C9D"/>
            </a:solidFill>
            <a:prstDash val="solid"/>
            <a:round/>
            <a:headEnd type="none" w="sm" len="sm"/>
            <a:tailEnd type="none" w="sm" len="sm"/>
          </a:ln>
        </p:spPr>
      </p:cxnSp>
      <p:sp>
        <p:nvSpPr>
          <p:cNvPr id="526" name="Google Shape;526;p58"/>
          <p:cNvSpPr/>
          <p:nvPr/>
        </p:nvSpPr>
        <p:spPr>
          <a:xfrm>
            <a:off x="1818799" y="4848225"/>
            <a:ext cx="77153" cy="85725"/>
          </a:xfrm>
          <a:custGeom>
            <a:avLst/>
            <a:gdLst/>
            <a:ahLst/>
            <a:cxnLst/>
            <a:rect l="l" t="t" r="r" b="b"/>
            <a:pathLst>
              <a:path w="77153" h="85725" extrusionOk="0">
                <a:moveTo>
                  <a:pt x="38576" y="85725"/>
                </a:moveTo>
                <a:lnTo>
                  <a:pt x="77153" y="0"/>
                </a:lnTo>
                <a:lnTo>
                  <a:pt x="0" y="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27" name="Google Shape;527;p58"/>
          <p:cNvSpPr/>
          <p:nvPr/>
        </p:nvSpPr>
        <p:spPr>
          <a:xfrm>
            <a:off x="714375" y="4933950"/>
            <a:ext cx="2286000" cy="1066800"/>
          </a:xfrm>
          <a:custGeom>
            <a:avLst/>
            <a:gdLst/>
            <a:ahLst/>
            <a:cxnLst/>
            <a:rect l="l" t="t" r="r" b="b"/>
            <a:pathLst>
              <a:path w="2286000" h="1066800" extrusionOk="0">
                <a:moveTo>
                  <a:pt x="1143000" y="0"/>
                </a:moveTo>
                <a:lnTo>
                  <a:pt x="2286000" y="533400"/>
                </a:lnTo>
                <a:lnTo>
                  <a:pt x="1143000" y="1066800"/>
                </a:lnTo>
                <a:lnTo>
                  <a:pt x="0" y="533400"/>
                </a:lnTo>
                <a:close/>
              </a:path>
            </a:pathLst>
          </a:cu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28" name="Google Shape;528;p58"/>
          <p:cNvSpPr/>
          <p:nvPr/>
        </p:nvSpPr>
        <p:spPr>
          <a:xfrm>
            <a:off x="952500" y="5238750"/>
            <a:ext cx="1809750" cy="4572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Finished?</a:t>
            </a:r>
            <a:endParaRPr/>
          </a:p>
        </p:txBody>
      </p:sp>
      <p:cxnSp>
        <p:nvCxnSpPr>
          <p:cNvPr id="529" name="Google Shape;529;p58"/>
          <p:cNvCxnSpPr/>
          <p:nvPr/>
        </p:nvCxnSpPr>
        <p:spPr>
          <a:xfrm>
            <a:off x="3000375" y="5467350"/>
            <a:ext cx="1476375" cy="95"/>
          </a:xfrm>
          <a:prstGeom prst="straightConnector1">
            <a:avLst/>
          </a:prstGeom>
          <a:noFill/>
          <a:ln w="20950" cap="flat" cmpd="sng">
            <a:solidFill>
              <a:srgbClr val="A02337"/>
            </a:solidFill>
            <a:prstDash val="solid"/>
            <a:round/>
            <a:headEnd type="none" w="sm" len="sm"/>
            <a:tailEnd type="none" w="sm" len="sm"/>
          </a:ln>
        </p:spPr>
      </p:cxnSp>
      <p:sp>
        <p:nvSpPr>
          <p:cNvPr id="530" name="Google Shape;530;p58"/>
          <p:cNvSpPr/>
          <p:nvPr/>
        </p:nvSpPr>
        <p:spPr>
          <a:xfrm>
            <a:off x="4391025" y="5428774"/>
            <a:ext cx="85725" cy="77152"/>
          </a:xfrm>
          <a:custGeom>
            <a:avLst/>
            <a:gdLst/>
            <a:ahLst/>
            <a:cxnLst/>
            <a:rect l="l" t="t" r="r" b="b"/>
            <a:pathLst>
              <a:path w="85725" h="77152" extrusionOk="0">
                <a:moveTo>
                  <a:pt x="85725" y="38576"/>
                </a:moveTo>
                <a:lnTo>
                  <a:pt x="0" y="0"/>
                </a:lnTo>
                <a:lnTo>
                  <a:pt x="0" y="77152"/>
                </a:lnTo>
                <a:close/>
              </a:path>
            </a:pathLst>
          </a:custGeom>
          <a:solidFill>
            <a:srgbClr val="A02337"/>
          </a:solidFill>
          <a:ln w="9525" cap="flat" cmpd="sng">
            <a:solidFill>
              <a:srgbClr val="A0233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31" name="Google Shape;531;p58"/>
          <p:cNvSpPr/>
          <p:nvPr/>
        </p:nvSpPr>
        <p:spPr>
          <a:xfrm>
            <a:off x="3419475" y="5095875"/>
            <a:ext cx="666750" cy="2952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1800"/>
              <a:buFont typeface="Arial"/>
              <a:buNone/>
            </a:pPr>
            <a:r>
              <a:rPr lang="en-US" sz="1800" b="0">
                <a:solidFill>
                  <a:srgbClr val="A02337"/>
                </a:solidFill>
                <a:latin typeface="Arial"/>
                <a:ea typeface="Arial"/>
                <a:cs typeface="Arial"/>
                <a:sym typeface="Arial"/>
              </a:rPr>
              <a:t>yes</a:t>
            </a:r>
            <a:endParaRPr/>
          </a:p>
        </p:txBody>
      </p:sp>
      <p:sp>
        <p:nvSpPr>
          <p:cNvPr id="532" name="Google Shape;532;p58"/>
          <p:cNvSpPr/>
          <p:nvPr/>
        </p:nvSpPr>
        <p:spPr>
          <a:xfrm>
            <a:off x="4476750" y="5105400"/>
            <a:ext cx="2667000" cy="723900"/>
          </a:xfrm>
          <a:prstGeom prst="rect">
            <a:avLst/>
          </a:prstGeom>
          <a:solidFill>
            <a:srgbClr val="FFFFFF"/>
          </a:solidFill>
          <a:ln w="14275" cap="flat" cmpd="sng">
            <a:solidFill>
              <a:srgbClr val="A0233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33" name="Google Shape;533;p58"/>
          <p:cNvSpPr/>
          <p:nvPr/>
        </p:nvSpPr>
        <p:spPr>
          <a:xfrm>
            <a:off x="4591050" y="5181600"/>
            <a:ext cx="243840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A02337"/>
              </a:buClr>
              <a:buSzPts val="1950"/>
              <a:buFont typeface="Arial"/>
              <a:buNone/>
            </a:pPr>
            <a:r>
              <a:rPr lang="en-US" sz="1950" b="1">
                <a:solidFill>
                  <a:srgbClr val="A02337"/>
                </a:solidFill>
                <a:latin typeface="Arial"/>
                <a:ea typeface="Arial"/>
                <a:cs typeface="Arial"/>
                <a:sym typeface="Arial"/>
              </a:rPr>
              <a:t>Trained classifier</a:t>
            </a:r>
            <a:endParaRPr/>
          </a:p>
        </p:txBody>
      </p:sp>
      <p:sp>
        <p:nvSpPr>
          <p:cNvPr id="534" name="Google Shape;534;p58"/>
          <p:cNvSpPr/>
          <p:nvPr/>
        </p:nvSpPr>
        <p:spPr>
          <a:xfrm>
            <a:off x="266700" y="3038475"/>
            <a:ext cx="5543550" cy="2428875"/>
          </a:xfrm>
          <a:custGeom>
            <a:avLst/>
            <a:gdLst/>
            <a:ahLst/>
            <a:cxnLst/>
            <a:rect l="l" t="t" r="r" b="b"/>
            <a:pathLst>
              <a:path w="5543550" h="2428875" extrusionOk="0">
                <a:moveTo>
                  <a:pt x="447675" y="2428875"/>
                </a:moveTo>
                <a:lnTo>
                  <a:pt x="0" y="2428875"/>
                </a:lnTo>
                <a:lnTo>
                  <a:pt x="0" y="0"/>
                </a:lnTo>
                <a:lnTo>
                  <a:pt x="5543550" y="0"/>
                </a:lnTo>
              </a:path>
            </a:pathLst>
          </a:custGeom>
          <a:noFill/>
          <a:ln w="152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535" name="Google Shape;535;p58"/>
          <p:cNvCxnSpPr/>
          <p:nvPr/>
        </p:nvCxnSpPr>
        <p:spPr>
          <a:xfrm rot="10800000" flipH="1">
            <a:off x="5810250" y="2533650"/>
            <a:ext cx="95" cy="504825"/>
          </a:xfrm>
          <a:prstGeom prst="straightConnector1">
            <a:avLst/>
          </a:prstGeom>
          <a:noFill/>
          <a:ln w="15225" cap="flat" cmpd="sng">
            <a:solidFill>
              <a:srgbClr val="8A9096"/>
            </a:solidFill>
            <a:prstDash val="solid"/>
            <a:round/>
            <a:headEnd type="none" w="sm" len="sm"/>
            <a:tailEnd type="none" w="sm" len="sm"/>
          </a:ln>
        </p:spPr>
      </p:cxnSp>
      <p:sp>
        <p:nvSpPr>
          <p:cNvPr id="536" name="Google Shape;536;p58"/>
          <p:cNvSpPr/>
          <p:nvPr/>
        </p:nvSpPr>
        <p:spPr>
          <a:xfrm>
            <a:off x="5771674" y="2533650"/>
            <a:ext cx="77152" cy="85725"/>
          </a:xfrm>
          <a:custGeom>
            <a:avLst/>
            <a:gdLst/>
            <a:ahLst/>
            <a:cxnLst/>
            <a:rect l="l" t="t" r="r" b="b"/>
            <a:pathLst>
              <a:path w="77152" h="85725" extrusionOk="0">
                <a:moveTo>
                  <a:pt x="38576" y="0"/>
                </a:moveTo>
                <a:lnTo>
                  <a:pt x="0" y="85725"/>
                </a:lnTo>
                <a:lnTo>
                  <a:pt x="77152" y="85725"/>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37" name="Google Shape;537;p58"/>
          <p:cNvSpPr/>
          <p:nvPr/>
        </p:nvSpPr>
        <p:spPr>
          <a:xfrm>
            <a:off x="2905125" y="3152775"/>
            <a:ext cx="4953000" cy="3143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75"/>
              <a:buFont typeface="Arial"/>
              <a:buNone/>
            </a:pPr>
            <a:r>
              <a:rPr lang="en-US" sz="1875" b="0">
                <a:solidFill>
                  <a:srgbClr val="62666B"/>
                </a:solidFill>
                <a:latin typeface="Arial"/>
                <a:ea typeface="Arial"/>
                <a:cs typeface="Arial"/>
                <a:sym typeface="Arial"/>
              </a:rPr>
              <a:t>not yet: choose another pair</a:t>
            </a:r>
            <a:endParaRPr/>
          </a:p>
        </p:txBody>
      </p:sp>
      <p:sp>
        <p:nvSpPr>
          <p:cNvPr id="538" name="Google Shape;538;p58"/>
          <p:cNvSpPr/>
          <p:nvPr/>
        </p:nvSpPr>
        <p:spPr>
          <a:xfrm>
            <a:off x="7858125" y="5095875"/>
            <a:ext cx="3714750" cy="800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Next we explain</a:t>
            </a:r>
            <a:endParaRPr/>
          </a:p>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what the variables mean.</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544" name="Google Shape;544;p59"/>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The original SVM training problem</a:t>
            </a:r>
            <a:endParaRPr/>
          </a:p>
        </p:txBody>
      </p:sp>
      <p:sp>
        <p:nvSpPr>
          <p:cNvPr id="545" name="Google Shape;545;p59"/>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03</a:t>
            </a:r>
            <a:endParaRPr/>
          </a:p>
        </p:txBody>
      </p:sp>
      <p:sp>
        <p:nvSpPr>
          <p:cNvPr id="546" name="Google Shape;546;p59"/>
          <p:cNvSpPr/>
          <p:nvPr/>
        </p:nvSpPr>
        <p:spPr>
          <a:xfrm>
            <a:off x="571500" y="1057275"/>
            <a:ext cx="11049000" cy="3810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1950"/>
              <a:buFont typeface="Arial"/>
              <a:buNone/>
            </a:pPr>
            <a:r>
              <a:rPr lang="en-US" sz="1950" b="0">
                <a:solidFill>
                  <a:srgbClr val="111111"/>
                </a:solidFill>
                <a:latin typeface="Arial"/>
                <a:ea typeface="Arial"/>
                <a:cs typeface="Arial"/>
                <a:sym typeface="Arial"/>
              </a:rPr>
              <a:t>x: one feature    y: label (+1 fraud, −1 normal)    i: sample index</a:t>
            </a:r>
            <a:endParaRPr/>
          </a:p>
        </p:txBody>
      </p:sp>
      <p:sp>
        <p:nvSpPr>
          <p:cNvPr id="547" name="Google Shape;547;p59"/>
          <p:cNvSpPr/>
          <p:nvPr/>
        </p:nvSpPr>
        <p:spPr>
          <a:xfrm>
            <a:off x="571500" y="1638300"/>
            <a:ext cx="5334000" cy="5905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3000"/>
              <a:buFont typeface="Cambria Math"/>
              <a:buNone/>
            </a:pPr>
            <a:r>
              <a:rPr lang="en-US" sz="3000" b="0">
                <a:solidFill>
                  <a:srgbClr val="215C9D"/>
                </a:solidFill>
                <a:latin typeface="Cambria Math"/>
                <a:ea typeface="Cambria Math"/>
                <a:cs typeface="Cambria Math"/>
                <a:sym typeface="Cambria Math"/>
              </a:rPr>
              <a:t>f(x) = wx + b</a:t>
            </a:r>
            <a:endParaRPr/>
          </a:p>
        </p:txBody>
      </p:sp>
      <p:sp>
        <p:nvSpPr>
          <p:cNvPr id="548" name="Google Shape;548;p59"/>
          <p:cNvSpPr/>
          <p:nvPr/>
        </p:nvSpPr>
        <p:spPr>
          <a:xfrm>
            <a:off x="6477000" y="1524000"/>
            <a:ext cx="5143500" cy="9906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Arial"/>
              <a:buNone/>
            </a:pPr>
            <a:r>
              <a:rPr lang="en-US" sz="2100" b="0">
                <a:solidFill>
                  <a:srgbClr val="111111"/>
                </a:solidFill>
                <a:latin typeface="Arial"/>
                <a:ea typeface="Arial"/>
                <a:cs typeface="Arial"/>
                <a:sym typeface="Arial"/>
              </a:rPr>
              <a:t>w weights x; b shifts the boundary.</a:t>
            </a:r>
            <a:endParaRPr/>
          </a:p>
          <a:p>
            <a:pPr marL="0" marR="0" lvl="0" indent="0" algn="l" rtl="0">
              <a:lnSpc>
                <a:spcPct val="108000"/>
              </a:lnSpc>
              <a:spcBef>
                <a:spcPts val="0"/>
              </a:spcBef>
              <a:spcAft>
                <a:spcPts val="0"/>
              </a:spcAft>
              <a:buClr>
                <a:srgbClr val="111111"/>
              </a:buClr>
              <a:buSzPts val="2100"/>
              <a:buFont typeface="Arial"/>
              <a:buNone/>
            </a:pPr>
            <a:r>
              <a:rPr lang="en-US" sz="2100" b="0">
                <a:solidFill>
                  <a:srgbClr val="111111"/>
                </a:solidFill>
                <a:latin typeface="Arial"/>
                <a:ea typeface="Arial"/>
                <a:cs typeface="Arial"/>
                <a:sym typeface="Arial"/>
              </a:rPr>
              <a:t>f = 0 separates the classes.</a:t>
            </a:r>
            <a:endParaRPr/>
          </a:p>
          <a:p>
            <a:pPr marL="0" marR="0" lvl="0" indent="0" algn="l" rtl="0">
              <a:lnSpc>
                <a:spcPct val="108000"/>
              </a:lnSpc>
              <a:spcBef>
                <a:spcPts val="0"/>
              </a:spcBef>
              <a:spcAft>
                <a:spcPts val="0"/>
              </a:spcAft>
              <a:buClr>
                <a:srgbClr val="111111"/>
              </a:buClr>
              <a:buSzPts val="2100"/>
              <a:buFont typeface="Arial"/>
              <a:buNone/>
            </a:pPr>
            <a:r>
              <a:rPr lang="en-US" sz="2100" b="0">
                <a:solidFill>
                  <a:srgbClr val="111111"/>
                </a:solidFill>
                <a:latin typeface="Arial"/>
                <a:ea typeface="Arial"/>
                <a:cs typeface="Arial"/>
                <a:sym typeface="Arial"/>
              </a:rPr>
              <a:t>f = ±1 marks the margin.</a:t>
            </a:r>
            <a:endParaRPr/>
          </a:p>
        </p:txBody>
      </p:sp>
      <p:cxnSp>
        <p:nvCxnSpPr>
          <p:cNvPr id="549" name="Google Shape;549;p59"/>
          <p:cNvCxnSpPr/>
          <p:nvPr/>
        </p:nvCxnSpPr>
        <p:spPr>
          <a:xfrm>
            <a:off x="571500" y="2581275"/>
            <a:ext cx="11049000" cy="95"/>
          </a:xfrm>
          <a:prstGeom prst="straightConnector1">
            <a:avLst/>
          </a:prstGeom>
          <a:noFill/>
          <a:ln w="9525" cap="flat" cmpd="sng">
            <a:solidFill>
              <a:srgbClr val="D8DDE2"/>
            </a:solidFill>
            <a:prstDash val="solid"/>
            <a:round/>
            <a:headEnd type="none" w="sm" len="sm"/>
            <a:tailEnd type="none" w="sm" len="sm"/>
          </a:ln>
        </p:spPr>
      </p:cxnSp>
      <p:sp>
        <p:nvSpPr>
          <p:cNvPr id="550" name="Google Shape;550;p59"/>
          <p:cNvSpPr/>
          <p:nvPr/>
        </p:nvSpPr>
        <p:spPr>
          <a:xfrm>
            <a:off x="571500" y="2771775"/>
            <a:ext cx="11049000" cy="3905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Training target: label × score should reach 1.</a:t>
            </a:r>
            <a:endParaRPr/>
          </a:p>
        </p:txBody>
      </p:sp>
      <p:sp>
        <p:nvSpPr>
          <p:cNvPr id="551" name="Google Shape;551;p59"/>
          <p:cNvSpPr/>
          <p:nvPr/>
        </p:nvSpPr>
        <p:spPr>
          <a:xfrm>
            <a:off x="571500" y="3314700"/>
            <a:ext cx="11049000" cy="3810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ξᵢ is the allowed shortfall. Cᵢ is the penalty per unit shortfall.</a:t>
            </a:r>
            <a:endParaRPr/>
          </a:p>
        </p:txBody>
      </p:sp>
      <p:sp>
        <p:nvSpPr>
          <p:cNvPr id="552" name="Google Shape;552;p59"/>
          <p:cNvSpPr/>
          <p:nvPr/>
        </p:nvSpPr>
        <p:spPr>
          <a:xfrm>
            <a:off x="571500" y="3914775"/>
            <a:ext cx="11049000" cy="5619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625"/>
              <a:buFont typeface="Cambria Math"/>
              <a:buNone/>
            </a:pPr>
            <a:r>
              <a:rPr lang="en-US" sz="2625" b="0">
                <a:solidFill>
                  <a:srgbClr val="111111"/>
                </a:solidFill>
                <a:latin typeface="Cambria Math"/>
                <a:ea typeface="Cambria Math"/>
                <a:cs typeface="Cambria Math"/>
                <a:sym typeface="Cambria Math"/>
              </a:rPr>
              <a:t>yᵢf(xᵢ) ≥ 1 − ξᵢ,   ξᵢ ≥ 0</a:t>
            </a:r>
            <a:endParaRPr/>
          </a:p>
        </p:txBody>
      </p:sp>
      <p:sp>
        <p:nvSpPr>
          <p:cNvPr id="553" name="Google Shape;553;p59"/>
          <p:cNvSpPr/>
          <p:nvPr/>
        </p:nvSpPr>
        <p:spPr>
          <a:xfrm>
            <a:off x="571500" y="4705350"/>
            <a:ext cx="11049000" cy="6477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850"/>
              <a:buFont typeface="Cambria Math"/>
              <a:buNone/>
            </a:pPr>
            <a:r>
              <a:rPr lang="en-US" sz="2850" b="0">
                <a:solidFill>
                  <a:srgbClr val="A02337"/>
                </a:solidFill>
                <a:latin typeface="Cambria Math"/>
                <a:ea typeface="Cambria Math"/>
                <a:cs typeface="Cambria Math"/>
                <a:sym typeface="Cambria Math"/>
              </a:rPr>
              <a:t>minimize   P(w,b,ξ) = ½w² + Σᵢ Cᵢξᵢ</a:t>
            </a:r>
            <a:endParaRPr/>
          </a:p>
        </p:txBody>
      </p:sp>
      <p:sp>
        <p:nvSpPr>
          <p:cNvPr id="554" name="Google Shape;554;p59"/>
          <p:cNvSpPr/>
          <p:nvPr/>
        </p:nvSpPr>
        <p:spPr>
          <a:xfrm>
            <a:off x="571500" y="5581650"/>
            <a:ext cx="40005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75"/>
              <a:buFont typeface="Arial"/>
              <a:buNone/>
            </a:pPr>
            <a:r>
              <a:rPr lang="en-US" sz="1875" b="0">
                <a:solidFill>
                  <a:srgbClr val="62666B"/>
                </a:solidFill>
                <a:latin typeface="Arial"/>
                <a:ea typeface="Arial"/>
                <a:cs typeface="Arial"/>
                <a:sym typeface="Arial"/>
              </a:rPr>
              <a:t>smaller |w|: wider margin</a:t>
            </a:r>
            <a:endParaRPr/>
          </a:p>
        </p:txBody>
      </p:sp>
      <p:sp>
        <p:nvSpPr>
          <p:cNvPr id="555" name="Google Shape;555;p59"/>
          <p:cNvSpPr/>
          <p:nvPr/>
        </p:nvSpPr>
        <p:spPr>
          <a:xfrm>
            <a:off x="4333875" y="5581650"/>
            <a:ext cx="5715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100"/>
              <a:buFont typeface="Arial"/>
              <a:buNone/>
            </a:pPr>
            <a:r>
              <a:rPr lang="en-US" sz="2100" b="0">
                <a:solidFill>
                  <a:srgbClr val="62666B"/>
                </a:solidFill>
                <a:latin typeface="Arial"/>
                <a:ea typeface="Arial"/>
                <a:cs typeface="Arial"/>
                <a:sym typeface="Arial"/>
              </a:rPr>
              <a:t>+</a:t>
            </a:r>
            <a:endParaRPr/>
          </a:p>
        </p:txBody>
      </p:sp>
      <p:sp>
        <p:nvSpPr>
          <p:cNvPr id="556" name="Google Shape;556;p59"/>
          <p:cNvSpPr/>
          <p:nvPr/>
        </p:nvSpPr>
        <p:spPr>
          <a:xfrm>
            <a:off x="5429250" y="5581650"/>
            <a:ext cx="5715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weighted shortfalls</a:t>
            </a:r>
            <a:endParaRPr/>
          </a:p>
        </p:txBody>
      </p:sp>
      <p:sp>
        <p:nvSpPr>
          <p:cNvPr id="557" name="Google Shape;557;p59"/>
          <p:cNvSpPr/>
          <p:nvPr/>
        </p:nvSpPr>
        <p:spPr>
          <a:xfrm>
            <a:off x="571500" y="6200775"/>
            <a:ext cx="11049000" cy="419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175"/>
              <a:buFont typeface="Arial"/>
              <a:buNone/>
            </a:pPr>
            <a:r>
              <a:rPr lang="en-US" sz="2175" b="0">
                <a:solidFill>
                  <a:srgbClr val="215C9D"/>
                </a:solidFill>
                <a:latin typeface="Arial"/>
                <a:ea typeface="Arial"/>
                <a:cs typeface="Arial"/>
                <a:sym typeface="Arial"/>
              </a:rPr>
              <a:t>Original variables: w, b and all shortfalls ξᵢ.</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60"/>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Where the dual conditions come from</a:t>
            </a:r>
            <a:endParaRPr/>
          </a:p>
        </p:txBody>
      </p:sp>
      <p:sp>
        <p:nvSpPr>
          <p:cNvPr id="564" name="Google Shape;564;p60"/>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04</a:t>
            </a:r>
            <a:endParaRPr/>
          </a:p>
        </p:txBody>
      </p:sp>
      <p:sp>
        <p:nvSpPr>
          <p:cNvPr id="565" name="Google Shape;565;p60"/>
          <p:cNvSpPr/>
          <p:nvPr/>
        </p:nvSpPr>
        <p:spPr>
          <a:xfrm>
            <a:off x="571500" y="1038225"/>
            <a:ext cx="11049000" cy="3524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Move each margin constraint to a nonpositive left side:</a:t>
            </a:r>
            <a:endParaRPr/>
          </a:p>
        </p:txBody>
      </p:sp>
      <p:sp>
        <p:nvSpPr>
          <p:cNvPr id="566" name="Google Shape;566;p60"/>
          <p:cNvSpPr/>
          <p:nvPr/>
        </p:nvSpPr>
        <p:spPr>
          <a:xfrm>
            <a:off x="571500" y="1447800"/>
            <a:ext cx="11049000" cy="5238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550"/>
              <a:buFont typeface="Cambria Math"/>
              <a:buNone/>
            </a:pPr>
            <a:r>
              <a:rPr lang="en-US" sz="2550" b="0">
                <a:solidFill>
                  <a:srgbClr val="215C9D"/>
                </a:solidFill>
                <a:latin typeface="Cambria Math"/>
                <a:ea typeface="Cambria Math"/>
                <a:cs typeface="Cambria Math"/>
                <a:sym typeface="Cambria Math"/>
              </a:rPr>
              <a:t>1 − ξᵢ − yᵢ(wxᵢ + b) ≤ 0</a:t>
            </a:r>
            <a:endParaRPr/>
          </a:p>
        </p:txBody>
      </p:sp>
      <p:sp>
        <p:nvSpPr>
          <p:cNvPr id="567" name="Google Shape;567;p60"/>
          <p:cNvSpPr/>
          <p:nvPr/>
        </p:nvSpPr>
        <p:spPr>
          <a:xfrm>
            <a:off x="571500" y="2057400"/>
            <a:ext cx="11049000" cy="3524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Give each constraint a coefficient αᵢ and add it to P:</a:t>
            </a:r>
            <a:endParaRPr/>
          </a:p>
        </p:txBody>
      </p:sp>
      <p:sp>
        <p:nvSpPr>
          <p:cNvPr id="568" name="Google Shape;568;p60"/>
          <p:cNvSpPr/>
          <p:nvPr/>
        </p:nvSpPr>
        <p:spPr>
          <a:xfrm>
            <a:off x="571500" y="2419350"/>
            <a:ext cx="11049000" cy="6096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550"/>
              <a:buFont typeface="Cambria Math"/>
              <a:buNone/>
            </a:pPr>
            <a:r>
              <a:rPr lang="en-US" sz="2550" b="0">
                <a:solidFill>
                  <a:srgbClr val="A02337"/>
                </a:solidFill>
                <a:latin typeface="Cambria Math"/>
                <a:ea typeface="Cambria Math"/>
                <a:cs typeface="Cambria Math"/>
                <a:sym typeface="Cambria Math"/>
              </a:rPr>
              <a:t>ℒ = P + Σᵢ αᵢ[1 − ξᵢ − yᵢ(wxᵢ + b)],   αᵢ ≥ 0</a:t>
            </a:r>
            <a:endParaRPr/>
          </a:p>
        </p:txBody>
      </p:sp>
      <p:sp>
        <p:nvSpPr>
          <p:cNvPr id="569" name="Google Shape;569;p60"/>
          <p:cNvSpPr/>
          <p:nvPr/>
        </p:nvSpPr>
        <p:spPr>
          <a:xfrm>
            <a:off x="571500" y="3105150"/>
            <a:ext cx="11049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1">
                <a:solidFill>
                  <a:srgbClr val="111111"/>
                </a:solidFill>
                <a:latin typeface="Arial"/>
                <a:ea typeface="Arial"/>
                <a:cs typeface="Arial"/>
                <a:sym typeface="Arial"/>
              </a:rPr>
              <a:t>Fix α; minimize ℒ over unrestricted w, b and nonnegative ξ.</a:t>
            </a:r>
            <a:endParaRPr/>
          </a:p>
        </p:txBody>
      </p:sp>
      <p:sp>
        <p:nvSpPr>
          <p:cNvPr id="570" name="Google Shape;570;p60"/>
          <p:cNvSpPr/>
          <p:nvPr/>
        </p:nvSpPr>
        <p:spPr>
          <a:xfrm>
            <a:off x="571500" y="3600450"/>
            <a:ext cx="5238750" cy="3333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1">
                <a:solidFill>
                  <a:srgbClr val="111111"/>
                </a:solidFill>
                <a:latin typeface="Arial"/>
                <a:ea typeface="Arial"/>
                <a:cs typeface="Arial"/>
                <a:sym typeface="Arial"/>
              </a:rPr>
              <a:t>w: a quadratic minimum</a:t>
            </a:r>
            <a:endParaRPr/>
          </a:p>
        </p:txBody>
      </p:sp>
      <p:sp>
        <p:nvSpPr>
          <p:cNvPr id="571" name="Google Shape;571;p60"/>
          <p:cNvSpPr/>
          <p:nvPr/>
        </p:nvSpPr>
        <p:spPr>
          <a:xfrm>
            <a:off x="571500" y="3971925"/>
            <a:ext cx="5238750" cy="304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Its slope must be zero.</a:t>
            </a:r>
            <a:endParaRPr/>
          </a:p>
        </p:txBody>
      </p:sp>
      <p:sp>
        <p:nvSpPr>
          <p:cNvPr id="572" name="Google Shape;572;p60"/>
          <p:cNvSpPr/>
          <p:nvPr/>
        </p:nvSpPr>
        <p:spPr>
          <a:xfrm>
            <a:off x="6286500" y="3552825"/>
            <a:ext cx="5334000" cy="4095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Cambria Math"/>
              <a:buNone/>
            </a:pPr>
            <a:r>
              <a:rPr lang="en-US" sz="2100" b="0">
                <a:solidFill>
                  <a:srgbClr val="111111"/>
                </a:solidFill>
                <a:latin typeface="Cambria Math"/>
                <a:ea typeface="Cambria Math"/>
                <a:cs typeface="Cambria Math"/>
                <a:sym typeface="Cambria Math"/>
              </a:rPr>
              <a:t>½w² − wΣᵢ αᵢyᵢxᵢ</a:t>
            </a:r>
            <a:endParaRPr/>
          </a:p>
        </p:txBody>
      </p:sp>
      <p:sp>
        <p:nvSpPr>
          <p:cNvPr id="573" name="Google Shape;573;p60"/>
          <p:cNvSpPr/>
          <p:nvPr/>
        </p:nvSpPr>
        <p:spPr>
          <a:xfrm>
            <a:off x="6286500" y="3971925"/>
            <a:ext cx="5334000" cy="4095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250"/>
              <a:buFont typeface="Cambria Math"/>
              <a:buNone/>
            </a:pPr>
            <a:r>
              <a:rPr lang="en-US" sz="2250" b="0">
                <a:solidFill>
                  <a:srgbClr val="215C9D"/>
                </a:solidFill>
                <a:latin typeface="Cambria Math"/>
                <a:ea typeface="Cambria Math"/>
                <a:cs typeface="Cambria Math"/>
                <a:sym typeface="Cambria Math"/>
              </a:rPr>
              <a:t>w − Σᵢ αᵢyᵢxᵢ = 0</a:t>
            </a:r>
            <a:endParaRPr/>
          </a:p>
        </p:txBody>
      </p:sp>
      <p:cxnSp>
        <p:nvCxnSpPr>
          <p:cNvPr id="574" name="Google Shape;574;p60"/>
          <p:cNvCxnSpPr/>
          <p:nvPr/>
        </p:nvCxnSpPr>
        <p:spPr>
          <a:xfrm>
            <a:off x="571500" y="4514850"/>
            <a:ext cx="11049000" cy="95"/>
          </a:xfrm>
          <a:prstGeom prst="straightConnector1">
            <a:avLst/>
          </a:prstGeom>
          <a:noFill/>
          <a:ln w="9525" cap="flat" cmpd="sng">
            <a:solidFill>
              <a:srgbClr val="D8DDE2"/>
            </a:solidFill>
            <a:prstDash val="solid"/>
            <a:round/>
            <a:headEnd type="none" w="sm" len="sm"/>
            <a:tailEnd type="none" w="sm" len="sm"/>
          </a:ln>
        </p:spPr>
      </p:cxnSp>
      <p:sp>
        <p:nvSpPr>
          <p:cNvPr id="575" name="Google Shape;575;p60"/>
          <p:cNvSpPr/>
          <p:nvPr/>
        </p:nvSpPr>
        <p:spPr>
          <a:xfrm>
            <a:off x="571500" y="4543425"/>
            <a:ext cx="5238750" cy="3333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1875"/>
              <a:buFont typeface="Arial"/>
              <a:buNone/>
            </a:pPr>
            <a:r>
              <a:rPr lang="en-US" sz="1875" b="1">
                <a:solidFill>
                  <a:srgbClr val="111111"/>
                </a:solidFill>
                <a:latin typeface="Arial"/>
                <a:ea typeface="Arial"/>
                <a:cs typeface="Arial"/>
                <a:sym typeface="Arial"/>
              </a:rPr>
              <a:t>b: unrestricted in either direction</a:t>
            </a:r>
            <a:endParaRPr/>
          </a:p>
        </p:txBody>
      </p:sp>
      <p:sp>
        <p:nvSpPr>
          <p:cNvPr id="576" name="Google Shape;576;p60"/>
          <p:cNvSpPr/>
          <p:nvPr/>
        </p:nvSpPr>
        <p:spPr>
          <a:xfrm>
            <a:off x="571500" y="4914900"/>
            <a:ext cx="5238750" cy="304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A nonzero coefficient gives −∞.</a:t>
            </a:r>
            <a:endParaRPr/>
          </a:p>
        </p:txBody>
      </p:sp>
      <p:sp>
        <p:nvSpPr>
          <p:cNvPr id="577" name="Google Shape;577;p60"/>
          <p:cNvSpPr/>
          <p:nvPr/>
        </p:nvSpPr>
        <p:spPr>
          <a:xfrm>
            <a:off x="6286500" y="4533900"/>
            <a:ext cx="5334000" cy="685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−bΣᵢ yᵢαᵢ   ⇒   Σᵢ yᵢαᵢ = 0</a:t>
            </a:r>
            <a:endParaRPr/>
          </a:p>
        </p:txBody>
      </p:sp>
      <p:cxnSp>
        <p:nvCxnSpPr>
          <p:cNvPr id="578" name="Google Shape;578;p60"/>
          <p:cNvCxnSpPr/>
          <p:nvPr/>
        </p:nvCxnSpPr>
        <p:spPr>
          <a:xfrm>
            <a:off x="571500" y="5334000"/>
            <a:ext cx="11049000" cy="95"/>
          </a:xfrm>
          <a:prstGeom prst="straightConnector1">
            <a:avLst/>
          </a:prstGeom>
          <a:noFill/>
          <a:ln w="9525" cap="flat" cmpd="sng">
            <a:solidFill>
              <a:srgbClr val="D8DDE2"/>
            </a:solidFill>
            <a:prstDash val="solid"/>
            <a:round/>
            <a:headEnd type="none" w="sm" len="sm"/>
            <a:tailEnd type="none" w="sm" len="sm"/>
          </a:ln>
        </p:spPr>
      </p:cxnSp>
      <p:sp>
        <p:nvSpPr>
          <p:cNvPr id="579" name="Google Shape;579;p60"/>
          <p:cNvSpPr/>
          <p:nvPr/>
        </p:nvSpPr>
        <p:spPr>
          <a:xfrm>
            <a:off x="571500" y="5486400"/>
            <a:ext cx="5238750" cy="3333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1">
                <a:solidFill>
                  <a:srgbClr val="111111"/>
                </a:solidFill>
                <a:latin typeface="Arial"/>
                <a:ea typeface="Arial"/>
                <a:cs typeface="Arial"/>
                <a:sym typeface="Arial"/>
              </a:rPr>
              <a:t>ξ ≥ 0: no upper limit</a:t>
            </a:r>
            <a:endParaRPr/>
          </a:p>
        </p:txBody>
      </p:sp>
      <p:sp>
        <p:nvSpPr>
          <p:cNvPr id="580" name="Google Shape;580;p60"/>
          <p:cNvSpPr/>
          <p:nvPr/>
        </p:nvSpPr>
        <p:spPr>
          <a:xfrm>
            <a:off x="571500" y="5857875"/>
            <a:ext cx="5238750" cy="304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A negative coefficient gives −∞.</a:t>
            </a:r>
            <a:endParaRPr/>
          </a:p>
        </p:txBody>
      </p:sp>
      <p:sp>
        <p:nvSpPr>
          <p:cNvPr id="581" name="Google Shape;581;p60"/>
          <p:cNvSpPr/>
          <p:nvPr/>
        </p:nvSpPr>
        <p:spPr>
          <a:xfrm>
            <a:off x="6286500" y="5476875"/>
            <a:ext cx="5334000" cy="6858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(Cᵢ − αᵢ)ξᵢ   ⇒   αᵢ ≤ Cᵢ</a:t>
            </a:r>
            <a:endParaRPr/>
          </a:p>
        </p:txBody>
      </p:sp>
      <p:sp>
        <p:nvSpPr>
          <p:cNvPr id="582" name="Google Shape;582;p60"/>
          <p:cNvSpPr/>
          <p:nvPr/>
        </p:nvSpPr>
        <p:spPr>
          <a:xfrm>
            <a:off x="571500" y="6457950"/>
            <a:ext cx="11049000" cy="2667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650"/>
              <a:buFont typeface="Arial"/>
              <a:buNone/>
            </a:pPr>
            <a:r>
              <a:rPr lang="en-US" sz="1650" b="0">
                <a:solidFill>
                  <a:srgbClr val="62666B"/>
                </a:solidFill>
                <a:latin typeface="Arial"/>
                <a:ea typeface="Arial"/>
                <a:cs typeface="Arial"/>
                <a:sym typeface="Arial"/>
              </a:rPr>
              <a:t>For a feasible model, added terms ≤ 0; minimizing ℒ gives a lower bound on the best 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61"/>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Rewriting the problem with dual coefficients</a:t>
            </a:r>
            <a:endParaRPr/>
          </a:p>
        </p:txBody>
      </p:sp>
      <p:sp>
        <p:nvSpPr>
          <p:cNvPr id="589" name="Google Shape;589;p61"/>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05</a:t>
            </a:r>
            <a:endParaRPr/>
          </a:p>
        </p:txBody>
      </p:sp>
      <p:sp>
        <p:nvSpPr>
          <p:cNvPr id="590" name="Google Shape;590;p61"/>
          <p:cNvSpPr/>
          <p:nvPr/>
        </p:nvSpPr>
        <p:spPr>
          <a:xfrm>
            <a:off x="571500" y="1057275"/>
            <a:ext cx="11049000" cy="4286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The minimization gives these three relations and limits.</a:t>
            </a:r>
            <a:endParaRPr/>
          </a:p>
        </p:txBody>
      </p:sp>
      <p:sp>
        <p:nvSpPr>
          <p:cNvPr id="591" name="Google Shape;591;p61"/>
          <p:cNvSpPr/>
          <p:nvPr/>
        </p:nvSpPr>
        <p:spPr>
          <a:xfrm>
            <a:off x="571500" y="1628775"/>
            <a:ext cx="11049000" cy="4095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Substitute the minimizing w into ℒ to obtain the lower bound D.</a:t>
            </a:r>
            <a:endParaRPr/>
          </a:p>
        </p:txBody>
      </p:sp>
      <p:sp>
        <p:nvSpPr>
          <p:cNvPr id="592" name="Google Shape;592;p61"/>
          <p:cNvSpPr/>
          <p:nvPr/>
        </p:nvSpPr>
        <p:spPr>
          <a:xfrm>
            <a:off x="571500" y="2238375"/>
            <a:ext cx="2952750" cy="5143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Eliminate w</a:t>
            </a:r>
            <a:endParaRPr/>
          </a:p>
        </p:txBody>
      </p:sp>
      <p:cxnSp>
        <p:nvCxnSpPr>
          <p:cNvPr id="593" name="Google Shape;593;p61"/>
          <p:cNvCxnSpPr/>
          <p:nvPr/>
        </p:nvCxnSpPr>
        <p:spPr>
          <a:xfrm>
            <a:off x="3381375" y="2495550"/>
            <a:ext cx="628650" cy="95"/>
          </a:xfrm>
          <a:prstGeom prst="straightConnector1">
            <a:avLst/>
          </a:prstGeom>
          <a:noFill/>
          <a:ln w="17125" cap="flat" cmpd="sng">
            <a:solidFill>
              <a:srgbClr val="8A9096"/>
            </a:solidFill>
            <a:prstDash val="solid"/>
            <a:round/>
            <a:headEnd type="none" w="sm" len="sm"/>
            <a:tailEnd type="none" w="sm" len="sm"/>
          </a:ln>
        </p:spPr>
      </p:cxnSp>
      <p:sp>
        <p:nvSpPr>
          <p:cNvPr id="594" name="Google Shape;594;p61"/>
          <p:cNvSpPr/>
          <p:nvPr/>
        </p:nvSpPr>
        <p:spPr>
          <a:xfrm>
            <a:off x="3924300" y="2456974"/>
            <a:ext cx="85725" cy="77153"/>
          </a:xfrm>
          <a:custGeom>
            <a:avLst/>
            <a:gdLst/>
            <a:ahLst/>
            <a:cxnLst/>
            <a:rect l="l" t="t" r="r" b="b"/>
            <a:pathLst>
              <a:path w="85725" h="77153" extrusionOk="0">
                <a:moveTo>
                  <a:pt x="85725" y="38576"/>
                </a:moveTo>
                <a:lnTo>
                  <a:pt x="0" y="0"/>
                </a:lnTo>
                <a:lnTo>
                  <a:pt x="0" y="77153"/>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95" name="Google Shape;595;p61"/>
          <p:cNvSpPr/>
          <p:nvPr/>
        </p:nvSpPr>
        <p:spPr>
          <a:xfrm>
            <a:off x="4476750" y="2238375"/>
            <a:ext cx="7143750" cy="5905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700"/>
              <a:buFont typeface="Cambria Math"/>
              <a:buNone/>
            </a:pPr>
            <a:r>
              <a:rPr lang="en-US" sz="2700" b="0">
                <a:solidFill>
                  <a:srgbClr val="215C9D"/>
                </a:solidFill>
                <a:latin typeface="Cambria Math"/>
                <a:ea typeface="Cambria Math"/>
                <a:cs typeface="Cambria Math"/>
                <a:sym typeface="Cambria Math"/>
              </a:rPr>
              <a:t>w(α) = Σᵢ αᵢyᵢxᵢ</a:t>
            </a:r>
            <a:endParaRPr/>
          </a:p>
        </p:txBody>
      </p:sp>
      <p:sp>
        <p:nvSpPr>
          <p:cNvPr id="596" name="Google Shape;596;p61"/>
          <p:cNvSpPr/>
          <p:nvPr/>
        </p:nvSpPr>
        <p:spPr>
          <a:xfrm>
            <a:off x="571500" y="3105150"/>
            <a:ext cx="2952750" cy="5143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Eliminate b</a:t>
            </a:r>
            <a:endParaRPr/>
          </a:p>
        </p:txBody>
      </p:sp>
      <p:cxnSp>
        <p:nvCxnSpPr>
          <p:cNvPr id="597" name="Google Shape;597;p61"/>
          <p:cNvCxnSpPr/>
          <p:nvPr/>
        </p:nvCxnSpPr>
        <p:spPr>
          <a:xfrm>
            <a:off x="3381375" y="3362325"/>
            <a:ext cx="628650" cy="95"/>
          </a:xfrm>
          <a:prstGeom prst="straightConnector1">
            <a:avLst/>
          </a:prstGeom>
          <a:noFill/>
          <a:ln w="17125" cap="flat" cmpd="sng">
            <a:solidFill>
              <a:srgbClr val="8A9096"/>
            </a:solidFill>
            <a:prstDash val="solid"/>
            <a:round/>
            <a:headEnd type="none" w="sm" len="sm"/>
            <a:tailEnd type="none" w="sm" len="sm"/>
          </a:ln>
        </p:spPr>
      </p:cxnSp>
      <p:sp>
        <p:nvSpPr>
          <p:cNvPr id="598" name="Google Shape;598;p61"/>
          <p:cNvSpPr/>
          <p:nvPr/>
        </p:nvSpPr>
        <p:spPr>
          <a:xfrm>
            <a:off x="3924300" y="3323749"/>
            <a:ext cx="85725" cy="77153"/>
          </a:xfrm>
          <a:custGeom>
            <a:avLst/>
            <a:gdLst/>
            <a:ahLst/>
            <a:cxnLst/>
            <a:rect l="l" t="t" r="r" b="b"/>
            <a:pathLst>
              <a:path w="85725" h="77153" extrusionOk="0">
                <a:moveTo>
                  <a:pt x="85725" y="38576"/>
                </a:moveTo>
                <a:lnTo>
                  <a:pt x="0" y="0"/>
                </a:lnTo>
                <a:lnTo>
                  <a:pt x="0" y="77153"/>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599" name="Google Shape;599;p61"/>
          <p:cNvSpPr/>
          <p:nvPr/>
        </p:nvSpPr>
        <p:spPr>
          <a:xfrm>
            <a:off x="4476750" y="3105150"/>
            <a:ext cx="7143750" cy="5905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700"/>
              <a:buFont typeface="Cambria Math"/>
              <a:buNone/>
            </a:pPr>
            <a:r>
              <a:rPr lang="en-US" sz="2700" b="0">
                <a:solidFill>
                  <a:srgbClr val="111111"/>
                </a:solidFill>
                <a:latin typeface="Cambria Math"/>
                <a:ea typeface="Cambria Math"/>
                <a:cs typeface="Cambria Math"/>
                <a:sym typeface="Cambria Math"/>
              </a:rPr>
              <a:t>Σᵢ yᵢαᵢ = 0</a:t>
            </a:r>
            <a:endParaRPr/>
          </a:p>
        </p:txBody>
      </p:sp>
      <p:sp>
        <p:nvSpPr>
          <p:cNvPr id="600" name="Google Shape;600;p61"/>
          <p:cNvSpPr/>
          <p:nvPr/>
        </p:nvSpPr>
        <p:spPr>
          <a:xfrm>
            <a:off x="571500" y="3971925"/>
            <a:ext cx="2952750" cy="5143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Eliminate ξ</a:t>
            </a:r>
            <a:endParaRPr/>
          </a:p>
        </p:txBody>
      </p:sp>
      <p:cxnSp>
        <p:nvCxnSpPr>
          <p:cNvPr id="601" name="Google Shape;601;p61"/>
          <p:cNvCxnSpPr/>
          <p:nvPr/>
        </p:nvCxnSpPr>
        <p:spPr>
          <a:xfrm>
            <a:off x="3381375" y="4229100"/>
            <a:ext cx="628650" cy="95"/>
          </a:xfrm>
          <a:prstGeom prst="straightConnector1">
            <a:avLst/>
          </a:prstGeom>
          <a:noFill/>
          <a:ln w="17125" cap="flat" cmpd="sng">
            <a:solidFill>
              <a:srgbClr val="8A9096"/>
            </a:solidFill>
            <a:prstDash val="solid"/>
            <a:round/>
            <a:headEnd type="none" w="sm" len="sm"/>
            <a:tailEnd type="none" w="sm" len="sm"/>
          </a:ln>
        </p:spPr>
      </p:cxnSp>
      <p:sp>
        <p:nvSpPr>
          <p:cNvPr id="602" name="Google Shape;602;p61"/>
          <p:cNvSpPr/>
          <p:nvPr/>
        </p:nvSpPr>
        <p:spPr>
          <a:xfrm>
            <a:off x="3924300" y="4190524"/>
            <a:ext cx="85725" cy="77153"/>
          </a:xfrm>
          <a:custGeom>
            <a:avLst/>
            <a:gdLst/>
            <a:ahLst/>
            <a:cxnLst/>
            <a:rect l="l" t="t" r="r" b="b"/>
            <a:pathLst>
              <a:path w="85725" h="77153" extrusionOk="0">
                <a:moveTo>
                  <a:pt x="85725" y="38576"/>
                </a:moveTo>
                <a:lnTo>
                  <a:pt x="0" y="0"/>
                </a:lnTo>
                <a:lnTo>
                  <a:pt x="0" y="77153"/>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03" name="Google Shape;603;p61"/>
          <p:cNvSpPr/>
          <p:nvPr/>
        </p:nvSpPr>
        <p:spPr>
          <a:xfrm>
            <a:off x="4476750" y="3971925"/>
            <a:ext cx="7143750" cy="5905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700"/>
              <a:buFont typeface="Cambria Math"/>
              <a:buNone/>
            </a:pPr>
            <a:r>
              <a:rPr lang="en-US" sz="2700" b="0">
                <a:solidFill>
                  <a:srgbClr val="111111"/>
                </a:solidFill>
                <a:latin typeface="Cambria Math"/>
                <a:ea typeface="Cambria Math"/>
                <a:cs typeface="Cambria Math"/>
                <a:sym typeface="Cambria Math"/>
              </a:rPr>
              <a:t>0 ≤ αᵢ ≤ Cᵢ</a:t>
            </a:r>
            <a:endParaRPr/>
          </a:p>
        </p:txBody>
      </p:sp>
      <p:cxnSp>
        <p:nvCxnSpPr>
          <p:cNvPr id="604" name="Google Shape;604;p61"/>
          <p:cNvCxnSpPr/>
          <p:nvPr/>
        </p:nvCxnSpPr>
        <p:spPr>
          <a:xfrm>
            <a:off x="571500" y="4953000"/>
            <a:ext cx="11049000" cy="95"/>
          </a:xfrm>
          <a:prstGeom prst="straightConnector1">
            <a:avLst/>
          </a:prstGeom>
          <a:noFill/>
          <a:ln w="9525" cap="flat" cmpd="sng">
            <a:solidFill>
              <a:srgbClr val="D8DDE2"/>
            </a:solidFill>
            <a:prstDash val="solid"/>
            <a:round/>
            <a:headEnd type="none" w="sm" len="sm"/>
            <a:tailEnd type="none" w="sm" len="sm"/>
          </a:ln>
        </p:spPr>
      </p:cxnSp>
      <p:sp>
        <p:nvSpPr>
          <p:cNvPr id="605" name="Google Shape;605;p61"/>
          <p:cNvSpPr/>
          <p:nvPr/>
        </p:nvSpPr>
        <p:spPr>
          <a:xfrm>
            <a:off x="571500" y="5162550"/>
            <a:ext cx="11049000" cy="6667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925"/>
              <a:buFont typeface="Cambria Math"/>
              <a:buNone/>
            </a:pPr>
            <a:r>
              <a:rPr lang="en-US" sz="2925" b="0">
                <a:solidFill>
                  <a:srgbClr val="A02337"/>
                </a:solidFill>
                <a:latin typeface="Cambria Math"/>
                <a:ea typeface="Cambria Math"/>
                <a:cs typeface="Cambria Math"/>
                <a:sym typeface="Cambria Math"/>
              </a:rPr>
              <a:t>maximize   D(α) = Σᵢ αᵢ − ½w(α)²</a:t>
            </a:r>
            <a:endParaRPr/>
          </a:p>
        </p:txBody>
      </p:sp>
      <p:sp>
        <p:nvSpPr>
          <p:cNvPr id="606" name="Google Shape;606;p61"/>
          <p:cNvSpPr/>
          <p:nvPr/>
        </p:nvSpPr>
        <p:spPr>
          <a:xfrm>
            <a:off x="571500" y="5981700"/>
            <a:ext cx="11049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Arial"/>
              <a:buNone/>
            </a:pPr>
            <a:r>
              <a:rPr lang="en-US" sz="2100" b="0">
                <a:solidFill>
                  <a:srgbClr val="111111"/>
                </a:solidFill>
                <a:latin typeface="Arial"/>
                <a:ea typeface="Arial"/>
                <a:cs typeface="Arial"/>
                <a:sym typeface="Arial"/>
              </a:rPr>
              <a:t>Only α is optimized now. w on the right is computed from α.</a:t>
            </a:r>
            <a:endParaRPr/>
          </a:p>
        </p:txBody>
      </p:sp>
      <p:sp>
        <p:nvSpPr>
          <p:cNvPr id="607" name="Google Shape;607;p61"/>
          <p:cNvSpPr/>
          <p:nvPr/>
        </p:nvSpPr>
        <p:spPr>
          <a:xfrm>
            <a:off x="571500" y="6419850"/>
            <a:ext cx="11049000" cy="2571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725"/>
              <a:buFont typeface="Arial"/>
              <a:buNone/>
            </a:pPr>
            <a:r>
              <a:rPr lang="en-US" sz="1725" b="0">
                <a:solidFill>
                  <a:srgbClr val="62666B"/>
                </a:solidFill>
                <a:latin typeface="Arial"/>
                <a:ea typeface="Arial"/>
                <a:cs typeface="Arial"/>
                <a:sym typeface="Arial"/>
              </a:rPr>
              <a:t>D is a lower bound on the best original training objective.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62"/>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Why a step changes two coefficients</a:t>
            </a:r>
            <a:endParaRPr/>
          </a:p>
        </p:txBody>
      </p:sp>
      <p:sp>
        <p:nvSpPr>
          <p:cNvPr id="614" name="Google Shape;614;p62"/>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06</a:t>
            </a:r>
            <a:endParaRPr/>
          </a:p>
        </p:txBody>
      </p:sp>
      <p:graphicFrame>
        <p:nvGraphicFramePr>
          <p:cNvPr id="615" name="Google Shape;615;p62"/>
          <p:cNvGraphicFramePr/>
          <p:nvPr/>
        </p:nvGraphicFramePr>
        <p:xfrm>
          <a:off x="571500" y="1133475"/>
          <a:ext cx="3000000" cy="3000000"/>
        </p:xfrm>
        <a:graphic>
          <a:graphicData uri="http://schemas.openxmlformats.org/drawingml/2006/table">
            <a:tbl>
              <a:tblPr>
                <a:noFill/>
                <a:tableStyleId>{33BF7814-6BB6-4E7D-BF07-EC2FA526ABCD}</a:tableStyleId>
              </a:tblPr>
              <a:tblGrid>
                <a:gridCol w="39052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381250">
                  <a:extLst>
                    <a:ext uri="{9D8B030D-6E8A-4147-A177-3AD203B41FA5}">
                      <a16:colId xmlns:a16="http://schemas.microsoft.com/office/drawing/2014/main" val="20003"/>
                    </a:ext>
                  </a:extLst>
                </a:gridCol>
              </a:tblGrid>
              <a:tr h="469900">
                <a:tc>
                  <a:txBody>
                    <a:bodyPr/>
                    <a:lstStyle/>
                    <a:p>
                      <a:pPr marL="0" marR="0" lvl="0" indent="0" algn="l"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Sample</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x</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y</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C (preset)</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extLst>
                  <a:ext uri="{0D108BD9-81ED-4DB2-BD59-A6C34878D82A}">
                    <a16:rowId xmlns:a16="http://schemas.microsoft.com/office/drawing/2014/main" val="10000"/>
                  </a:ext>
                </a:extLst>
              </a:tr>
              <a:tr h="469900">
                <a:tc>
                  <a:txBody>
                    <a:bodyPr/>
                    <a:lstStyle/>
                    <a:p>
                      <a:pPr marL="0" marR="0" lvl="0" indent="0" algn="l"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 fraud</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1.2</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69900">
                <a:tc>
                  <a:txBody>
                    <a:bodyPr/>
                    <a:lstStyle/>
                    <a:p>
                      <a:pPr marL="0" marR="0" lvl="0" indent="0" algn="l"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2: normal</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0.4</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
        <p:nvSpPr>
          <p:cNvPr id="616" name="Google Shape;616;p62"/>
          <p:cNvSpPr/>
          <p:nvPr/>
        </p:nvSpPr>
        <p:spPr>
          <a:xfrm>
            <a:off x="571500" y="2743200"/>
            <a:ext cx="11049000" cy="5143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550"/>
              <a:buFont typeface="Cambria Math"/>
              <a:buNone/>
            </a:pPr>
            <a:r>
              <a:rPr lang="en-US" sz="2550" b="0">
                <a:solidFill>
                  <a:srgbClr val="215C9D"/>
                </a:solidFill>
                <a:latin typeface="Cambria Math"/>
                <a:ea typeface="Cambria Math"/>
                <a:cs typeface="Cambria Math"/>
                <a:sym typeface="Cambria Math"/>
              </a:rPr>
              <a:t>Start:   α = (0,0),   w = b = 0</a:t>
            </a:r>
            <a:endParaRPr/>
          </a:p>
        </p:txBody>
      </p:sp>
      <p:cxnSp>
        <p:nvCxnSpPr>
          <p:cNvPr id="617" name="Google Shape;617;p62"/>
          <p:cNvCxnSpPr/>
          <p:nvPr/>
        </p:nvCxnSpPr>
        <p:spPr>
          <a:xfrm>
            <a:off x="942975" y="5362575"/>
            <a:ext cx="4972050" cy="95"/>
          </a:xfrm>
          <a:prstGeom prst="straightConnector1">
            <a:avLst/>
          </a:prstGeom>
          <a:noFill/>
          <a:ln w="14275" cap="flat" cmpd="sng">
            <a:solidFill>
              <a:srgbClr val="8A9096"/>
            </a:solidFill>
            <a:prstDash val="solid"/>
            <a:round/>
            <a:headEnd type="none" w="sm" len="sm"/>
            <a:tailEnd type="none" w="sm" len="sm"/>
          </a:ln>
        </p:spPr>
      </p:cxnSp>
      <p:cxnSp>
        <p:nvCxnSpPr>
          <p:cNvPr id="618" name="Google Shape;618;p62"/>
          <p:cNvCxnSpPr/>
          <p:nvPr/>
        </p:nvCxnSpPr>
        <p:spPr>
          <a:xfrm rot="10800000" flipH="1">
            <a:off x="1123950" y="3438525"/>
            <a:ext cx="95" cy="2085975"/>
          </a:xfrm>
          <a:prstGeom prst="straightConnector1">
            <a:avLst/>
          </a:prstGeom>
          <a:noFill/>
          <a:ln w="14275" cap="flat" cmpd="sng">
            <a:solidFill>
              <a:srgbClr val="8A9096"/>
            </a:solidFill>
            <a:prstDash val="solid"/>
            <a:round/>
            <a:headEnd type="none" w="sm" len="sm"/>
            <a:tailEnd type="none" w="sm" len="sm"/>
          </a:ln>
        </p:spPr>
      </p:cxnSp>
      <p:sp>
        <p:nvSpPr>
          <p:cNvPr id="619" name="Google Shape;619;p62"/>
          <p:cNvSpPr/>
          <p:nvPr/>
        </p:nvSpPr>
        <p:spPr>
          <a:xfrm>
            <a:off x="1123950" y="3581400"/>
            <a:ext cx="2028825" cy="1781175"/>
          </a:xfrm>
          <a:custGeom>
            <a:avLst/>
            <a:gdLst/>
            <a:ahLst/>
            <a:cxnLst/>
            <a:rect l="l" t="t" r="r" b="b"/>
            <a:pathLst>
              <a:path w="2028825" h="1781175" extrusionOk="0">
                <a:moveTo>
                  <a:pt x="0" y="1781175"/>
                </a:moveTo>
                <a:lnTo>
                  <a:pt x="2028825" y="0"/>
                </a:lnTo>
              </a:path>
            </a:pathLst>
          </a:custGeom>
          <a:noFill/>
          <a:ln w="285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0" name="Google Shape;620;p62"/>
          <p:cNvSpPr/>
          <p:nvPr/>
        </p:nvSpPr>
        <p:spPr>
          <a:xfrm>
            <a:off x="1076325" y="5314950"/>
            <a:ext cx="95250" cy="95250"/>
          </a:xfrm>
          <a:prstGeom prst="ellipse">
            <a:avLst/>
          </a:prstGeom>
          <a:solidFill>
            <a:srgbClr val="111111"/>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1" name="Google Shape;621;p62"/>
          <p:cNvSpPr/>
          <p:nvPr/>
        </p:nvSpPr>
        <p:spPr>
          <a:xfrm>
            <a:off x="2257425" y="5305425"/>
            <a:ext cx="114300" cy="1143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2" name="Google Shape;622;p62"/>
          <p:cNvSpPr/>
          <p:nvPr/>
        </p:nvSpPr>
        <p:spPr>
          <a:xfrm>
            <a:off x="2257425" y="4257675"/>
            <a:ext cx="114300" cy="114300"/>
          </a:xfrm>
          <a:prstGeom prst="ellipse">
            <a:avLst/>
          </a:prstGeom>
          <a:solidFill>
            <a:srgbClr val="215C9D"/>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623" name="Google Shape;623;p62"/>
          <p:cNvCxnSpPr/>
          <p:nvPr/>
        </p:nvCxnSpPr>
        <p:spPr>
          <a:xfrm>
            <a:off x="1200150" y="5362575"/>
            <a:ext cx="1019175" cy="95"/>
          </a:xfrm>
          <a:prstGeom prst="straightConnector1">
            <a:avLst/>
          </a:prstGeom>
          <a:noFill/>
          <a:ln w="20950" cap="flat" cmpd="sng">
            <a:solidFill>
              <a:srgbClr val="A02337"/>
            </a:solidFill>
            <a:prstDash val="solid"/>
            <a:round/>
            <a:headEnd type="none" w="sm" len="sm"/>
            <a:tailEnd type="none" w="sm" len="sm"/>
          </a:ln>
        </p:spPr>
      </p:cxnSp>
      <p:sp>
        <p:nvSpPr>
          <p:cNvPr id="624" name="Google Shape;624;p62"/>
          <p:cNvSpPr/>
          <p:nvPr/>
        </p:nvSpPr>
        <p:spPr>
          <a:xfrm>
            <a:off x="2133600" y="5323999"/>
            <a:ext cx="85725" cy="77152"/>
          </a:xfrm>
          <a:custGeom>
            <a:avLst/>
            <a:gdLst/>
            <a:ahLst/>
            <a:cxnLst/>
            <a:rect l="l" t="t" r="r" b="b"/>
            <a:pathLst>
              <a:path w="85725" h="77152" extrusionOk="0">
                <a:moveTo>
                  <a:pt x="85725" y="38576"/>
                </a:moveTo>
                <a:lnTo>
                  <a:pt x="0" y="0"/>
                </a:lnTo>
                <a:lnTo>
                  <a:pt x="0" y="77152"/>
                </a:lnTo>
                <a:close/>
              </a:path>
            </a:pathLst>
          </a:custGeom>
          <a:solidFill>
            <a:srgbClr val="A02337"/>
          </a:solidFill>
          <a:ln w="9525" cap="flat" cmpd="sng">
            <a:solidFill>
              <a:srgbClr val="A0233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625" name="Google Shape;625;p62"/>
          <p:cNvCxnSpPr/>
          <p:nvPr/>
        </p:nvCxnSpPr>
        <p:spPr>
          <a:xfrm rot="10800000" flipH="1">
            <a:off x="1181100" y="4391025"/>
            <a:ext cx="1038225" cy="923925"/>
          </a:xfrm>
          <a:prstGeom prst="straightConnector1">
            <a:avLst/>
          </a:prstGeom>
          <a:noFill/>
          <a:ln w="20950" cap="flat" cmpd="sng">
            <a:solidFill>
              <a:srgbClr val="215C9D"/>
            </a:solidFill>
            <a:prstDash val="solid"/>
            <a:round/>
            <a:headEnd type="none" w="sm" len="sm"/>
            <a:tailEnd type="none" w="sm" len="sm"/>
          </a:ln>
        </p:spPr>
      </p:cxnSp>
      <p:sp>
        <p:nvSpPr>
          <p:cNvPr id="626" name="Google Shape;626;p62"/>
          <p:cNvSpPr/>
          <p:nvPr/>
        </p:nvSpPr>
        <p:spPr>
          <a:xfrm>
            <a:off x="2129641" y="4391025"/>
            <a:ext cx="89684" cy="85807"/>
          </a:xfrm>
          <a:custGeom>
            <a:avLst/>
            <a:gdLst/>
            <a:ahLst/>
            <a:cxnLst/>
            <a:rect l="l" t="t" r="r" b="b"/>
            <a:pathLst>
              <a:path w="89684" h="85807" extrusionOk="0">
                <a:moveTo>
                  <a:pt x="89684" y="0"/>
                </a:moveTo>
                <a:lnTo>
                  <a:pt x="0" y="28171"/>
                </a:lnTo>
                <a:lnTo>
                  <a:pt x="51290" y="85807"/>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27" name="Google Shape;627;p62"/>
          <p:cNvSpPr/>
          <p:nvPr/>
        </p:nvSpPr>
        <p:spPr>
          <a:xfrm>
            <a:off x="5953125" y="5172075"/>
            <a:ext cx="619125"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Cambria Math"/>
              <a:buNone/>
            </a:pPr>
            <a:r>
              <a:rPr lang="en-US" sz="2100" b="0">
                <a:solidFill>
                  <a:srgbClr val="111111"/>
                </a:solidFill>
                <a:latin typeface="Cambria Math"/>
                <a:ea typeface="Cambria Math"/>
                <a:cs typeface="Cambria Math"/>
                <a:sym typeface="Cambria Math"/>
              </a:rPr>
              <a:t>α₁</a:t>
            </a:r>
            <a:endParaRPr/>
          </a:p>
        </p:txBody>
      </p:sp>
      <p:sp>
        <p:nvSpPr>
          <p:cNvPr id="628" name="Google Shape;628;p62"/>
          <p:cNvSpPr/>
          <p:nvPr/>
        </p:nvSpPr>
        <p:spPr>
          <a:xfrm>
            <a:off x="647700" y="3343275"/>
            <a:ext cx="619125"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Cambria Math"/>
              <a:buNone/>
            </a:pPr>
            <a:r>
              <a:rPr lang="en-US" sz="2100" b="0">
                <a:solidFill>
                  <a:srgbClr val="111111"/>
                </a:solidFill>
                <a:latin typeface="Cambria Math"/>
                <a:ea typeface="Cambria Math"/>
                <a:cs typeface="Cambria Math"/>
                <a:sym typeface="Cambria Math"/>
              </a:rPr>
              <a:t>α₂</a:t>
            </a:r>
            <a:endParaRPr/>
          </a:p>
        </p:txBody>
      </p:sp>
      <p:sp>
        <p:nvSpPr>
          <p:cNvPr id="629" name="Google Shape;629;p62"/>
          <p:cNvSpPr/>
          <p:nvPr/>
        </p:nvSpPr>
        <p:spPr>
          <a:xfrm>
            <a:off x="628650" y="5667375"/>
            <a:ext cx="1381125" cy="3238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1875"/>
              <a:buFont typeface="Arial"/>
              <a:buNone/>
            </a:pPr>
            <a:r>
              <a:rPr lang="en-US" sz="1875" b="0">
                <a:solidFill>
                  <a:srgbClr val="111111"/>
                </a:solidFill>
                <a:latin typeface="Arial"/>
                <a:ea typeface="Arial"/>
                <a:cs typeface="Arial"/>
                <a:sym typeface="Arial"/>
              </a:rPr>
              <a:t>(0,0)</a:t>
            </a:r>
            <a:endParaRPr/>
          </a:p>
        </p:txBody>
      </p:sp>
      <p:sp>
        <p:nvSpPr>
          <p:cNvPr id="630" name="Google Shape;630;p62"/>
          <p:cNvSpPr/>
          <p:nvPr/>
        </p:nvSpPr>
        <p:spPr>
          <a:xfrm>
            <a:off x="2619375" y="5505450"/>
            <a:ext cx="171450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025"/>
              <a:buFont typeface="Arial"/>
              <a:buNone/>
            </a:pPr>
            <a:r>
              <a:rPr lang="en-US" sz="2025" b="0">
                <a:solidFill>
                  <a:srgbClr val="A02337"/>
                </a:solidFill>
                <a:latin typeface="Arial"/>
                <a:ea typeface="Arial"/>
                <a:cs typeface="Arial"/>
                <a:sym typeface="Arial"/>
              </a:rPr>
              <a:t>(0.1,0)</a:t>
            </a:r>
            <a:endParaRPr/>
          </a:p>
        </p:txBody>
      </p:sp>
      <p:sp>
        <p:nvSpPr>
          <p:cNvPr id="631" name="Google Shape;631;p62"/>
          <p:cNvSpPr/>
          <p:nvPr/>
        </p:nvSpPr>
        <p:spPr>
          <a:xfrm>
            <a:off x="2619375" y="4124325"/>
            <a:ext cx="209550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025"/>
              <a:buFont typeface="Arial"/>
              <a:buNone/>
            </a:pPr>
            <a:r>
              <a:rPr lang="en-US" sz="2025" b="0">
                <a:solidFill>
                  <a:srgbClr val="215C9D"/>
                </a:solidFill>
                <a:latin typeface="Arial"/>
                <a:ea typeface="Arial"/>
                <a:cs typeface="Arial"/>
                <a:sym typeface="Arial"/>
              </a:rPr>
              <a:t>(0.1,0.1)</a:t>
            </a:r>
            <a:endParaRPr/>
          </a:p>
        </p:txBody>
      </p:sp>
      <p:sp>
        <p:nvSpPr>
          <p:cNvPr id="632" name="Google Shape;632;p62"/>
          <p:cNvSpPr/>
          <p:nvPr/>
        </p:nvSpPr>
        <p:spPr>
          <a:xfrm>
            <a:off x="7048500" y="3552825"/>
            <a:ext cx="4572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Arial"/>
              <a:buNone/>
            </a:pPr>
            <a:r>
              <a:rPr lang="en-US" sz="2100" b="1">
                <a:solidFill>
                  <a:srgbClr val="111111"/>
                </a:solidFill>
                <a:latin typeface="Arial"/>
                <a:ea typeface="Arial"/>
                <a:cs typeface="Arial"/>
                <a:sym typeface="Arial"/>
              </a:rPr>
              <a:t>One changes: balance breaks</a:t>
            </a:r>
            <a:endParaRPr/>
          </a:p>
        </p:txBody>
      </p:sp>
      <p:sp>
        <p:nvSpPr>
          <p:cNvPr id="633" name="Google Shape;633;p62"/>
          <p:cNvSpPr/>
          <p:nvPr/>
        </p:nvSpPr>
        <p:spPr>
          <a:xfrm>
            <a:off x="7048500" y="4038600"/>
            <a:ext cx="4572000" cy="4953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625"/>
              <a:buFont typeface="Cambria Math"/>
              <a:buNone/>
            </a:pPr>
            <a:r>
              <a:rPr lang="en-US" sz="2625" b="0">
                <a:solidFill>
                  <a:srgbClr val="A02337"/>
                </a:solidFill>
                <a:latin typeface="Cambria Math"/>
                <a:ea typeface="Cambria Math"/>
                <a:cs typeface="Cambria Math"/>
                <a:sym typeface="Cambria Math"/>
              </a:rPr>
              <a:t>0.1 − 0 ≠ 0</a:t>
            </a:r>
            <a:endParaRPr/>
          </a:p>
        </p:txBody>
      </p:sp>
      <p:sp>
        <p:nvSpPr>
          <p:cNvPr id="634" name="Google Shape;634;p62"/>
          <p:cNvSpPr/>
          <p:nvPr/>
        </p:nvSpPr>
        <p:spPr>
          <a:xfrm>
            <a:off x="7048500" y="4743450"/>
            <a:ext cx="4572000" cy="3714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Arial"/>
              <a:buNone/>
            </a:pPr>
            <a:r>
              <a:rPr lang="en-US" sz="2100" b="1">
                <a:solidFill>
                  <a:srgbClr val="111111"/>
                </a:solidFill>
                <a:latin typeface="Arial"/>
                <a:ea typeface="Arial"/>
                <a:cs typeface="Arial"/>
                <a:sym typeface="Arial"/>
              </a:rPr>
              <a:t>Both change: balance stays</a:t>
            </a:r>
            <a:endParaRPr/>
          </a:p>
        </p:txBody>
      </p:sp>
      <p:sp>
        <p:nvSpPr>
          <p:cNvPr id="635" name="Google Shape;635;p62"/>
          <p:cNvSpPr/>
          <p:nvPr/>
        </p:nvSpPr>
        <p:spPr>
          <a:xfrm>
            <a:off x="7048500" y="5229225"/>
            <a:ext cx="4572000" cy="4953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625"/>
              <a:buFont typeface="Cambria Math"/>
              <a:buNone/>
            </a:pPr>
            <a:r>
              <a:rPr lang="en-US" sz="2625" b="0">
                <a:solidFill>
                  <a:srgbClr val="215C9D"/>
                </a:solidFill>
                <a:latin typeface="Cambria Math"/>
                <a:ea typeface="Cambria Math"/>
                <a:cs typeface="Cambria Math"/>
                <a:sym typeface="Cambria Math"/>
              </a:rPr>
              <a:t>0.1 − 0.1 = 0</a:t>
            </a:r>
            <a:endParaRPr/>
          </a:p>
        </p:txBody>
      </p:sp>
      <p:sp>
        <p:nvSpPr>
          <p:cNvPr id="636" name="Google Shape;636;p62"/>
          <p:cNvSpPr/>
          <p:nvPr/>
        </p:nvSpPr>
        <p:spPr>
          <a:xfrm>
            <a:off x="571500" y="6267450"/>
            <a:ext cx="11049000" cy="4095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Two coefficients form the smallest nontrivial update that preserves balance.</a:t>
            </a:r>
            <a:endParaRPr/>
          </a:p>
        </p:txBody>
      </p:sp>
      <p:sp>
        <p:nvSpPr>
          <p:cNvPr id="637" name="Google Shape;637;p62"/>
          <p:cNvSpPr/>
          <p:nvPr/>
        </p:nvSpPr>
        <p:spPr>
          <a:xfrm>
            <a:off x="571500" y="2571750"/>
            <a:ext cx="11049000" cy="1714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D"/>
              </a:buClr>
              <a:buSzPts val="1300"/>
              <a:buFont typeface="Arial"/>
              <a:buNone/>
            </a:pPr>
            <a:r>
              <a:rPr lang="en-US" sz="1300" b="0">
                <a:solidFill>
                  <a:srgbClr val="62666D"/>
                </a:solidFill>
                <a:latin typeface="Arial"/>
                <a:ea typeface="Arial"/>
                <a:cs typeface="Arial"/>
                <a:sym typeface="Arial"/>
              </a:rPr>
              <a:t>Illustrative bounds for hand calculation; not benchmark settings.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63"/>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The legal interval for this pair</a:t>
            </a:r>
            <a:endParaRPr/>
          </a:p>
        </p:txBody>
      </p:sp>
      <p:sp>
        <p:nvSpPr>
          <p:cNvPr id="644" name="Google Shape;644;p63"/>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07</a:t>
            </a:r>
            <a:endParaRPr/>
          </a:p>
        </p:txBody>
      </p:sp>
      <p:sp>
        <p:nvSpPr>
          <p:cNvPr id="645" name="Google Shape;645;p63"/>
          <p:cNvSpPr/>
          <p:nvPr/>
        </p:nvSpPr>
        <p:spPr>
          <a:xfrm>
            <a:off x="571500" y="1057275"/>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Allowed moves are the balance line inside both coefficient bounds.</a:t>
            </a:r>
            <a:endParaRPr/>
          </a:p>
        </p:txBody>
      </p:sp>
      <p:sp>
        <p:nvSpPr>
          <p:cNvPr id="646" name="Google Shape;646;p63"/>
          <p:cNvSpPr/>
          <p:nvPr/>
        </p:nvSpPr>
        <p:spPr>
          <a:xfrm>
            <a:off x="1009650" y="2819400"/>
            <a:ext cx="4572000" cy="1524000"/>
          </a:xfrm>
          <a:prstGeom prst="rect">
            <a:avLst/>
          </a:prstGeom>
          <a:noFill/>
          <a:ln w="1427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647" name="Google Shape;647;p63"/>
          <p:cNvCxnSpPr/>
          <p:nvPr/>
        </p:nvCxnSpPr>
        <p:spPr>
          <a:xfrm>
            <a:off x="857250" y="4343400"/>
            <a:ext cx="5105400" cy="95"/>
          </a:xfrm>
          <a:prstGeom prst="straightConnector1">
            <a:avLst/>
          </a:prstGeom>
          <a:noFill/>
          <a:ln w="14275" cap="flat" cmpd="sng">
            <a:solidFill>
              <a:srgbClr val="8A9096"/>
            </a:solidFill>
            <a:prstDash val="solid"/>
            <a:round/>
            <a:headEnd type="none" w="sm" len="sm"/>
            <a:tailEnd type="none" w="sm" len="sm"/>
          </a:ln>
        </p:spPr>
      </p:cxnSp>
      <p:cxnSp>
        <p:nvCxnSpPr>
          <p:cNvPr id="648" name="Google Shape;648;p63"/>
          <p:cNvCxnSpPr/>
          <p:nvPr/>
        </p:nvCxnSpPr>
        <p:spPr>
          <a:xfrm rot="10800000" flipH="1">
            <a:off x="1009650" y="2362200"/>
            <a:ext cx="95" cy="2171700"/>
          </a:xfrm>
          <a:prstGeom prst="straightConnector1">
            <a:avLst/>
          </a:prstGeom>
          <a:noFill/>
          <a:ln w="14275" cap="flat" cmpd="sng">
            <a:solidFill>
              <a:srgbClr val="8A9096"/>
            </a:solidFill>
            <a:prstDash val="solid"/>
            <a:round/>
            <a:headEnd type="none" w="sm" len="sm"/>
            <a:tailEnd type="none" w="sm" len="sm"/>
          </a:ln>
        </p:spPr>
      </p:cxnSp>
      <p:sp>
        <p:nvSpPr>
          <p:cNvPr id="649" name="Google Shape;649;p63"/>
          <p:cNvSpPr/>
          <p:nvPr/>
        </p:nvSpPr>
        <p:spPr>
          <a:xfrm>
            <a:off x="1009650" y="2819400"/>
            <a:ext cx="1524000" cy="1524000"/>
          </a:xfrm>
          <a:custGeom>
            <a:avLst/>
            <a:gdLst/>
            <a:ahLst/>
            <a:cxnLst/>
            <a:rect l="l" t="t" r="r" b="b"/>
            <a:pathLst>
              <a:path w="1524000" h="1524000" extrusionOk="0">
                <a:moveTo>
                  <a:pt x="0" y="1524000"/>
                </a:moveTo>
                <a:lnTo>
                  <a:pt x="1524000" y="0"/>
                </a:lnTo>
              </a:path>
            </a:pathLst>
          </a:custGeom>
          <a:noFill/>
          <a:ln w="476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0" name="Google Shape;650;p63"/>
          <p:cNvSpPr/>
          <p:nvPr/>
        </p:nvSpPr>
        <p:spPr>
          <a:xfrm>
            <a:off x="962025" y="4295775"/>
            <a:ext cx="95250" cy="95250"/>
          </a:xfrm>
          <a:prstGeom prst="ellipse">
            <a:avLst/>
          </a:prstGeom>
          <a:solidFill>
            <a:srgbClr val="111111"/>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1" name="Google Shape;651;p63"/>
          <p:cNvSpPr/>
          <p:nvPr/>
        </p:nvSpPr>
        <p:spPr>
          <a:xfrm>
            <a:off x="2476500" y="2762250"/>
            <a:ext cx="114300" cy="1143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52" name="Google Shape;652;p63"/>
          <p:cNvSpPr/>
          <p:nvPr/>
        </p:nvSpPr>
        <p:spPr>
          <a:xfrm>
            <a:off x="6038850" y="4143375"/>
            <a:ext cx="619125" cy="381000"/>
          </a:xfrm>
          <a:prstGeom prst="rect">
            <a:avLst/>
          </a:prstGeom>
          <a:blipFill rotWithShape="1">
            <a:blip r:embed="rId3">
              <a:alphaModFix/>
            </a:blip>
            <a:stretch>
              <a:fillRect l="-10000" b="-32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SzPts val="1800"/>
              <a:buFont typeface="Arial"/>
              <a:buNone/>
            </a:pPr>
            <a:r>
              <a:rPr lang="en-US" sz="1800">
                <a:latin typeface="Arial"/>
                <a:ea typeface="Arial"/>
                <a:cs typeface="Arial"/>
                <a:sym typeface="Arial"/>
              </a:rPr>
              <a:t> </a:t>
            </a:r>
            <a:endParaRPr/>
          </a:p>
        </p:txBody>
      </p:sp>
      <p:sp>
        <p:nvSpPr>
          <p:cNvPr id="653" name="Google Shape;653;p63"/>
          <p:cNvSpPr/>
          <p:nvPr/>
        </p:nvSpPr>
        <p:spPr>
          <a:xfrm>
            <a:off x="571500" y="2219325"/>
            <a:ext cx="619125" cy="381000"/>
          </a:xfrm>
          <a:prstGeom prst="rect">
            <a:avLst/>
          </a:prstGeom>
          <a:blipFill rotWithShape="1">
            <a:blip r:embed="rId4">
              <a:alphaModFix/>
            </a:blip>
            <a:stretch>
              <a:fillRect l="-12245" b="-3226"/>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SzPts val="1800"/>
              <a:buFont typeface="Arial"/>
              <a:buNone/>
            </a:pPr>
            <a:r>
              <a:rPr lang="en-US" sz="1800">
                <a:latin typeface="Arial"/>
                <a:ea typeface="Arial"/>
                <a:cs typeface="Arial"/>
                <a:sym typeface="Arial"/>
              </a:rPr>
              <a:t> </a:t>
            </a:r>
            <a:endParaRPr/>
          </a:p>
        </p:txBody>
      </p:sp>
      <p:sp>
        <p:nvSpPr>
          <p:cNvPr id="654" name="Google Shape;654;p63"/>
          <p:cNvSpPr/>
          <p:nvPr/>
        </p:nvSpPr>
        <p:spPr>
          <a:xfrm>
            <a:off x="1171575" y="2428875"/>
            <a:ext cx="2095500" cy="3524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C₂ = 0.4</a:t>
            </a:r>
            <a:endParaRPr/>
          </a:p>
        </p:txBody>
      </p:sp>
      <p:sp>
        <p:nvSpPr>
          <p:cNvPr id="655" name="Google Shape;655;p63"/>
          <p:cNvSpPr/>
          <p:nvPr/>
        </p:nvSpPr>
        <p:spPr>
          <a:xfrm>
            <a:off x="4591050" y="4572000"/>
            <a:ext cx="18097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C₁ = 1.2</a:t>
            </a:r>
            <a:endParaRPr/>
          </a:p>
        </p:txBody>
      </p:sp>
      <p:sp>
        <p:nvSpPr>
          <p:cNvPr id="656" name="Google Shape;656;p63"/>
          <p:cNvSpPr/>
          <p:nvPr/>
        </p:nvSpPr>
        <p:spPr>
          <a:xfrm>
            <a:off x="695325" y="4572000"/>
            <a:ext cx="4762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950"/>
              <a:buFont typeface="Arial"/>
              <a:buNone/>
            </a:pPr>
            <a:r>
              <a:rPr lang="en-US" sz="1950" b="0">
                <a:solidFill>
                  <a:srgbClr val="62666B"/>
                </a:solidFill>
                <a:latin typeface="Arial"/>
                <a:ea typeface="Arial"/>
                <a:cs typeface="Arial"/>
                <a:sym typeface="Arial"/>
              </a:rPr>
              <a:t>0</a:t>
            </a:r>
            <a:endParaRPr/>
          </a:p>
        </p:txBody>
      </p:sp>
      <p:sp>
        <p:nvSpPr>
          <p:cNvPr id="657" name="Google Shape;657;p63"/>
          <p:cNvSpPr/>
          <p:nvPr/>
        </p:nvSpPr>
        <p:spPr>
          <a:xfrm>
            <a:off x="2305050" y="4572000"/>
            <a:ext cx="904875"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950"/>
              <a:buFont typeface="Arial"/>
              <a:buNone/>
            </a:pPr>
            <a:r>
              <a:rPr lang="en-US" sz="1950" b="0">
                <a:solidFill>
                  <a:srgbClr val="62666B"/>
                </a:solidFill>
                <a:latin typeface="Arial"/>
                <a:ea typeface="Arial"/>
                <a:cs typeface="Arial"/>
                <a:sym typeface="Arial"/>
              </a:rPr>
              <a:t>0.4</a:t>
            </a:r>
            <a:endParaRPr/>
          </a:p>
        </p:txBody>
      </p:sp>
      <p:sp>
        <p:nvSpPr>
          <p:cNvPr id="658" name="Google Shape;658;p63"/>
          <p:cNvSpPr/>
          <p:nvPr/>
        </p:nvSpPr>
        <p:spPr>
          <a:xfrm>
            <a:off x="2762250" y="2543175"/>
            <a:ext cx="2476500" cy="3810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175"/>
              <a:buFont typeface="Arial"/>
              <a:buNone/>
            </a:pPr>
            <a:r>
              <a:rPr lang="en-US" sz="2175" b="0">
                <a:solidFill>
                  <a:srgbClr val="A02337"/>
                </a:solidFill>
                <a:latin typeface="Arial"/>
                <a:ea typeface="Arial"/>
                <a:cs typeface="Arial"/>
                <a:sym typeface="Arial"/>
              </a:rPr>
              <a:t>(0.4,0.4)</a:t>
            </a:r>
            <a:endParaRPr/>
          </a:p>
        </p:txBody>
      </p:sp>
      <p:sp>
        <p:nvSpPr>
          <p:cNvPr id="659" name="Google Shape;659;p63"/>
          <p:cNvSpPr/>
          <p:nvPr/>
        </p:nvSpPr>
        <p:spPr>
          <a:xfrm>
            <a:off x="6762750" y="2114550"/>
            <a:ext cx="4857750" cy="6191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75"/>
              <a:buFont typeface="Cambria Math"/>
              <a:buNone/>
            </a:pPr>
            <a:r>
              <a:rPr lang="en-US" sz="2475" b="0">
                <a:solidFill>
                  <a:srgbClr val="111111"/>
                </a:solidFill>
                <a:latin typeface="Cambria Math"/>
                <a:ea typeface="Cambria Math"/>
                <a:cs typeface="Cambria Math"/>
                <a:sym typeface="Cambria Math"/>
              </a:rPr>
              <a:t>α₁ − α₂ = 0   ⇒   α₁ = α₂ = t</a:t>
            </a:r>
            <a:endParaRPr/>
          </a:p>
        </p:txBody>
      </p:sp>
      <p:sp>
        <p:nvSpPr>
          <p:cNvPr id="660" name="Google Shape;660;p63"/>
          <p:cNvSpPr/>
          <p:nvPr/>
        </p:nvSpPr>
        <p:spPr>
          <a:xfrm>
            <a:off x="6762750" y="3114675"/>
            <a:ext cx="4857750" cy="571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0 ≤ t ≤ 1.2,   0 ≤ t ≤ 0.4</a:t>
            </a:r>
            <a:endParaRPr/>
          </a:p>
        </p:txBody>
      </p:sp>
      <p:sp>
        <p:nvSpPr>
          <p:cNvPr id="661" name="Google Shape;661;p63"/>
          <p:cNvSpPr/>
          <p:nvPr/>
        </p:nvSpPr>
        <p:spPr>
          <a:xfrm>
            <a:off x="6762750" y="4143375"/>
            <a:ext cx="4857750" cy="6667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3000"/>
              <a:buFont typeface="Cambria Math"/>
              <a:buNone/>
            </a:pPr>
            <a:r>
              <a:rPr lang="en-US" sz="3000" b="0">
                <a:solidFill>
                  <a:srgbClr val="A02337"/>
                </a:solidFill>
                <a:latin typeface="Cambria Math"/>
                <a:ea typeface="Cambria Math"/>
                <a:cs typeface="Cambria Math"/>
                <a:sym typeface="Cambria Math"/>
              </a:rPr>
              <a:t>[L,H] = [0,0.4]</a:t>
            </a:r>
            <a:endParaRPr/>
          </a:p>
        </p:txBody>
      </p:sp>
      <p:sp>
        <p:nvSpPr>
          <p:cNvPr id="662" name="Google Shape;662;p63"/>
          <p:cNvSpPr/>
          <p:nvPr/>
        </p:nvSpPr>
        <p:spPr>
          <a:xfrm>
            <a:off x="6762750" y="5095875"/>
            <a:ext cx="485775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L: lower end       H: upper end</a:t>
            </a:r>
            <a:endParaRPr/>
          </a:p>
        </p:txBody>
      </p:sp>
      <p:cxnSp>
        <p:nvCxnSpPr>
          <p:cNvPr id="663" name="Google Shape;663;p63"/>
          <p:cNvCxnSpPr/>
          <p:nvPr/>
        </p:nvCxnSpPr>
        <p:spPr>
          <a:xfrm>
            <a:off x="571500" y="6048375"/>
            <a:ext cx="11049000" cy="95"/>
          </a:xfrm>
          <a:prstGeom prst="straightConnector1">
            <a:avLst/>
          </a:prstGeom>
          <a:noFill/>
          <a:ln w="9525" cap="flat" cmpd="sng">
            <a:solidFill>
              <a:srgbClr val="D8DDE2"/>
            </a:solidFill>
            <a:prstDash val="solid"/>
            <a:round/>
            <a:headEnd type="none" w="sm" len="sm"/>
            <a:tailEnd type="none" w="sm" len="sm"/>
          </a:ln>
        </p:spPr>
      </p:cxnSp>
      <p:sp>
        <p:nvSpPr>
          <p:cNvPr id="664" name="Google Shape;664;p63"/>
          <p:cNvSpPr/>
          <p:nvPr/>
        </p:nvSpPr>
        <p:spPr>
          <a:xfrm>
            <a:off x="571500" y="6200775"/>
            <a:ext cx="11049000" cy="419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We know the allowed interval. Now find the best point in it.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64"/>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i="0" u="none" strike="noStrike" cap="none">
                <a:solidFill>
                  <a:srgbClr val="FFFFFF"/>
                </a:solidFill>
                <a:latin typeface="Arial"/>
                <a:ea typeface="Arial"/>
                <a:cs typeface="Arial"/>
                <a:sym typeface="Arial"/>
              </a:rPr>
              <a:t>The best legal value</a:t>
            </a:r>
            <a:endParaRPr/>
          </a:p>
        </p:txBody>
      </p:sp>
      <p:sp>
        <p:nvSpPr>
          <p:cNvPr id="671" name="Google Shape;671;p64"/>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08</a:t>
            </a:r>
            <a:endParaRPr/>
          </a:p>
        </p:txBody>
      </p:sp>
      <p:sp>
        <p:nvSpPr>
          <p:cNvPr id="672" name="Google Shape;672;p64"/>
          <p:cNvSpPr/>
          <p:nvPr/>
        </p:nvSpPr>
        <p:spPr>
          <a:xfrm>
            <a:off x="571500" y="1057275"/>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Use the w and D relations from the dual slide.</a:t>
            </a:r>
            <a:endParaRPr/>
          </a:p>
        </p:txBody>
      </p:sp>
      <p:sp>
        <p:nvSpPr>
          <p:cNvPr id="673" name="Google Shape;673;p64"/>
          <p:cNvSpPr/>
          <p:nvPr/>
        </p:nvSpPr>
        <p:spPr>
          <a:xfrm>
            <a:off x="571500" y="1714500"/>
            <a:ext cx="11049000" cy="5619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700"/>
              <a:buFont typeface="Cambria Math"/>
              <a:buNone/>
            </a:pPr>
            <a:r>
              <a:rPr lang="en-US" sz="2700" b="0">
                <a:solidFill>
                  <a:srgbClr val="111111"/>
                </a:solidFill>
                <a:latin typeface="Cambria Math"/>
                <a:ea typeface="Cambria Math"/>
                <a:cs typeface="Cambria Math"/>
                <a:sym typeface="Cambria Math"/>
              </a:rPr>
              <a:t>w(t) = t(1)(1) + t(−1)(−1) = 2t</a:t>
            </a:r>
            <a:endParaRPr/>
          </a:p>
        </p:txBody>
      </p:sp>
      <p:sp>
        <p:nvSpPr>
          <p:cNvPr id="674" name="Google Shape;674;p64"/>
          <p:cNvSpPr/>
          <p:nvPr/>
        </p:nvSpPr>
        <p:spPr>
          <a:xfrm>
            <a:off x="571500" y="2447925"/>
            <a:ext cx="11049000" cy="571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700"/>
              <a:buFont typeface="Cambria Math"/>
              <a:buNone/>
            </a:pPr>
            <a:r>
              <a:rPr lang="en-US" sz="2700" b="0">
                <a:solidFill>
                  <a:srgbClr val="111111"/>
                </a:solidFill>
                <a:latin typeface="Cambria Math"/>
                <a:ea typeface="Cambria Math"/>
                <a:cs typeface="Cambria Math"/>
                <a:sym typeface="Cambria Math"/>
              </a:rPr>
              <a:t>D(t) = t + t − ½(2t)² = 2t − 2t²</a:t>
            </a:r>
            <a:endParaRPr/>
          </a:p>
        </p:txBody>
      </p:sp>
      <p:sp>
        <p:nvSpPr>
          <p:cNvPr id="675" name="Google Shape;675;p64"/>
          <p:cNvSpPr/>
          <p:nvPr/>
        </p:nvSpPr>
        <p:spPr>
          <a:xfrm>
            <a:off x="571500" y="3181350"/>
            <a:ext cx="11049000" cy="5715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850"/>
              <a:buFont typeface="Cambria Math"/>
              <a:buNone/>
            </a:pPr>
            <a:r>
              <a:rPr lang="en-US" sz="2850" b="0">
                <a:solidFill>
                  <a:srgbClr val="215C9D"/>
                </a:solidFill>
                <a:latin typeface="Cambria Math"/>
                <a:ea typeface="Cambria Math"/>
                <a:cs typeface="Cambria Math"/>
                <a:sym typeface="Cambria Math"/>
              </a:rPr>
              <a:t>D(t) = 0.5 − 2(t − 0.5)²</a:t>
            </a:r>
            <a:endParaRPr/>
          </a:p>
        </p:txBody>
      </p:sp>
      <p:cxnSp>
        <p:nvCxnSpPr>
          <p:cNvPr id="676" name="Google Shape;676;p64"/>
          <p:cNvCxnSpPr/>
          <p:nvPr/>
        </p:nvCxnSpPr>
        <p:spPr>
          <a:xfrm>
            <a:off x="7019925" y="5924550"/>
            <a:ext cx="4410075" cy="95"/>
          </a:xfrm>
          <a:prstGeom prst="straightConnector1">
            <a:avLst/>
          </a:prstGeom>
          <a:noFill/>
          <a:ln w="14275" cap="flat" cmpd="sng">
            <a:solidFill>
              <a:srgbClr val="8A9096"/>
            </a:solidFill>
            <a:prstDash val="solid"/>
            <a:round/>
            <a:headEnd type="none" w="sm" len="sm"/>
            <a:tailEnd type="none" w="sm" len="sm"/>
          </a:ln>
        </p:spPr>
      </p:cxnSp>
      <p:cxnSp>
        <p:nvCxnSpPr>
          <p:cNvPr id="677" name="Google Shape;677;p64"/>
          <p:cNvCxnSpPr/>
          <p:nvPr/>
        </p:nvCxnSpPr>
        <p:spPr>
          <a:xfrm rot="10800000" flipH="1">
            <a:off x="7239000" y="4048125"/>
            <a:ext cx="95" cy="2038350"/>
          </a:xfrm>
          <a:prstGeom prst="straightConnector1">
            <a:avLst/>
          </a:prstGeom>
          <a:noFill/>
          <a:ln w="14275" cap="flat" cmpd="sng">
            <a:solidFill>
              <a:srgbClr val="8A9096"/>
            </a:solidFill>
            <a:prstDash val="solid"/>
            <a:round/>
            <a:headEnd type="none" w="sm" len="sm"/>
            <a:tailEnd type="none" w="sm" len="sm"/>
          </a:ln>
        </p:spPr>
      </p:cxnSp>
      <p:sp>
        <p:nvSpPr>
          <p:cNvPr id="678" name="Google Shape;678;p64"/>
          <p:cNvSpPr/>
          <p:nvPr/>
        </p:nvSpPr>
        <p:spPr>
          <a:xfrm>
            <a:off x="7239000" y="4257675"/>
            <a:ext cx="3714750" cy="1666875"/>
          </a:xfrm>
          <a:custGeom>
            <a:avLst/>
            <a:gdLst/>
            <a:ahLst/>
            <a:cxnLst/>
            <a:rect l="l" t="t" r="r" b="b"/>
            <a:pathLst>
              <a:path w="3714750" h="1666875" extrusionOk="0">
                <a:moveTo>
                  <a:pt x="0" y="1666875"/>
                </a:moveTo>
                <a:lnTo>
                  <a:pt x="61913" y="1600867"/>
                </a:lnTo>
                <a:lnTo>
                  <a:pt x="123825" y="1536192"/>
                </a:lnTo>
                <a:lnTo>
                  <a:pt x="185738" y="1472851"/>
                </a:lnTo>
                <a:lnTo>
                  <a:pt x="247650" y="1410843"/>
                </a:lnTo>
                <a:lnTo>
                  <a:pt x="309563" y="1350169"/>
                </a:lnTo>
                <a:lnTo>
                  <a:pt x="371475" y="1290828"/>
                </a:lnTo>
                <a:lnTo>
                  <a:pt x="433388" y="1232821"/>
                </a:lnTo>
                <a:lnTo>
                  <a:pt x="495300" y="1176147"/>
                </a:lnTo>
                <a:lnTo>
                  <a:pt x="557213" y="1120807"/>
                </a:lnTo>
                <a:lnTo>
                  <a:pt x="619125" y="1066800"/>
                </a:lnTo>
                <a:lnTo>
                  <a:pt x="681038" y="1014127"/>
                </a:lnTo>
                <a:lnTo>
                  <a:pt x="742950" y="962787"/>
                </a:lnTo>
                <a:lnTo>
                  <a:pt x="804863" y="912781"/>
                </a:lnTo>
                <a:lnTo>
                  <a:pt x="866775" y="864108"/>
                </a:lnTo>
                <a:lnTo>
                  <a:pt x="928688" y="816769"/>
                </a:lnTo>
                <a:lnTo>
                  <a:pt x="990600" y="770763"/>
                </a:lnTo>
                <a:lnTo>
                  <a:pt x="1052513" y="726091"/>
                </a:lnTo>
                <a:lnTo>
                  <a:pt x="1114425" y="682752"/>
                </a:lnTo>
                <a:lnTo>
                  <a:pt x="1176338" y="640747"/>
                </a:lnTo>
                <a:lnTo>
                  <a:pt x="1238250" y="600075"/>
                </a:lnTo>
                <a:lnTo>
                  <a:pt x="1300163" y="560737"/>
                </a:lnTo>
                <a:lnTo>
                  <a:pt x="1362075" y="522732"/>
                </a:lnTo>
                <a:lnTo>
                  <a:pt x="1423988" y="486061"/>
                </a:lnTo>
                <a:lnTo>
                  <a:pt x="1485900" y="450723"/>
                </a:lnTo>
                <a:lnTo>
                  <a:pt x="1547813" y="416719"/>
                </a:lnTo>
                <a:lnTo>
                  <a:pt x="1609725" y="384048"/>
                </a:lnTo>
                <a:lnTo>
                  <a:pt x="1671638" y="352711"/>
                </a:lnTo>
                <a:lnTo>
                  <a:pt x="1733550" y="322707"/>
                </a:lnTo>
                <a:lnTo>
                  <a:pt x="1795463" y="294037"/>
                </a:lnTo>
                <a:lnTo>
                  <a:pt x="1857375" y="266700"/>
                </a:lnTo>
                <a:lnTo>
                  <a:pt x="1919288" y="240697"/>
                </a:lnTo>
                <a:lnTo>
                  <a:pt x="1981200" y="216027"/>
                </a:lnTo>
                <a:lnTo>
                  <a:pt x="2043113" y="192691"/>
                </a:lnTo>
                <a:lnTo>
                  <a:pt x="2105025" y="170688"/>
                </a:lnTo>
                <a:lnTo>
                  <a:pt x="2166938" y="150019"/>
                </a:lnTo>
                <a:lnTo>
                  <a:pt x="2228850" y="130683"/>
                </a:lnTo>
                <a:lnTo>
                  <a:pt x="2290763" y="112681"/>
                </a:lnTo>
                <a:lnTo>
                  <a:pt x="2352675" y="96012"/>
                </a:lnTo>
                <a:lnTo>
                  <a:pt x="2414588" y="80677"/>
                </a:lnTo>
                <a:lnTo>
                  <a:pt x="2476500" y="66675"/>
                </a:lnTo>
                <a:lnTo>
                  <a:pt x="2538413" y="54007"/>
                </a:lnTo>
                <a:lnTo>
                  <a:pt x="2600325" y="42672"/>
                </a:lnTo>
                <a:lnTo>
                  <a:pt x="2662238" y="32671"/>
                </a:lnTo>
                <a:lnTo>
                  <a:pt x="2724150" y="24003"/>
                </a:lnTo>
                <a:lnTo>
                  <a:pt x="2786063" y="16669"/>
                </a:lnTo>
                <a:lnTo>
                  <a:pt x="2847975" y="10668"/>
                </a:lnTo>
                <a:lnTo>
                  <a:pt x="2909888" y="6001"/>
                </a:lnTo>
                <a:lnTo>
                  <a:pt x="2971800" y="2667"/>
                </a:lnTo>
                <a:lnTo>
                  <a:pt x="3033713" y="667"/>
                </a:lnTo>
                <a:lnTo>
                  <a:pt x="3095625" y="0"/>
                </a:lnTo>
                <a:lnTo>
                  <a:pt x="3157538" y="667"/>
                </a:lnTo>
                <a:lnTo>
                  <a:pt x="3219450" y="2667"/>
                </a:lnTo>
                <a:lnTo>
                  <a:pt x="3281363" y="6001"/>
                </a:lnTo>
                <a:lnTo>
                  <a:pt x="3343275" y="10668"/>
                </a:lnTo>
                <a:lnTo>
                  <a:pt x="3405188" y="16669"/>
                </a:lnTo>
                <a:lnTo>
                  <a:pt x="3467100" y="24003"/>
                </a:lnTo>
                <a:lnTo>
                  <a:pt x="3529013" y="32671"/>
                </a:lnTo>
                <a:lnTo>
                  <a:pt x="3590925" y="42672"/>
                </a:lnTo>
                <a:lnTo>
                  <a:pt x="3652838" y="54007"/>
                </a:lnTo>
                <a:lnTo>
                  <a:pt x="3714750" y="66675"/>
                </a:lnTo>
              </a:path>
            </a:pathLst>
          </a:custGeom>
          <a:noFill/>
          <a:ln w="285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679" name="Google Shape;679;p64"/>
          <p:cNvCxnSpPr/>
          <p:nvPr/>
        </p:nvCxnSpPr>
        <p:spPr>
          <a:xfrm>
            <a:off x="7239000" y="6048375"/>
            <a:ext cx="2476500" cy="95"/>
          </a:xfrm>
          <a:prstGeom prst="straightConnector1">
            <a:avLst/>
          </a:prstGeom>
          <a:noFill/>
          <a:ln w="57150" cap="flat" cmpd="sng">
            <a:solidFill>
              <a:srgbClr val="215C9D"/>
            </a:solidFill>
            <a:prstDash val="solid"/>
            <a:round/>
            <a:headEnd type="none" w="sm" len="sm"/>
            <a:tailEnd type="none" w="sm" len="sm"/>
          </a:ln>
        </p:spPr>
      </p:cxnSp>
      <p:cxnSp>
        <p:nvCxnSpPr>
          <p:cNvPr id="680" name="Google Shape;680;p64"/>
          <p:cNvCxnSpPr/>
          <p:nvPr/>
        </p:nvCxnSpPr>
        <p:spPr>
          <a:xfrm>
            <a:off x="9715500" y="4324350"/>
            <a:ext cx="95" cy="1600200"/>
          </a:xfrm>
          <a:prstGeom prst="straightConnector1">
            <a:avLst/>
          </a:prstGeom>
          <a:noFill/>
          <a:ln w="12375" cap="flat" cmpd="sng">
            <a:solidFill>
              <a:srgbClr val="A02337"/>
            </a:solidFill>
            <a:prstDash val="dash"/>
            <a:round/>
            <a:headEnd type="none" w="sm" len="sm"/>
            <a:tailEnd type="none" w="sm" len="sm"/>
          </a:ln>
        </p:spPr>
      </p:cxnSp>
      <p:cxnSp>
        <p:nvCxnSpPr>
          <p:cNvPr id="681" name="Google Shape;681;p64"/>
          <p:cNvCxnSpPr/>
          <p:nvPr/>
        </p:nvCxnSpPr>
        <p:spPr>
          <a:xfrm>
            <a:off x="10334625" y="4257675"/>
            <a:ext cx="95" cy="1666875"/>
          </a:xfrm>
          <a:prstGeom prst="straightConnector1">
            <a:avLst/>
          </a:prstGeom>
          <a:noFill/>
          <a:ln w="12375" cap="flat" cmpd="sng">
            <a:solidFill>
              <a:srgbClr val="8A9096"/>
            </a:solidFill>
            <a:prstDash val="dash"/>
            <a:round/>
            <a:headEnd type="none" w="sm" len="sm"/>
            <a:tailEnd type="none" w="sm" len="sm"/>
          </a:ln>
        </p:spPr>
      </p:cxnSp>
      <p:sp>
        <p:nvSpPr>
          <p:cNvPr id="682" name="Google Shape;682;p64"/>
          <p:cNvSpPr/>
          <p:nvPr/>
        </p:nvSpPr>
        <p:spPr>
          <a:xfrm>
            <a:off x="9658350" y="4267200"/>
            <a:ext cx="114300" cy="114300"/>
          </a:xfrm>
          <a:prstGeom prst="ellipse">
            <a:avLst/>
          </a:prstGeom>
          <a:solidFill>
            <a:srgbClr val="A02337"/>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83" name="Google Shape;683;p64"/>
          <p:cNvSpPr/>
          <p:nvPr/>
        </p:nvSpPr>
        <p:spPr>
          <a:xfrm>
            <a:off x="10287000" y="4210050"/>
            <a:ext cx="95250" cy="95250"/>
          </a:xfrm>
          <a:prstGeom prst="ellipse">
            <a:avLst/>
          </a:prstGeom>
          <a:solidFill>
            <a:srgbClr val="8A9096"/>
          </a:solidFill>
          <a:ln w="11425"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684" name="Google Shape;684;p64"/>
          <p:cNvSpPr/>
          <p:nvPr/>
        </p:nvSpPr>
        <p:spPr>
          <a:xfrm>
            <a:off x="7800975" y="3876675"/>
            <a:ext cx="27241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1950"/>
              <a:buFont typeface="Arial"/>
              <a:buNone/>
            </a:pPr>
            <a:r>
              <a:rPr lang="en-US" sz="1950" b="1">
                <a:solidFill>
                  <a:srgbClr val="A02337"/>
                </a:solidFill>
                <a:latin typeface="Arial"/>
                <a:ea typeface="Arial"/>
                <a:cs typeface="Arial"/>
                <a:sym typeface="Arial"/>
              </a:rPr>
              <a:t>best legal: 0.4</a:t>
            </a:r>
            <a:endParaRPr/>
          </a:p>
        </p:txBody>
      </p:sp>
      <p:sp>
        <p:nvSpPr>
          <p:cNvPr id="685" name="Google Shape;685;p64"/>
          <p:cNvSpPr/>
          <p:nvPr/>
        </p:nvSpPr>
        <p:spPr>
          <a:xfrm>
            <a:off x="10287000" y="3876675"/>
            <a:ext cx="16192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peak: 0.5</a:t>
            </a:r>
            <a:endParaRPr/>
          </a:p>
        </p:txBody>
      </p:sp>
      <p:sp>
        <p:nvSpPr>
          <p:cNvPr id="686" name="Google Shape;686;p64"/>
          <p:cNvSpPr/>
          <p:nvPr/>
        </p:nvSpPr>
        <p:spPr>
          <a:xfrm>
            <a:off x="7086600" y="6153150"/>
            <a:ext cx="428625" cy="3238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0</a:t>
            </a:r>
            <a:endParaRPr/>
          </a:p>
        </p:txBody>
      </p:sp>
      <p:sp>
        <p:nvSpPr>
          <p:cNvPr id="687" name="Google Shape;687;p64"/>
          <p:cNvSpPr/>
          <p:nvPr/>
        </p:nvSpPr>
        <p:spPr>
          <a:xfrm>
            <a:off x="9534525" y="6153150"/>
            <a:ext cx="666750" cy="3238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1800"/>
              <a:buFont typeface="Arial"/>
              <a:buNone/>
            </a:pPr>
            <a:r>
              <a:rPr lang="en-US" sz="1800" b="0">
                <a:solidFill>
                  <a:srgbClr val="A02337"/>
                </a:solidFill>
                <a:latin typeface="Arial"/>
                <a:ea typeface="Arial"/>
                <a:cs typeface="Arial"/>
                <a:sym typeface="Arial"/>
              </a:rPr>
              <a:t>0.4</a:t>
            </a:r>
            <a:endParaRPr/>
          </a:p>
        </p:txBody>
      </p:sp>
      <p:sp>
        <p:nvSpPr>
          <p:cNvPr id="688" name="Google Shape;688;p64"/>
          <p:cNvSpPr/>
          <p:nvPr/>
        </p:nvSpPr>
        <p:spPr>
          <a:xfrm>
            <a:off x="10153650" y="6153150"/>
            <a:ext cx="666750" cy="3238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00"/>
              <a:buFont typeface="Arial"/>
              <a:buNone/>
            </a:pPr>
            <a:r>
              <a:rPr lang="en-US" sz="1800" b="0">
                <a:solidFill>
                  <a:srgbClr val="62666B"/>
                </a:solidFill>
                <a:latin typeface="Arial"/>
                <a:ea typeface="Arial"/>
                <a:cs typeface="Arial"/>
                <a:sym typeface="Arial"/>
              </a:rPr>
              <a:t>0.5</a:t>
            </a:r>
            <a:endParaRPr/>
          </a:p>
        </p:txBody>
      </p:sp>
      <p:sp>
        <p:nvSpPr>
          <p:cNvPr id="689" name="Google Shape;689;p64"/>
          <p:cNvSpPr/>
          <p:nvPr/>
        </p:nvSpPr>
        <p:spPr>
          <a:xfrm>
            <a:off x="6610350" y="4019550"/>
            <a:ext cx="904875" cy="3619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75"/>
              <a:buFont typeface="Cambria Math"/>
              <a:buNone/>
            </a:pPr>
            <a:r>
              <a:rPr lang="en-US" sz="1875" b="0">
                <a:solidFill>
                  <a:srgbClr val="62666B"/>
                </a:solidFill>
                <a:latin typeface="Cambria Math"/>
                <a:ea typeface="Cambria Math"/>
                <a:cs typeface="Cambria Math"/>
                <a:sym typeface="Cambria Math"/>
              </a:rPr>
              <a:t>D(t)</a:t>
            </a:r>
            <a:endParaRPr/>
          </a:p>
        </p:txBody>
      </p:sp>
      <p:sp>
        <p:nvSpPr>
          <p:cNvPr id="690" name="Google Shape;690;p64"/>
          <p:cNvSpPr/>
          <p:nvPr/>
        </p:nvSpPr>
        <p:spPr>
          <a:xfrm>
            <a:off x="11430000" y="5991225"/>
            <a:ext cx="333375" cy="3619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950"/>
              <a:buFont typeface="Cambria Math"/>
              <a:buNone/>
            </a:pPr>
            <a:r>
              <a:rPr lang="en-US" sz="1950" b="0">
                <a:solidFill>
                  <a:srgbClr val="62666B"/>
                </a:solidFill>
                <a:latin typeface="Cambria Math"/>
                <a:ea typeface="Cambria Math"/>
                <a:cs typeface="Cambria Math"/>
                <a:sym typeface="Cambria Math"/>
              </a:rPr>
              <a:t>t</a:t>
            </a:r>
            <a:endParaRPr/>
          </a:p>
        </p:txBody>
      </p:sp>
      <p:sp>
        <p:nvSpPr>
          <p:cNvPr id="691" name="Google Shape;691;p64"/>
          <p:cNvSpPr/>
          <p:nvPr/>
        </p:nvSpPr>
        <p:spPr>
          <a:xfrm>
            <a:off x="571500" y="4191000"/>
            <a:ext cx="619125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The peak is outside the legal interval.</a:t>
            </a:r>
            <a:endParaRPr/>
          </a:p>
        </p:txBody>
      </p:sp>
      <p:sp>
        <p:nvSpPr>
          <p:cNvPr id="692" name="Google Shape;692;p64"/>
          <p:cNvSpPr/>
          <p:nvPr/>
        </p:nvSpPr>
        <p:spPr>
          <a:xfrm>
            <a:off x="571500" y="4876800"/>
            <a:ext cx="6286500" cy="6096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925"/>
              <a:buFont typeface="Cambria Math"/>
              <a:buNone/>
            </a:pPr>
            <a:r>
              <a:rPr lang="en-US" sz="2925" b="0">
                <a:solidFill>
                  <a:srgbClr val="A02337"/>
                </a:solidFill>
                <a:latin typeface="Cambria Math"/>
                <a:ea typeface="Cambria Math"/>
                <a:cs typeface="Cambria Math"/>
                <a:sym typeface="Cambria Math"/>
              </a:rPr>
              <a:t>clip(0.5,0,0.4) = 0.4</a:t>
            </a:r>
            <a:endParaRPr/>
          </a:p>
        </p:txBody>
      </p:sp>
      <p:sp>
        <p:nvSpPr>
          <p:cNvPr id="693" name="Google Shape;693;p64"/>
          <p:cNvSpPr/>
          <p:nvPr/>
        </p:nvSpPr>
        <p:spPr>
          <a:xfrm>
            <a:off x="571500" y="5800725"/>
            <a:ext cx="6191250" cy="7715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875"/>
              <a:buFont typeface="Arial"/>
              <a:buNone/>
            </a:pPr>
            <a:r>
              <a:rPr lang="en-US" sz="1875" b="0">
                <a:solidFill>
                  <a:srgbClr val="62666B"/>
                </a:solidFill>
                <a:latin typeface="Arial"/>
                <a:ea typeface="Arial"/>
                <a:cs typeface="Arial"/>
                <a:sym typeface="Arial"/>
              </a:rPr>
              <a:t>clip(candidate, L, H)</a:t>
            </a:r>
            <a:endParaRPr/>
          </a:p>
          <a:p>
            <a:pPr marL="0" marR="0" lvl="0" indent="0" algn="l" rtl="0">
              <a:lnSpc>
                <a:spcPct val="108000"/>
              </a:lnSpc>
              <a:spcBef>
                <a:spcPts val="0"/>
              </a:spcBef>
              <a:spcAft>
                <a:spcPts val="0"/>
              </a:spcAft>
              <a:buClr>
                <a:srgbClr val="62666B"/>
              </a:buClr>
              <a:buSzPts val="1875"/>
              <a:buFont typeface="Arial"/>
              <a:buNone/>
            </a:pPr>
            <a:r>
              <a:rPr lang="en-US" sz="1875" b="0">
                <a:solidFill>
                  <a:srgbClr val="62666B"/>
                </a:solidFill>
                <a:latin typeface="Arial"/>
                <a:ea typeface="Arial"/>
                <a:cs typeface="Arial"/>
                <a:sym typeface="Arial"/>
              </a:rPr>
              <a:t>Keep inside; use the nearest endpoint outside.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65"/>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Recovering the classifier</a:t>
            </a:r>
            <a:endParaRPr/>
          </a:p>
        </p:txBody>
      </p:sp>
      <p:sp>
        <p:nvSpPr>
          <p:cNvPr id="700" name="Google Shape;700;p65"/>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09</a:t>
            </a:r>
            <a:endParaRPr/>
          </a:p>
        </p:txBody>
      </p:sp>
      <p:sp>
        <p:nvSpPr>
          <p:cNvPr id="701" name="Google Shape;701;p65"/>
          <p:cNvSpPr/>
          <p:nvPr/>
        </p:nvSpPr>
        <p:spPr>
          <a:xfrm>
            <a:off x="571500" y="1057275"/>
            <a:ext cx="11049000" cy="5810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850"/>
              <a:buFont typeface="Cambria Math"/>
              <a:buNone/>
            </a:pPr>
            <a:r>
              <a:rPr lang="en-US" sz="2850" b="0">
                <a:solidFill>
                  <a:srgbClr val="215C9D"/>
                </a:solidFill>
                <a:latin typeface="Cambria Math"/>
                <a:ea typeface="Cambria Math"/>
                <a:cs typeface="Cambria Math"/>
                <a:sym typeface="Cambria Math"/>
              </a:rPr>
              <a:t>α = (0.4,0.4)   ⇒   w = 0.8</a:t>
            </a:r>
            <a:endParaRPr/>
          </a:p>
        </p:txBody>
      </p:sp>
      <p:sp>
        <p:nvSpPr>
          <p:cNvPr id="702" name="Google Shape;702;p65"/>
          <p:cNvSpPr/>
          <p:nvPr/>
        </p:nvSpPr>
        <p:spPr>
          <a:xfrm>
            <a:off x="571500" y="1895475"/>
            <a:ext cx="11049000" cy="419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Point 1 is interior (free): 0 &lt; 0.4 &lt; 1.2</a:t>
            </a:r>
            <a:endParaRPr/>
          </a:p>
        </p:txBody>
      </p:sp>
      <p:sp>
        <p:nvSpPr>
          <p:cNvPr id="703" name="Google Shape;703;p65"/>
          <p:cNvSpPr/>
          <p:nvPr/>
        </p:nvSpPr>
        <p:spPr>
          <a:xfrm>
            <a:off x="571500" y="2447925"/>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At the optimum, a free point lies on the margin: label × score = 1.</a:t>
            </a:r>
            <a:endParaRPr/>
          </a:p>
        </p:txBody>
      </p:sp>
      <p:sp>
        <p:nvSpPr>
          <p:cNvPr id="704" name="Google Shape;704;p65"/>
          <p:cNvSpPr/>
          <p:nvPr/>
        </p:nvSpPr>
        <p:spPr>
          <a:xfrm>
            <a:off x="571500" y="3076575"/>
            <a:ext cx="11049000" cy="5810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775"/>
              <a:buFont typeface="Cambria Math"/>
              <a:buNone/>
            </a:pPr>
            <a:r>
              <a:rPr lang="en-US" sz="2775" b="0">
                <a:solidFill>
                  <a:srgbClr val="111111"/>
                </a:solidFill>
                <a:latin typeface="Cambria Math"/>
                <a:ea typeface="Cambria Math"/>
                <a:cs typeface="Cambria Math"/>
                <a:sym typeface="Cambria Math"/>
              </a:rPr>
              <a:t>0.8 + b = 1   ⇒   b = 0.2</a:t>
            </a:r>
            <a:endParaRPr/>
          </a:p>
        </p:txBody>
      </p:sp>
      <p:sp>
        <p:nvSpPr>
          <p:cNvPr id="705" name="Google Shape;705;p65"/>
          <p:cNvSpPr/>
          <p:nvPr/>
        </p:nvSpPr>
        <p:spPr>
          <a:xfrm>
            <a:off x="571500" y="3933825"/>
            <a:ext cx="11049000" cy="6000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3075"/>
              <a:buFont typeface="Cambria Math"/>
              <a:buNone/>
            </a:pPr>
            <a:r>
              <a:rPr lang="en-US" sz="3075" b="0">
                <a:solidFill>
                  <a:srgbClr val="A02337"/>
                </a:solidFill>
                <a:latin typeface="Cambria Math"/>
                <a:ea typeface="Cambria Math"/>
                <a:cs typeface="Cambria Math"/>
                <a:sym typeface="Cambria Math"/>
              </a:rPr>
              <a:t>f(x) = 0.8x + 0.2</a:t>
            </a:r>
            <a:endParaRPr/>
          </a:p>
        </p:txBody>
      </p:sp>
      <p:graphicFrame>
        <p:nvGraphicFramePr>
          <p:cNvPr id="706" name="Google Shape;706;p65"/>
          <p:cNvGraphicFramePr/>
          <p:nvPr/>
        </p:nvGraphicFramePr>
        <p:xfrm>
          <a:off x="571500" y="4857750"/>
          <a:ext cx="3000000" cy="3000000"/>
        </p:xfrm>
        <a:graphic>
          <a:graphicData uri="http://schemas.openxmlformats.org/drawingml/2006/table">
            <a:tbl>
              <a:tblPr>
                <a:noFill/>
                <a:tableStyleId>{33BF7814-6BB6-4E7D-BF07-EC2FA526ABCD}</a:tableStyleId>
              </a:tblPr>
              <a:tblGrid>
                <a:gridCol w="3905250">
                  <a:extLst>
                    <a:ext uri="{9D8B030D-6E8A-4147-A177-3AD203B41FA5}">
                      <a16:colId xmlns:a16="http://schemas.microsoft.com/office/drawing/2014/main" val="20000"/>
                    </a:ext>
                  </a:extLst>
                </a:gridCol>
                <a:gridCol w="219075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92125">
                <a:tc>
                  <a:txBody>
                    <a:bodyPr/>
                    <a:lstStyle/>
                    <a:p>
                      <a:pPr marL="0" marR="0" lvl="0" indent="0" algn="l"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Sample</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Score f</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Label × score</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tc>
                  <a:txBody>
                    <a:bodyPr/>
                    <a:lstStyle/>
                    <a:p>
                      <a:pPr marL="0" marR="0" lvl="0" indent="0" algn="ctr" rtl="0">
                        <a:spcBef>
                          <a:spcPts val="0"/>
                        </a:spcBef>
                        <a:spcAft>
                          <a:spcPts val="0"/>
                        </a:spcAft>
                        <a:buClr>
                          <a:srgbClr val="215C9D"/>
                        </a:buClr>
                        <a:buSzPts val="1875"/>
                        <a:buFont typeface="Arial"/>
                        <a:buNone/>
                      </a:pPr>
                      <a:r>
                        <a:rPr lang="en-US" sz="1875" b="1" u="none" strike="noStrike" cap="none">
                          <a:solidFill>
                            <a:srgbClr val="215C9D"/>
                          </a:solidFill>
                          <a:latin typeface="Arial"/>
                          <a:ea typeface="Arial"/>
                          <a:cs typeface="Arial"/>
                          <a:sym typeface="Arial"/>
                        </a:rPr>
                        <a:t>Shortfall ξ</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E1EBF5"/>
                    </a:solidFill>
                  </a:tcPr>
                </a:tc>
                <a:extLst>
                  <a:ext uri="{0D108BD9-81ED-4DB2-BD59-A6C34878D82A}">
                    <a16:rowId xmlns:a16="http://schemas.microsoft.com/office/drawing/2014/main" val="10000"/>
                  </a:ext>
                </a:extLst>
              </a:tr>
              <a:tr h="492125">
                <a:tc>
                  <a:txBody>
                    <a:bodyPr/>
                    <a:lstStyle/>
                    <a:p>
                      <a:pPr marL="0" marR="0" lvl="0" indent="0" algn="l"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 fraud</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1</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0</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92125">
                <a:tc>
                  <a:txBody>
                    <a:bodyPr/>
                    <a:lstStyle/>
                    <a:p>
                      <a:pPr marL="0" marR="0" lvl="0" indent="0" algn="l"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2: normal</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−0.6</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0.6</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111111"/>
                        </a:buClr>
                        <a:buSzPts val="1875"/>
                        <a:buFont typeface="Arial"/>
                        <a:buNone/>
                      </a:pPr>
                      <a:r>
                        <a:rPr lang="en-US" sz="1875" b="0" u="none" strike="noStrike" cap="none">
                          <a:solidFill>
                            <a:srgbClr val="111111"/>
                          </a:solidFill>
                          <a:latin typeface="Arial"/>
                          <a:ea typeface="Arial"/>
                          <a:cs typeface="Arial"/>
                          <a:sym typeface="Arial"/>
                        </a:rPr>
                        <a:t>0.4</a:t>
                      </a:r>
                      <a:endParaRPr/>
                    </a:p>
                  </a:txBody>
                  <a:tcPr marL="91450" marR="91450" marT="45725" marB="45725" anchor="ctr">
                    <a:lnL w="9525" cap="flat" cmpd="sng">
                      <a:solidFill>
                        <a:srgbClr val="D8DDE2"/>
                      </a:solidFill>
                      <a:prstDash val="solid"/>
                      <a:round/>
                      <a:headEnd type="none" w="sm" len="sm"/>
                      <a:tailEnd type="none" w="sm" len="sm"/>
                    </a:lnL>
                    <a:lnR w="9525" cap="flat" cmpd="sng">
                      <a:solidFill>
                        <a:srgbClr val="D8DDE2"/>
                      </a:solidFill>
                      <a:prstDash val="solid"/>
                      <a:round/>
                      <a:headEnd type="none" w="sm" len="sm"/>
                      <a:tailEnd type="none" w="sm" len="sm"/>
                    </a:lnR>
                    <a:lnT w="9525" cap="flat" cmpd="sng">
                      <a:solidFill>
                        <a:srgbClr val="D8DDE2"/>
                      </a:solidFill>
                      <a:prstDash val="solid"/>
                      <a:round/>
                      <a:headEnd type="none" w="sm" len="sm"/>
                      <a:tailEnd type="none" w="sm" len="sm"/>
                    </a:lnT>
                    <a:lnB w="9525" cap="flat" cmpd="sng">
                      <a:solidFill>
                        <a:srgbClr val="D8DDE2"/>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66"/>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Repeating the pair update over all samples</a:t>
            </a:r>
            <a:endParaRPr/>
          </a:p>
        </p:txBody>
      </p:sp>
      <p:sp>
        <p:nvSpPr>
          <p:cNvPr id="713" name="Google Shape;713;p66"/>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10</a:t>
            </a:r>
            <a:endParaRPr/>
          </a:p>
        </p:txBody>
      </p:sp>
      <p:sp>
        <p:nvSpPr>
          <p:cNvPr id="714" name="Google Shape;714;p66"/>
          <p:cNvSpPr/>
          <p:nvPr/>
        </p:nvSpPr>
        <p:spPr>
          <a:xfrm>
            <a:off x="571500" y="1057275"/>
            <a:ext cx="11049000" cy="4191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00"/>
              <a:buFont typeface="Arial"/>
              <a:buNone/>
            </a:pPr>
            <a:r>
              <a:rPr lang="en-US" sz="2100" b="0">
                <a:solidFill>
                  <a:srgbClr val="111111"/>
                </a:solidFill>
                <a:latin typeface="Arial"/>
                <a:ea typeface="Arial"/>
                <a:cs typeface="Arial"/>
                <a:sym typeface="Arial"/>
              </a:rPr>
              <a:t>For many samples, optimize one pair while keeping the other α values fixed.</a:t>
            </a:r>
            <a:endParaRPr/>
          </a:p>
        </p:txBody>
      </p:sp>
      <p:sp>
        <p:nvSpPr>
          <p:cNvPr id="715" name="Google Shape;715;p66"/>
          <p:cNvSpPr/>
          <p:nvPr/>
        </p:nvSpPr>
        <p:spPr>
          <a:xfrm>
            <a:off x="809625" y="2066925"/>
            <a:ext cx="1238250" cy="714375"/>
          </a:xfrm>
          <a:prstGeom prst="rect">
            <a:avLst/>
          </a:prstGeom>
          <a:solidFill>
            <a:srgbClr val="FFFFFF"/>
          </a:solidFill>
          <a:ln w="9525" cap="flat" cmpd="sng">
            <a:solidFill>
              <a:srgbClr val="D8DDE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16" name="Google Shape;716;p66"/>
          <p:cNvSpPr/>
          <p:nvPr/>
        </p:nvSpPr>
        <p:spPr>
          <a:xfrm>
            <a:off x="1047750" y="2200275"/>
            <a:ext cx="762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550"/>
              <a:buFont typeface="Cambria Math"/>
              <a:buNone/>
            </a:pPr>
            <a:r>
              <a:rPr lang="en-US" sz="2550" b="0">
                <a:solidFill>
                  <a:srgbClr val="62666B"/>
                </a:solidFill>
                <a:latin typeface="Cambria Math"/>
                <a:ea typeface="Cambria Math"/>
                <a:cs typeface="Cambria Math"/>
                <a:sym typeface="Cambria Math"/>
              </a:rPr>
              <a:t>α₁</a:t>
            </a:r>
            <a:endParaRPr/>
          </a:p>
        </p:txBody>
      </p:sp>
      <p:sp>
        <p:nvSpPr>
          <p:cNvPr id="717" name="Google Shape;717;p66"/>
          <p:cNvSpPr/>
          <p:nvPr/>
        </p:nvSpPr>
        <p:spPr>
          <a:xfrm>
            <a:off x="3000375" y="2066925"/>
            <a:ext cx="1238250" cy="714375"/>
          </a:xfrm>
          <a:prstGeom prst="rect">
            <a:avLst/>
          </a:prstGeom>
          <a:solidFill>
            <a:srgbClr val="FFFFFF"/>
          </a:solidFill>
          <a:ln w="19050" cap="flat" cmpd="sng">
            <a:solidFill>
              <a:srgbClr val="A0233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18" name="Google Shape;718;p66"/>
          <p:cNvSpPr/>
          <p:nvPr/>
        </p:nvSpPr>
        <p:spPr>
          <a:xfrm>
            <a:off x="3238500" y="2200275"/>
            <a:ext cx="762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550"/>
              <a:buFont typeface="Cambria Math"/>
              <a:buNone/>
            </a:pPr>
            <a:r>
              <a:rPr lang="en-US" sz="2550" b="0">
                <a:solidFill>
                  <a:srgbClr val="A02337"/>
                </a:solidFill>
                <a:latin typeface="Cambria Math"/>
                <a:ea typeface="Cambria Math"/>
                <a:cs typeface="Cambria Math"/>
                <a:sym typeface="Cambria Math"/>
              </a:rPr>
              <a:t>α₂</a:t>
            </a:r>
            <a:endParaRPr/>
          </a:p>
        </p:txBody>
      </p:sp>
      <p:sp>
        <p:nvSpPr>
          <p:cNvPr id="719" name="Google Shape;719;p66"/>
          <p:cNvSpPr/>
          <p:nvPr/>
        </p:nvSpPr>
        <p:spPr>
          <a:xfrm>
            <a:off x="5191125" y="2066925"/>
            <a:ext cx="1238250" cy="714375"/>
          </a:xfrm>
          <a:prstGeom prst="rect">
            <a:avLst/>
          </a:prstGeom>
          <a:solidFill>
            <a:srgbClr val="FFFFFF"/>
          </a:solidFill>
          <a:ln w="9525" cap="flat" cmpd="sng">
            <a:solidFill>
              <a:srgbClr val="D8DDE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0" name="Google Shape;720;p66"/>
          <p:cNvSpPr/>
          <p:nvPr/>
        </p:nvSpPr>
        <p:spPr>
          <a:xfrm>
            <a:off x="5429250" y="2200275"/>
            <a:ext cx="762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550"/>
              <a:buFont typeface="Cambria Math"/>
              <a:buNone/>
            </a:pPr>
            <a:r>
              <a:rPr lang="en-US" sz="2550" b="0">
                <a:solidFill>
                  <a:srgbClr val="62666B"/>
                </a:solidFill>
                <a:latin typeface="Cambria Math"/>
                <a:ea typeface="Cambria Math"/>
                <a:cs typeface="Cambria Math"/>
                <a:sym typeface="Cambria Math"/>
              </a:rPr>
              <a:t>α₃</a:t>
            </a:r>
            <a:endParaRPr/>
          </a:p>
        </p:txBody>
      </p:sp>
      <p:sp>
        <p:nvSpPr>
          <p:cNvPr id="721" name="Google Shape;721;p66"/>
          <p:cNvSpPr/>
          <p:nvPr/>
        </p:nvSpPr>
        <p:spPr>
          <a:xfrm>
            <a:off x="7381875" y="2066925"/>
            <a:ext cx="1238250" cy="714375"/>
          </a:xfrm>
          <a:prstGeom prst="rect">
            <a:avLst/>
          </a:prstGeom>
          <a:solidFill>
            <a:srgbClr val="FFFFFF"/>
          </a:solidFill>
          <a:ln w="19050" cap="flat" cmpd="sng">
            <a:solidFill>
              <a:srgbClr val="A0233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2" name="Google Shape;722;p66"/>
          <p:cNvSpPr/>
          <p:nvPr/>
        </p:nvSpPr>
        <p:spPr>
          <a:xfrm>
            <a:off x="7620000" y="2200275"/>
            <a:ext cx="762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550"/>
              <a:buFont typeface="Cambria Math"/>
              <a:buNone/>
            </a:pPr>
            <a:r>
              <a:rPr lang="en-US" sz="2550" b="0">
                <a:solidFill>
                  <a:srgbClr val="A02337"/>
                </a:solidFill>
                <a:latin typeface="Cambria Math"/>
                <a:ea typeface="Cambria Math"/>
                <a:cs typeface="Cambria Math"/>
                <a:sym typeface="Cambria Math"/>
              </a:rPr>
              <a:t>α₄</a:t>
            </a:r>
            <a:endParaRPr/>
          </a:p>
        </p:txBody>
      </p:sp>
      <p:sp>
        <p:nvSpPr>
          <p:cNvPr id="723" name="Google Shape;723;p66"/>
          <p:cNvSpPr/>
          <p:nvPr/>
        </p:nvSpPr>
        <p:spPr>
          <a:xfrm>
            <a:off x="9572625" y="2066925"/>
            <a:ext cx="1238250" cy="714375"/>
          </a:xfrm>
          <a:prstGeom prst="rect">
            <a:avLst/>
          </a:prstGeom>
          <a:solidFill>
            <a:srgbClr val="FFFFFF"/>
          </a:solidFill>
          <a:ln w="9525" cap="flat" cmpd="sng">
            <a:solidFill>
              <a:srgbClr val="D8DDE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4" name="Google Shape;724;p66"/>
          <p:cNvSpPr/>
          <p:nvPr/>
        </p:nvSpPr>
        <p:spPr>
          <a:xfrm>
            <a:off x="9810750" y="2200275"/>
            <a:ext cx="762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2550"/>
              <a:buFont typeface="Cambria Math"/>
              <a:buNone/>
            </a:pPr>
            <a:r>
              <a:rPr lang="en-US" sz="2550" b="0">
                <a:solidFill>
                  <a:srgbClr val="62666B"/>
                </a:solidFill>
                <a:latin typeface="Cambria Math"/>
                <a:ea typeface="Cambria Math"/>
                <a:cs typeface="Cambria Math"/>
                <a:sym typeface="Cambria Math"/>
              </a:rPr>
              <a:t>…</a:t>
            </a:r>
            <a:endParaRPr/>
          </a:p>
        </p:txBody>
      </p:sp>
      <p:sp>
        <p:nvSpPr>
          <p:cNvPr id="725" name="Google Shape;725;p66"/>
          <p:cNvSpPr/>
          <p:nvPr/>
        </p:nvSpPr>
        <p:spPr>
          <a:xfrm>
            <a:off x="2952750" y="3038475"/>
            <a:ext cx="6953250" cy="371475"/>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A02337"/>
              </a:buClr>
              <a:buSzPts val="2100"/>
              <a:buFont typeface="Arial"/>
              <a:buNone/>
            </a:pPr>
            <a:r>
              <a:rPr lang="en-US" sz="2100" b="1">
                <a:solidFill>
                  <a:srgbClr val="A02337"/>
                </a:solidFill>
                <a:latin typeface="Arial"/>
                <a:ea typeface="Arial"/>
                <a:cs typeface="Arial"/>
                <a:sym typeface="Arial"/>
              </a:rPr>
              <a:t>selected pair changes</a:t>
            </a:r>
            <a:endParaRPr/>
          </a:p>
        </p:txBody>
      </p:sp>
      <p:cxnSp>
        <p:nvCxnSpPr>
          <p:cNvPr id="726" name="Google Shape;726;p66"/>
          <p:cNvCxnSpPr/>
          <p:nvPr/>
        </p:nvCxnSpPr>
        <p:spPr>
          <a:xfrm>
            <a:off x="5810250" y="3533775"/>
            <a:ext cx="95" cy="466725"/>
          </a:xfrm>
          <a:prstGeom prst="straightConnector1">
            <a:avLst/>
          </a:prstGeom>
          <a:noFill/>
          <a:ln w="19050" cap="flat" cmpd="sng">
            <a:solidFill>
              <a:srgbClr val="8A9096"/>
            </a:solidFill>
            <a:prstDash val="solid"/>
            <a:round/>
            <a:headEnd type="none" w="sm" len="sm"/>
            <a:tailEnd type="none" w="sm" len="sm"/>
          </a:ln>
        </p:spPr>
      </p:cxnSp>
      <p:sp>
        <p:nvSpPr>
          <p:cNvPr id="727" name="Google Shape;727;p66"/>
          <p:cNvSpPr/>
          <p:nvPr/>
        </p:nvSpPr>
        <p:spPr>
          <a:xfrm>
            <a:off x="5771674" y="3914775"/>
            <a:ext cx="77152" cy="85725"/>
          </a:xfrm>
          <a:custGeom>
            <a:avLst/>
            <a:gdLst/>
            <a:ahLst/>
            <a:cxnLst/>
            <a:rect l="l" t="t" r="r" b="b"/>
            <a:pathLst>
              <a:path w="77152" h="85725" extrusionOk="0">
                <a:moveTo>
                  <a:pt x="38576" y="85725"/>
                </a:moveTo>
                <a:lnTo>
                  <a:pt x="77152" y="0"/>
                </a:lnTo>
                <a:lnTo>
                  <a:pt x="0" y="0"/>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8" name="Google Shape;728;p66"/>
          <p:cNvSpPr/>
          <p:nvPr/>
        </p:nvSpPr>
        <p:spPr>
          <a:xfrm>
            <a:off x="3810000" y="4010025"/>
            <a:ext cx="4000500" cy="723900"/>
          </a:xfrm>
          <a:prstGeom prst="rect">
            <a:avLst/>
          </a:prstGeom>
          <a:solidFill>
            <a:srgbClr val="FFFFFF"/>
          </a:solidFill>
          <a:ln w="1427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29" name="Google Shape;729;p66"/>
          <p:cNvSpPr/>
          <p:nvPr/>
        </p:nvSpPr>
        <p:spPr>
          <a:xfrm>
            <a:off x="3924300" y="4086225"/>
            <a:ext cx="3771900" cy="5715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1950"/>
              <a:buFont typeface="Arial"/>
              <a:buNone/>
            </a:pPr>
            <a:r>
              <a:rPr lang="en-US" sz="1950" b="1">
                <a:solidFill>
                  <a:srgbClr val="215C9D"/>
                </a:solidFill>
                <a:latin typeface="Arial"/>
                <a:ea typeface="Arial"/>
                <a:cs typeface="Arial"/>
                <a:sym typeface="Arial"/>
              </a:rPr>
              <a:t>Shared classifier</a:t>
            </a:r>
            <a:endParaRPr/>
          </a:p>
        </p:txBody>
      </p:sp>
      <p:sp>
        <p:nvSpPr>
          <p:cNvPr id="730" name="Google Shape;730;p66"/>
          <p:cNvSpPr/>
          <p:nvPr/>
        </p:nvSpPr>
        <p:spPr>
          <a:xfrm>
            <a:off x="571500" y="5000625"/>
            <a:ext cx="11049000" cy="4286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Other samples can change score even when their α stays fixed.</a:t>
            </a:r>
            <a:endParaRPr/>
          </a:p>
        </p:txBody>
      </p:sp>
      <p:cxnSp>
        <p:nvCxnSpPr>
          <p:cNvPr id="731" name="Google Shape;731;p66"/>
          <p:cNvCxnSpPr/>
          <p:nvPr/>
        </p:nvCxnSpPr>
        <p:spPr>
          <a:xfrm>
            <a:off x="571500" y="5600700"/>
            <a:ext cx="11049000" cy="95"/>
          </a:xfrm>
          <a:prstGeom prst="straightConnector1">
            <a:avLst/>
          </a:prstGeom>
          <a:noFill/>
          <a:ln w="9525" cap="flat" cmpd="sng">
            <a:solidFill>
              <a:srgbClr val="D8DDE2"/>
            </a:solidFill>
            <a:prstDash val="solid"/>
            <a:round/>
            <a:headEnd type="none" w="sm" len="sm"/>
            <a:tailEnd type="none" w="sm" len="sm"/>
          </a:ln>
        </p:spPr>
      </p:cxnSp>
      <p:sp>
        <p:nvSpPr>
          <p:cNvPr id="732" name="Google Shape;732;p66"/>
          <p:cNvSpPr/>
          <p:nvPr/>
        </p:nvSpPr>
        <p:spPr>
          <a:xfrm>
            <a:off x="571500" y="5791200"/>
            <a:ext cx="11049000" cy="3524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0">
                <a:solidFill>
                  <a:srgbClr val="111111"/>
                </a:solidFill>
                <a:latin typeface="Arial"/>
                <a:ea typeface="Arial"/>
                <a:cs typeface="Arial"/>
                <a:sym typeface="Arial"/>
              </a:rPr>
              <a:t>Find a sample needing adjustment and a legal partner.</a:t>
            </a:r>
            <a:endParaRPr/>
          </a:p>
        </p:txBody>
      </p:sp>
      <p:sp>
        <p:nvSpPr>
          <p:cNvPr id="733" name="Google Shape;733;p66"/>
          <p:cNvSpPr/>
          <p:nvPr/>
        </p:nvSpPr>
        <p:spPr>
          <a:xfrm>
            <a:off x="571500" y="6219825"/>
            <a:ext cx="11049000" cy="3905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025"/>
              <a:buFont typeface="Arial"/>
              <a:buNone/>
            </a:pPr>
            <a:r>
              <a:rPr lang="en-US" sz="2025" b="0">
                <a:solidFill>
                  <a:srgbClr val="A02337"/>
                </a:solidFill>
                <a:latin typeface="Arial"/>
                <a:ea typeface="Arial"/>
                <a:cs typeface="Arial"/>
                <a:sym typeface="Arial"/>
              </a:rPr>
              <a:t>Our partner rule: choose the largest feasible increase in D, then repeat.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67"/>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The stopping check</a:t>
            </a:r>
            <a:endParaRPr/>
          </a:p>
        </p:txBody>
      </p:sp>
      <p:sp>
        <p:nvSpPr>
          <p:cNvPr id="740" name="Google Shape;740;p67"/>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11</a:t>
            </a:r>
            <a:endParaRPr/>
          </a:p>
        </p:txBody>
      </p:sp>
      <p:sp>
        <p:nvSpPr>
          <p:cNvPr id="741" name="Google Shape;741;p67"/>
          <p:cNvSpPr/>
          <p:nvPr/>
        </p:nvSpPr>
        <p:spPr>
          <a:xfrm>
            <a:off x="571500" y="1057275"/>
            <a:ext cx="11049000" cy="40005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0">
                <a:solidFill>
                  <a:srgbClr val="111111"/>
                </a:solidFill>
                <a:latin typeface="Arial"/>
                <a:ea typeface="Arial"/>
                <a:cs typeface="Arial"/>
                <a:sym typeface="Arial"/>
              </a:rPr>
              <a:t>KKT: the SVM optimality check for every training sample.</a:t>
            </a:r>
            <a:endParaRPr/>
          </a:p>
        </p:txBody>
      </p:sp>
      <p:sp>
        <p:nvSpPr>
          <p:cNvPr id="742" name="Google Shape;742;p67"/>
          <p:cNvSpPr/>
          <p:nvPr/>
        </p:nvSpPr>
        <p:spPr>
          <a:xfrm>
            <a:off x="571500" y="1676400"/>
            <a:ext cx="48577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1">
                <a:solidFill>
                  <a:srgbClr val="111111"/>
                </a:solidFill>
                <a:latin typeface="Arial"/>
                <a:ea typeface="Arial"/>
                <a:cs typeface="Arial"/>
                <a:sym typeface="Arial"/>
              </a:rPr>
              <a:t>Coefficient state</a:t>
            </a:r>
            <a:endParaRPr/>
          </a:p>
        </p:txBody>
      </p:sp>
      <p:sp>
        <p:nvSpPr>
          <p:cNvPr id="743" name="Google Shape;743;p67"/>
          <p:cNvSpPr/>
          <p:nvPr/>
        </p:nvSpPr>
        <p:spPr>
          <a:xfrm>
            <a:off x="6191250" y="1676400"/>
            <a:ext cx="542925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025"/>
              <a:buFont typeface="Arial"/>
              <a:buNone/>
            </a:pPr>
            <a:r>
              <a:rPr lang="en-US" sz="2025" b="1">
                <a:solidFill>
                  <a:srgbClr val="111111"/>
                </a:solidFill>
                <a:latin typeface="Arial"/>
                <a:ea typeface="Arial"/>
                <a:cs typeface="Arial"/>
                <a:sym typeface="Arial"/>
              </a:rPr>
              <a:t>Required label × score</a:t>
            </a:r>
            <a:endParaRPr/>
          </a:p>
        </p:txBody>
      </p:sp>
      <p:sp>
        <p:nvSpPr>
          <p:cNvPr id="744" name="Google Shape;744;p67"/>
          <p:cNvSpPr/>
          <p:nvPr/>
        </p:nvSpPr>
        <p:spPr>
          <a:xfrm>
            <a:off x="571500" y="2190750"/>
            <a:ext cx="5048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αᵢ = 0</a:t>
            </a:r>
            <a:endParaRPr/>
          </a:p>
        </p:txBody>
      </p:sp>
      <p:sp>
        <p:nvSpPr>
          <p:cNvPr id="745" name="Google Shape;745;p67"/>
          <p:cNvSpPr/>
          <p:nvPr/>
        </p:nvSpPr>
        <p:spPr>
          <a:xfrm>
            <a:off x="6191250" y="2190750"/>
            <a:ext cx="5429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yᵢf(xᵢ) ≥ 1</a:t>
            </a:r>
            <a:endParaRPr/>
          </a:p>
        </p:txBody>
      </p:sp>
      <p:cxnSp>
        <p:nvCxnSpPr>
          <p:cNvPr id="746" name="Google Shape;746;p67"/>
          <p:cNvCxnSpPr/>
          <p:nvPr/>
        </p:nvCxnSpPr>
        <p:spPr>
          <a:xfrm>
            <a:off x="571500" y="2724150"/>
            <a:ext cx="11049000" cy="95"/>
          </a:xfrm>
          <a:prstGeom prst="straightConnector1">
            <a:avLst/>
          </a:prstGeom>
          <a:noFill/>
          <a:ln w="9525" cap="flat" cmpd="sng">
            <a:solidFill>
              <a:srgbClr val="D8DDE2"/>
            </a:solidFill>
            <a:prstDash val="solid"/>
            <a:round/>
            <a:headEnd type="none" w="sm" len="sm"/>
            <a:tailEnd type="none" w="sm" len="sm"/>
          </a:ln>
        </p:spPr>
      </p:cxnSp>
      <p:sp>
        <p:nvSpPr>
          <p:cNvPr id="747" name="Google Shape;747;p67"/>
          <p:cNvSpPr/>
          <p:nvPr/>
        </p:nvSpPr>
        <p:spPr>
          <a:xfrm>
            <a:off x="571500" y="2809875"/>
            <a:ext cx="5048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0 &lt; αᵢ &lt; Cᵢ</a:t>
            </a:r>
            <a:endParaRPr/>
          </a:p>
        </p:txBody>
      </p:sp>
      <p:sp>
        <p:nvSpPr>
          <p:cNvPr id="748" name="Google Shape;748;p67"/>
          <p:cNvSpPr/>
          <p:nvPr/>
        </p:nvSpPr>
        <p:spPr>
          <a:xfrm>
            <a:off x="6191250" y="2809875"/>
            <a:ext cx="5429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yᵢf(xᵢ) = 1</a:t>
            </a:r>
            <a:endParaRPr/>
          </a:p>
        </p:txBody>
      </p:sp>
      <p:cxnSp>
        <p:nvCxnSpPr>
          <p:cNvPr id="749" name="Google Shape;749;p67"/>
          <p:cNvCxnSpPr/>
          <p:nvPr/>
        </p:nvCxnSpPr>
        <p:spPr>
          <a:xfrm>
            <a:off x="571500" y="3343275"/>
            <a:ext cx="11049000" cy="95"/>
          </a:xfrm>
          <a:prstGeom prst="straightConnector1">
            <a:avLst/>
          </a:prstGeom>
          <a:noFill/>
          <a:ln w="9525" cap="flat" cmpd="sng">
            <a:solidFill>
              <a:srgbClr val="D8DDE2"/>
            </a:solidFill>
            <a:prstDash val="solid"/>
            <a:round/>
            <a:headEnd type="none" w="sm" len="sm"/>
            <a:tailEnd type="none" w="sm" len="sm"/>
          </a:ln>
        </p:spPr>
      </p:cxnSp>
      <p:sp>
        <p:nvSpPr>
          <p:cNvPr id="750" name="Google Shape;750;p67"/>
          <p:cNvSpPr/>
          <p:nvPr/>
        </p:nvSpPr>
        <p:spPr>
          <a:xfrm>
            <a:off x="571500" y="3429000"/>
            <a:ext cx="5048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αᵢ = Cᵢ</a:t>
            </a:r>
            <a:endParaRPr/>
          </a:p>
        </p:txBody>
      </p:sp>
      <p:sp>
        <p:nvSpPr>
          <p:cNvPr id="751" name="Google Shape;751;p67"/>
          <p:cNvSpPr/>
          <p:nvPr/>
        </p:nvSpPr>
        <p:spPr>
          <a:xfrm>
            <a:off x="6191250" y="3429000"/>
            <a:ext cx="5429250" cy="4667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Cambria Math"/>
              <a:buNone/>
            </a:pPr>
            <a:r>
              <a:rPr lang="en-US" sz="2400" b="0">
                <a:solidFill>
                  <a:srgbClr val="111111"/>
                </a:solidFill>
                <a:latin typeface="Cambria Math"/>
                <a:ea typeface="Cambria Math"/>
                <a:cs typeface="Cambria Math"/>
                <a:sym typeface="Cambria Math"/>
              </a:rPr>
              <a:t>yᵢf(xᵢ) ≤ 1</a:t>
            </a:r>
            <a:endParaRPr/>
          </a:p>
        </p:txBody>
      </p:sp>
      <p:cxnSp>
        <p:nvCxnSpPr>
          <p:cNvPr id="752" name="Google Shape;752;p67"/>
          <p:cNvCxnSpPr/>
          <p:nvPr/>
        </p:nvCxnSpPr>
        <p:spPr>
          <a:xfrm>
            <a:off x="571500" y="3962400"/>
            <a:ext cx="11049000" cy="95"/>
          </a:xfrm>
          <a:prstGeom prst="straightConnector1">
            <a:avLst/>
          </a:prstGeom>
          <a:noFill/>
          <a:ln w="9525" cap="flat" cmpd="sng">
            <a:solidFill>
              <a:srgbClr val="D8DDE2"/>
            </a:solidFill>
            <a:prstDash val="solid"/>
            <a:round/>
            <a:headEnd type="none" w="sm" len="sm"/>
            <a:tailEnd type="none" w="sm" len="sm"/>
          </a:ln>
        </p:spPr>
      </p:cxnSp>
      <p:sp>
        <p:nvSpPr>
          <p:cNvPr id="753" name="Google Shape;753;p67"/>
          <p:cNvSpPr/>
          <p:nvPr/>
        </p:nvSpPr>
        <p:spPr>
          <a:xfrm>
            <a:off x="571500" y="4210050"/>
            <a:ext cx="11049000" cy="39052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215C9D"/>
              </a:buClr>
              <a:buSzPts val="2025"/>
              <a:buFont typeface="Arial"/>
              <a:buNone/>
            </a:pPr>
            <a:r>
              <a:rPr lang="en-US" sz="2025" b="0">
                <a:solidFill>
                  <a:srgbClr val="215C9D"/>
                </a:solidFill>
                <a:latin typeface="Arial"/>
                <a:ea typeface="Arial"/>
                <a:cs typeface="Arial"/>
                <a:sym typeface="Arial"/>
              </a:rPr>
              <a:t>Our free point gives 1. The capped point gives 0.6. Both pass.</a:t>
            </a:r>
            <a:endParaRPr/>
          </a:p>
        </p:txBody>
      </p:sp>
      <p:sp>
        <p:nvSpPr>
          <p:cNvPr id="754" name="Google Shape;754;p67"/>
          <p:cNvSpPr/>
          <p:nvPr/>
        </p:nvSpPr>
        <p:spPr>
          <a:xfrm>
            <a:off x="571500" y="4781550"/>
            <a:ext cx="11049000" cy="5334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550"/>
              <a:buFont typeface="Cambria Math"/>
              <a:buNone/>
            </a:pPr>
            <a:r>
              <a:rPr lang="en-US" sz="2550" b="0">
                <a:solidFill>
                  <a:srgbClr val="111111"/>
                </a:solidFill>
                <a:latin typeface="Cambria Math"/>
                <a:ea typeface="Cambria Math"/>
                <a:cs typeface="Cambria Math"/>
                <a:sym typeface="Cambria Math"/>
              </a:rPr>
              <a:t>P = ½(0.8)² + 0.4(0.4) = 0.48</a:t>
            </a:r>
            <a:endParaRPr/>
          </a:p>
        </p:txBody>
      </p:sp>
      <p:sp>
        <p:nvSpPr>
          <p:cNvPr id="755" name="Google Shape;755;p67"/>
          <p:cNvSpPr/>
          <p:nvPr/>
        </p:nvSpPr>
        <p:spPr>
          <a:xfrm>
            <a:off x="571500" y="5448300"/>
            <a:ext cx="11049000" cy="5334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2550"/>
              <a:buFont typeface="Cambria Math"/>
              <a:buNone/>
            </a:pPr>
            <a:r>
              <a:rPr lang="en-US" sz="2550" b="0">
                <a:solidFill>
                  <a:srgbClr val="A02337"/>
                </a:solidFill>
                <a:latin typeface="Cambria Math"/>
                <a:ea typeface="Cambria Math"/>
                <a:cs typeface="Cambria Math"/>
                <a:sym typeface="Cambria Math"/>
              </a:rPr>
              <a:t>D = 0.4 + 0.4 − ½(0.8)² = 0.48</a:t>
            </a:r>
            <a:endParaRPr/>
          </a:p>
        </p:txBody>
      </p:sp>
      <p:sp>
        <p:nvSpPr>
          <p:cNvPr id="756" name="Google Shape;756;p67"/>
          <p:cNvSpPr/>
          <p:nvPr/>
        </p:nvSpPr>
        <p:spPr>
          <a:xfrm>
            <a:off x="571500" y="6115050"/>
            <a:ext cx="11049000" cy="3429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1950"/>
              <a:buFont typeface="Arial"/>
              <a:buNone/>
            </a:pPr>
            <a:r>
              <a:rPr lang="en-US" sz="1950" b="1">
                <a:solidFill>
                  <a:srgbClr val="A02337"/>
                </a:solidFill>
                <a:latin typeface="Arial"/>
                <a:ea typeface="Arial"/>
                <a:cs typeface="Arial"/>
                <a:sym typeface="Arial"/>
              </a:rPr>
              <a:t>D ≤ best training value ≤ P. Equal bounds certify this example.</a:t>
            </a:r>
            <a:endParaRPr/>
          </a:p>
        </p:txBody>
      </p:sp>
      <p:sp>
        <p:nvSpPr>
          <p:cNvPr id="757" name="Google Shape;757;p67"/>
          <p:cNvSpPr/>
          <p:nvPr/>
        </p:nvSpPr>
        <p:spPr>
          <a:xfrm>
            <a:off x="571500" y="6524625"/>
            <a:ext cx="11049000" cy="2286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62666B"/>
              </a:buClr>
              <a:buSzPts val="1575"/>
              <a:buFont typeface="Arial"/>
              <a:buNone/>
            </a:pPr>
            <a:r>
              <a:rPr lang="en-US" sz="1575" b="0">
                <a:solidFill>
                  <a:srgbClr val="62666B"/>
                </a:solidFill>
                <a:latin typeface="Arial"/>
                <a:ea typeface="Arial"/>
                <a:cs typeface="Arial"/>
                <a:sym typeface="Arial"/>
              </a:rPr>
              <a:t>Real runs use tolerances. Budget expiry without passing the checks means unconverged.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68"/>
          <p:cNvSpPr txBox="1">
            <a:spLocks noGrp="1"/>
          </p:cNvSpPr>
          <p:nvPr>
            <p:ph type="title"/>
          </p:nvPr>
        </p:nvSpPr>
        <p:spPr>
          <a:xfrm>
            <a:off x="334994" y="0"/>
            <a:ext cx="10637806" cy="8021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FFFFF"/>
              </a:buClr>
              <a:buSzPts val="3200"/>
              <a:buFont typeface="Arial"/>
              <a:buNone/>
            </a:pPr>
            <a:r>
              <a:rPr lang="en-US" sz="3200" b="1">
                <a:solidFill>
                  <a:srgbClr val="FFFFFF"/>
                </a:solidFill>
                <a:latin typeface="Arial"/>
                <a:ea typeface="Arial"/>
                <a:cs typeface="Arial"/>
                <a:sym typeface="Arial"/>
              </a:rPr>
              <a:t>The complete SMO process</a:t>
            </a:r>
            <a:endParaRPr/>
          </a:p>
        </p:txBody>
      </p:sp>
      <p:sp>
        <p:nvSpPr>
          <p:cNvPr id="764" name="Google Shape;764;p68"/>
          <p:cNvSpPr/>
          <p:nvPr/>
        </p:nvSpPr>
        <p:spPr>
          <a:xfrm>
            <a:off x="11144250" y="6448425"/>
            <a:ext cx="619125" cy="238125"/>
          </a:xfrm>
          <a:prstGeom prst="rect">
            <a:avLst/>
          </a:prstGeom>
          <a:noFill/>
          <a:ln>
            <a:noFill/>
          </a:ln>
        </p:spPr>
        <p:txBody>
          <a:bodyPr spcFirstLastPara="1" wrap="square" lIns="0" tIns="0" rIns="0" bIns="0" anchor="ctr" anchorCtr="0">
            <a:noAutofit/>
          </a:bodyPr>
          <a:lstStyle/>
          <a:p>
            <a:pPr marL="0" marR="0" lvl="0" indent="0" algn="r" rtl="0">
              <a:lnSpc>
                <a:spcPct val="110000"/>
              </a:lnSpc>
              <a:spcBef>
                <a:spcPts val="0"/>
              </a:spcBef>
              <a:spcAft>
                <a:spcPts val="0"/>
              </a:spcAft>
              <a:buClr>
                <a:srgbClr val="111111"/>
              </a:buClr>
              <a:buSzPts val="1200"/>
              <a:buFont typeface="Arial"/>
              <a:buNone/>
            </a:pPr>
            <a:r>
              <a:rPr lang="en-US" sz="1200" b="0">
                <a:solidFill>
                  <a:srgbClr val="111111"/>
                </a:solidFill>
                <a:latin typeface="Arial"/>
                <a:ea typeface="Arial"/>
                <a:cs typeface="Arial"/>
                <a:sym typeface="Arial"/>
              </a:rPr>
              <a:t>II · 12</a:t>
            </a:r>
            <a:endParaRPr/>
          </a:p>
        </p:txBody>
      </p:sp>
      <p:sp>
        <p:nvSpPr>
          <p:cNvPr id="765" name="Google Shape;765;p68"/>
          <p:cNvSpPr/>
          <p:nvPr/>
        </p:nvSpPr>
        <p:spPr>
          <a:xfrm>
            <a:off x="571500" y="1143000"/>
            <a:ext cx="11049000" cy="4476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400"/>
              <a:buFont typeface="Arial"/>
              <a:buNone/>
            </a:pPr>
            <a:r>
              <a:rPr lang="en-US" sz="2400" b="0">
                <a:solidFill>
                  <a:srgbClr val="111111"/>
                </a:solidFill>
                <a:latin typeface="Arial"/>
                <a:ea typeface="Arial"/>
                <a:cs typeface="Arial"/>
                <a:sym typeface="Arial"/>
              </a:rPr>
              <a:t>SMO solves the same SVM through legal pair updates.</a:t>
            </a:r>
            <a:endParaRPr/>
          </a:p>
        </p:txBody>
      </p:sp>
      <p:sp>
        <p:nvSpPr>
          <p:cNvPr id="766" name="Google Shape;766;p68"/>
          <p:cNvSpPr/>
          <p:nvPr/>
        </p:nvSpPr>
        <p:spPr>
          <a:xfrm>
            <a:off x="571500" y="2152650"/>
            <a:ext cx="1905000" cy="4191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Choose pair</a:t>
            </a:r>
            <a:endParaRPr/>
          </a:p>
        </p:txBody>
      </p:sp>
      <p:cxnSp>
        <p:nvCxnSpPr>
          <p:cNvPr id="767" name="Google Shape;767;p68"/>
          <p:cNvCxnSpPr/>
          <p:nvPr/>
        </p:nvCxnSpPr>
        <p:spPr>
          <a:xfrm>
            <a:off x="2524125" y="2371725"/>
            <a:ext cx="238125" cy="95"/>
          </a:xfrm>
          <a:prstGeom prst="straightConnector1">
            <a:avLst/>
          </a:prstGeom>
          <a:noFill/>
          <a:ln w="19050" cap="flat" cmpd="sng">
            <a:solidFill>
              <a:srgbClr val="215C9D"/>
            </a:solidFill>
            <a:prstDash val="solid"/>
            <a:round/>
            <a:headEnd type="none" w="sm" len="sm"/>
            <a:tailEnd type="none" w="sm" len="sm"/>
          </a:ln>
        </p:spPr>
      </p:cxnSp>
      <p:sp>
        <p:nvSpPr>
          <p:cNvPr id="768" name="Google Shape;768;p68"/>
          <p:cNvSpPr/>
          <p:nvPr/>
        </p:nvSpPr>
        <p:spPr>
          <a:xfrm>
            <a:off x="2686050" y="2337435"/>
            <a:ext cx="76200" cy="68580"/>
          </a:xfrm>
          <a:custGeom>
            <a:avLst/>
            <a:gdLst/>
            <a:ahLst/>
            <a:cxnLst/>
            <a:rect l="l" t="t" r="r" b="b"/>
            <a:pathLst>
              <a:path w="76200" h="68580" extrusionOk="0">
                <a:moveTo>
                  <a:pt x="76200" y="34290"/>
                </a:moveTo>
                <a:lnTo>
                  <a:pt x="0" y="0"/>
                </a:lnTo>
                <a:lnTo>
                  <a:pt x="0" y="6858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69" name="Google Shape;769;p68"/>
          <p:cNvSpPr/>
          <p:nvPr/>
        </p:nvSpPr>
        <p:spPr>
          <a:xfrm>
            <a:off x="2857500" y="2152650"/>
            <a:ext cx="1905000" cy="4191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Find bounds</a:t>
            </a:r>
            <a:endParaRPr/>
          </a:p>
        </p:txBody>
      </p:sp>
      <p:cxnSp>
        <p:nvCxnSpPr>
          <p:cNvPr id="770" name="Google Shape;770;p68"/>
          <p:cNvCxnSpPr/>
          <p:nvPr/>
        </p:nvCxnSpPr>
        <p:spPr>
          <a:xfrm>
            <a:off x="4810125" y="2371725"/>
            <a:ext cx="238125" cy="95"/>
          </a:xfrm>
          <a:prstGeom prst="straightConnector1">
            <a:avLst/>
          </a:prstGeom>
          <a:noFill/>
          <a:ln w="19050" cap="flat" cmpd="sng">
            <a:solidFill>
              <a:srgbClr val="215C9D"/>
            </a:solidFill>
            <a:prstDash val="solid"/>
            <a:round/>
            <a:headEnd type="none" w="sm" len="sm"/>
            <a:tailEnd type="none" w="sm" len="sm"/>
          </a:ln>
        </p:spPr>
      </p:cxnSp>
      <p:sp>
        <p:nvSpPr>
          <p:cNvPr id="771" name="Google Shape;771;p68"/>
          <p:cNvSpPr/>
          <p:nvPr/>
        </p:nvSpPr>
        <p:spPr>
          <a:xfrm>
            <a:off x="4972050" y="2337435"/>
            <a:ext cx="76200" cy="68580"/>
          </a:xfrm>
          <a:custGeom>
            <a:avLst/>
            <a:gdLst/>
            <a:ahLst/>
            <a:cxnLst/>
            <a:rect l="l" t="t" r="r" b="b"/>
            <a:pathLst>
              <a:path w="76200" h="68580" extrusionOk="0">
                <a:moveTo>
                  <a:pt x="76200" y="34290"/>
                </a:moveTo>
                <a:lnTo>
                  <a:pt x="0" y="0"/>
                </a:lnTo>
                <a:lnTo>
                  <a:pt x="0" y="6858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72" name="Google Shape;772;p68"/>
          <p:cNvSpPr/>
          <p:nvPr/>
        </p:nvSpPr>
        <p:spPr>
          <a:xfrm>
            <a:off x="5143500" y="2152650"/>
            <a:ext cx="1905000" cy="4191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Optimize</a:t>
            </a:r>
            <a:endParaRPr/>
          </a:p>
        </p:txBody>
      </p:sp>
      <p:cxnSp>
        <p:nvCxnSpPr>
          <p:cNvPr id="773" name="Google Shape;773;p68"/>
          <p:cNvCxnSpPr/>
          <p:nvPr/>
        </p:nvCxnSpPr>
        <p:spPr>
          <a:xfrm>
            <a:off x="7096125" y="2371725"/>
            <a:ext cx="238125" cy="95"/>
          </a:xfrm>
          <a:prstGeom prst="straightConnector1">
            <a:avLst/>
          </a:prstGeom>
          <a:noFill/>
          <a:ln w="19050" cap="flat" cmpd="sng">
            <a:solidFill>
              <a:srgbClr val="215C9D"/>
            </a:solidFill>
            <a:prstDash val="solid"/>
            <a:round/>
            <a:headEnd type="none" w="sm" len="sm"/>
            <a:tailEnd type="none" w="sm" len="sm"/>
          </a:ln>
        </p:spPr>
      </p:cxnSp>
      <p:sp>
        <p:nvSpPr>
          <p:cNvPr id="774" name="Google Shape;774;p68"/>
          <p:cNvSpPr/>
          <p:nvPr/>
        </p:nvSpPr>
        <p:spPr>
          <a:xfrm>
            <a:off x="7258050" y="2337435"/>
            <a:ext cx="76200" cy="68580"/>
          </a:xfrm>
          <a:custGeom>
            <a:avLst/>
            <a:gdLst/>
            <a:ahLst/>
            <a:cxnLst/>
            <a:rect l="l" t="t" r="r" b="b"/>
            <a:pathLst>
              <a:path w="76200" h="68580" extrusionOk="0">
                <a:moveTo>
                  <a:pt x="76200" y="34290"/>
                </a:moveTo>
                <a:lnTo>
                  <a:pt x="0" y="0"/>
                </a:lnTo>
                <a:lnTo>
                  <a:pt x="0" y="6858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75" name="Google Shape;775;p68"/>
          <p:cNvSpPr/>
          <p:nvPr/>
        </p:nvSpPr>
        <p:spPr>
          <a:xfrm>
            <a:off x="7429500" y="2152650"/>
            <a:ext cx="1905000" cy="4191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Update</a:t>
            </a:r>
            <a:endParaRPr/>
          </a:p>
        </p:txBody>
      </p:sp>
      <p:cxnSp>
        <p:nvCxnSpPr>
          <p:cNvPr id="776" name="Google Shape;776;p68"/>
          <p:cNvCxnSpPr/>
          <p:nvPr/>
        </p:nvCxnSpPr>
        <p:spPr>
          <a:xfrm>
            <a:off x="9382125" y="2371725"/>
            <a:ext cx="238125" cy="95"/>
          </a:xfrm>
          <a:prstGeom prst="straightConnector1">
            <a:avLst/>
          </a:prstGeom>
          <a:noFill/>
          <a:ln w="19050" cap="flat" cmpd="sng">
            <a:solidFill>
              <a:srgbClr val="215C9D"/>
            </a:solidFill>
            <a:prstDash val="solid"/>
            <a:round/>
            <a:headEnd type="none" w="sm" len="sm"/>
            <a:tailEnd type="none" w="sm" len="sm"/>
          </a:ln>
        </p:spPr>
      </p:cxnSp>
      <p:sp>
        <p:nvSpPr>
          <p:cNvPr id="777" name="Google Shape;777;p68"/>
          <p:cNvSpPr/>
          <p:nvPr/>
        </p:nvSpPr>
        <p:spPr>
          <a:xfrm>
            <a:off x="9544050" y="2337435"/>
            <a:ext cx="76200" cy="68580"/>
          </a:xfrm>
          <a:custGeom>
            <a:avLst/>
            <a:gdLst/>
            <a:ahLst/>
            <a:cxnLst/>
            <a:rect l="l" t="t" r="r" b="b"/>
            <a:pathLst>
              <a:path w="76200" h="68580" extrusionOk="0">
                <a:moveTo>
                  <a:pt x="76200" y="34290"/>
                </a:moveTo>
                <a:lnTo>
                  <a:pt x="0" y="0"/>
                </a:lnTo>
                <a:lnTo>
                  <a:pt x="0" y="68580"/>
                </a:lnTo>
                <a:close/>
              </a:path>
            </a:pathLst>
          </a:custGeom>
          <a:solidFill>
            <a:srgbClr val="215C9D"/>
          </a:solidFill>
          <a:ln w="9525" cap="flat" cmpd="sng">
            <a:solidFill>
              <a:srgbClr val="215C9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78" name="Google Shape;778;p68"/>
          <p:cNvSpPr/>
          <p:nvPr/>
        </p:nvSpPr>
        <p:spPr>
          <a:xfrm>
            <a:off x="9715500" y="2152650"/>
            <a:ext cx="1905000" cy="4191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C9D"/>
              </a:buClr>
              <a:buSzPts val="2100"/>
              <a:buFont typeface="Arial"/>
              <a:buNone/>
            </a:pPr>
            <a:r>
              <a:rPr lang="en-US" sz="2100" b="1">
                <a:solidFill>
                  <a:srgbClr val="215C9D"/>
                </a:solidFill>
                <a:latin typeface="Arial"/>
                <a:ea typeface="Arial"/>
                <a:cs typeface="Arial"/>
                <a:sym typeface="Arial"/>
              </a:rPr>
              <a:t>Check all</a:t>
            </a:r>
            <a:endParaRPr/>
          </a:p>
        </p:txBody>
      </p:sp>
      <p:sp>
        <p:nvSpPr>
          <p:cNvPr id="779" name="Google Shape;779;p68"/>
          <p:cNvSpPr/>
          <p:nvPr/>
        </p:nvSpPr>
        <p:spPr>
          <a:xfrm>
            <a:off x="1524000" y="2676525"/>
            <a:ext cx="9144000" cy="438150"/>
          </a:xfrm>
          <a:custGeom>
            <a:avLst/>
            <a:gdLst/>
            <a:ahLst/>
            <a:cxnLst/>
            <a:rect l="l" t="t" r="r" b="b"/>
            <a:pathLst>
              <a:path w="9144000" h="438150" extrusionOk="0">
                <a:moveTo>
                  <a:pt x="9144000" y="0"/>
                </a:moveTo>
                <a:lnTo>
                  <a:pt x="9144000" y="438150"/>
                </a:lnTo>
                <a:lnTo>
                  <a:pt x="0" y="438150"/>
                </a:lnTo>
              </a:path>
            </a:pathLst>
          </a:custGeom>
          <a:noFill/>
          <a:ln w="152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cxnSp>
        <p:nvCxnSpPr>
          <p:cNvPr id="780" name="Google Shape;780;p68"/>
          <p:cNvCxnSpPr/>
          <p:nvPr/>
        </p:nvCxnSpPr>
        <p:spPr>
          <a:xfrm rot="10800000" flipH="1">
            <a:off x="1524000" y="2676525"/>
            <a:ext cx="95" cy="438150"/>
          </a:xfrm>
          <a:prstGeom prst="straightConnector1">
            <a:avLst/>
          </a:prstGeom>
          <a:noFill/>
          <a:ln w="15225" cap="flat" cmpd="sng">
            <a:solidFill>
              <a:srgbClr val="8A9096"/>
            </a:solidFill>
            <a:prstDash val="solid"/>
            <a:round/>
            <a:headEnd type="none" w="sm" len="sm"/>
            <a:tailEnd type="none" w="sm" len="sm"/>
          </a:ln>
        </p:spPr>
      </p:cxnSp>
      <p:sp>
        <p:nvSpPr>
          <p:cNvPr id="781" name="Google Shape;781;p68"/>
          <p:cNvSpPr/>
          <p:nvPr/>
        </p:nvSpPr>
        <p:spPr>
          <a:xfrm>
            <a:off x="1489710" y="2676525"/>
            <a:ext cx="68580" cy="76200"/>
          </a:xfrm>
          <a:custGeom>
            <a:avLst/>
            <a:gdLst/>
            <a:ahLst/>
            <a:cxnLst/>
            <a:rect l="l" t="t" r="r" b="b"/>
            <a:pathLst>
              <a:path w="68580" h="76200" extrusionOk="0">
                <a:moveTo>
                  <a:pt x="34290" y="0"/>
                </a:moveTo>
                <a:lnTo>
                  <a:pt x="0" y="76200"/>
                </a:lnTo>
                <a:lnTo>
                  <a:pt x="68580" y="76200"/>
                </a:lnTo>
                <a:close/>
              </a:path>
            </a:pathLst>
          </a:custGeom>
          <a:solidFill>
            <a:srgbClr val="8A9096"/>
          </a:solidFill>
          <a:ln w="9525" cap="flat" cmpd="sng">
            <a:solidFill>
              <a:srgbClr val="8A909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782" name="Google Shape;782;p68"/>
          <p:cNvSpPr/>
          <p:nvPr/>
        </p:nvSpPr>
        <p:spPr>
          <a:xfrm>
            <a:off x="3905250" y="3257550"/>
            <a:ext cx="4381500" cy="3429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62666B"/>
              </a:buClr>
              <a:buSzPts val="1875"/>
              <a:buFont typeface="Arial"/>
              <a:buNone/>
            </a:pPr>
            <a:r>
              <a:rPr lang="en-US" sz="1875" b="0">
                <a:solidFill>
                  <a:srgbClr val="62666B"/>
                </a:solidFill>
                <a:latin typeface="Arial"/>
                <a:ea typeface="Arial"/>
                <a:cs typeface="Arial"/>
                <a:sym typeface="Arial"/>
              </a:rPr>
              <a:t>not finished: repeat</a:t>
            </a:r>
            <a:endParaRPr/>
          </a:p>
        </p:txBody>
      </p:sp>
      <p:cxnSp>
        <p:nvCxnSpPr>
          <p:cNvPr id="783" name="Google Shape;783;p68"/>
          <p:cNvCxnSpPr/>
          <p:nvPr/>
        </p:nvCxnSpPr>
        <p:spPr>
          <a:xfrm>
            <a:off x="571500" y="3886200"/>
            <a:ext cx="11049000" cy="95"/>
          </a:xfrm>
          <a:prstGeom prst="straightConnector1">
            <a:avLst/>
          </a:prstGeom>
          <a:noFill/>
          <a:ln w="9525" cap="flat" cmpd="sng">
            <a:solidFill>
              <a:srgbClr val="D8DDE2"/>
            </a:solidFill>
            <a:prstDash val="solid"/>
            <a:round/>
            <a:headEnd type="none" w="sm" len="sm"/>
            <a:tailEnd type="none" w="sm" len="sm"/>
          </a:ln>
        </p:spPr>
      </p:cxnSp>
      <p:sp>
        <p:nvSpPr>
          <p:cNvPr id="784" name="Google Shape;784;p68"/>
          <p:cNvSpPr/>
          <p:nvPr/>
        </p:nvSpPr>
        <p:spPr>
          <a:xfrm>
            <a:off x="571500" y="4162425"/>
            <a:ext cx="11049000" cy="36195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62666B"/>
              </a:buClr>
              <a:buSzPts val="2025"/>
              <a:buFont typeface="Arial"/>
              <a:buNone/>
            </a:pPr>
            <a:r>
              <a:rPr lang="en-US" sz="2025" b="0">
                <a:solidFill>
                  <a:srgbClr val="62666B"/>
                </a:solidFill>
                <a:latin typeface="Arial"/>
                <a:ea typeface="Arial"/>
                <a:cs typeface="Arial"/>
                <a:sym typeface="Arial"/>
              </a:rPr>
              <a:t>Our example</a:t>
            </a:r>
            <a:endParaRPr/>
          </a:p>
        </p:txBody>
      </p:sp>
      <p:sp>
        <p:nvSpPr>
          <p:cNvPr id="785" name="Google Shape;785;p68"/>
          <p:cNvSpPr/>
          <p:nvPr/>
        </p:nvSpPr>
        <p:spPr>
          <a:xfrm>
            <a:off x="4143375" y="4657725"/>
            <a:ext cx="6191250" cy="762000"/>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A02337"/>
              </a:buClr>
              <a:buSzPts val="3600"/>
              <a:buFont typeface="Cambria Math"/>
              <a:buNone/>
            </a:pPr>
            <a:r>
              <a:rPr lang="en-US" sz="3600" b="0">
                <a:solidFill>
                  <a:srgbClr val="A02337"/>
                </a:solidFill>
                <a:latin typeface="Cambria Math"/>
                <a:ea typeface="Cambria Math"/>
                <a:cs typeface="Cambria Math"/>
                <a:sym typeface="Cambria Math"/>
              </a:rPr>
              <a:t>f(x) = 0.8x + 0.2</a:t>
            </a:r>
            <a:endParaRPr/>
          </a:p>
        </p:txBody>
      </p:sp>
      <p:sp>
        <p:nvSpPr>
          <p:cNvPr id="786" name="Google Shape;786;p68"/>
          <p:cNvSpPr/>
          <p:nvPr/>
        </p:nvSpPr>
        <p:spPr>
          <a:xfrm>
            <a:off x="571500" y="5819775"/>
            <a:ext cx="11049000" cy="409575"/>
          </a:xfrm>
          <a:prstGeom prst="rect">
            <a:avLst/>
          </a:prstGeom>
          <a:noFill/>
          <a:ln>
            <a:noFill/>
          </a:ln>
        </p:spPr>
        <p:txBody>
          <a:bodyPr spcFirstLastPara="1" wrap="square" lIns="0" tIns="0" rIns="0" bIns="0" anchor="ctr" anchorCtr="0">
            <a:noAutofit/>
          </a:bodyPr>
          <a:lstStyle/>
          <a:p>
            <a:pPr marL="0" marR="0" lvl="0" indent="0" algn="l" rtl="0">
              <a:lnSpc>
                <a:spcPct val="108000"/>
              </a:lnSpc>
              <a:spcBef>
                <a:spcPts val="0"/>
              </a:spcBef>
              <a:spcAft>
                <a:spcPts val="0"/>
              </a:spcAft>
              <a:buClr>
                <a:srgbClr val="111111"/>
              </a:buClr>
              <a:buSzPts val="2175"/>
              <a:buFont typeface="Arial"/>
              <a:buNone/>
            </a:pPr>
            <a:r>
              <a:rPr lang="en-US" sz="2175" b="1">
                <a:solidFill>
                  <a:srgbClr val="111111"/>
                </a:solidFill>
                <a:latin typeface="Arial"/>
                <a:ea typeface="Arial"/>
                <a:cs typeface="Arial"/>
                <a:sym typeface="Arial"/>
              </a:rPr>
              <a:t>Stop when the whole model passes the optimality checks.</a:t>
            </a:r>
            <a:endParaRPr/>
          </a:p>
        </p:txBody>
      </p:sp>
      <p:sp>
        <p:nvSpPr>
          <p:cNvPr id="787" name="Google Shape;787;p68"/>
          <p:cNvSpPr/>
          <p:nvPr/>
        </p:nvSpPr>
        <p:spPr>
          <a:xfrm>
            <a:off x="571500" y="6419850"/>
            <a:ext cx="10953750" cy="266700"/>
          </a:xfrm>
          <a:prstGeom prst="rect">
            <a:avLst/>
          </a:prstGeom>
          <a:noFill/>
          <a:ln>
            <a:noFill/>
          </a:ln>
        </p:spPr>
        <p:txBody>
          <a:bodyPr spcFirstLastPara="1" wrap="square" lIns="0" tIns="0" rIns="0" bIns="0" anchor="ctr" anchorCtr="0">
            <a:noAutofit/>
          </a:bodyPr>
          <a:lstStyle/>
          <a:p>
            <a:pPr marL="0" marR="0" lvl="0" indent="0" algn="ctr" rtl="0">
              <a:lnSpc>
                <a:spcPct val="108000"/>
              </a:lnSpc>
              <a:spcBef>
                <a:spcPts val="0"/>
              </a:spcBef>
              <a:spcAft>
                <a:spcPts val="0"/>
              </a:spcAft>
              <a:buClr>
                <a:srgbClr val="215D9F"/>
              </a:buClr>
              <a:buSzPts val="2000"/>
              <a:buFont typeface="Arial"/>
              <a:buNone/>
            </a:pPr>
            <a:r>
              <a:rPr lang="en-US" sz="2000" b="0">
                <a:solidFill>
                  <a:srgbClr val="215D9F"/>
                </a:solidFill>
                <a:latin typeface="Arial"/>
                <a:ea typeface="Arial"/>
                <a:cs typeface="Arial"/>
                <a:sym typeface="Arial"/>
              </a:rPr>
              <a:t>Next: ADMM solves the same objective by variable splitting.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69"/>
          <p:cNvSpPr txBox="1">
            <a:spLocks noGrp="1"/>
          </p:cNvSpPr>
          <p:nvPr>
            <p:ph type="ctrTitle"/>
          </p:nvPr>
        </p:nvSpPr>
        <p:spPr>
          <a:xfrm>
            <a:off x="334963" y="1949379"/>
            <a:ext cx="6598400" cy="1497877"/>
          </a:xfrm>
          <a:prstGeom prst="rect">
            <a:avLst/>
          </a:prstGeom>
          <a:noFill/>
          <a:ln>
            <a:noFill/>
          </a:ln>
        </p:spPr>
        <p:txBody>
          <a:bodyPr spcFirstLastPara="1" wrap="square" lIns="91425" tIns="45700" rIns="91425" bIns="45700" anchor="b" anchorCtr="0">
            <a:noAutofit/>
          </a:bodyPr>
          <a:lstStyle/>
          <a:p>
            <a:pPr marL="0" marR="0" lvl="0" indent="0" algn="l" rtl="0">
              <a:lnSpc>
                <a:spcPct val="106000"/>
              </a:lnSpc>
              <a:spcBef>
                <a:spcPts val="0"/>
              </a:spcBef>
              <a:spcAft>
                <a:spcPts val="0"/>
              </a:spcAft>
              <a:buClr>
                <a:srgbClr val="FFFFFF"/>
              </a:buClr>
              <a:buSzPts val="4400"/>
              <a:buFont typeface="Calibri"/>
              <a:buNone/>
            </a:pPr>
            <a:r>
              <a:rPr lang="en-US" sz="4400" b="0" i="0" u="none" strike="noStrike" cap="none">
                <a:solidFill>
                  <a:srgbClr val="FFFFFF"/>
                </a:solidFill>
                <a:latin typeface="Calibri"/>
                <a:ea typeface="Calibri"/>
                <a:cs typeface="Calibri"/>
                <a:sym typeface="Calibri"/>
              </a:rPr>
              <a:t>ADMM and PA-ADMM</a:t>
            </a:r>
            <a:endParaRPr sz="4400" b="0" i="0" u="none" strike="noStrike" cap="none">
              <a:solidFill>
                <a:srgbClr val="FFFFFF"/>
              </a:solidFill>
              <a:latin typeface="Calibri"/>
              <a:ea typeface="Calibri"/>
              <a:cs typeface="Calibri"/>
              <a:sym typeface="Calibri"/>
            </a:endParaRPr>
          </a:p>
        </p:txBody>
      </p:sp>
      <p:sp>
        <p:nvSpPr>
          <p:cNvPr id="794" name="Google Shape;794;p69"/>
          <p:cNvSpPr txBox="1">
            <a:spLocks noGrp="1"/>
          </p:cNvSpPr>
          <p:nvPr>
            <p:ph type="subTitle" idx="1"/>
          </p:nvPr>
        </p:nvSpPr>
        <p:spPr>
          <a:xfrm>
            <a:off x="334963" y="3447257"/>
            <a:ext cx="3779837" cy="2207418"/>
          </a:xfrm>
          <a:prstGeom prst="rect">
            <a:avLst/>
          </a:prstGeom>
          <a:noFill/>
          <a:ln>
            <a:noFill/>
          </a:ln>
        </p:spPr>
        <p:txBody>
          <a:bodyPr spcFirstLastPara="1" wrap="square" lIns="91425" tIns="45700" rIns="91425" bIns="45700" anchor="t" anchorCtr="0">
            <a:noAutofit/>
          </a:bodyPr>
          <a:lstStyle/>
          <a:p>
            <a:pPr marL="0" marR="0" lvl="0" indent="0" algn="l" rtl="0">
              <a:lnSpc>
                <a:spcPct val="116000"/>
              </a:lnSpc>
              <a:spcBef>
                <a:spcPts val="0"/>
              </a:spcBef>
              <a:spcAft>
                <a:spcPts val="0"/>
              </a:spcAft>
              <a:buClr>
                <a:srgbClr val="FFFFFF"/>
              </a:buClr>
              <a:buSzPts val="2400"/>
              <a:buFont typeface="Arial"/>
              <a:buNone/>
            </a:pPr>
            <a:r>
              <a:rPr lang="en-US" sz="2400" b="0" i="0" u="none" strike="noStrike" cap="none">
                <a:solidFill>
                  <a:srgbClr val="FFFFFF"/>
                </a:solidFill>
                <a:latin typeface="Calibri"/>
                <a:ea typeface="Calibri"/>
                <a:cs typeface="Calibri"/>
                <a:sym typeface="Calibri"/>
              </a:rPr>
              <a:t>PART III</a:t>
            </a:r>
            <a:endParaRPr sz="2400" b="0" i="0" u="none" strike="noStrike" cap="none">
              <a:solidFill>
                <a:srgbClr val="FFFFFF"/>
              </a:solidFill>
              <a:latin typeface="Calibri"/>
              <a:ea typeface="Calibri"/>
              <a:cs typeface="Calibri"/>
              <a:sym typeface="Calibri"/>
            </a:endParaRPr>
          </a:p>
          <a:p>
            <a:pPr marL="0" marR="0" lvl="0" indent="0" algn="l" rtl="0">
              <a:lnSpc>
                <a:spcPct val="116000"/>
              </a:lnSpc>
              <a:spcBef>
                <a:spcPts val="480"/>
              </a:spcBef>
              <a:spcAft>
                <a:spcPts val="0"/>
              </a:spcAft>
              <a:buClr>
                <a:srgbClr val="FFFFFF"/>
              </a:buClr>
              <a:buSzPts val="2400"/>
              <a:buFont typeface="Arial"/>
              <a:buNone/>
            </a:pPr>
            <a:r>
              <a:rPr lang="en-US" sz="2400" b="0" i="0" u="none" strike="noStrike" cap="none">
                <a:solidFill>
                  <a:srgbClr val="FFFFFF"/>
                </a:solidFill>
                <a:latin typeface="Calibri"/>
                <a:ea typeface="Calibri"/>
                <a:cs typeface="Calibri"/>
                <a:sym typeface="Calibri"/>
              </a:rPr>
              <a:t>OPTIMIZATION METHODS</a:t>
            </a:r>
            <a:endParaRPr sz="2400" b="0" i="0" u="none" strike="noStrike" cap="none">
              <a:solidFill>
                <a:srgbClr val="FFFFFF"/>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99"/>
        <p:cNvGrpSpPr/>
        <p:nvPr/>
      </p:nvGrpSpPr>
      <p:grpSpPr>
        <a:xfrm>
          <a:off x="0" y="0"/>
          <a:ext cx="0" cy="0"/>
          <a:chOff x="0" y="0"/>
          <a:chExt cx="0" cy="0"/>
        </a:xfrm>
      </p:grpSpPr>
      <p:sp>
        <p:nvSpPr>
          <p:cNvPr id="800" name="Google Shape;800;p70"/>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OPTIMIZATION METHODS</a:t>
            </a:r>
            <a:endParaRPr/>
          </a:p>
        </p:txBody>
      </p:sp>
      <p:sp>
        <p:nvSpPr>
          <p:cNvPr id="801" name="Google Shape;801;p70"/>
          <p:cNvSpPr/>
          <p:nvPr/>
        </p:nvSpPr>
        <p:spPr>
          <a:xfrm>
            <a:off x="533400" y="1650968"/>
            <a:ext cx="10985468" cy="431768"/>
          </a:xfrm>
          <a:prstGeom prst="rect">
            <a:avLst/>
          </a:prstGeom>
          <a:noFill/>
          <a:ln>
            <a:noFill/>
          </a:ln>
        </p:spPr>
        <p:txBody>
          <a:bodyPr spcFirstLastPara="1" wrap="square" lIns="0" tIns="0" rIns="0" bIns="0" anchor="t" anchorCtr="0">
            <a:noAutofit/>
          </a:bodyPr>
          <a:lstStyle/>
          <a:p>
            <a:pPr marL="0" marR="0" lvl="0" indent="0" algn="l" rtl="0">
              <a:lnSpc>
                <a:spcPct val="117954"/>
              </a:lnSpc>
              <a:spcBef>
                <a:spcPts val="0"/>
              </a:spcBef>
              <a:spcAft>
                <a:spcPts val="0"/>
              </a:spcAft>
              <a:buClr>
                <a:srgbClr val="182B3A"/>
              </a:buClr>
              <a:buSzPts val="2200"/>
              <a:buFont typeface="Calibri"/>
              <a:buNone/>
            </a:pPr>
            <a:r>
              <a:rPr lang="en-US" sz="2200" b="0">
                <a:solidFill>
                  <a:srgbClr val="182B3A"/>
                </a:solidFill>
                <a:latin typeface="Calibri"/>
                <a:ea typeface="Calibri"/>
                <a:cs typeface="Calibri"/>
                <a:sym typeface="Calibri"/>
              </a:rPr>
              <a:t>Solve a cost-sensitive SVM through variable splitting.</a:t>
            </a:r>
            <a:endParaRPr/>
          </a:p>
        </p:txBody>
      </p:sp>
      <p:pic>
        <p:nvPicPr>
          <p:cNvPr id="802" name="Google Shape;802;p70"/>
          <p:cNvPicPr preferRelativeResize="0"/>
          <p:nvPr/>
        </p:nvPicPr>
        <p:blipFill rotWithShape="1">
          <a:blip r:embed="rId3">
            <a:alphaModFix/>
          </a:blip>
          <a:srcRect/>
          <a:stretch/>
        </p:blipFill>
        <p:spPr>
          <a:xfrm>
            <a:off x="889000" y="2413000"/>
            <a:ext cx="7161414" cy="798021"/>
          </a:xfrm>
          <a:prstGeom prst="rect">
            <a:avLst/>
          </a:prstGeom>
          <a:noFill/>
          <a:ln>
            <a:noFill/>
          </a:ln>
        </p:spPr>
      </p:pic>
      <p:sp>
        <p:nvSpPr>
          <p:cNvPr id="803" name="Google Shape;803;p70"/>
          <p:cNvSpPr/>
          <p:nvPr/>
        </p:nvSpPr>
        <p:spPr>
          <a:xfrm>
            <a:off x="571500" y="3619500"/>
            <a:ext cx="3238500" cy="685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3600"/>
              <a:buFont typeface="Calibri"/>
              <a:buNone/>
            </a:pPr>
            <a:r>
              <a:rPr lang="en-US" sz="3600" b="1">
                <a:solidFill>
                  <a:srgbClr val="A02337"/>
                </a:solidFill>
                <a:latin typeface="Calibri"/>
                <a:ea typeface="Calibri"/>
                <a:cs typeface="Calibri"/>
                <a:sym typeface="Calibri"/>
              </a:rPr>
              <a:t>ADMM</a:t>
            </a:r>
            <a:endParaRPr/>
          </a:p>
        </p:txBody>
      </p:sp>
      <p:sp>
        <p:nvSpPr>
          <p:cNvPr id="804" name="Google Shape;804;p70"/>
          <p:cNvSpPr/>
          <p:nvPr/>
        </p:nvSpPr>
        <p:spPr>
          <a:xfrm>
            <a:off x="571500" y="4356068"/>
            <a:ext cx="3238500" cy="3555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600"/>
              <a:buFont typeface="Calibri"/>
              <a:buNone/>
            </a:pPr>
            <a:r>
              <a:rPr lang="en-US" sz="1600" b="0">
                <a:solidFill>
                  <a:srgbClr val="526574"/>
                </a:solidFill>
                <a:latin typeface="Calibri"/>
                <a:ea typeface="Calibri"/>
                <a:cs typeface="Calibri"/>
                <a:sym typeface="Calibri"/>
              </a:rPr>
              <a:t>model, margin and dual updates</a:t>
            </a:r>
            <a:endParaRPr/>
          </a:p>
        </p:txBody>
      </p:sp>
      <p:sp>
        <p:nvSpPr>
          <p:cNvPr id="805" name="Google Shape;805;p70"/>
          <p:cNvSpPr/>
          <p:nvPr/>
        </p:nvSpPr>
        <p:spPr>
          <a:xfrm>
            <a:off x="4381500" y="3619500"/>
            <a:ext cx="3238500" cy="685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3600"/>
              <a:buFont typeface="Calibri"/>
              <a:buNone/>
            </a:pPr>
            <a:r>
              <a:rPr lang="en-US" sz="3600" b="1">
                <a:solidFill>
                  <a:srgbClr val="A02337"/>
                </a:solidFill>
                <a:latin typeface="Calibri"/>
                <a:ea typeface="Calibri"/>
                <a:cs typeface="Calibri"/>
                <a:sym typeface="Calibri"/>
              </a:rPr>
              <a:t>Pegasos</a:t>
            </a:r>
            <a:endParaRPr/>
          </a:p>
        </p:txBody>
      </p:sp>
      <p:sp>
        <p:nvSpPr>
          <p:cNvPr id="806" name="Google Shape;806;p70"/>
          <p:cNvSpPr/>
          <p:nvPr/>
        </p:nvSpPr>
        <p:spPr>
          <a:xfrm>
            <a:off x="4381500" y="4356068"/>
            <a:ext cx="3238500" cy="3555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600"/>
              <a:buFont typeface="Calibri"/>
              <a:buNone/>
            </a:pPr>
            <a:r>
              <a:rPr lang="en-US" sz="1600" b="0">
                <a:solidFill>
                  <a:srgbClr val="526574"/>
                </a:solidFill>
                <a:latin typeface="Calibri"/>
                <a:ea typeface="Calibri"/>
                <a:cs typeface="Calibri"/>
                <a:sym typeface="Calibri"/>
              </a:rPr>
              <a:t>weighted warm initialization</a:t>
            </a:r>
            <a:endParaRPr/>
          </a:p>
        </p:txBody>
      </p:sp>
      <p:sp>
        <p:nvSpPr>
          <p:cNvPr id="807" name="Google Shape;807;p70"/>
          <p:cNvSpPr/>
          <p:nvPr/>
        </p:nvSpPr>
        <p:spPr>
          <a:xfrm>
            <a:off x="8191500" y="3619500"/>
            <a:ext cx="3238500" cy="685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3600"/>
              <a:buFont typeface="Calibri"/>
              <a:buNone/>
            </a:pPr>
            <a:r>
              <a:rPr lang="en-US" sz="3600" b="1">
                <a:solidFill>
                  <a:srgbClr val="A02337"/>
                </a:solidFill>
                <a:latin typeface="Calibri"/>
                <a:ea typeface="Calibri"/>
                <a:cs typeface="Calibri"/>
                <a:sym typeface="Calibri"/>
              </a:rPr>
              <a:t>ρ and α</a:t>
            </a:r>
            <a:endParaRPr/>
          </a:p>
        </p:txBody>
      </p:sp>
      <p:sp>
        <p:nvSpPr>
          <p:cNvPr id="808" name="Google Shape;808;p70"/>
          <p:cNvSpPr/>
          <p:nvPr/>
        </p:nvSpPr>
        <p:spPr>
          <a:xfrm>
            <a:off x="8191500" y="4356068"/>
            <a:ext cx="3238500" cy="3555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600"/>
              <a:buFont typeface="Calibri"/>
              <a:buNone/>
            </a:pPr>
            <a:r>
              <a:rPr lang="en-US" sz="1600" b="0">
                <a:solidFill>
                  <a:srgbClr val="526574"/>
                </a:solidFill>
                <a:latin typeface="Calibri"/>
                <a:ea typeface="Calibri"/>
                <a:cs typeface="Calibri"/>
                <a:sym typeface="Calibri"/>
              </a:rPr>
              <a:t>penalty and relaxation controls</a:t>
            </a:r>
            <a:endParaRPr/>
          </a:p>
        </p:txBody>
      </p:sp>
      <p:sp>
        <p:nvSpPr>
          <p:cNvPr id="809" name="Google Shape;809;p70"/>
          <p:cNvSpPr/>
          <p:nvPr/>
        </p:nvSpPr>
        <p:spPr>
          <a:xfrm>
            <a:off x="571500" y="5092732"/>
            <a:ext cx="11049000" cy="3174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2000"/>
              <a:buFont typeface="Calibri"/>
              <a:buNone/>
            </a:pPr>
            <a:r>
              <a:rPr lang="en-US" sz="2000" b="0">
                <a:solidFill>
                  <a:srgbClr val="526574"/>
                </a:solidFill>
                <a:latin typeface="Calibri"/>
                <a:ea typeface="Calibri"/>
                <a:cs typeface="Calibri"/>
                <a:sym typeface="Calibri"/>
              </a:rPr>
              <a:t>Variable splitting   →   ADMM updates   →   PA-ADMM controls</a:t>
            </a:r>
            <a:endParaRPr/>
          </a:p>
        </p:txBody>
      </p:sp>
      <p:cxnSp>
        <p:nvCxnSpPr>
          <p:cNvPr id="810" name="Google Shape;810;p70"/>
          <p:cNvCxnSpPr/>
          <p:nvPr/>
        </p:nvCxnSpPr>
        <p:spPr>
          <a:xfrm>
            <a:off x="533400" y="56515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811" name="Google Shape;811;p70"/>
          <p:cNvSpPr/>
          <p:nvPr/>
        </p:nvSpPr>
        <p:spPr>
          <a:xfrm>
            <a:off x="685800" y="56895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Same objective, with different initialization and update rules.</a:t>
            </a:r>
            <a:endParaRPr/>
          </a:p>
        </p:txBody>
      </p:sp>
      <p:cxnSp>
        <p:nvCxnSpPr>
          <p:cNvPr id="812" name="Google Shape;812;p70"/>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813" name="Google Shape;813;p70"/>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900"/>
              <a:buFont typeface="Calibri"/>
              <a:buNone/>
            </a:pPr>
            <a:r>
              <a:rPr lang="en-US" sz="900" b="0">
                <a:solidFill>
                  <a:srgbClr val="526574"/>
                </a:solidFill>
                <a:latin typeface="Calibri"/>
                <a:ea typeface="Calibri"/>
                <a:cs typeface="Calibri"/>
                <a:sym typeface="Calibri"/>
              </a:rPr>
              <a:t>Proposal §§2.3, 3.2 · src/svm_admm.py · WP3 implementation</a:t>
            </a:r>
            <a:endParaRPr/>
          </a:p>
        </p:txBody>
      </p:sp>
      <p:sp>
        <p:nvSpPr>
          <p:cNvPr id="814" name="Google Shape;814;p70"/>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01</a:t>
            </a:r>
            <a:endParaRPr/>
          </a:p>
        </p:txBody>
      </p:sp>
      <p:sp>
        <p:nvSpPr>
          <p:cNvPr id="815" name="Google Shape;815;p70"/>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ADMM and PA-ADMM</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20"/>
        <p:cNvGrpSpPr/>
        <p:nvPr/>
      </p:nvGrpSpPr>
      <p:grpSpPr>
        <a:xfrm>
          <a:off x="0" y="0"/>
          <a:ext cx="0" cy="0"/>
          <a:chOff x="0" y="0"/>
          <a:chExt cx="0" cy="0"/>
        </a:xfrm>
      </p:grpSpPr>
      <p:sp>
        <p:nvSpPr>
          <p:cNvPr id="821" name="Google Shape;821;p71"/>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ADMM INTUITION</a:t>
            </a:r>
            <a:endParaRPr/>
          </a:p>
        </p:txBody>
      </p:sp>
      <p:pic>
        <p:nvPicPr>
          <p:cNvPr id="822" name="Google Shape;822;p71"/>
          <p:cNvPicPr preferRelativeResize="0"/>
          <p:nvPr/>
        </p:nvPicPr>
        <p:blipFill rotWithShape="1">
          <a:blip r:embed="rId3">
            <a:alphaModFix/>
          </a:blip>
          <a:srcRect/>
          <a:stretch/>
        </p:blipFill>
        <p:spPr>
          <a:xfrm>
            <a:off x="546100" y="1638300"/>
            <a:ext cx="5910349" cy="374072"/>
          </a:xfrm>
          <a:prstGeom prst="rect">
            <a:avLst/>
          </a:prstGeom>
          <a:noFill/>
          <a:ln>
            <a:noFill/>
          </a:ln>
        </p:spPr>
      </p:pic>
      <p:sp>
        <p:nvSpPr>
          <p:cNvPr id="823" name="Google Shape;823;p71"/>
          <p:cNvSpPr/>
          <p:nvPr/>
        </p:nvSpPr>
        <p:spPr>
          <a:xfrm>
            <a:off x="546100" y="2540000"/>
            <a:ext cx="4381500" cy="15875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824" name="Google Shape;824;p71"/>
          <p:cNvSpPr/>
          <p:nvPr/>
        </p:nvSpPr>
        <p:spPr>
          <a:xfrm>
            <a:off x="762000" y="2768632"/>
            <a:ext cx="3936968" cy="368332"/>
          </a:xfrm>
          <a:prstGeom prst="rect">
            <a:avLst/>
          </a:prstGeom>
          <a:noFill/>
          <a:ln>
            <a:noFill/>
          </a:ln>
        </p:spPr>
        <p:txBody>
          <a:bodyPr spcFirstLastPara="1" wrap="square" lIns="0" tIns="0" rIns="0" bIns="0" anchor="t" anchorCtr="0">
            <a:noAutofit/>
          </a:bodyPr>
          <a:lstStyle/>
          <a:p>
            <a:pPr marL="0" marR="0" lvl="0" indent="0" algn="l" rtl="0">
              <a:lnSpc>
                <a:spcPct val="117956"/>
              </a:lnSpc>
              <a:spcBef>
                <a:spcPts val="0"/>
              </a:spcBef>
              <a:spcAft>
                <a:spcPts val="0"/>
              </a:spcAft>
              <a:buClr>
                <a:srgbClr val="A02337"/>
              </a:buClr>
              <a:buSzPts val="2300"/>
              <a:buFont typeface="Calibri"/>
              <a:buNone/>
            </a:pPr>
            <a:r>
              <a:rPr lang="en-US" sz="2300" b="1">
                <a:solidFill>
                  <a:srgbClr val="A02337"/>
                </a:solidFill>
                <a:latin typeface="Calibri"/>
                <a:ea typeface="Calibri"/>
                <a:cs typeface="Calibri"/>
                <a:sym typeface="Calibri"/>
              </a:rPr>
              <a:t>Global model  θ</a:t>
            </a:r>
            <a:endParaRPr/>
          </a:p>
        </p:txBody>
      </p:sp>
      <p:sp>
        <p:nvSpPr>
          <p:cNvPr id="825" name="Google Shape;825;p71"/>
          <p:cNvSpPr/>
          <p:nvPr/>
        </p:nvSpPr>
        <p:spPr>
          <a:xfrm>
            <a:off x="762000" y="3276600"/>
            <a:ext cx="3936968" cy="6350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900"/>
              <a:buFont typeface="Calibri"/>
              <a:buNone/>
            </a:pPr>
            <a:r>
              <a:rPr lang="en-US" sz="1900" b="0">
                <a:solidFill>
                  <a:schemeClr val="dk1"/>
                </a:solidFill>
                <a:latin typeface="Calibri"/>
                <a:ea typeface="Calibri"/>
                <a:cs typeface="Calibri"/>
                <a:sym typeface="Calibri"/>
              </a:rPr>
              <a:t>One shared scoring rule</a:t>
            </a:r>
            <a:endParaRPr/>
          </a:p>
          <a:p>
            <a:pPr marL="0" marR="0" lvl="0" indent="0" algn="l" rtl="0">
              <a:lnSpc>
                <a:spcPct val="117999"/>
              </a:lnSpc>
              <a:spcBef>
                <a:spcPts val="0"/>
              </a:spcBef>
              <a:spcAft>
                <a:spcPts val="0"/>
              </a:spcAft>
              <a:buClr>
                <a:schemeClr val="dk1"/>
              </a:buClr>
              <a:buSzPts val="1900"/>
              <a:buFont typeface="Calibri"/>
              <a:buNone/>
            </a:pPr>
            <a:r>
              <a:rPr lang="en-US" sz="1900" b="0">
                <a:solidFill>
                  <a:schemeClr val="dk1"/>
                </a:solidFill>
                <a:latin typeface="Calibri"/>
                <a:ea typeface="Calibri"/>
                <a:cs typeface="Calibri"/>
                <a:sym typeface="Calibri"/>
              </a:rPr>
              <a:t>for every transaction</a:t>
            </a:r>
            <a:endParaRPr/>
          </a:p>
        </p:txBody>
      </p:sp>
      <p:cxnSp>
        <p:nvCxnSpPr>
          <p:cNvPr id="826" name="Google Shape;826;p71"/>
          <p:cNvCxnSpPr/>
          <p:nvPr/>
        </p:nvCxnSpPr>
        <p:spPr>
          <a:xfrm>
            <a:off x="5118100" y="3302000"/>
            <a:ext cx="1600200" cy="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827" name="Google Shape;827;p71"/>
          <p:cNvCxnSpPr/>
          <p:nvPr/>
        </p:nvCxnSpPr>
        <p:spPr>
          <a:xfrm>
            <a:off x="6629400" y="32512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828" name="Google Shape;828;p71"/>
          <p:cNvCxnSpPr/>
          <p:nvPr/>
        </p:nvCxnSpPr>
        <p:spPr>
          <a:xfrm rot="10800000" flipH="1">
            <a:off x="6629400" y="33020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829" name="Google Shape;829;p71"/>
          <p:cNvSpPr/>
          <p:nvPr/>
        </p:nvSpPr>
        <p:spPr>
          <a:xfrm>
            <a:off x="5181600" y="2857500"/>
            <a:ext cx="1524000" cy="317468"/>
          </a:xfrm>
          <a:prstGeom prst="rect">
            <a:avLst/>
          </a:prstGeom>
          <a:noFill/>
          <a:ln>
            <a:noFill/>
          </a:ln>
        </p:spPr>
        <p:txBody>
          <a:bodyPr spcFirstLastPara="1" wrap="square" lIns="0" tIns="0" rIns="0" bIns="0" anchor="t" anchorCtr="0">
            <a:noAutofit/>
          </a:bodyPr>
          <a:lstStyle/>
          <a:p>
            <a:pPr marL="0" marR="0" lvl="0" indent="0" algn="ctr" rtl="0">
              <a:lnSpc>
                <a:spcPct val="117999"/>
              </a:lnSpc>
              <a:spcBef>
                <a:spcPts val="0"/>
              </a:spcBef>
              <a:spcAft>
                <a:spcPts val="0"/>
              </a:spcAft>
              <a:buClr>
                <a:srgbClr val="A02337"/>
              </a:buClr>
              <a:buSzPts val="2000"/>
              <a:buFont typeface="Calibri"/>
              <a:buNone/>
            </a:pPr>
            <a:r>
              <a:rPr lang="en-US" sz="2000" b="1">
                <a:solidFill>
                  <a:srgbClr val="A02337"/>
                </a:solidFill>
                <a:latin typeface="Calibri"/>
                <a:ea typeface="Calibri"/>
                <a:cs typeface="Calibri"/>
                <a:sym typeface="Calibri"/>
              </a:rPr>
              <a:t>z = Aθ</a:t>
            </a:r>
            <a:endParaRPr/>
          </a:p>
        </p:txBody>
      </p:sp>
      <p:sp>
        <p:nvSpPr>
          <p:cNvPr id="830" name="Google Shape;830;p71"/>
          <p:cNvSpPr/>
          <p:nvPr/>
        </p:nvSpPr>
        <p:spPr>
          <a:xfrm>
            <a:off x="6921500" y="2540000"/>
            <a:ext cx="4724400" cy="15875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831" name="Google Shape;831;p71"/>
          <p:cNvSpPr/>
          <p:nvPr/>
        </p:nvSpPr>
        <p:spPr>
          <a:xfrm>
            <a:off x="7137368" y="2768632"/>
            <a:ext cx="4317968" cy="368332"/>
          </a:xfrm>
          <a:prstGeom prst="rect">
            <a:avLst/>
          </a:prstGeom>
          <a:noFill/>
          <a:ln>
            <a:noFill/>
          </a:ln>
        </p:spPr>
        <p:txBody>
          <a:bodyPr spcFirstLastPara="1" wrap="square" lIns="0" tIns="0" rIns="0" bIns="0" anchor="t" anchorCtr="0">
            <a:noAutofit/>
          </a:bodyPr>
          <a:lstStyle/>
          <a:p>
            <a:pPr marL="0" marR="0" lvl="0" indent="0" algn="l" rtl="0">
              <a:lnSpc>
                <a:spcPct val="117954"/>
              </a:lnSpc>
              <a:spcBef>
                <a:spcPts val="0"/>
              </a:spcBef>
              <a:spcAft>
                <a:spcPts val="0"/>
              </a:spcAft>
              <a:buClr>
                <a:srgbClr val="A02337"/>
              </a:buClr>
              <a:buSzPts val="2200"/>
              <a:buFont typeface="Calibri"/>
              <a:buNone/>
            </a:pPr>
            <a:r>
              <a:rPr lang="en-US" sz="2200" b="1">
                <a:solidFill>
                  <a:srgbClr val="A02337"/>
                </a:solidFill>
                <a:latin typeface="Calibri"/>
                <a:ea typeface="Calibri"/>
                <a:cs typeface="Calibri"/>
                <a:sym typeface="Calibri"/>
              </a:rPr>
              <a:t>Auxiliary margins  z₁, …, zₙ</a:t>
            </a:r>
            <a:endParaRPr/>
          </a:p>
        </p:txBody>
      </p:sp>
      <p:sp>
        <p:nvSpPr>
          <p:cNvPr id="832" name="Google Shape;832;p71"/>
          <p:cNvSpPr/>
          <p:nvPr/>
        </p:nvSpPr>
        <p:spPr>
          <a:xfrm>
            <a:off x="7137368" y="3276600"/>
            <a:ext cx="4317968" cy="6350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One temporary value per sample;</a:t>
            </a:r>
            <a:endParaRPr/>
          </a:p>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weighted hinge loss is separable</a:t>
            </a:r>
            <a:endParaRPr/>
          </a:p>
        </p:txBody>
      </p:sp>
      <p:sp>
        <p:nvSpPr>
          <p:cNvPr id="833" name="Google Shape;833;p71"/>
          <p:cNvSpPr/>
          <p:nvPr/>
        </p:nvSpPr>
        <p:spPr>
          <a:xfrm>
            <a:off x="546068" y="4495800"/>
            <a:ext cx="11049000" cy="368332"/>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chemeClr val="dk1"/>
              </a:buClr>
              <a:buSzPts val="2100"/>
              <a:buFont typeface="Calibri"/>
              <a:buNone/>
            </a:pPr>
            <a:r>
              <a:rPr lang="en-US" sz="2100" b="0">
                <a:solidFill>
                  <a:schemeClr val="dk1"/>
                </a:solidFill>
                <a:latin typeface="Calibri"/>
                <a:ea typeface="Calibri"/>
                <a:cs typeface="Calibri"/>
                <a:sym typeface="Calibri"/>
              </a:rPr>
              <a:t>Fraud: y = +1, f = −0.2  →  m = −0.2  →  hinge loss = 1.2</a:t>
            </a:r>
            <a:endParaRPr/>
          </a:p>
        </p:txBody>
      </p:sp>
      <p:sp>
        <p:nvSpPr>
          <p:cNvPr id="834" name="Google Shape;834;p71"/>
          <p:cNvSpPr/>
          <p:nvPr/>
        </p:nvSpPr>
        <p:spPr>
          <a:xfrm>
            <a:off x="546068" y="5041868"/>
            <a:ext cx="11049000" cy="3683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900"/>
              <a:buFont typeface="Calibri"/>
              <a:buNone/>
            </a:pPr>
            <a:r>
              <a:rPr lang="en-US" sz="1900" b="0">
                <a:solidFill>
                  <a:schemeClr val="dk1"/>
                </a:solidFill>
                <a:latin typeface="Calibri"/>
                <a:ea typeface="Calibri"/>
                <a:cs typeface="Calibri"/>
                <a:sym typeface="Calibri"/>
              </a:rPr>
              <a:t>The auxiliary z may move first; the next global update tries to follow.</a:t>
            </a:r>
            <a:endParaRPr/>
          </a:p>
        </p:txBody>
      </p:sp>
      <p:cxnSp>
        <p:nvCxnSpPr>
          <p:cNvPr id="835" name="Google Shape;835;p71"/>
          <p:cNvCxnSpPr/>
          <p:nvPr/>
        </p:nvCxnSpPr>
        <p:spPr>
          <a:xfrm>
            <a:off x="533400" y="56515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836" name="Google Shape;836;p71"/>
          <p:cNvSpPr/>
          <p:nvPr/>
        </p:nvSpPr>
        <p:spPr>
          <a:xfrm>
            <a:off x="685800" y="56895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At prediction time, only f(x) = xᵀw + b is used.</a:t>
            </a:r>
            <a:endParaRPr/>
          </a:p>
        </p:txBody>
      </p:sp>
      <p:cxnSp>
        <p:nvCxnSpPr>
          <p:cNvPr id="837" name="Google Shape;837;p71"/>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838" name="Google Shape;838;p71"/>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Proposal §2.3 · docs/WP3/WP3_ADMM.md: model and linear system</a:t>
            </a:r>
            <a:endParaRPr/>
          </a:p>
        </p:txBody>
      </p:sp>
      <p:sp>
        <p:nvSpPr>
          <p:cNvPr id="839" name="Google Shape;839;p71"/>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02</a:t>
            </a:r>
            <a:endParaRPr/>
          </a:p>
        </p:txBody>
      </p:sp>
      <p:sp>
        <p:nvSpPr>
          <p:cNvPr id="840" name="Google Shape;840;p71"/>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Split global rules from samplewise margins</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5"/>
        <p:cNvGrpSpPr/>
        <p:nvPr/>
      </p:nvGrpSpPr>
      <p:grpSpPr>
        <a:xfrm>
          <a:off x="0" y="0"/>
          <a:ext cx="0" cy="0"/>
          <a:chOff x="0" y="0"/>
          <a:chExt cx="0" cy="0"/>
        </a:xfrm>
      </p:grpSpPr>
      <p:sp>
        <p:nvSpPr>
          <p:cNvPr id="846" name="Google Shape;846;p72"/>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FIXED-Ρ ADMM</a:t>
            </a:r>
            <a:endParaRPr/>
          </a:p>
        </p:txBody>
      </p:sp>
      <p:sp>
        <p:nvSpPr>
          <p:cNvPr id="847" name="Google Shape;847;p72"/>
          <p:cNvSpPr/>
          <p:nvPr/>
        </p:nvSpPr>
        <p:spPr>
          <a:xfrm>
            <a:off x="546068" y="1511332"/>
            <a:ext cx="11112532" cy="3174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q = u / ρ is the scaled dual: it accumulates the mismatch between z and Aθ.</a:t>
            </a:r>
            <a:endParaRPr/>
          </a:p>
        </p:txBody>
      </p:sp>
      <p:sp>
        <p:nvSpPr>
          <p:cNvPr id="848" name="Google Shape;848;p72"/>
          <p:cNvSpPr/>
          <p:nvPr/>
        </p:nvSpPr>
        <p:spPr>
          <a:xfrm>
            <a:off x="546068" y="1968532"/>
            <a:ext cx="444532" cy="4064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1</a:t>
            </a:r>
            <a:endParaRPr/>
          </a:p>
        </p:txBody>
      </p:sp>
      <p:sp>
        <p:nvSpPr>
          <p:cNvPr id="849" name="Google Shape;849;p72"/>
          <p:cNvSpPr/>
          <p:nvPr/>
        </p:nvSpPr>
        <p:spPr>
          <a:xfrm>
            <a:off x="1143000" y="1968532"/>
            <a:ext cx="10287000" cy="355568"/>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chemeClr val="dk1"/>
              </a:buClr>
              <a:buSzPts val="2100"/>
              <a:buFont typeface="Calibri"/>
              <a:buNone/>
            </a:pPr>
            <a:r>
              <a:rPr lang="en-US" sz="2100" b="1">
                <a:solidFill>
                  <a:schemeClr val="dk1"/>
                </a:solidFill>
                <a:latin typeface="Calibri"/>
                <a:ea typeface="Calibri"/>
                <a:cs typeface="Calibri"/>
                <a:sym typeface="Calibri"/>
              </a:rPr>
              <a:t>Update the shared model</a:t>
            </a:r>
            <a:endParaRPr/>
          </a:p>
        </p:txBody>
      </p:sp>
      <p:sp>
        <p:nvSpPr>
          <p:cNvPr id="850" name="Google Shape;850;p72"/>
          <p:cNvSpPr/>
          <p:nvPr/>
        </p:nvSpPr>
        <p:spPr>
          <a:xfrm>
            <a:off x="546068" y="3086100"/>
            <a:ext cx="444532" cy="4064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2</a:t>
            </a:r>
            <a:endParaRPr/>
          </a:p>
        </p:txBody>
      </p:sp>
      <p:sp>
        <p:nvSpPr>
          <p:cNvPr id="851" name="Google Shape;851;p72"/>
          <p:cNvSpPr/>
          <p:nvPr/>
        </p:nvSpPr>
        <p:spPr>
          <a:xfrm>
            <a:off x="1143000" y="3086100"/>
            <a:ext cx="10287000" cy="355568"/>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chemeClr val="dk1"/>
              </a:buClr>
              <a:buSzPts val="2100"/>
              <a:buFont typeface="Calibri"/>
              <a:buNone/>
            </a:pPr>
            <a:r>
              <a:rPr lang="en-US" sz="2100" b="1">
                <a:solidFill>
                  <a:schemeClr val="dk1"/>
                </a:solidFill>
                <a:latin typeface="Calibri"/>
                <a:ea typeface="Calibri"/>
                <a:cs typeface="Calibri"/>
                <a:sym typeface="Calibri"/>
              </a:rPr>
              <a:t>Update each auxiliary margin</a:t>
            </a:r>
            <a:endParaRPr/>
          </a:p>
        </p:txBody>
      </p:sp>
      <p:sp>
        <p:nvSpPr>
          <p:cNvPr id="852" name="Google Shape;852;p72"/>
          <p:cNvSpPr/>
          <p:nvPr/>
        </p:nvSpPr>
        <p:spPr>
          <a:xfrm>
            <a:off x="546068" y="4406932"/>
            <a:ext cx="444532" cy="4064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3</a:t>
            </a:r>
            <a:endParaRPr/>
          </a:p>
        </p:txBody>
      </p:sp>
      <p:sp>
        <p:nvSpPr>
          <p:cNvPr id="853" name="Google Shape;853;p72"/>
          <p:cNvSpPr/>
          <p:nvPr/>
        </p:nvSpPr>
        <p:spPr>
          <a:xfrm>
            <a:off x="1143000" y="4406932"/>
            <a:ext cx="10287000" cy="355568"/>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chemeClr val="dk1"/>
              </a:buClr>
              <a:buSzPts val="2100"/>
              <a:buFont typeface="Calibri"/>
              <a:buNone/>
            </a:pPr>
            <a:r>
              <a:rPr lang="en-US" sz="2100" b="1">
                <a:solidFill>
                  <a:schemeClr val="dk1"/>
                </a:solidFill>
                <a:latin typeface="Calibri"/>
                <a:ea typeface="Calibri"/>
                <a:cs typeface="Calibri"/>
                <a:sym typeface="Calibri"/>
              </a:rPr>
              <a:t>Accumulate the agreement error</a:t>
            </a:r>
            <a:endParaRPr/>
          </a:p>
        </p:txBody>
      </p:sp>
      <p:pic>
        <p:nvPicPr>
          <p:cNvPr id="854" name="Google Shape;854;p72"/>
          <p:cNvPicPr preferRelativeResize="0"/>
          <p:nvPr/>
        </p:nvPicPr>
        <p:blipFill rotWithShape="1">
          <a:blip r:embed="rId3">
            <a:alphaModFix/>
          </a:blip>
          <a:srcRect/>
          <a:stretch/>
        </p:blipFill>
        <p:spPr>
          <a:xfrm>
            <a:off x="1181100" y="2425700"/>
            <a:ext cx="4663440" cy="440574"/>
          </a:xfrm>
          <a:prstGeom prst="rect">
            <a:avLst/>
          </a:prstGeom>
          <a:noFill/>
          <a:ln>
            <a:noFill/>
          </a:ln>
        </p:spPr>
      </p:pic>
      <p:pic>
        <p:nvPicPr>
          <p:cNvPr id="855" name="Google Shape;855;p72"/>
          <p:cNvPicPr preferRelativeResize="0"/>
          <p:nvPr/>
        </p:nvPicPr>
        <p:blipFill rotWithShape="1">
          <a:blip r:embed="rId4">
            <a:alphaModFix/>
          </a:blip>
          <a:srcRect/>
          <a:stretch/>
        </p:blipFill>
        <p:spPr>
          <a:xfrm>
            <a:off x="1181100" y="3568700"/>
            <a:ext cx="7020098" cy="640080"/>
          </a:xfrm>
          <a:prstGeom prst="rect">
            <a:avLst/>
          </a:prstGeom>
          <a:noFill/>
          <a:ln>
            <a:noFill/>
          </a:ln>
        </p:spPr>
      </p:pic>
      <p:pic>
        <p:nvPicPr>
          <p:cNvPr id="856" name="Google Shape;856;p72"/>
          <p:cNvPicPr preferRelativeResize="0"/>
          <p:nvPr/>
        </p:nvPicPr>
        <p:blipFill rotWithShape="1">
          <a:blip r:embed="rId5">
            <a:alphaModFix/>
          </a:blip>
          <a:srcRect/>
          <a:stretch/>
        </p:blipFill>
        <p:spPr>
          <a:xfrm>
            <a:off x="1181100" y="4889500"/>
            <a:ext cx="4052454" cy="440574"/>
          </a:xfrm>
          <a:prstGeom prst="rect">
            <a:avLst/>
          </a:prstGeom>
          <a:noFill/>
          <a:ln>
            <a:noFill/>
          </a:ln>
        </p:spPr>
      </p:pic>
      <p:cxnSp>
        <p:nvCxnSpPr>
          <p:cNvPr id="857" name="Google Shape;857;p72"/>
          <p:cNvCxnSpPr/>
          <p:nvPr/>
        </p:nvCxnSpPr>
        <p:spPr>
          <a:xfrm>
            <a:off x="533400" y="56515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858" name="Google Shape;858;p72"/>
          <p:cNvSpPr/>
          <p:nvPr/>
        </p:nvSpPr>
        <p:spPr>
          <a:xfrm>
            <a:off x="685800" y="56895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R = diag(I, 0): regularize w, keep the intercept b unregularized.</a:t>
            </a:r>
            <a:endParaRPr/>
          </a:p>
        </p:txBody>
      </p:sp>
      <p:cxnSp>
        <p:nvCxnSpPr>
          <p:cNvPr id="859" name="Google Shape;859;p72"/>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860" name="Google Shape;860;p72"/>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src/svm_admm.py: ADMMSVM._fit · constraint z − Aθ = 0; scaled dual q = u/ρ</a:t>
            </a:r>
            <a:endParaRPr/>
          </a:p>
        </p:txBody>
      </p:sp>
      <p:sp>
        <p:nvSpPr>
          <p:cNvPr id="861" name="Google Shape;861;p72"/>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03</a:t>
            </a:r>
            <a:endParaRPr/>
          </a:p>
        </p:txBody>
      </p:sp>
      <p:sp>
        <p:nvSpPr>
          <p:cNvPr id="862" name="Google Shape;862;p72"/>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ADMM alternates three simple updates</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7"/>
        <p:cNvGrpSpPr/>
        <p:nvPr/>
      </p:nvGrpSpPr>
      <p:grpSpPr>
        <a:xfrm>
          <a:off x="0" y="0"/>
          <a:ext cx="0" cy="0"/>
          <a:chOff x="0" y="0"/>
          <a:chExt cx="0" cy="0"/>
        </a:xfrm>
      </p:grpSpPr>
      <p:sp>
        <p:nvSpPr>
          <p:cNvPr id="868" name="Google Shape;868;p73"/>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COST-SENSITIVE Z UPDATE</a:t>
            </a:r>
            <a:endParaRPr/>
          </a:p>
        </p:txBody>
      </p:sp>
      <p:pic>
        <p:nvPicPr>
          <p:cNvPr id="869" name="Google Shape;869;p73"/>
          <p:cNvPicPr preferRelativeResize="0"/>
          <p:nvPr/>
        </p:nvPicPr>
        <p:blipFill rotWithShape="1">
          <a:blip r:embed="rId3">
            <a:alphaModFix/>
          </a:blip>
          <a:srcRect/>
          <a:stretch/>
        </p:blipFill>
        <p:spPr>
          <a:xfrm>
            <a:off x="546100" y="1676400"/>
            <a:ext cx="2776450" cy="461356"/>
          </a:xfrm>
          <a:prstGeom prst="rect">
            <a:avLst/>
          </a:prstGeom>
          <a:noFill/>
          <a:ln>
            <a:noFill/>
          </a:ln>
        </p:spPr>
      </p:pic>
      <p:pic>
        <p:nvPicPr>
          <p:cNvPr id="870" name="Google Shape;870;p73"/>
          <p:cNvPicPr preferRelativeResize="0"/>
          <p:nvPr/>
        </p:nvPicPr>
        <p:blipFill rotWithShape="1">
          <a:blip r:embed="rId4">
            <a:alphaModFix/>
          </a:blip>
          <a:srcRect/>
          <a:stretch/>
        </p:blipFill>
        <p:spPr>
          <a:xfrm>
            <a:off x="546100" y="2374900"/>
            <a:ext cx="3013363" cy="473825"/>
          </a:xfrm>
          <a:prstGeom prst="rect">
            <a:avLst/>
          </a:prstGeom>
          <a:noFill/>
          <a:ln>
            <a:noFill/>
          </a:ln>
        </p:spPr>
      </p:pic>
      <p:pic>
        <p:nvPicPr>
          <p:cNvPr id="871" name="Google Shape;871;p73"/>
          <p:cNvPicPr preferRelativeResize="0"/>
          <p:nvPr/>
        </p:nvPicPr>
        <p:blipFill rotWithShape="1">
          <a:blip r:embed="rId5">
            <a:alphaModFix/>
          </a:blip>
          <a:srcRect/>
          <a:stretch/>
        </p:blipFill>
        <p:spPr>
          <a:xfrm>
            <a:off x="546100" y="3136900"/>
            <a:ext cx="5303520" cy="473825"/>
          </a:xfrm>
          <a:prstGeom prst="rect">
            <a:avLst/>
          </a:prstGeom>
          <a:noFill/>
          <a:ln>
            <a:noFill/>
          </a:ln>
        </p:spPr>
      </p:pic>
      <p:sp>
        <p:nvSpPr>
          <p:cNvPr id="872" name="Google Shape;872;p73"/>
          <p:cNvSpPr/>
          <p:nvPr/>
        </p:nvSpPr>
        <p:spPr>
          <a:xfrm>
            <a:off x="546068" y="3962400"/>
            <a:ext cx="11049000" cy="3429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2000"/>
              <a:buFont typeface="Calibri"/>
              <a:buNone/>
            </a:pPr>
            <a:r>
              <a:rPr lang="en-US" sz="2000" b="0">
                <a:solidFill>
                  <a:schemeClr val="dk1"/>
                </a:solidFill>
                <a:latin typeface="Calibri"/>
                <a:ea typeface="Calibri"/>
                <a:cs typeface="Calibri"/>
                <a:sym typeface="Calibri"/>
              </a:rPr>
              <a:t>Example: same proximal input aᵢ = 0.2, different penalty strengths</a:t>
            </a:r>
            <a:endParaRPr/>
          </a:p>
        </p:txBody>
      </p:sp>
      <p:sp>
        <p:nvSpPr>
          <p:cNvPr id="873" name="Google Shape;873;p73"/>
          <p:cNvSpPr/>
          <p:nvPr/>
        </p:nvSpPr>
        <p:spPr>
          <a:xfrm>
            <a:off x="546100" y="4445000"/>
            <a:ext cx="11112500" cy="4572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874" name="Google Shape;874;p73"/>
          <p:cNvSpPr/>
          <p:nvPr/>
        </p:nvSpPr>
        <p:spPr>
          <a:xfrm>
            <a:off x="673132" y="4572000"/>
            <a:ext cx="3454432" cy="304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Cᵢ / ρ</a:t>
            </a:r>
            <a:endParaRPr/>
          </a:p>
        </p:txBody>
      </p:sp>
      <p:sp>
        <p:nvSpPr>
          <p:cNvPr id="875" name="Google Shape;875;p73"/>
          <p:cNvSpPr/>
          <p:nvPr/>
        </p:nvSpPr>
        <p:spPr>
          <a:xfrm>
            <a:off x="4356068" y="4572000"/>
            <a:ext cx="3200400" cy="304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New auxiliary margin zᵢ</a:t>
            </a:r>
            <a:endParaRPr/>
          </a:p>
        </p:txBody>
      </p:sp>
      <p:sp>
        <p:nvSpPr>
          <p:cNvPr id="876" name="Google Shape;876;p73"/>
          <p:cNvSpPr/>
          <p:nvPr/>
        </p:nvSpPr>
        <p:spPr>
          <a:xfrm>
            <a:off x="7785068" y="4572000"/>
            <a:ext cx="3771900" cy="3048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Interpretation</a:t>
            </a:r>
            <a:endParaRPr/>
          </a:p>
        </p:txBody>
      </p:sp>
      <p:sp>
        <p:nvSpPr>
          <p:cNvPr id="877" name="Google Shape;877;p73"/>
          <p:cNvSpPr/>
          <p:nvPr/>
        </p:nvSpPr>
        <p:spPr>
          <a:xfrm>
            <a:off x="673132" y="5029200"/>
            <a:ext cx="3454432"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0.3</a:t>
            </a:r>
            <a:endParaRPr/>
          </a:p>
        </p:txBody>
      </p:sp>
      <p:sp>
        <p:nvSpPr>
          <p:cNvPr id="878" name="Google Shape;878;p73"/>
          <p:cNvSpPr/>
          <p:nvPr/>
        </p:nvSpPr>
        <p:spPr>
          <a:xfrm>
            <a:off x="4356068" y="5029200"/>
            <a:ext cx="3200400"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0.5</a:t>
            </a:r>
            <a:endParaRPr/>
          </a:p>
        </p:txBody>
      </p:sp>
      <p:sp>
        <p:nvSpPr>
          <p:cNvPr id="879" name="Google Shape;879;p73"/>
          <p:cNvSpPr/>
          <p:nvPr/>
        </p:nvSpPr>
        <p:spPr>
          <a:xfrm>
            <a:off x="7785068" y="5029200"/>
            <a:ext cx="3771900"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Partial push toward margin 1</a:t>
            </a:r>
            <a:endParaRPr/>
          </a:p>
        </p:txBody>
      </p:sp>
      <p:cxnSp>
        <p:nvCxnSpPr>
          <p:cNvPr id="880" name="Google Shape;880;p73"/>
          <p:cNvCxnSpPr/>
          <p:nvPr/>
        </p:nvCxnSpPr>
        <p:spPr>
          <a:xfrm>
            <a:off x="546100" y="5359400"/>
            <a:ext cx="11112500" cy="0"/>
          </a:xfrm>
          <a:prstGeom prst="straightConnector1">
            <a:avLst/>
          </a:prstGeom>
          <a:noFill/>
          <a:ln w="9525"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881" name="Google Shape;881;p73"/>
          <p:cNvSpPr/>
          <p:nvPr/>
        </p:nvSpPr>
        <p:spPr>
          <a:xfrm>
            <a:off x="673132" y="5486400"/>
            <a:ext cx="3454432"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0.8</a:t>
            </a:r>
            <a:endParaRPr/>
          </a:p>
        </p:txBody>
      </p:sp>
      <p:sp>
        <p:nvSpPr>
          <p:cNvPr id="882" name="Google Shape;882;p73"/>
          <p:cNvSpPr/>
          <p:nvPr/>
        </p:nvSpPr>
        <p:spPr>
          <a:xfrm>
            <a:off x="4356068" y="5486400"/>
            <a:ext cx="3200400"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1.0</a:t>
            </a:r>
            <a:endParaRPr/>
          </a:p>
        </p:txBody>
      </p:sp>
      <p:sp>
        <p:nvSpPr>
          <p:cNvPr id="883" name="Google Shape;883;p73"/>
          <p:cNvSpPr/>
          <p:nvPr/>
        </p:nvSpPr>
        <p:spPr>
          <a:xfrm>
            <a:off x="7785068" y="5486400"/>
            <a:ext cx="3771900" cy="3048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Reaches zero hinge loss</a:t>
            </a:r>
            <a:endParaRPr/>
          </a:p>
        </p:txBody>
      </p:sp>
      <p:cxnSp>
        <p:nvCxnSpPr>
          <p:cNvPr id="884" name="Google Shape;884;p73"/>
          <p:cNvCxnSpPr/>
          <p:nvPr/>
        </p:nvCxnSpPr>
        <p:spPr>
          <a:xfrm>
            <a:off x="546100" y="5816600"/>
            <a:ext cx="11112500" cy="0"/>
          </a:xfrm>
          <a:prstGeom prst="straightConnector1">
            <a:avLst/>
          </a:prstGeom>
          <a:noFill/>
          <a:ln w="9525"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cxnSp>
        <p:nvCxnSpPr>
          <p:cNvPr id="885" name="Google Shape;885;p73"/>
          <p:cNvCxnSpPr/>
          <p:nvPr/>
        </p:nvCxnSpPr>
        <p:spPr>
          <a:xfrm>
            <a:off x="533400" y="59182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886" name="Google Shape;886;p73"/>
          <p:cNvSpPr/>
          <p:nvPr/>
        </p:nvSpPr>
        <p:spPr>
          <a:xfrm>
            <a:off x="685800" y="59562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Costs enter through Cᵢ / ρ; the solver uses Cᵢ exactly as supplied.</a:t>
            </a:r>
            <a:endParaRPr/>
          </a:p>
        </p:txBody>
      </p:sp>
      <p:cxnSp>
        <p:nvCxnSpPr>
          <p:cNvPr id="887" name="Google Shape;887;p73"/>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888" name="Google Shape;888;p73"/>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Proposal §2.3 · src/svm_admm.py: _hinge_prox · illustrative values, not measured data</a:t>
            </a:r>
            <a:endParaRPr/>
          </a:p>
        </p:txBody>
      </p:sp>
      <p:sp>
        <p:nvSpPr>
          <p:cNvPr id="889" name="Google Shape;889;p73"/>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04</a:t>
            </a:r>
            <a:endParaRPr/>
          </a:p>
        </p:txBody>
      </p:sp>
      <p:sp>
        <p:nvSpPr>
          <p:cNvPr id="890" name="Google Shape;890;p73"/>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The hinge step has a closed-form solution</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95"/>
        <p:cNvGrpSpPr/>
        <p:nvPr/>
      </p:nvGrpSpPr>
      <p:grpSpPr>
        <a:xfrm>
          <a:off x="0" y="0"/>
          <a:ext cx="0" cy="0"/>
          <a:chOff x="0" y="0"/>
          <a:chExt cx="0" cy="0"/>
        </a:xfrm>
      </p:grpSpPr>
      <p:sp>
        <p:nvSpPr>
          <p:cNvPr id="896" name="Google Shape;896;p74"/>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HYBRID ALGORITHM</a:t>
            </a:r>
            <a:endParaRPr/>
          </a:p>
        </p:txBody>
      </p:sp>
      <p:sp>
        <p:nvSpPr>
          <p:cNvPr id="897" name="Google Shape;897;p74"/>
          <p:cNvSpPr/>
          <p:nvPr/>
        </p:nvSpPr>
        <p:spPr>
          <a:xfrm>
            <a:off x="546100" y="1955800"/>
            <a:ext cx="3213100" cy="18415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898" name="Google Shape;898;p74"/>
          <p:cNvSpPr/>
          <p:nvPr/>
        </p:nvSpPr>
        <p:spPr>
          <a:xfrm>
            <a:off x="723900" y="2197132"/>
            <a:ext cx="2857500" cy="3683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000"/>
              <a:buFont typeface="Calibri"/>
              <a:buNone/>
            </a:pPr>
            <a:r>
              <a:rPr lang="en-US" sz="2000" b="1">
                <a:solidFill>
                  <a:srgbClr val="A02337"/>
                </a:solidFill>
                <a:latin typeface="Calibri"/>
                <a:ea typeface="Calibri"/>
                <a:cs typeface="Calibri"/>
                <a:sym typeface="Calibri"/>
              </a:rPr>
              <a:t>Weighted Pegasos</a:t>
            </a:r>
            <a:endParaRPr/>
          </a:p>
        </p:txBody>
      </p:sp>
      <p:sp>
        <p:nvSpPr>
          <p:cNvPr id="899" name="Google Shape;899;p74"/>
          <p:cNvSpPr/>
          <p:nvPr/>
        </p:nvSpPr>
        <p:spPr>
          <a:xfrm>
            <a:off x="723900" y="2768632"/>
            <a:ext cx="2857500" cy="825532"/>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K shuffled passes</a:t>
            </a:r>
            <a:endParaRPr/>
          </a:p>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Best checkpoint, including</a:t>
            </a:r>
            <a:endParaRPr/>
          </a:p>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zero</a:t>
            </a:r>
            <a:endParaRPr/>
          </a:p>
        </p:txBody>
      </p:sp>
      <p:sp>
        <p:nvSpPr>
          <p:cNvPr id="900" name="Google Shape;900;p74"/>
          <p:cNvSpPr/>
          <p:nvPr/>
        </p:nvSpPr>
        <p:spPr>
          <a:xfrm>
            <a:off x="4648200" y="1955800"/>
            <a:ext cx="2908300" cy="18415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901" name="Google Shape;901;p74"/>
          <p:cNvSpPr/>
          <p:nvPr/>
        </p:nvSpPr>
        <p:spPr>
          <a:xfrm>
            <a:off x="4826032" y="2197132"/>
            <a:ext cx="2552700" cy="3683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000"/>
              <a:buFont typeface="Calibri"/>
              <a:buNone/>
            </a:pPr>
            <a:r>
              <a:rPr lang="en-US" sz="2000" b="1">
                <a:solidFill>
                  <a:srgbClr val="A02337"/>
                </a:solidFill>
                <a:latin typeface="Calibri"/>
                <a:ea typeface="Calibri"/>
                <a:cs typeface="Calibri"/>
                <a:sym typeface="Calibri"/>
              </a:rPr>
              <a:t>Initialize ADMM</a:t>
            </a:r>
            <a:endParaRPr/>
          </a:p>
        </p:txBody>
      </p:sp>
      <p:sp>
        <p:nvSpPr>
          <p:cNvPr id="902" name="Google Shape;902;p74"/>
          <p:cNvSpPr/>
          <p:nvPr/>
        </p:nvSpPr>
        <p:spPr>
          <a:xfrm>
            <a:off x="4826032" y="2768632"/>
            <a:ext cx="2552700" cy="825532"/>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θ⁰ = best warm model</a:t>
            </a:r>
            <a:endParaRPr/>
          </a:p>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z⁰ = Aθ⁰; q⁰ = 0</a:t>
            </a:r>
            <a:endParaRPr/>
          </a:p>
        </p:txBody>
      </p:sp>
      <p:sp>
        <p:nvSpPr>
          <p:cNvPr id="903" name="Google Shape;903;p74"/>
          <p:cNvSpPr/>
          <p:nvPr/>
        </p:nvSpPr>
        <p:spPr>
          <a:xfrm>
            <a:off x="8445500" y="1955800"/>
            <a:ext cx="3213100" cy="18415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904" name="Google Shape;904;p74"/>
          <p:cNvSpPr/>
          <p:nvPr/>
        </p:nvSpPr>
        <p:spPr>
          <a:xfrm>
            <a:off x="8623268" y="2197132"/>
            <a:ext cx="2857500" cy="3683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000"/>
              <a:buFont typeface="Calibri"/>
              <a:buNone/>
            </a:pPr>
            <a:r>
              <a:rPr lang="en-US" sz="2000" b="1">
                <a:solidFill>
                  <a:srgbClr val="A02337"/>
                </a:solidFill>
                <a:latin typeface="Calibri"/>
                <a:ea typeface="Calibri"/>
                <a:cs typeface="Calibri"/>
                <a:sym typeface="Calibri"/>
              </a:rPr>
              <a:t>Refine with ADMM</a:t>
            </a:r>
            <a:endParaRPr/>
          </a:p>
        </p:txBody>
      </p:sp>
      <p:sp>
        <p:nvSpPr>
          <p:cNvPr id="905" name="Google Shape;905;p74"/>
          <p:cNvSpPr/>
          <p:nvPr/>
        </p:nvSpPr>
        <p:spPr>
          <a:xfrm>
            <a:off x="8623268" y="2768632"/>
            <a:ext cx="2857500" cy="825532"/>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Adaptive ρ</a:t>
            </a:r>
            <a:endParaRPr/>
          </a:p>
          <a:p>
            <a:pPr marL="0" marR="0" lvl="0" indent="0" algn="l" rtl="0">
              <a:lnSpc>
                <a:spcPct val="117941"/>
              </a:lnSpc>
              <a:spcBef>
                <a:spcPts val="0"/>
              </a:spcBef>
              <a:spcAft>
                <a:spcPts val="0"/>
              </a:spcAft>
              <a:buClr>
                <a:schemeClr val="dk1"/>
              </a:buClr>
              <a:buSzPts val="1700"/>
              <a:buFont typeface="Calibri"/>
              <a:buNone/>
            </a:pPr>
            <a:r>
              <a:rPr lang="en-US" sz="1700" b="0">
                <a:solidFill>
                  <a:schemeClr val="dk1"/>
                </a:solidFill>
                <a:latin typeface="Calibri"/>
                <a:ea typeface="Calibri"/>
                <a:cs typeface="Calibri"/>
                <a:sym typeface="Calibri"/>
              </a:rPr>
              <a:t>Over-relaxation α</a:t>
            </a:r>
            <a:endParaRPr/>
          </a:p>
        </p:txBody>
      </p:sp>
      <p:cxnSp>
        <p:nvCxnSpPr>
          <p:cNvPr id="906" name="Google Shape;906;p74"/>
          <p:cNvCxnSpPr/>
          <p:nvPr/>
        </p:nvCxnSpPr>
        <p:spPr>
          <a:xfrm>
            <a:off x="3898900" y="2882900"/>
            <a:ext cx="609600" cy="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907" name="Google Shape;907;p74"/>
          <p:cNvCxnSpPr/>
          <p:nvPr/>
        </p:nvCxnSpPr>
        <p:spPr>
          <a:xfrm>
            <a:off x="4419600" y="28321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908" name="Google Shape;908;p74"/>
          <p:cNvCxnSpPr/>
          <p:nvPr/>
        </p:nvCxnSpPr>
        <p:spPr>
          <a:xfrm rot="10800000" flipH="1">
            <a:off x="4419600" y="28829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909" name="Google Shape;909;p74"/>
          <p:cNvCxnSpPr/>
          <p:nvPr/>
        </p:nvCxnSpPr>
        <p:spPr>
          <a:xfrm>
            <a:off x="7696200" y="2882900"/>
            <a:ext cx="596900" cy="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910" name="Google Shape;910;p74"/>
          <p:cNvCxnSpPr/>
          <p:nvPr/>
        </p:nvCxnSpPr>
        <p:spPr>
          <a:xfrm>
            <a:off x="8204200" y="28321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cxnSp>
        <p:nvCxnSpPr>
          <p:cNvPr id="911" name="Google Shape;911;p74"/>
          <p:cNvCxnSpPr/>
          <p:nvPr/>
        </p:nvCxnSpPr>
        <p:spPr>
          <a:xfrm rot="10800000" flipH="1">
            <a:off x="8204200" y="2882900"/>
            <a:ext cx="88900" cy="50800"/>
          </a:xfrm>
          <a:prstGeom prst="straightConnector1">
            <a:avLst/>
          </a:prstGeom>
          <a:noFill/>
          <a:ln w="2285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12" name="Google Shape;912;p74"/>
          <p:cNvSpPr/>
          <p:nvPr/>
        </p:nvSpPr>
        <p:spPr>
          <a:xfrm>
            <a:off x="546068" y="4152900"/>
            <a:ext cx="11112532" cy="381000"/>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rgbClr val="182B3A"/>
              </a:buClr>
              <a:buSzPts val="2100"/>
              <a:buFont typeface="Calibri"/>
              <a:buNone/>
            </a:pPr>
            <a:r>
              <a:rPr lang="en-US" sz="2100" b="0">
                <a:solidFill>
                  <a:srgbClr val="182B3A"/>
                </a:solidFill>
                <a:latin typeface="Calibri"/>
                <a:ea typeface="Calibri"/>
                <a:cs typeface="Calibri"/>
                <a:sym typeface="Calibri"/>
              </a:rPr>
              <a:t>K: warm-start passes     ρ: penalty strength     α: relaxation factor</a:t>
            </a:r>
            <a:endParaRPr/>
          </a:p>
        </p:txBody>
      </p:sp>
      <p:sp>
        <p:nvSpPr>
          <p:cNvPr id="913" name="Google Shape;913;p74"/>
          <p:cNvSpPr/>
          <p:nvPr/>
        </p:nvSpPr>
        <p:spPr>
          <a:xfrm>
            <a:off x="546068" y="4724400"/>
            <a:ext cx="11112532" cy="584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2000"/>
              <a:buFont typeface="Calibri"/>
              <a:buNone/>
            </a:pPr>
            <a:r>
              <a:rPr lang="en-US" sz="2000" b="0">
                <a:solidFill>
                  <a:srgbClr val="526574"/>
                </a:solidFill>
                <a:latin typeface="Calibri"/>
                <a:ea typeface="Calibri"/>
                <a:cs typeface="Calibri"/>
                <a:sym typeface="Calibri"/>
              </a:rPr>
              <a:t>Initialize θ, z and q, then run the same ADMM loop.</a:t>
            </a:r>
            <a:endParaRPr/>
          </a:p>
        </p:txBody>
      </p:sp>
      <p:cxnSp>
        <p:nvCxnSpPr>
          <p:cNvPr id="914" name="Google Shape;914;p74"/>
          <p:cNvCxnSpPr/>
          <p:nvPr/>
        </p:nvCxnSpPr>
        <p:spPr>
          <a:xfrm>
            <a:off x="533400" y="56515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15" name="Google Shape;915;p74"/>
          <p:cNvSpPr/>
          <p:nvPr/>
        </p:nvSpPr>
        <p:spPr>
          <a:xfrm>
            <a:off x="685800" y="56895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K = 0 + adaptive ρ off + α = 1 exactly recovers cold ADMM.</a:t>
            </a:r>
            <a:endParaRPr/>
          </a:p>
        </p:txBody>
      </p:sp>
      <p:cxnSp>
        <p:nvCxnSpPr>
          <p:cNvPr id="916" name="Google Shape;916;p74"/>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17" name="Google Shape;917;p74"/>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Proposal §3.2 · src/svm_admm.py: PAADMMSVM · Pegasos scaling in WP3_ADMM.md</a:t>
            </a:r>
            <a:endParaRPr/>
          </a:p>
        </p:txBody>
      </p:sp>
      <p:sp>
        <p:nvSpPr>
          <p:cNvPr id="918" name="Google Shape;918;p74"/>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05</a:t>
            </a:r>
            <a:endParaRPr/>
          </a:p>
        </p:txBody>
      </p:sp>
      <p:sp>
        <p:nvSpPr>
          <p:cNvPr id="919" name="Google Shape;919;p74"/>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PA-ADMM adds a warm start and two controls</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24"/>
        <p:cNvGrpSpPr/>
        <p:nvPr/>
      </p:nvGrpSpPr>
      <p:grpSpPr>
        <a:xfrm>
          <a:off x="0" y="0"/>
          <a:ext cx="0" cy="0"/>
          <a:chOff x="0" y="0"/>
          <a:chExt cx="0" cy="0"/>
        </a:xfrm>
      </p:grpSpPr>
      <p:sp>
        <p:nvSpPr>
          <p:cNvPr id="925" name="Google Shape;925;p75"/>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RESIDUAL BALANCING</a:t>
            </a:r>
            <a:endParaRPr/>
          </a:p>
        </p:txBody>
      </p:sp>
      <p:pic>
        <p:nvPicPr>
          <p:cNvPr id="926" name="Google Shape;926;p75"/>
          <p:cNvPicPr preferRelativeResize="0"/>
          <p:nvPr/>
        </p:nvPicPr>
        <p:blipFill rotWithShape="1">
          <a:blip r:embed="rId3">
            <a:alphaModFix/>
          </a:blip>
          <a:srcRect/>
          <a:stretch/>
        </p:blipFill>
        <p:spPr>
          <a:xfrm>
            <a:off x="546100" y="1651000"/>
            <a:ext cx="6280265" cy="440574"/>
          </a:xfrm>
          <a:prstGeom prst="rect">
            <a:avLst/>
          </a:prstGeom>
          <a:noFill/>
          <a:ln>
            <a:noFill/>
          </a:ln>
        </p:spPr>
      </p:pic>
      <p:sp>
        <p:nvSpPr>
          <p:cNvPr id="927" name="Google Shape;927;p75"/>
          <p:cNvSpPr/>
          <p:nvPr/>
        </p:nvSpPr>
        <p:spPr>
          <a:xfrm>
            <a:off x="546100" y="2590800"/>
            <a:ext cx="11112500" cy="546100"/>
          </a:xfrm>
          <a:prstGeom prst="rect">
            <a:avLst/>
          </a:prstGeom>
          <a:solidFill>
            <a:srgbClr val="F2F6F8"/>
          </a:solidFill>
          <a:ln>
            <a:noFill/>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Calibri"/>
              <a:buNone/>
            </a:pPr>
            <a:endParaRPr sz="1800">
              <a:solidFill>
                <a:schemeClr val="lt1"/>
              </a:solidFill>
              <a:latin typeface="Calibri"/>
              <a:ea typeface="Calibri"/>
              <a:cs typeface="Calibri"/>
              <a:sym typeface="Calibri"/>
            </a:endParaRPr>
          </a:p>
        </p:txBody>
      </p:sp>
      <p:sp>
        <p:nvSpPr>
          <p:cNvPr id="928" name="Google Shape;928;p75"/>
          <p:cNvSpPr/>
          <p:nvPr/>
        </p:nvSpPr>
        <p:spPr>
          <a:xfrm>
            <a:off x="673132" y="2717768"/>
            <a:ext cx="4216432" cy="393668"/>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1">
                <a:solidFill>
                  <a:schemeClr val="dk1"/>
                </a:solidFill>
                <a:latin typeface="Calibri"/>
                <a:ea typeface="Calibri"/>
                <a:cs typeface="Calibri"/>
                <a:sym typeface="Calibri"/>
              </a:rPr>
              <a:t>Condition</a:t>
            </a:r>
            <a:endParaRPr/>
          </a:p>
        </p:txBody>
      </p:sp>
      <p:sp>
        <p:nvSpPr>
          <p:cNvPr id="929" name="Google Shape;929;p75"/>
          <p:cNvSpPr/>
          <p:nvPr/>
        </p:nvSpPr>
        <p:spPr>
          <a:xfrm>
            <a:off x="5118068" y="2717768"/>
            <a:ext cx="1930432" cy="393668"/>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1">
                <a:solidFill>
                  <a:schemeClr val="dk1"/>
                </a:solidFill>
                <a:latin typeface="Calibri"/>
                <a:ea typeface="Calibri"/>
                <a:cs typeface="Calibri"/>
                <a:sym typeface="Calibri"/>
              </a:rPr>
              <a:t>Action</a:t>
            </a:r>
            <a:endParaRPr/>
          </a:p>
        </p:txBody>
      </p:sp>
      <p:sp>
        <p:nvSpPr>
          <p:cNvPr id="930" name="Google Shape;930;p75"/>
          <p:cNvSpPr/>
          <p:nvPr/>
        </p:nvSpPr>
        <p:spPr>
          <a:xfrm>
            <a:off x="7277100" y="2717768"/>
            <a:ext cx="4279868" cy="393668"/>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chemeClr val="dk1"/>
              </a:buClr>
              <a:buSzPts val="1700"/>
              <a:buFont typeface="Calibri"/>
              <a:buNone/>
            </a:pPr>
            <a:r>
              <a:rPr lang="en-US" sz="1700" b="1">
                <a:solidFill>
                  <a:schemeClr val="dk1"/>
                </a:solidFill>
                <a:latin typeface="Calibri"/>
                <a:ea typeface="Calibri"/>
                <a:cs typeface="Calibri"/>
                <a:sym typeface="Calibri"/>
              </a:rPr>
              <a:t>Purpose</a:t>
            </a:r>
            <a:endParaRPr/>
          </a:p>
        </p:txBody>
      </p:sp>
      <p:sp>
        <p:nvSpPr>
          <p:cNvPr id="931" name="Google Shape;931;p75"/>
          <p:cNvSpPr/>
          <p:nvPr/>
        </p:nvSpPr>
        <p:spPr>
          <a:xfrm>
            <a:off x="673132" y="3263932"/>
            <a:ext cx="4216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‖r‖ &gt; 10 ‖s‖</a:t>
            </a:r>
            <a:endParaRPr/>
          </a:p>
        </p:txBody>
      </p:sp>
      <p:sp>
        <p:nvSpPr>
          <p:cNvPr id="932" name="Google Shape;932;p75"/>
          <p:cNvSpPr/>
          <p:nvPr/>
        </p:nvSpPr>
        <p:spPr>
          <a:xfrm>
            <a:off x="5118068" y="3263932"/>
            <a:ext cx="1930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ρ ← 2ρ</a:t>
            </a:r>
            <a:endParaRPr/>
          </a:p>
        </p:txBody>
      </p:sp>
      <p:sp>
        <p:nvSpPr>
          <p:cNvPr id="933" name="Google Shape;933;p75"/>
          <p:cNvSpPr/>
          <p:nvPr/>
        </p:nvSpPr>
        <p:spPr>
          <a:xfrm>
            <a:off x="7277100" y="3263932"/>
            <a:ext cx="4279868"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Stronger agreement penalty</a:t>
            </a:r>
            <a:endParaRPr/>
          </a:p>
        </p:txBody>
      </p:sp>
      <p:cxnSp>
        <p:nvCxnSpPr>
          <p:cNvPr id="934" name="Google Shape;934;p75"/>
          <p:cNvCxnSpPr/>
          <p:nvPr/>
        </p:nvCxnSpPr>
        <p:spPr>
          <a:xfrm>
            <a:off x="546100" y="3683000"/>
            <a:ext cx="11112500" cy="0"/>
          </a:xfrm>
          <a:prstGeom prst="straightConnector1">
            <a:avLst/>
          </a:prstGeom>
          <a:noFill/>
          <a:ln w="9525"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35" name="Google Shape;935;p75"/>
          <p:cNvSpPr/>
          <p:nvPr/>
        </p:nvSpPr>
        <p:spPr>
          <a:xfrm>
            <a:off x="673132" y="3810000"/>
            <a:ext cx="4216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‖s‖ &gt; 10 ‖r‖</a:t>
            </a:r>
            <a:endParaRPr/>
          </a:p>
        </p:txBody>
      </p:sp>
      <p:sp>
        <p:nvSpPr>
          <p:cNvPr id="936" name="Google Shape;936;p75"/>
          <p:cNvSpPr/>
          <p:nvPr/>
        </p:nvSpPr>
        <p:spPr>
          <a:xfrm>
            <a:off x="5118068" y="3810000"/>
            <a:ext cx="1930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ρ ← ρ / 2</a:t>
            </a:r>
            <a:endParaRPr/>
          </a:p>
        </p:txBody>
      </p:sp>
      <p:sp>
        <p:nvSpPr>
          <p:cNvPr id="937" name="Google Shape;937;p75"/>
          <p:cNvSpPr/>
          <p:nvPr/>
        </p:nvSpPr>
        <p:spPr>
          <a:xfrm>
            <a:off x="7277100" y="3810000"/>
            <a:ext cx="4279868"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Reduce the agreement penalty</a:t>
            </a:r>
            <a:endParaRPr/>
          </a:p>
        </p:txBody>
      </p:sp>
      <p:cxnSp>
        <p:nvCxnSpPr>
          <p:cNvPr id="938" name="Google Shape;938;p75"/>
          <p:cNvCxnSpPr/>
          <p:nvPr/>
        </p:nvCxnSpPr>
        <p:spPr>
          <a:xfrm>
            <a:off x="546100" y="4229100"/>
            <a:ext cx="11112500" cy="0"/>
          </a:xfrm>
          <a:prstGeom prst="straightConnector1">
            <a:avLst/>
          </a:prstGeom>
          <a:noFill/>
          <a:ln w="9525"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39" name="Google Shape;939;p75"/>
          <p:cNvSpPr/>
          <p:nvPr/>
        </p:nvSpPr>
        <p:spPr>
          <a:xfrm>
            <a:off x="673132" y="4356068"/>
            <a:ext cx="4216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Otherwise</a:t>
            </a:r>
            <a:endParaRPr/>
          </a:p>
        </p:txBody>
      </p:sp>
      <p:sp>
        <p:nvSpPr>
          <p:cNvPr id="940" name="Google Shape;940;p75"/>
          <p:cNvSpPr/>
          <p:nvPr/>
        </p:nvSpPr>
        <p:spPr>
          <a:xfrm>
            <a:off x="5118068" y="4356068"/>
            <a:ext cx="1930432"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Keep ρ</a:t>
            </a:r>
            <a:endParaRPr/>
          </a:p>
        </p:txBody>
      </p:sp>
      <p:sp>
        <p:nvSpPr>
          <p:cNvPr id="941" name="Google Shape;941;p75"/>
          <p:cNvSpPr/>
          <p:nvPr/>
        </p:nvSpPr>
        <p:spPr>
          <a:xfrm>
            <a:off x="7277100" y="4356068"/>
            <a:ext cx="4279868" cy="3936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1800"/>
              <a:buFont typeface="Calibri"/>
              <a:buNone/>
            </a:pPr>
            <a:r>
              <a:rPr lang="en-US" sz="1800" b="0">
                <a:solidFill>
                  <a:schemeClr val="dk1"/>
                </a:solidFill>
                <a:latin typeface="Calibri"/>
                <a:ea typeface="Calibri"/>
                <a:cs typeface="Calibri"/>
                <a:sym typeface="Calibri"/>
              </a:rPr>
              <a:t>Avoid unnecessary changes</a:t>
            </a:r>
            <a:endParaRPr/>
          </a:p>
        </p:txBody>
      </p:sp>
      <p:cxnSp>
        <p:nvCxnSpPr>
          <p:cNvPr id="942" name="Google Shape;942;p75"/>
          <p:cNvCxnSpPr/>
          <p:nvPr/>
        </p:nvCxnSpPr>
        <p:spPr>
          <a:xfrm>
            <a:off x="546100" y="4775200"/>
            <a:ext cx="11112500" cy="0"/>
          </a:xfrm>
          <a:prstGeom prst="straightConnector1">
            <a:avLst/>
          </a:prstGeom>
          <a:noFill/>
          <a:ln w="9525"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pic>
        <p:nvPicPr>
          <p:cNvPr id="943" name="Google Shape;943;p75"/>
          <p:cNvPicPr preferRelativeResize="0"/>
          <p:nvPr/>
        </p:nvPicPr>
        <p:blipFill rotWithShape="1">
          <a:blip r:embed="rId4">
            <a:alphaModFix/>
          </a:blip>
          <a:srcRect/>
          <a:stretch/>
        </p:blipFill>
        <p:spPr>
          <a:xfrm>
            <a:off x="546100" y="5118100"/>
            <a:ext cx="5199610" cy="502920"/>
          </a:xfrm>
          <a:prstGeom prst="rect">
            <a:avLst/>
          </a:prstGeom>
          <a:noFill/>
          <a:ln>
            <a:noFill/>
          </a:ln>
        </p:spPr>
      </p:pic>
      <p:cxnSp>
        <p:nvCxnSpPr>
          <p:cNvPr id="944" name="Google Shape;944;p75"/>
          <p:cNvCxnSpPr/>
          <p:nvPr/>
        </p:nvCxnSpPr>
        <p:spPr>
          <a:xfrm>
            <a:off x="533400" y="57912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45" name="Google Shape;945;p75"/>
          <p:cNvSpPr/>
          <p:nvPr/>
        </p:nvSpPr>
        <p:spPr>
          <a:xfrm>
            <a:off x="685800" y="5829300"/>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Changing ρ also changes the linear system: refactor before the next solve.</a:t>
            </a:r>
            <a:endParaRPr/>
          </a:p>
        </p:txBody>
      </p:sp>
      <p:cxnSp>
        <p:nvCxnSpPr>
          <p:cNvPr id="946" name="Google Shape;946;p75"/>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47" name="Google Shape;947;p75"/>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src/svm_admm.py: residual / rho updates · Boyd et al. (2011), §3.4.1</a:t>
            </a:r>
            <a:endParaRPr/>
          </a:p>
        </p:txBody>
      </p:sp>
      <p:sp>
        <p:nvSpPr>
          <p:cNvPr id="948" name="Google Shape;948;p75"/>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06</a:t>
            </a:r>
            <a:endParaRPr/>
          </a:p>
        </p:txBody>
      </p:sp>
      <p:sp>
        <p:nvSpPr>
          <p:cNvPr id="949" name="Google Shape;949;p75"/>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Adaptive ρ balances two residuals</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54"/>
        <p:cNvGrpSpPr/>
        <p:nvPr/>
      </p:nvGrpSpPr>
      <p:grpSpPr>
        <a:xfrm>
          <a:off x="0" y="0"/>
          <a:ext cx="0" cy="0"/>
          <a:chOff x="0" y="0"/>
          <a:chExt cx="0" cy="0"/>
        </a:xfrm>
      </p:grpSpPr>
      <p:sp>
        <p:nvSpPr>
          <p:cNvPr id="955" name="Google Shape;955;p76"/>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RELAXATION PARAMETER Α</a:t>
            </a:r>
            <a:endParaRPr/>
          </a:p>
        </p:txBody>
      </p:sp>
      <p:pic>
        <p:nvPicPr>
          <p:cNvPr id="956" name="Google Shape;956;p76"/>
          <p:cNvPicPr preferRelativeResize="0"/>
          <p:nvPr/>
        </p:nvPicPr>
        <p:blipFill rotWithShape="1">
          <a:blip r:embed="rId3">
            <a:alphaModFix/>
          </a:blip>
          <a:srcRect/>
          <a:stretch/>
        </p:blipFill>
        <p:spPr>
          <a:xfrm>
            <a:off x="546100" y="1638300"/>
            <a:ext cx="8055032" cy="415636"/>
          </a:xfrm>
          <a:prstGeom prst="rect">
            <a:avLst/>
          </a:prstGeom>
          <a:noFill/>
          <a:ln>
            <a:noFill/>
          </a:ln>
        </p:spPr>
      </p:pic>
      <p:sp>
        <p:nvSpPr>
          <p:cNvPr id="957" name="Google Shape;957;p76"/>
          <p:cNvSpPr/>
          <p:nvPr/>
        </p:nvSpPr>
        <p:spPr>
          <a:xfrm>
            <a:off x="546068" y="2514600"/>
            <a:ext cx="11112532" cy="368332"/>
          </a:xfrm>
          <a:prstGeom prst="rect">
            <a:avLst/>
          </a:prstGeom>
          <a:noFill/>
          <a:ln>
            <a:noFill/>
          </a:ln>
        </p:spPr>
        <p:txBody>
          <a:bodyPr spcFirstLastPara="1" wrap="square" lIns="0" tIns="0" rIns="0" bIns="0" anchor="t" anchorCtr="0">
            <a:noAutofit/>
          </a:bodyPr>
          <a:lstStyle/>
          <a:p>
            <a:pPr marL="0" marR="0" lvl="0" indent="0" algn="l" rtl="0">
              <a:lnSpc>
                <a:spcPct val="117952"/>
              </a:lnSpc>
              <a:spcBef>
                <a:spcPts val="0"/>
              </a:spcBef>
              <a:spcAft>
                <a:spcPts val="0"/>
              </a:spcAft>
              <a:buClr>
                <a:schemeClr val="dk1"/>
              </a:buClr>
              <a:buSzPts val="2100"/>
              <a:buFont typeface="Calibri"/>
              <a:buNone/>
            </a:pPr>
            <a:r>
              <a:rPr lang="en-US" sz="2100" b="0">
                <a:solidFill>
                  <a:schemeClr val="dk1"/>
                </a:solidFill>
                <a:latin typeface="Calibri"/>
                <a:ea typeface="Calibri"/>
                <a:cs typeface="Calibri"/>
                <a:sym typeface="Calibri"/>
              </a:rPr>
              <a:t>Illustration: zᵏ = 0.2, new model margin m = 0.4</a:t>
            </a:r>
            <a:endParaRPr/>
          </a:p>
        </p:txBody>
      </p:sp>
      <p:cxnSp>
        <p:nvCxnSpPr>
          <p:cNvPr id="958" name="Google Shape;958;p76"/>
          <p:cNvCxnSpPr/>
          <p:nvPr/>
        </p:nvCxnSpPr>
        <p:spPr>
          <a:xfrm>
            <a:off x="1270000" y="3695700"/>
            <a:ext cx="9207500" cy="0"/>
          </a:xfrm>
          <a:prstGeom prst="straightConnector1">
            <a:avLst/>
          </a:prstGeom>
          <a:noFill/>
          <a:ln w="16500" cap="flat" cmpd="sng">
            <a:solidFill>
              <a:srgbClr val="526574"/>
            </a:solidFill>
            <a:prstDash val="solid"/>
            <a:round/>
            <a:headEnd type="none" w="sm" len="sm"/>
            <a:tailEnd type="none" w="sm" len="sm"/>
          </a:ln>
          <a:effectLst>
            <a:outerShdw blurRad="40000" dist="20000" dir="5400000" rotWithShape="0">
              <a:srgbClr val="000000">
                <a:alpha val="38039"/>
              </a:srgbClr>
            </a:outerShdw>
          </a:effectLst>
        </p:spPr>
      </p:cxnSp>
      <p:cxnSp>
        <p:nvCxnSpPr>
          <p:cNvPr id="959" name="Google Shape;959;p76"/>
          <p:cNvCxnSpPr/>
          <p:nvPr/>
        </p:nvCxnSpPr>
        <p:spPr>
          <a:xfrm>
            <a:off x="3111500" y="3556000"/>
            <a:ext cx="0" cy="279400"/>
          </a:xfrm>
          <a:prstGeom prst="straightConnector1">
            <a:avLst/>
          </a:prstGeom>
          <a:noFill/>
          <a:ln w="38100" cap="flat" cmpd="sng">
            <a:solidFill>
              <a:srgbClr val="526574"/>
            </a:solidFill>
            <a:prstDash val="solid"/>
            <a:round/>
            <a:headEnd type="none" w="sm" len="sm"/>
            <a:tailEnd type="none" w="sm" len="sm"/>
          </a:ln>
          <a:effectLst>
            <a:outerShdw blurRad="40000" dist="20000" dir="5400000" rotWithShape="0">
              <a:srgbClr val="000000">
                <a:alpha val="38039"/>
              </a:srgbClr>
            </a:outerShdw>
          </a:effectLst>
        </p:spPr>
      </p:cxnSp>
      <p:sp>
        <p:nvSpPr>
          <p:cNvPr id="960" name="Google Shape;960;p76"/>
          <p:cNvSpPr/>
          <p:nvPr/>
        </p:nvSpPr>
        <p:spPr>
          <a:xfrm>
            <a:off x="2222468" y="4000500"/>
            <a:ext cx="1778032" cy="342900"/>
          </a:xfrm>
          <a:prstGeom prst="rect">
            <a:avLst/>
          </a:prstGeom>
          <a:noFill/>
          <a:ln>
            <a:noFill/>
          </a:ln>
        </p:spPr>
        <p:txBody>
          <a:bodyPr spcFirstLastPara="1" wrap="square" lIns="0" tIns="0" rIns="0" bIns="0" anchor="t" anchorCtr="0">
            <a:noAutofit/>
          </a:bodyPr>
          <a:lstStyle/>
          <a:p>
            <a:pPr marL="0" marR="0" lvl="0" indent="0" algn="ctr" rtl="0">
              <a:lnSpc>
                <a:spcPct val="117999"/>
              </a:lnSpc>
              <a:spcBef>
                <a:spcPts val="0"/>
              </a:spcBef>
              <a:spcAft>
                <a:spcPts val="0"/>
              </a:spcAft>
              <a:buClr>
                <a:schemeClr val="dk1"/>
              </a:buClr>
              <a:buSzPts val="1900"/>
              <a:buFont typeface="Calibri"/>
              <a:buNone/>
            </a:pPr>
            <a:r>
              <a:rPr lang="en-US" sz="1900" b="1">
                <a:solidFill>
                  <a:schemeClr val="dk1"/>
                </a:solidFill>
                <a:latin typeface="Calibri"/>
                <a:ea typeface="Calibri"/>
                <a:cs typeface="Calibri"/>
                <a:sym typeface="Calibri"/>
              </a:rPr>
              <a:t>zᵏ = 0.2</a:t>
            </a:r>
            <a:endParaRPr/>
          </a:p>
        </p:txBody>
      </p:sp>
      <p:cxnSp>
        <p:nvCxnSpPr>
          <p:cNvPr id="961" name="Google Shape;961;p76"/>
          <p:cNvCxnSpPr/>
          <p:nvPr/>
        </p:nvCxnSpPr>
        <p:spPr>
          <a:xfrm>
            <a:off x="6794500" y="3556000"/>
            <a:ext cx="0" cy="279400"/>
          </a:xfrm>
          <a:prstGeom prst="straightConnector1">
            <a:avLst/>
          </a:prstGeom>
          <a:noFill/>
          <a:ln w="38100" cap="flat" cmpd="sng">
            <a:solidFill>
              <a:srgbClr val="406DA8"/>
            </a:solidFill>
            <a:prstDash val="solid"/>
            <a:round/>
            <a:headEnd type="none" w="sm" len="sm"/>
            <a:tailEnd type="none" w="sm" len="sm"/>
          </a:ln>
          <a:effectLst>
            <a:outerShdw blurRad="40000" dist="20000" dir="5400000" rotWithShape="0">
              <a:srgbClr val="000000">
                <a:alpha val="38039"/>
              </a:srgbClr>
            </a:outerShdw>
          </a:effectLst>
        </p:spPr>
      </p:cxnSp>
      <p:sp>
        <p:nvSpPr>
          <p:cNvPr id="962" name="Google Shape;962;p76"/>
          <p:cNvSpPr/>
          <p:nvPr/>
        </p:nvSpPr>
        <p:spPr>
          <a:xfrm>
            <a:off x="5905500" y="4000500"/>
            <a:ext cx="1778032" cy="342900"/>
          </a:xfrm>
          <a:prstGeom prst="rect">
            <a:avLst/>
          </a:prstGeom>
          <a:noFill/>
          <a:ln>
            <a:noFill/>
          </a:ln>
        </p:spPr>
        <p:txBody>
          <a:bodyPr spcFirstLastPara="1" wrap="square" lIns="0" tIns="0" rIns="0" bIns="0" anchor="t" anchorCtr="0">
            <a:noAutofit/>
          </a:bodyPr>
          <a:lstStyle/>
          <a:p>
            <a:pPr marL="0" marR="0" lvl="0" indent="0" algn="ctr" rtl="0">
              <a:lnSpc>
                <a:spcPct val="117999"/>
              </a:lnSpc>
              <a:spcBef>
                <a:spcPts val="0"/>
              </a:spcBef>
              <a:spcAft>
                <a:spcPts val="0"/>
              </a:spcAft>
              <a:buClr>
                <a:schemeClr val="dk1"/>
              </a:buClr>
              <a:buSzPts val="1900"/>
              <a:buFont typeface="Calibri"/>
              <a:buNone/>
            </a:pPr>
            <a:r>
              <a:rPr lang="en-US" sz="1900" b="1">
                <a:solidFill>
                  <a:schemeClr val="dk1"/>
                </a:solidFill>
                <a:latin typeface="Calibri"/>
                <a:ea typeface="Calibri"/>
                <a:cs typeface="Calibri"/>
                <a:sym typeface="Calibri"/>
              </a:rPr>
              <a:t>m = 0.4</a:t>
            </a:r>
            <a:endParaRPr/>
          </a:p>
        </p:txBody>
      </p:sp>
      <p:cxnSp>
        <p:nvCxnSpPr>
          <p:cNvPr id="963" name="Google Shape;963;p76"/>
          <p:cNvCxnSpPr/>
          <p:nvPr/>
        </p:nvCxnSpPr>
        <p:spPr>
          <a:xfrm>
            <a:off x="9004300" y="3556000"/>
            <a:ext cx="0" cy="2794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64" name="Google Shape;964;p76"/>
          <p:cNvSpPr/>
          <p:nvPr/>
        </p:nvSpPr>
        <p:spPr>
          <a:xfrm>
            <a:off x="8115300" y="4000500"/>
            <a:ext cx="1778032" cy="342900"/>
          </a:xfrm>
          <a:prstGeom prst="rect">
            <a:avLst/>
          </a:prstGeom>
          <a:noFill/>
          <a:ln>
            <a:noFill/>
          </a:ln>
        </p:spPr>
        <p:txBody>
          <a:bodyPr spcFirstLastPara="1" wrap="square" lIns="0" tIns="0" rIns="0" bIns="0" anchor="t" anchorCtr="0">
            <a:noAutofit/>
          </a:bodyPr>
          <a:lstStyle/>
          <a:p>
            <a:pPr marL="0" marR="0" lvl="0" indent="0" algn="ctr" rtl="0">
              <a:lnSpc>
                <a:spcPct val="117999"/>
              </a:lnSpc>
              <a:spcBef>
                <a:spcPts val="0"/>
              </a:spcBef>
              <a:spcAft>
                <a:spcPts val="0"/>
              </a:spcAft>
              <a:buClr>
                <a:srgbClr val="A02337"/>
              </a:buClr>
              <a:buSzPts val="1900"/>
              <a:buFont typeface="Calibri"/>
              <a:buNone/>
            </a:pPr>
            <a:r>
              <a:rPr lang="en-US" sz="1900" b="1">
                <a:solidFill>
                  <a:srgbClr val="A02337"/>
                </a:solidFill>
                <a:latin typeface="Calibri"/>
                <a:ea typeface="Calibri"/>
                <a:cs typeface="Calibri"/>
                <a:sym typeface="Calibri"/>
              </a:rPr>
              <a:t>m̂ = 0.52</a:t>
            </a:r>
            <a:endParaRPr/>
          </a:p>
        </p:txBody>
      </p:sp>
      <p:sp>
        <p:nvSpPr>
          <p:cNvPr id="965" name="Google Shape;965;p76"/>
          <p:cNvSpPr/>
          <p:nvPr/>
        </p:nvSpPr>
        <p:spPr>
          <a:xfrm>
            <a:off x="7365968" y="3124200"/>
            <a:ext cx="3429000" cy="3302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000"/>
              <a:buFont typeface="Calibri"/>
              <a:buNone/>
            </a:pPr>
            <a:r>
              <a:rPr lang="en-US" sz="2000" b="1">
                <a:solidFill>
                  <a:srgbClr val="A02337"/>
                </a:solidFill>
                <a:latin typeface="Calibri"/>
                <a:ea typeface="Calibri"/>
                <a:cs typeface="Calibri"/>
                <a:sym typeface="Calibri"/>
              </a:rPr>
              <a:t>α = 1.6</a:t>
            </a:r>
            <a:endParaRPr/>
          </a:p>
        </p:txBody>
      </p:sp>
      <p:pic>
        <p:nvPicPr>
          <p:cNvPr id="966" name="Google Shape;966;p76"/>
          <p:cNvPicPr preferRelativeResize="0"/>
          <p:nvPr/>
        </p:nvPicPr>
        <p:blipFill rotWithShape="1">
          <a:blip r:embed="rId4">
            <a:alphaModFix/>
          </a:blip>
          <a:srcRect/>
          <a:stretch/>
        </p:blipFill>
        <p:spPr>
          <a:xfrm>
            <a:off x="546100" y="4686300"/>
            <a:ext cx="7439890" cy="457200"/>
          </a:xfrm>
          <a:prstGeom prst="rect">
            <a:avLst/>
          </a:prstGeom>
          <a:noFill/>
          <a:ln>
            <a:noFill/>
          </a:ln>
        </p:spPr>
      </p:pic>
      <p:cxnSp>
        <p:nvCxnSpPr>
          <p:cNvPr id="967" name="Google Shape;967;p76"/>
          <p:cNvCxnSpPr/>
          <p:nvPr/>
        </p:nvCxnSpPr>
        <p:spPr>
          <a:xfrm>
            <a:off x="533400" y="56515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68" name="Google Shape;968;p76"/>
          <p:cNvSpPr/>
          <p:nvPr/>
        </p:nvSpPr>
        <p:spPr>
          <a:xfrm>
            <a:off x="685800" y="56895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Use the same relaxed margin in both updates; α = 1 is standard ADMM.</a:t>
            </a:r>
            <a:endParaRPr/>
          </a:p>
        </p:txBody>
      </p:sp>
      <p:cxnSp>
        <p:nvCxnSpPr>
          <p:cNvPr id="969" name="Google Shape;969;p76"/>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70" name="Google Shape;970;p76"/>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chemeClr val="dk1"/>
              </a:buClr>
              <a:buSzPts val="900"/>
              <a:buFont typeface="Calibri"/>
              <a:buNone/>
            </a:pPr>
            <a:r>
              <a:rPr lang="en-US" sz="900" b="0">
                <a:solidFill>
                  <a:schemeClr val="dk1"/>
                </a:solidFill>
                <a:latin typeface="Calibri"/>
                <a:ea typeface="Calibri"/>
                <a:cs typeface="Calibri"/>
                <a:sym typeface="Calibri"/>
              </a:rPr>
              <a:t>src/svm_admm.py: relaxed / z / q updates · Boyd et al. (2011), §3.4.3</a:t>
            </a:r>
            <a:endParaRPr/>
          </a:p>
        </p:txBody>
      </p:sp>
      <p:sp>
        <p:nvSpPr>
          <p:cNvPr id="971" name="Google Shape;971;p76"/>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chemeClr val="dk1"/>
              </a:buClr>
              <a:buSzPts val="1000"/>
              <a:buFont typeface="Calibri"/>
              <a:buNone/>
            </a:pPr>
            <a:r>
              <a:rPr lang="en-US" sz="1000" b="0">
                <a:solidFill>
                  <a:schemeClr val="dk1"/>
                </a:solidFill>
                <a:latin typeface="Calibri"/>
                <a:ea typeface="Calibri"/>
                <a:cs typeface="Calibri"/>
                <a:sym typeface="Calibri"/>
              </a:rPr>
              <a:t>III · 07</a:t>
            </a:r>
            <a:endParaRPr/>
          </a:p>
        </p:txBody>
      </p:sp>
      <p:sp>
        <p:nvSpPr>
          <p:cNvPr id="972" name="Google Shape;972;p76"/>
          <p:cNvSpPr txBox="1">
            <a:spLocks noGrp="1"/>
          </p:cNvSpPr>
          <p:nvPr>
            <p:ph type="title"/>
          </p:nvPr>
        </p:nvSpPr>
        <p:spPr>
          <a:xfrm>
            <a:off x="334963" y="0"/>
            <a:ext cx="10637837"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Over-relaxation extrapolates the model margin</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77"/>
        <p:cNvGrpSpPr/>
        <p:nvPr/>
      </p:nvGrpSpPr>
      <p:grpSpPr>
        <a:xfrm>
          <a:off x="0" y="0"/>
          <a:ext cx="0" cy="0"/>
          <a:chOff x="0" y="0"/>
          <a:chExt cx="0" cy="0"/>
        </a:xfrm>
      </p:grpSpPr>
      <p:sp>
        <p:nvSpPr>
          <p:cNvPr id="978" name="Google Shape;978;p77"/>
          <p:cNvSpPr/>
          <p:nvPr/>
        </p:nvSpPr>
        <p:spPr>
          <a:xfrm>
            <a:off x="533400" y="1014413"/>
            <a:ext cx="10413968" cy="190500"/>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1000"/>
              <a:buFont typeface="Calibri"/>
              <a:buNone/>
            </a:pPr>
            <a:r>
              <a:rPr lang="en-US" sz="1000" b="1">
                <a:solidFill>
                  <a:srgbClr val="A02337"/>
                </a:solidFill>
                <a:latin typeface="Calibri"/>
                <a:ea typeface="Calibri"/>
                <a:cs typeface="Calibri"/>
                <a:sym typeface="Calibri"/>
              </a:rPr>
              <a:t>PART III  /  METHOD SUMMARY</a:t>
            </a:r>
            <a:endParaRPr/>
          </a:p>
        </p:txBody>
      </p:sp>
      <p:sp>
        <p:nvSpPr>
          <p:cNvPr id="979" name="Google Shape;979;p77"/>
          <p:cNvSpPr/>
          <p:nvPr/>
        </p:nvSpPr>
        <p:spPr>
          <a:xfrm>
            <a:off x="546068" y="1765268"/>
            <a:ext cx="584168"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01</a:t>
            </a:r>
            <a:endParaRPr/>
          </a:p>
        </p:txBody>
      </p:sp>
      <p:sp>
        <p:nvSpPr>
          <p:cNvPr id="980" name="Google Shape;980;p77"/>
          <p:cNvSpPr/>
          <p:nvPr/>
        </p:nvSpPr>
        <p:spPr>
          <a:xfrm>
            <a:off x="1320832" y="1765268"/>
            <a:ext cx="10160032" cy="381000"/>
          </a:xfrm>
          <a:prstGeom prst="rect">
            <a:avLst/>
          </a:prstGeom>
          <a:noFill/>
          <a:ln>
            <a:noFill/>
          </a:ln>
        </p:spPr>
        <p:txBody>
          <a:bodyPr spcFirstLastPara="1" wrap="square" lIns="0" tIns="0" rIns="0" bIns="0" anchor="t" anchorCtr="0">
            <a:noAutofit/>
          </a:bodyPr>
          <a:lstStyle/>
          <a:p>
            <a:pPr marL="0" marR="0" lvl="0" indent="0" algn="l" rtl="0">
              <a:lnSpc>
                <a:spcPct val="117954"/>
              </a:lnSpc>
              <a:spcBef>
                <a:spcPts val="0"/>
              </a:spcBef>
              <a:spcAft>
                <a:spcPts val="0"/>
              </a:spcAft>
              <a:buClr>
                <a:srgbClr val="182B3A"/>
              </a:buClr>
              <a:buSzPts val="2200"/>
              <a:buFont typeface="Calibri"/>
              <a:buNone/>
            </a:pPr>
            <a:r>
              <a:rPr lang="en-US" sz="2200" b="1">
                <a:solidFill>
                  <a:srgbClr val="182B3A"/>
                </a:solidFill>
                <a:latin typeface="Calibri"/>
                <a:ea typeface="Calibri"/>
                <a:cs typeface="Calibri"/>
                <a:sym typeface="Calibri"/>
              </a:rPr>
              <a:t>ADMM uses variable splitting</a:t>
            </a:r>
            <a:endParaRPr/>
          </a:p>
        </p:txBody>
      </p:sp>
      <p:sp>
        <p:nvSpPr>
          <p:cNvPr id="981" name="Google Shape;981;p77"/>
          <p:cNvSpPr/>
          <p:nvPr/>
        </p:nvSpPr>
        <p:spPr>
          <a:xfrm>
            <a:off x="1320832" y="2247900"/>
            <a:ext cx="10160032"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800"/>
              <a:buFont typeface="Calibri"/>
              <a:buNone/>
            </a:pPr>
            <a:r>
              <a:rPr lang="en-US" sz="1800" b="0">
                <a:solidFill>
                  <a:srgbClr val="526574"/>
                </a:solidFill>
                <a:latin typeface="Calibri"/>
                <a:ea typeface="Calibri"/>
                <a:cs typeface="Calibri"/>
                <a:sym typeface="Calibri"/>
              </a:rPr>
              <a:t>A linear model update and closed-form samplewise hinge updates.</a:t>
            </a:r>
            <a:endParaRPr/>
          </a:p>
        </p:txBody>
      </p:sp>
      <p:sp>
        <p:nvSpPr>
          <p:cNvPr id="982" name="Google Shape;982;p77"/>
          <p:cNvSpPr/>
          <p:nvPr/>
        </p:nvSpPr>
        <p:spPr>
          <a:xfrm>
            <a:off x="546068" y="2933700"/>
            <a:ext cx="584168"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02</a:t>
            </a:r>
            <a:endParaRPr/>
          </a:p>
        </p:txBody>
      </p:sp>
      <p:sp>
        <p:nvSpPr>
          <p:cNvPr id="983" name="Google Shape;983;p77"/>
          <p:cNvSpPr/>
          <p:nvPr/>
        </p:nvSpPr>
        <p:spPr>
          <a:xfrm>
            <a:off x="1320832" y="2933700"/>
            <a:ext cx="10160032" cy="381000"/>
          </a:xfrm>
          <a:prstGeom prst="rect">
            <a:avLst/>
          </a:prstGeom>
          <a:noFill/>
          <a:ln>
            <a:noFill/>
          </a:ln>
        </p:spPr>
        <p:txBody>
          <a:bodyPr spcFirstLastPara="1" wrap="square" lIns="0" tIns="0" rIns="0" bIns="0" anchor="t" anchorCtr="0">
            <a:noAutofit/>
          </a:bodyPr>
          <a:lstStyle/>
          <a:p>
            <a:pPr marL="0" marR="0" lvl="0" indent="0" algn="l" rtl="0">
              <a:lnSpc>
                <a:spcPct val="117954"/>
              </a:lnSpc>
              <a:spcBef>
                <a:spcPts val="0"/>
              </a:spcBef>
              <a:spcAft>
                <a:spcPts val="0"/>
              </a:spcAft>
              <a:buClr>
                <a:srgbClr val="182B3A"/>
              </a:buClr>
              <a:buSzPts val="2200"/>
              <a:buFont typeface="Calibri"/>
              <a:buNone/>
            </a:pPr>
            <a:r>
              <a:rPr lang="en-US" sz="2200" b="1">
                <a:solidFill>
                  <a:srgbClr val="182B3A"/>
                </a:solidFill>
                <a:latin typeface="Calibri"/>
                <a:ea typeface="Calibri"/>
                <a:cs typeface="Calibri"/>
                <a:sym typeface="Calibri"/>
              </a:rPr>
              <a:t>PA-ADMM extends the ADMM loop</a:t>
            </a:r>
            <a:endParaRPr/>
          </a:p>
        </p:txBody>
      </p:sp>
      <p:sp>
        <p:nvSpPr>
          <p:cNvPr id="984" name="Google Shape;984;p77"/>
          <p:cNvSpPr/>
          <p:nvPr/>
        </p:nvSpPr>
        <p:spPr>
          <a:xfrm>
            <a:off x="1320832" y="3416332"/>
            <a:ext cx="10160032"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800"/>
              <a:buFont typeface="Calibri"/>
              <a:buNone/>
            </a:pPr>
            <a:r>
              <a:rPr lang="en-US" sz="1800" b="0">
                <a:solidFill>
                  <a:srgbClr val="526574"/>
                </a:solidFill>
                <a:latin typeface="Calibri"/>
                <a:ea typeface="Calibri"/>
                <a:cs typeface="Calibri"/>
                <a:sym typeface="Calibri"/>
              </a:rPr>
              <a:t>Weighted Pegasos initialization, adaptive ρ and over-relaxation α.</a:t>
            </a:r>
            <a:endParaRPr/>
          </a:p>
        </p:txBody>
      </p:sp>
      <p:sp>
        <p:nvSpPr>
          <p:cNvPr id="985" name="Google Shape;985;p77"/>
          <p:cNvSpPr/>
          <p:nvPr/>
        </p:nvSpPr>
        <p:spPr>
          <a:xfrm>
            <a:off x="546068" y="4102132"/>
            <a:ext cx="584168"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A02337"/>
              </a:buClr>
              <a:buSzPts val="2500"/>
              <a:buFont typeface="Calibri"/>
              <a:buNone/>
            </a:pPr>
            <a:r>
              <a:rPr lang="en-US" sz="2500" b="1">
                <a:solidFill>
                  <a:srgbClr val="A02337"/>
                </a:solidFill>
                <a:latin typeface="Calibri"/>
                <a:ea typeface="Calibri"/>
                <a:cs typeface="Calibri"/>
                <a:sym typeface="Calibri"/>
              </a:rPr>
              <a:t>03</a:t>
            </a:r>
            <a:endParaRPr/>
          </a:p>
        </p:txBody>
      </p:sp>
      <p:sp>
        <p:nvSpPr>
          <p:cNvPr id="986" name="Google Shape;986;p77"/>
          <p:cNvSpPr/>
          <p:nvPr/>
        </p:nvSpPr>
        <p:spPr>
          <a:xfrm>
            <a:off x="1320832" y="4102132"/>
            <a:ext cx="10160032" cy="381000"/>
          </a:xfrm>
          <a:prstGeom prst="rect">
            <a:avLst/>
          </a:prstGeom>
          <a:noFill/>
          <a:ln>
            <a:noFill/>
          </a:ln>
        </p:spPr>
        <p:txBody>
          <a:bodyPr spcFirstLastPara="1" wrap="square" lIns="0" tIns="0" rIns="0" bIns="0" anchor="t" anchorCtr="0">
            <a:noAutofit/>
          </a:bodyPr>
          <a:lstStyle/>
          <a:p>
            <a:pPr marL="0" marR="0" lvl="0" indent="0" algn="l" rtl="0">
              <a:lnSpc>
                <a:spcPct val="117954"/>
              </a:lnSpc>
              <a:spcBef>
                <a:spcPts val="0"/>
              </a:spcBef>
              <a:spcAft>
                <a:spcPts val="0"/>
              </a:spcAft>
              <a:buClr>
                <a:srgbClr val="182B3A"/>
              </a:buClr>
              <a:buSzPts val="2200"/>
              <a:buFont typeface="Calibri"/>
              <a:buNone/>
            </a:pPr>
            <a:r>
              <a:rPr lang="en-US" sz="2200" b="1">
                <a:solidFill>
                  <a:srgbClr val="182B3A"/>
                </a:solidFill>
                <a:latin typeface="Calibri"/>
                <a:ea typeface="Calibri"/>
                <a:cs typeface="Calibri"/>
                <a:sym typeface="Calibri"/>
              </a:rPr>
              <a:t>The stopping rule checks convergence</a:t>
            </a:r>
            <a:endParaRPr/>
          </a:p>
        </p:txBody>
      </p:sp>
      <p:sp>
        <p:nvSpPr>
          <p:cNvPr id="987" name="Google Shape;987;p77"/>
          <p:cNvSpPr/>
          <p:nvPr/>
        </p:nvSpPr>
        <p:spPr>
          <a:xfrm>
            <a:off x="1320832" y="4584668"/>
            <a:ext cx="10160032" cy="444532"/>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1800"/>
              <a:buFont typeface="Calibri"/>
              <a:buNone/>
            </a:pPr>
            <a:r>
              <a:rPr lang="en-US" sz="1800" b="0">
                <a:solidFill>
                  <a:srgbClr val="526574"/>
                </a:solidFill>
                <a:latin typeface="Calibri"/>
                <a:ea typeface="Calibri"/>
                <a:cs typeface="Calibri"/>
                <a:sym typeface="Calibri"/>
              </a:rPr>
              <a:t>Check primal and dual residuals together with the primal–dual gap.</a:t>
            </a:r>
            <a:endParaRPr/>
          </a:p>
        </p:txBody>
      </p:sp>
      <p:cxnSp>
        <p:nvCxnSpPr>
          <p:cNvPr id="988" name="Google Shape;988;p77"/>
          <p:cNvCxnSpPr/>
          <p:nvPr/>
        </p:nvCxnSpPr>
        <p:spPr>
          <a:xfrm>
            <a:off x="533400" y="5765800"/>
            <a:ext cx="0" cy="444500"/>
          </a:xfrm>
          <a:prstGeom prst="straightConnector1">
            <a:avLst/>
          </a:prstGeom>
          <a:noFill/>
          <a:ln w="38100" cap="flat" cmpd="sng">
            <a:solidFill>
              <a:srgbClr val="A02337"/>
            </a:solidFill>
            <a:prstDash val="solid"/>
            <a:round/>
            <a:headEnd type="none" w="sm" len="sm"/>
            <a:tailEnd type="none" w="sm" len="sm"/>
          </a:ln>
          <a:effectLst>
            <a:outerShdw blurRad="40000" dist="20000" dir="5400000" rotWithShape="0">
              <a:srgbClr val="000000">
                <a:alpha val="38039"/>
              </a:srgbClr>
            </a:outerShdw>
          </a:effectLst>
        </p:spPr>
      </p:cxnSp>
      <p:sp>
        <p:nvSpPr>
          <p:cNvPr id="989" name="Google Shape;989;p77"/>
          <p:cNvSpPr/>
          <p:nvPr/>
        </p:nvSpPr>
        <p:spPr>
          <a:xfrm>
            <a:off x="685800" y="5803868"/>
            <a:ext cx="10871168" cy="419100"/>
          </a:xfrm>
          <a:prstGeom prst="rect">
            <a:avLst/>
          </a:prstGeom>
          <a:noFill/>
          <a:ln>
            <a:noFill/>
          </a:ln>
        </p:spPr>
        <p:txBody>
          <a:bodyPr spcFirstLastPara="1" wrap="square" lIns="0" tIns="0" rIns="0" bIns="0" anchor="t" anchorCtr="0">
            <a:noAutofit/>
          </a:bodyPr>
          <a:lstStyle/>
          <a:p>
            <a:pPr marL="0" marR="0" lvl="0" indent="0" algn="l" rtl="0">
              <a:lnSpc>
                <a:spcPct val="117941"/>
              </a:lnSpc>
              <a:spcBef>
                <a:spcPts val="0"/>
              </a:spcBef>
              <a:spcAft>
                <a:spcPts val="0"/>
              </a:spcAft>
              <a:buClr>
                <a:srgbClr val="A02337"/>
              </a:buClr>
              <a:buSzPts val="1700"/>
              <a:buFont typeface="Calibri"/>
              <a:buNone/>
            </a:pPr>
            <a:r>
              <a:rPr lang="en-US" sz="1700" b="1">
                <a:solidFill>
                  <a:srgbClr val="A02337"/>
                </a:solidFill>
                <a:latin typeface="Calibri"/>
                <a:ea typeface="Calibri"/>
                <a:cs typeface="Calibri"/>
                <a:sym typeface="Calibri"/>
              </a:rPr>
              <a:t>The SVM objective and supplied costs remain unchanged.</a:t>
            </a:r>
            <a:endParaRPr/>
          </a:p>
        </p:txBody>
      </p:sp>
      <p:cxnSp>
        <p:nvCxnSpPr>
          <p:cNvPr id="990" name="Google Shape;990;p77"/>
          <p:cNvCxnSpPr/>
          <p:nvPr/>
        </p:nvCxnSpPr>
        <p:spPr>
          <a:xfrm>
            <a:off x="533400" y="6337300"/>
            <a:ext cx="11125200" cy="0"/>
          </a:xfrm>
          <a:prstGeom prst="straightConnector1">
            <a:avLst/>
          </a:prstGeom>
          <a:noFill/>
          <a:ln w="10150" cap="flat" cmpd="sng">
            <a:solidFill>
              <a:srgbClr val="D7E1E7"/>
            </a:solidFill>
            <a:prstDash val="solid"/>
            <a:round/>
            <a:headEnd type="none" w="sm" len="sm"/>
            <a:tailEnd type="none" w="sm" len="sm"/>
          </a:ln>
          <a:effectLst>
            <a:outerShdw blurRad="40000" dist="20000" dir="5400000" rotWithShape="0">
              <a:srgbClr val="000000">
                <a:alpha val="38039"/>
              </a:srgbClr>
            </a:outerShdw>
          </a:effectLst>
        </p:spPr>
      </p:cxnSp>
      <p:sp>
        <p:nvSpPr>
          <p:cNvPr id="991" name="Google Shape;991;p77"/>
          <p:cNvSpPr/>
          <p:nvPr/>
        </p:nvSpPr>
        <p:spPr>
          <a:xfrm>
            <a:off x="533400" y="6464332"/>
            <a:ext cx="10350532" cy="203168"/>
          </a:xfrm>
          <a:prstGeom prst="rect">
            <a:avLst/>
          </a:prstGeom>
          <a:noFill/>
          <a:ln>
            <a:noFill/>
          </a:ln>
        </p:spPr>
        <p:txBody>
          <a:bodyPr spcFirstLastPara="1" wrap="square" lIns="0" tIns="0" rIns="0" bIns="0" anchor="t" anchorCtr="0">
            <a:noAutofit/>
          </a:bodyPr>
          <a:lstStyle/>
          <a:p>
            <a:pPr marL="0" marR="0" lvl="0" indent="0" algn="l" rtl="0">
              <a:lnSpc>
                <a:spcPct val="117999"/>
              </a:lnSpc>
              <a:spcBef>
                <a:spcPts val="0"/>
              </a:spcBef>
              <a:spcAft>
                <a:spcPts val="0"/>
              </a:spcAft>
              <a:buClr>
                <a:srgbClr val="526574"/>
              </a:buClr>
              <a:buSzPts val="900"/>
              <a:buFont typeface="Calibri"/>
              <a:buNone/>
            </a:pPr>
            <a:r>
              <a:rPr lang="en-US" sz="900" b="0">
                <a:solidFill>
                  <a:srgbClr val="526574"/>
                </a:solidFill>
                <a:latin typeface="Calibri"/>
                <a:ea typeface="Calibri"/>
                <a:cs typeface="Calibri"/>
                <a:sym typeface="Calibri"/>
              </a:rPr>
              <a:t>src/svm_admm.py · WP3_ADMM.md · WP3_REPORT.md</a:t>
            </a:r>
            <a:endParaRPr/>
          </a:p>
        </p:txBody>
      </p:sp>
      <p:sp>
        <p:nvSpPr>
          <p:cNvPr id="992" name="Google Shape;992;p77"/>
          <p:cNvSpPr/>
          <p:nvPr/>
        </p:nvSpPr>
        <p:spPr>
          <a:xfrm>
            <a:off x="11112532" y="6438900"/>
            <a:ext cx="546068" cy="254032"/>
          </a:xfrm>
          <a:prstGeom prst="rect">
            <a:avLst/>
          </a:prstGeom>
          <a:noFill/>
          <a:ln>
            <a:noFill/>
          </a:ln>
        </p:spPr>
        <p:txBody>
          <a:bodyPr spcFirstLastPara="1" wrap="square" lIns="0" tIns="0" rIns="0" bIns="0" anchor="t" anchorCtr="0">
            <a:noAutofit/>
          </a:bodyPr>
          <a:lstStyle/>
          <a:p>
            <a:pPr marL="0" marR="0" lvl="0" indent="0" algn="r" rtl="0">
              <a:lnSpc>
                <a:spcPct val="117999"/>
              </a:lnSpc>
              <a:spcBef>
                <a:spcPts val="0"/>
              </a:spcBef>
              <a:spcAft>
                <a:spcPts val="0"/>
              </a:spcAft>
              <a:buClr>
                <a:srgbClr val="526574"/>
              </a:buClr>
              <a:buSzPts val="1000"/>
              <a:buFont typeface="Calibri"/>
              <a:buNone/>
            </a:pPr>
            <a:r>
              <a:rPr lang="en-US" sz="1000" b="0">
                <a:solidFill>
                  <a:srgbClr val="526574"/>
                </a:solidFill>
                <a:latin typeface="Calibri"/>
                <a:ea typeface="Calibri"/>
                <a:cs typeface="Calibri"/>
                <a:sym typeface="Calibri"/>
              </a:rPr>
              <a:t>III · 09</a:t>
            </a:r>
            <a:endParaRPr/>
          </a:p>
        </p:txBody>
      </p:sp>
      <p:sp>
        <p:nvSpPr>
          <p:cNvPr id="993" name="Google Shape;993;p77"/>
          <p:cNvSpPr txBox="1">
            <a:spLocks noGrp="1"/>
          </p:cNvSpPr>
          <p:nvPr>
            <p:ph type="title"/>
          </p:nvPr>
        </p:nvSpPr>
        <p:spPr>
          <a:xfrm>
            <a:off x="334994" y="0"/>
            <a:ext cx="10637806" cy="800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200"/>
              <a:buFont typeface="Calibri"/>
              <a:buNone/>
            </a:pPr>
            <a:r>
              <a:rPr lang="en-US" sz="3200" b="0" i="0" u="none" strike="noStrike" cap="none">
                <a:solidFill>
                  <a:srgbClr val="FFFFFF"/>
                </a:solidFill>
                <a:latin typeface="Calibri"/>
                <a:ea typeface="Calibri"/>
                <a:cs typeface="Calibri"/>
                <a:sym typeface="Calibri"/>
              </a:rPr>
              <a:t>Method summary</a:t>
            </a:r>
            <a:endParaRPr sz="3200" b="0" i="0" u="none" strike="noStrike" cap="none">
              <a:solidFill>
                <a:schemeClr val="lt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78"/>
          <p:cNvSpPr txBox="1">
            <a:spLocks noGrp="1"/>
          </p:cNvSpPr>
          <p:nvPr>
            <p:ph type="ctrTitle"/>
          </p:nvPr>
        </p:nvSpPr>
        <p:spPr>
          <a:xfrm>
            <a:off x="334963" y="908897"/>
            <a:ext cx="8596500" cy="25200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3600"/>
              <a:buFont typeface="Calibri"/>
              <a:buNone/>
            </a:pPr>
            <a:r>
              <a:rPr lang="en-US" sz="3600">
                <a:solidFill>
                  <a:schemeClr val="lt1"/>
                </a:solidFill>
              </a:rPr>
              <a:t>Evaluation, Experiments and Results</a:t>
            </a:r>
            <a:endParaRPr/>
          </a:p>
        </p:txBody>
      </p:sp>
      <p:sp>
        <p:nvSpPr>
          <p:cNvPr id="1000" name="Google Shape;1000;p78"/>
          <p:cNvSpPr txBox="1">
            <a:spLocks noGrp="1"/>
          </p:cNvSpPr>
          <p:nvPr>
            <p:ph type="subTitle" idx="1"/>
          </p:nvPr>
        </p:nvSpPr>
        <p:spPr>
          <a:xfrm>
            <a:off x="334963" y="3447257"/>
            <a:ext cx="5782800" cy="2207700"/>
          </a:xfrm>
          <a:prstGeom prst="rect">
            <a:avLst/>
          </a:prstGeom>
          <a:noFill/>
          <a:ln>
            <a:noFill/>
          </a:ln>
        </p:spPr>
        <p:txBody>
          <a:bodyPr spcFirstLastPara="1" wrap="square" lIns="91425" tIns="45700" rIns="91425" bIns="45700" anchor="t" anchorCtr="0">
            <a:normAutofit/>
          </a:bodyPr>
          <a:lstStyle/>
          <a:p>
            <a:pPr marL="457200" lvl="0" indent="-419100" algn="l" rtl="0">
              <a:lnSpc>
                <a:spcPct val="100000"/>
              </a:lnSpc>
              <a:spcBef>
                <a:spcPts val="400"/>
              </a:spcBef>
              <a:spcAft>
                <a:spcPts val="0"/>
              </a:spcAft>
              <a:buClr>
                <a:schemeClr val="lt1"/>
              </a:buClr>
              <a:buSzPts val="1900"/>
              <a:buNone/>
            </a:pPr>
            <a:r>
              <a:rPr lang="en-US" sz="2400">
                <a:solidFill>
                  <a:srgbClr val="FFFFFF"/>
                </a:solidFill>
                <a:latin typeface="Calibri"/>
                <a:ea typeface="Calibri"/>
                <a:cs typeface="Calibri"/>
                <a:sym typeface="Calibri"/>
              </a:rPr>
              <a:t>PART IV</a:t>
            </a:r>
            <a:endParaRPr/>
          </a:p>
          <a:p>
            <a:pPr marL="457200" lvl="0" indent="-419100" algn="l" rtl="0">
              <a:lnSpc>
                <a:spcPct val="100000"/>
              </a:lnSpc>
              <a:spcBef>
                <a:spcPts val="400"/>
              </a:spcBef>
              <a:spcAft>
                <a:spcPts val="0"/>
              </a:spcAft>
              <a:buClr>
                <a:schemeClr val="lt1"/>
              </a:buClr>
              <a:buSzPts val="1900"/>
              <a:buNone/>
            </a:pPr>
            <a:r>
              <a:rPr lang="en-US" sz="2400">
                <a:solidFill>
                  <a:srgbClr val="FFFFFF"/>
                </a:solidFill>
                <a:latin typeface="Calibri"/>
                <a:ea typeface="Calibri"/>
                <a:cs typeface="Calibri"/>
                <a:sym typeface="Calibri"/>
              </a:rPr>
              <a:t>EVALUATION AND BENCHMARK</a:t>
            </a:r>
            <a:endParaRPr/>
          </a:p>
        </p:txBody>
      </p:sp>
      <p:sp>
        <p:nvSpPr>
          <p:cNvPr id="1001" name="Google Shape;1001;p78"/>
          <p:cNvSpPr txBox="1"/>
          <p:nvPr/>
        </p:nvSpPr>
        <p:spPr>
          <a:xfrm>
            <a:off x="338328" y="5806440"/>
            <a:ext cx="10607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FFFFFF"/>
                </a:solidFill>
                <a:latin typeface="Calibri"/>
                <a:ea typeface="Calibri"/>
                <a:cs typeface="Calibri"/>
                <a:sym typeface="Calibri"/>
              </a:rPr>
              <a:t>Songtao Li · Part IV · eight minutes</a:t>
            </a:r>
            <a:endParaRPr sz="15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p79"/>
          <p:cNvSpPr txBox="1">
            <a:spLocks noGrp="1"/>
          </p:cNvSpPr>
          <p:nvPr>
            <p:ph type="title"/>
          </p:nvPr>
        </p:nvSpPr>
        <p:spPr>
          <a:xfrm>
            <a:off x="446625" y="-2700"/>
            <a:ext cx="10782000" cy="7953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The data behind every number</a:t>
            </a:r>
            <a:endParaRPr/>
          </a:p>
        </p:txBody>
      </p:sp>
      <p:sp>
        <p:nvSpPr>
          <p:cNvPr id="1008" name="Google Shape;1008;p79"/>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DATA</a:t>
            </a:r>
            <a:endParaRPr sz="1500"/>
          </a:p>
        </p:txBody>
      </p:sp>
      <p:sp>
        <p:nvSpPr>
          <p:cNvPr id="1009" name="Google Shape;1009;p79"/>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10" name="Google Shape;1010;p79"/>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0.167% positives: accuracy is meaningless here, cost is the headline</a:t>
            </a:r>
            <a:endParaRPr sz="1500"/>
          </a:p>
        </p:txBody>
      </p:sp>
      <p:sp>
        <p:nvSpPr>
          <p:cNvPr id="1011" name="Google Shape;1011;p79"/>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12" name="Google Shape;1012;p79"/>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ULB credit-card fraud · 1,081 duplicates removed · 29 features · 5 seeds</a:t>
            </a:r>
            <a:endParaRPr sz="1500"/>
          </a:p>
        </p:txBody>
      </p:sp>
      <p:sp>
        <p:nvSpPr>
          <p:cNvPr id="1013" name="Google Shape;1013;p79"/>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02</a:t>
            </a:r>
            <a:endParaRPr sz="1500"/>
          </a:p>
        </p:txBody>
      </p:sp>
      <p:pic>
        <p:nvPicPr>
          <p:cNvPr id="1014" name="Google Shape;1014;p79" descr="p4_dataset.png"/>
          <p:cNvPicPr preferRelativeResize="0"/>
          <p:nvPr/>
        </p:nvPicPr>
        <p:blipFill rotWithShape="1">
          <a:blip r:embed="rId3">
            <a:alphaModFix/>
          </a:blip>
          <a:srcRect t="1914" b="1904"/>
          <a:stretch/>
        </p:blipFill>
        <p:spPr>
          <a:xfrm>
            <a:off x="530352" y="1572768"/>
            <a:ext cx="10424158" cy="2286000"/>
          </a:xfrm>
          <a:prstGeom prst="rect">
            <a:avLst/>
          </a:prstGeom>
          <a:noFill/>
          <a:ln>
            <a:noFill/>
          </a:ln>
        </p:spPr>
      </p:pic>
      <p:sp>
        <p:nvSpPr>
          <p:cNvPr id="1015" name="Google Shape;1015;p79"/>
          <p:cNvSpPr txBox="1"/>
          <p:nvPr/>
        </p:nvSpPr>
        <p:spPr>
          <a:xfrm>
            <a:off x="530352" y="3977639"/>
            <a:ext cx="10424100" cy="795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284,807 transactions, 492 frauds (0.172%). Removing 1,081 exact duplicate rows leaves 283,726 rows with 473 frauds (0.167%) — duplicates would otherwise leak across splits.</a:t>
            </a:r>
            <a:endParaRPr sz="1500"/>
          </a:p>
          <a:p>
            <a:pPr marL="0" marR="0" lvl="0" indent="0" algn="l" rtl="0">
              <a:lnSpc>
                <a:spcPct val="100000"/>
              </a:lnSpc>
              <a:spcBef>
                <a:spcPts val="800"/>
              </a:spcBef>
              <a:spcAft>
                <a:spcPts val="0"/>
              </a:spcAft>
              <a:buNone/>
            </a:pPr>
            <a:r>
              <a:rPr lang="en-US" sz="1300" b="0" i="0" u="none" strike="noStrike" cap="none">
                <a:solidFill>
                  <a:srgbClr val="526574"/>
                </a:solidFill>
                <a:latin typeface="Calibri"/>
                <a:ea typeface="Calibri"/>
                <a:cs typeface="Calibri"/>
                <a:sym typeface="Calibri"/>
              </a:rPr>
              <a:t>29 model features: V1–V28 plus Amount; Amount is standardized with training-fold statistics only, so no test information reaches the solver.</a:t>
            </a:r>
            <a:endParaRPr sz="15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20"/>
        <p:cNvGrpSpPr/>
        <p:nvPr/>
      </p:nvGrpSpPr>
      <p:grpSpPr>
        <a:xfrm>
          <a:off x="0" y="0"/>
          <a:ext cx="0" cy="0"/>
          <a:chOff x="0" y="0"/>
          <a:chExt cx="0" cy="0"/>
        </a:xfrm>
      </p:grpSpPr>
      <p:sp>
        <p:nvSpPr>
          <p:cNvPr id="1021" name="Google Shape;1021;p80"/>
          <p:cNvSpPr txBox="1">
            <a:spLocks noGrp="1"/>
          </p:cNvSpPr>
          <p:nvPr>
            <p:ph type="title"/>
          </p:nvPr>
        </p:nvSpPr>
        <p:spPr>
          <a:xfrm>
            <a:off x="446625" y="-2700"/>
            <a:ext cx="10733100" cy="765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How the comparison is made fair</a:t>
            </a:r>
            <a:endParaRPr/>
          </a:p>
        </p:txBody>
      </p:sp>
      <p:sp>
        <p:nvSpPr>
          <p:cNvPr id="1022" name="Google Shape;1022;p80"/>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PROTOCOL</a:t>
            </a:r>
            <a:endParaRPr sz="1500"/>
          </a:p>
        </p:txBody>
      </p:sp>
      <p:sp>
        <p:nvSpPr>
          <p:cNvPr id="1023" name="Google Shape;1023;p80"/>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24" name="Google Shape;1024;p80"/>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Same rows, same C, same budget — otherwise the objective is not comparable</a:t>
            </a:r>
            <a:endParaRPr sz="1500"/>
          </a:p>
        </p:txBody>
      </p:sp>
      <p:sp>
        <p:nvSpPr>
          <p:cNvPr id="1025" name="Google Shape;1025;p80"/>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26" name="Google Shape;1026;p80"/>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configs/main_*.yaml · EXPERIMENTS.md §5.1, §6 · src/evaluate.py</a:t>
            </a:r>
            <a:endParaRPr sz="1500"/>
          </a:p>
        </p:txBody>
      </p:sp>
      <p:sp>
        <p:nvSpPr>
          <p:cNvPr id="1027" name="Google Shape;1027;p80"/>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03</a:t>
            </a:r>
            <a:endParaRPr sz="1500"/>
          </a:p>
        </p:txBody>
      </p:sp>
      <p:sp>
        <p:nvSpPr>
          <p:cNvPr id="1028" name="Google Shape;1028;p80"/>
          <p:cNvSpPr txBox="1"/>
          <p:nvPr/>
        </p:nvSpPr>
        <p:spPr>
          <a:xfrm>
            <a:off x="533400" y="2819400"/>
            <a:ext cx="5143500" cy="217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1" i="0" u="none" strike="noStrike" cap="none">
                <a:solidFill>
                  <a:srgbClr val="182B3A"/>
                </a:solidFill>
                <a:latin typeface="Calibri"/>
                <a:ea typeface="Calibri"/>
                <a:cs typeface="Calibri"/>
                <a:sym typeface="Calibri"/>
              </a:rPr>
              <a:t>How it stays fair</a:t>
            </a:r>
            <a:endParaRPr sz="1500"/>
          </a:p>
          <a:p>
            <a:pPr marL="0" marR="0" lvl="0" indent="0" algn="l" rtl="0">
              <a:lnSpc>
                <a:spcPct val="100000"/>
              </a:lnSpc>
              <a:spcBef>
                <a:spcPts val="2000"/>
              </a:spcBef>
              <a:spcAft>
                <a:spcPts val="0"/>
              </a:spcAft>
              <a:buNone/>
            </a:pPr>
            <a:r>
              <a:rPr lang="en-US" sz="1200" b="1" i="0" u="none" strike="noStrike" cap="none">
                <a:solidFill>
                  <a:srgbClr val="182B3A"/>
                </a:solidFill>
                <a:latin typeface="Calibri"/>
                <a:ea typeface="Calibri"/>
                <a:cs typeface="Calibri"/>
                <a:sym typeface="Calibri"/>
              </a:rPr>
              <a:t>Objective  </a:t>
            </a:r>
            <a:r>
              <a:rPr lang="en-US" sz="1200" b="0" i="0" u="none" strike="noStrike" cap="none">
                <a:solidFill>
                  <a:srgbClr val="526574"/>
                </a:solidFill>
                <a:latin typeface="Calibri"/>
                <a:ea typeface="Calibri"/>
                <a:cs typeface="Calibri"/>
                <a:sym typeface="Calibri"/>
              </a:rPr>
              <a:t>Cᵢ = C·w_yᵢ — C is the penalty on margin violations; fraud : legit weight 10 / 20 / 50.</a:t>
            </a:r>
            <a:endParaRPr sz="1500"/>
          </a:p>
          <a:p>
            <a:pPr marL="0" marR="0" lvl="0" indent="0" algn="l" rtl="0">
              <a:lnSpc>
                <a:spcPct val="100000"/>
              </a:lnSpc>
              <a:spcBef>
                <a:spcPts val="2000"/>
              </a:spcBef>
              <a:spcAft>
                <a:spcPts val="0"/>
              </a:spcAft>
              <a:buNone/>
            </a:pPr>
            <a:r>
              <a:rPr lang="en-US" sz="1200" b="1" i="0" u="none" strike="noStrike" cap="none">
                <a:solidFill>
                  <a:srgbClr val="182B3A"/>
                </a:solidFill>
                <a:latin typeface="Calibri"/>
                <a:ea typeface="Calibri"/>
                <a:cs typeface="Calibri"/>
                <a:sym typeface="Calibri"/>
              </a:rPr>
              <a:t>Fixed C  </a:t>
            </a:r>
            <a:r>
              <a:rPr lang="en-US" sz="1200" b="0" i="0" u="none" strike="noStrike" cap="none">
                <a:solidFill>
                  <a:srgbClr val="526574"/>
                </a:solidFill>
                <a:latin typeface="Calibri"/>
                <a:ea typeface="Calibri"/>
                <a:cs typeface="Calibri"/>
                <a:sym typeface="Calibri"/>
              </a:rPr>
              <a:t>every ranking run uses C = 1, so all four solvers minimise the same program.</a:t>
            </a:r>
            <a:endParaRPr sz="1500"/>
          </a:p>
          <a:p>
            <a:pPr marL="0" marR="0" lvl="0" indent="0" algn="l" rtl="0">
              <a:lnSpc>
                <a:spcPct val="100000"/>
              </a:lnSpc>
              <a:spcBef>
                <a:spcPts val="2000"/>
              </a:spcBef>
              <a:spcAft>
                <a:spcPts val="0"/>
              </a:spcAft>
              <a:buNone/>
            </a:pPr>
            <a:r>
              <a:rPr lang="en-US" sz="1200" b="1" i="0" u="none" strike="noStrike" cap="none">
                <a:solidFill>
                  <a:srgbClr val="182B3A"/>
                </a:solidFill>
                <a:latin typeface="Calibri"/>
                <a:ea typeface="Calibri"/>
                <a:cs typeface="Calibri"/>
                <a:sym typeface="Calibri"/>
              </a:rPr>
              <a:t>Budget  </a:t>
            </a:r>
            <a:r>
              <a:rPr lang="en-US" sz="1200" b="0" i="0" u="none" strike="noStrike" cap="none">
                <a:solidFill>
                  <a:srgbClr val="526574"/>
                </a:solidFill>
                <a:latin typeface="Calibri"/>
                <a:ea typeface="Calibri"/>
                <a:cs typeface="Calibri"/>
                <a:sym typeface="Calibri"/>
              </a:rPr>
              <a:t>one machine, single thread, 90 minutes per fit; early stops are reported, never dropped.</a:t>
            </a:r>
            <a:endParaRPr sz="1500"/>
          </a:p>
        </p:txBody>
      </p:sp>
      <p:sp>
        <p:nvSpPr>
          <p:cNvPr id="1029" name="Google Shape;1029;p80"/>
          <p:cNvSpPr/>
          <p:nvPr/>
        </p:nvSpPr>
        <p:spPr>
          <a:xfrm>
            <a:off x="533400"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Verified data</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1,081 exact duplicates removed</a:t>
            </a:r>
            <a:endParaRPr sz="1500"/>
          </a:p>
        </p:txBody>
      </p:sp>
      <p:sp>
        <p:nvSpPr>
          <p:cNvPr id="1030" name="Google Shape;1030;p80"/>
          <p:cNvSpPr/>
          <p:nvPr/>
        </p:nvSpPr>
        <p:spPr>
          <a:xfrm>
            <a:off x="2271713"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Shared splits</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5 stratified seeds, one split each</a:t>
            </a:r>
            <a:endParaRPr sz="1500"/>
          </a:p>
        </p:txBody>
      </p:sp>
      <p:sp>
        <p:nvSpPr>
          <p:cNvPr id="1031" name="Google Shape;1031;p80"/>
          <p:cNvSpPr/>
          <p:nvPr/>
        </p:nvSpPr>
        <p:spPr>
          <a:xfrm>
            <a:off x="4010025"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One shared QP</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same rows, C fixed to 1</a:t>
            </a:r>
            <a:endParaRPr sz="1500"/>
          </a:p>
        </p:txBody>
      </p:sp>
      <p:sp>
        <p:nvSpPr>
          <p:cNvPr id="1032" name="Google Shape;1032;p80"/>
          <p:cNvSpPr/>
          <p:nvPr/>
        </p:nvSpPr>
        <p:spPr>
          <a:xfrm>
            <a:off x="5748338"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Fit each solver</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90 min per fit, single thread</a:t>
            </a:r>
            <a:endParaRPr sz="1500"/>
          </a:p>
        </p:txBody>
      </p:sp>
      <p:sp>
        <p:nvSpPr>
          <p:cNvPr id="1033" name="Google Shape;1033;p80"/>
          <p:cNvSpPr/>
          <p:nvPr/>
        </p:nvSpPr>
        <p:spPr>
          <a:xfrm>
            <a:off x="7486650"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Threshold on val</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chosen on validation only</a:t>
            </a:r>
            <a:endParaRPr sz="1500"/>
          </a:p>
        </p:txBody>
      </p:sp>
      <p:sp>
        <p:nvSpPr>
          <p:cNvPr id="1034" name="Google Shape;1034;p80"/>
          <p:cNvSpPr/>
          <p:nvPr/>
        </p:nvSpPr>
        <p:spPr>
          <a:xfrm>
            <a:off x="9224963" y="1295400"/>
            <a:ext cx="1619100" cy="990900"/>
          </a:xfrm>
          <a:prstGeom prst="roundRect">
            <a:avLst>
              <a:gd name="adj" fmla="val 16667"/>
            </a:avLst>
          </a:prstGeom>
          <a:solidFill>
            <a:srgbClr val="F7F9FA"/>
          </a:solidFill>
          <a:ln w="12700" cap="flat" cmpd="sng">
            <a:solidFill>
              <a:srgbClr val="C9D2D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182B3A"/>
                </a:solidFill>
                <a:latin typeface="Arial"/>
                <a:ea typeface="Arial"/>
                <a:cs typeface="Arial"/>
                <a:sym typeface="Arial"/>
              </a:rPr>
              <a:t>Test, once</a:t>
            </a:r>
            <a:endParaRPr sz="1500"/>
          </a:p>
          <a:p>
            <a:pPr marL="0" marR="0" lvl="0" indent="0" algn="ctr" rtl="0">
              <a:lnSpc>
                <a:spcPct val="100000"/>
              </a:lnSpc>
              <a:spcBef>
                <a:spcPts val="0"/>
              </a:spcBef>
              <a:spcAft>
                <a:spcPts val="0"/>
              </a:spcAft>
              <a:buNone/>
            </a:pPr>
            <a:r>
              <a:rPr lang="en-US" sz="1100" b="0" i="0" u="none" strike="noStrike" cap="none">
                <a:solidFill>
                  <a:srgbClr val="526574"/>
                </a:solidFill>
                <a:latin typeface="Arial"/>
                <a:ea typeface="Arial"/>
                <a:cs typeface="Arial"/>
                <a:sym typeface="Arial"/>
              </a:rPr>
              <a:t>cost, AP, recall@FPR</a:t>
            </a:r>
            <a:endParaRPr sz="15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81"/>
          <p:cNvSpPr txBox="1">
            <a:spLocks noGrp="1"/>
          </p:cNvSpPr>
          <p:nvPr>
            <p:ph type="title"/>
          </p:nvPr>
        </p:nvSpPr>
        <p:spPr>
          <a:xfrm>
            <a:off x="446625" y="-2700"/>
            <a:ext cx="10700700" cy="782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Correctness first: solvers agree on one QP</a:t>
            </a:r>
            <a:endParaRPr/>
          </a:p>
        </p:txBody>
      </p:sp>
      <p:sp>
        <p:nvSpPr>
          <p:cNvPr id="1041" name="Google Shape;1041;p81"/>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CORRECTNESS</a:t>
            </a:r>
            <a:endParaRPr sz="1500"/>
          </a:p>
        </p:txBody>
      </p:sp>
      <p:sp>
        <p:nvSpPr>
          <p:cNvPr id="1042" name="Google Shape;1042;p81"/>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43" name="Google Shape;1043;p81"/>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Independent solvers agree to 7.7e-05 on one QP</a:t>
            </a:r>
            <a:endParaRPr sz="1500"/>
          </a:p>
        </p:txBody>
      </p:sp>
      <p:sp>
        <p:nvSpPr>
          <p:cNvPr id="1044" name="Google Shape;1044;p81"/>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45" name="Google Shape;1045;p81"/>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7,000 rows · ratio 10 : 1 · tolerance 1e-4 · every solver starts from zero</a:t>
            </a:r>
            <a:endParaRPr sz="1500"/>
          </a:p>
        </p:txBody>
      </p:sp>
      <p:sp>
        <p:nvSpPr>
          <p:cNvPr id="1046" name="Google Shape;1046;p81"/>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04</a:t>
            </a:r>
            <a:endParaRPr sz="1500"/>
          </a:p>
        </p:txBody>
      </p:sp>
      <p:pic>
        <p:nvPicPr>
          <p:cNvPr id="1047" name="Google Shape;1047;p81" descr="p4_correctness.png"/>
          <p:cNvPicPr preferRelativeResize="0"/>
          <p:nvPr/>
        </p:nvPicPr>
        <p:blipFill rotWithShape="1">
          <a:blip r:embed="rId3">
            <a:alphaModFix/>
          </a:blip>
          <a:srcRect t="729" b="719"/>
          <a:stretch/>
        </p:blipFill>
        <p:spPr>
          <a:xfrm>
            <a:off x="502920" y="1572768"/>
            <a:ext cx="5852159" cy="2709333"/>
          </a:xfrm>
          <a:prstGeom prst="rect">
            <a:avLst/>
          </a:prstGeom>
          <a:noFill/>
          <a:ln>
            <a:noFill/>
          </a:ln>
        </p:spPr>
      </p:pic>
      <p:sp>
        <p:nvSpPr>
          <p:cNvPr id="1048" name="Google Shape;1048;p81"/>
          <p:cNvSpPr txBox="1"/>
          <p:nvPr/>
        </p:nvSpPr>
        <p:spPr>
          <a:xfrm>
            <a:off x="6537960" y="1645920"/>
            <a:ext cx="5211900" cy="831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182B3A"/>
                </a:solidFill>
                <a:latin typeface="Calibri"/>
                <a:ea typeface="Calibri"/>
                <a:cs typeface="Calibri"/>
                <a:sym typeface="Calibri"/>
              </a:rPr>
              <a:t>SMO       P = 5.0836   certified   (4,380 updates/iterations)</a:t>
            </a:r>
            <a:endParaRPr sz="1500"/>
          </a:p>
          <a:p>
            <a:pPr marL="0" marR="0" lvl="0" indent="0" algn="l" rtl="0">
              <a:lnSpc>
                <a:spcPct val="100000"/>
              </a:lnSpc>
              <a:spcBef>
                <a:spcPts val="0"/>
              </a:spcBef>
              <a:spcAft>
                <a:spcPts val="0"/>
              </a:spcAft>
              <a:buNone/>
            </a:pPr>
            <a:r>
              <a:rPr lang="en-US" sz="1200" b="0" i="0" u="none" strike="noStrike" cap="none">
                <a:solidFill>
                  <a:srgbClr val="182B3A"/>
                </a:solidFill>
                <a:latin typeface="Calibri"/>
                <a:ea typeface="Calibri"/>
                <a:cs typeface="Calibri"/>
                <a:sym typeface="Calibri"/>
              </a:rPr>
              <a:t>Pegasos   P = 10.3852   not certified   (550,000 updates/iterations)</a:t>
            </a:r>
            <a:endParaRPr sz="1500"/>
          </a:p>
          <a:p>
            <a:pPr marL="0" marR="0" lvl="0" indent="0" algn="l" rtl="0">
              <a:lnSpc>
                <a:spcPct val="100000"/>
              </a:lnSpc>
              <a:spcBef>
                <a:spcPts val="0"/>
              </a:spcBef>
              <a:spcAft>
                <a:spcPts val="0"/>
              </a:spcAft>
              <a:buNone/>
            </a:pPr>
            <a:r>
              <a:rPr lang="en-US" sz="1200" b="0" i="0" u="none" strike="noStrike" cap="none">
                <a:solidFill>
                  <a:srgbClr val="182B3A"/>
                </a:solidFill>
                <a:latin typeface="Calibri"/>
                <a:ea typeface="Calibri"/>
                <a:cs typeface="Calibri"/>
                <a:sym typeface="Calibri"/>
              </a:rPr>
              <a:t>ADMM      P = 5.0836   certified   (7,525 updates/iterations)</a:t>
            </a:r>
            <a:endParaRPr sz="1500"/>
          </a:p>
          <a:p>
            <a:pPr marL="0" marR="0" lvl="0" indent="0" algn="l" rtl="0">
              <a:lnSpc>
                <a:spcPct val="100000"/>
              </a:lnSpc>
              <a:spcBef>
                <a:spcPts val="0"/>
              </a:spcBef>
              <a:spcAft>
                <a:spcPts val="0"/>
              </a:spcAft>
              <a:buNone/>
            </a:pPr>
            <a:r>
              <a:rPr lang="en-US" sz="1200" b="0" i="0" u="none" strike="noStrike" cap="none">
                <a:solidFill>
                  <a:srgbClr val="182B3A"/>
                </a:solidFill>
                <a:latin typeface="Calibri"/>
                <a:ea typeface="Calibri"/>
                <a:cs typeface="Calibri"/>
                <a:sym typeface="Calibri"/>
              </a:rPr>
              <a:t>PA-ADMM   P = 5.0832   certified   (5,364 updates/iterations)</a:t>
            </a:r>
            <a:endParaRPr sz="1500"/>
          </a:p>
        </p:txBody>
      </p:sp>
      <p:sp>
        <p:nvSpPr>
          <p:cNvPr id="1049" name="Google Shape;1049;p81"/>
          <p:cNvSpPr txBox="1"/>
          <p:nvPr/>
        </p:nvSpPr>
        <p:spPr>
          <a:xfrm>
            <a:off x="6537960" y="3520440"/>
            <a:ext cx="5211900" cy="1200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26574"/>
                </a:solidFill>
                <a:latin typeface="Calibri"/>
                <a:ea typeface="Calibri"/>
                <a:cs typeface="Calibri"/>
                <a:sym typeface="Calibri"/>
              </a:rPr>
              <a:t>One 10k stratified subset (7,000 train / 1,500 val / 1,500 test), C fixed to 1, ratio 10:1, tolerance 1e-4. Every solver starts from zero on the same rows, so this agreement is between independent implementations.</a:t>
            </a:r>
            <a:endParaRPr sz="1500"/>
          </a:p>
          <a:p>
            <a:pPr marL="0" marR="0" lvl="0" indent="0" algn="l" rtl="0">
              <a:lnSpc>
                <a:spcPct val="100000"/>
              </a:lnSpc>
              <a:spcBef>
                <a:spcPts val="0"/>
              </a:spcBef>
              <a:spcAft>
                <a:spcPts val="0"/>
              </a:spcAft>
              <a:buNone/>
            </a:pPr>
            <a:endParaRPr sz="1200" b="0" i="0" u="none" strike="noStrike" cap="none">
              <a:solidFill>
                <a:srgbClr val="526574"/>
              </a:solidFill>
              <a:latin typeface="Calibri"/>
              <a:ea typeface="Calibri"/>
              <a:cs typeface="Calibri"/>
              <a:sym typeface="Calibri"/>
            </a:endParaRPr>
          </a:p>
          <a:p>
            <a:pPr marL="0" marR="0" lvl="0" indent="0" algn="l" rtl="0">
              <a:lnSpc>
                <a:spcPct val="100000"/>
              </a:lnSpc>
              <a:spcBef>
                <a:spcPts val="0"/>
              </a:spcBef>
              <a:spcAft>
                <a:spcPts val="0"/>
              </a:spcAft>
              <a:buNone/>
            </a:pPr>
            <a:r>
              <a:rPr lang="en-US" sz="1200" b="0" i="0" u="none" strike="noStrike" cap="none">
                <a:solidFill>
                  <a:srgbClr val="526574"/>
                </a:solidFill>
                <a:latin typeface="Calibri"/>
                <a:ea typeface="Calibri"/>
                <a:cs typeface="Calibri"/>
                <a:sym typeface="Calibri"/>
              </a:rPr>
              <a:t>Pegasos did not certify in this configuration (fixed step schedule, 550,000 updates) and is reported as unconverged rather than smoothed away.</a:t>
            </a:r>
            <a:endParaRPr sz="15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p82"/>
          <p:cNvSpPr txBox="1">
            <a:spLocks noGrp="1"/>
          </p:cNvSpPr>
          <p:nvPr>
            <p:ph type="title"/>
          </p:nvPr>
        </p:nvSpPr>
        <p:spPr>
          <a:xfrm>
            <a:off x="446625" y="-2700"/>
            <a:ext cx="10603500" cy="790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The experiment matrix we ran</a:t>
            </a:r>
            <a:endParaRPr/>
          </a:p>
        </p:txBody>
      </p:sp>
      <p:sp>
        <p:nvSpPr>
          <p:cNvPr id="1056" name="Google Shape;1056;p82"/>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MAIN EXPERIMENT DESIGN</a:t>
            </a:r>
            <a:endParaRPr sz="1500"/>
          </a:p>
        </p:txBody>
      </p:sp>
      <p:sp>
        <p:nvSpPr>
          <p:cNvPr id="1057" name="Google Shape;1057;p82"/>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58" name="Google Shape;1058;p82"/>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One ladder, one protocol: 7k → 35k → 198k rows, three cost ratios</a:t>
            </a:r>
            <a:endParaRPr sz="1500"/>
          </a:p>
        </p:txBody>
      </p:sp>
      <p:sp>
        <p:nvSpPr>
          <p:cNvPr id="1059" name="Google Shape;1059;p82"/>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60" name="Google Shape;1060;p82"/>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7,000 / 34,999 / 198,608 training rows · ratio 20 : 1 · C = 1 · median fit time, log scale</a:t>
            </a:r>
            <a:endParaRPr sz="1500"/>
          </a:p>
        </p:txBody>
      </p:sp>
      <p:sp>
        <p:nvSpPr>
          <p:cNvPr id="1061" name="Google Shape;1061;p82"/>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05</a:t>
            </a:r>
            <a:endParaRPr sz="1500"/>
          </a:p>
        </p:txBody>
      </p:sp>
      <p:pic>
        <p:nvPicPr>
          <p:cNvPr id="1062" name="Google Shape;1062;p82" descr="p4_ladder.png"/>
          <p:cNvPicPr preferRelativeResize="0"/>
          <p:nvPr/>
        </p:nvPicPr>
        <p:blipFill rotWithShape="1">
          <a:blip r:embed="rId3">
            <a:alphaModFix/>
          </a:blip>
          <a:srcRect/>
          <a:stretch/>
        </p:blipFill>
        <p:spPr>
          <a:xfrm>
            <a:off x="1714500" y="1600200"/>
            <a:ext cx="8763000" cy="2828925"/>
          </a:xfrm>
          <a:prstGeom prst="rect">
            <a:avLst/>
          </a:prstGeom>
          <a:noFill/>
          <a:ln>
            <a:noFill/>
          </a:ln>
        </p:spPr>
      </p:pic>
      <p:sp>
        <p:nvSpPr>
          <p:cNvPr id="1063" name="Google Shape;1063;p82"/>
          <p:cNvSpPr txBox="1"/>
          <p:nvPr/>
        </p:nvSpPr>
        <p:spPr>
          <a:xfrm>
            <a:off x="533400" y="4476750"/>
            <a:ext cx="10953600" cy="564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0" i="0" u="none" strike="noStrike" cap="none">
                <a:solidFill>
                  <a:srgbClr val="526574"/>
                </a:solidFill>
                <a:latin typeface="Calibri"/>
                <a:ea typeface="Calibri"/>
                <a:cs typeface="Calibri"/>
                <a:sym typeface="Calibri"/>
              </a:rPr>
              <a:t>Each rung uses the identical protocol; only the number of training rows changes.</a:t>
            </a:r>
            <a:endParaRPr sz="1500"/>
          </a:p>
          <a:p>
            <a:pPr marL="0" marR="0" lvl="0" indent="0" algn="l" rtl="0">
              <a:lnSpc>
                <a:spcPct val="100000"/>
              </a:lnSpc>
              <a:spcBef>
                <a:spcPts val="800"/>
              </a:spcBef>
              <a:spcAft>
                <a:spcPts val="0"/>
              </a:spcAft>
              <a:buNone/>
            </a:pPr>
            <a:r>
              <a:rPr lang="en-US" sz="1200" b="0" i="0" u="none" strike="noStrike" cap="none">
                <a:solidFill>
                  <a:srgbClr val="526574"/>
                </a:solidFill>
                <a:latin typeface="Calibri"/>
                <a:ea typeface="Calibri"/>
                <a:cs typeface="Calibri"/>
                <a:sym typeface="Calibri"/>
              </a:rPr>
              <a:t>Ratios 10 / 20 / 50 are trained at their own weight; thresholds and test cost always use the deployment ratio of that run.</a:t>
            </a:r>
            <a:endParaRPr sz="15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83"/>
          <p:cNvSpPr txBox="1">
            <a:spLocks noGrp="1"/>
          </p:cNvSpPr>
          <p:nvPr>
            <p:ph type="title"/>
          </p:nvPr>
        </p:nvSpPr>
        <p:spPr>
          <a:xfrm>
            <a:off x="446625" y="-2700"/>
            <a:ext cx="10498800" cy="7491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Full data at a glance</a:t>
            </a:r>
            <a:endParaRPr/>
          </a:p>
        </p:txBody>
      </p:sp>
      <p:sp>
        <p:nvSpPr>
          <p:cNvPr id="1070" name="Google Shape;1070;p83"/>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MAIN RESULTS · GRID</a:t>
            </a:r>
            <a:endParaRPr sz="1500"/>
          </a:p>
        </p:txBody>
      </p:sp>
      <p:sp>
        <p:nvSpPr>
          <p:cNvPr id="1071" name="Google Shape;1071;p83"/>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72" name="Google Shape;1072;p83"/>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Every cell is the same QP on the same 198,608 training rows</a:t>
            </a:r>
            <a:endParaRPr sz="1500"/>
          </a:p>
        </p:txBody>
      </p:sp>
      <p:sp>
        <p:nvSpPr>
          <p:cNvPr id="1073" name="Google Shape;1073;p83"/>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74" name="Google Shape;1074;p83"/>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results/raw/main_full · 42,559 test rows with 71 frauds · C = 1 · tolerance 0.1%</a:t>
            </a:r>
            <a:endParaRPr sz="1500"/>
          </a:p>
        </p:txBody>
      </p:sp>
      <p:sp>
        <p:nvSpPr>
          <p:cNvPr id="1075" name="Google Shape;1075;p83"/>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06</a:t>
            </a:r>
            <a:endParaRPr sz="1500"/>
          </a:p>
        </p:txBody>
      </p:sp>
      <p:graphicFrame>
        <p:nvGraphicFramePr>
          <p:cNvPr id="1076" name="Google Shape;1076;p83"/>
          <p:cNvGraphicFramePr/>
          <p:nvPr>
            <p:extLst>
              <p:ext uri="{D42A27DB-BD31-4B8C-83A1-F6EECF244321}">
                <p14:modId xmlns:p14="http://schemas.microsoft.com/office/powerpoint/2010/main" val="539067588"/>
              </p:ext>
            </p:extLst>
          </p:nvPr>
        </p:nvGraphicFramePr>
        <p:xfrm>
          <a:off x="530352" y="1536192"/>
          <a:ext cx="3000000" cy="3000000"/>
        </p:xfrm>
        <a:graphic>
          <a:graphicData uri="http://schemas.openxmlformats.org/drawingml/2006/table">
            <a:tbl>
              <a:tblPr firstRow="1" bandRow="1">
                <a:noFill/>
                <a:tableStyleId>{5C22544A-7EE6-4342-B048-85BDC9FD1C3A}</a:tableStyleId>
              </a:tblPr>
              <a:tblGrid>
                <a:gridCol w="1408325">
                  <a:extLst>
                    <a:ext uri="{9D8B030D-6E8A-4147-A177-3AD203B41FA5}">
                      <a16:colId xmlns:a16="http://schemas.microsoft.com/office/drawing/2014/main" val="20000"/>
                    </a:ext>
                  </a:extLst>
                </a:gridCol>
                <a:gridCol w="751100">
                  <a:extLst>
                    <a:ext uri="{9D8B030D-6E8A-4147-A177-3AD203B41FA5}">
                      <a16:colId xmlns:a16="http://schemas.microsoft.com/office/drawing/2014/main" val="20001"/>
                    </a:ext>
                  </a:extLst>
                </a:gridCol>
                <a:gridCol w="1032775">
                  <a:extLst>
                    <a:ext uri="{9D8B030D-6E8A-4147-A177-3AD203B41FA5}">
                      <a16:colId xmlns:a16="http://schemas.microsoft.com/office/drawing/2014/main" val="20002"/>
                    </a:ext>
                  </a:extLst>
                </a:gridCol>
                <a:gridCol w="1596100">
                  <a:extLst>
                    <a:ext uri="{9D8B030D-6E8A-4147-A177-3AD203B41FA5}">
                      <a16:colId xmlns:a16="http://schemas.microsoft.com/office/drawing/2014/main" val="20003"/>
                    </a:ext>
                  </a:extLst>
                </a:gridCol>
                <a:gridCol w="1314425">
                  <a:extLst>
                    <a:ext uri="{9D8B030D-6E8A-4147-A177-3AD203B41FA5}">
                      <a16:colId xmlns:a16="http://schemas.microsoft.com/office/drawing/2014/main" val="20004"/>
                    </a:ext>
                  </a:extLst>
                </a:gridCol>
                <a:gridCol w="1783900">
                  <a:extLst>
                    <a:ext uri="{9D8B030D-6E8A-4147-A177-3AD203B41FA5}">
                      <a16:colId xmlns:a16="http://schemas.microsoft.com/office/drawing/2014/main" val="20005"/>
                    </a:ext>
                  </a:extLst>
                </a:gridCol>
                <a:gridCol w="1408325">
                  <a:extLst>
                    <a:ext uri="{9D8B030D-6E8A-4147-A177-3AD203B41FA5}">
                      <a16:colId xmlns:a16="http://schemas.microsoft.com/office/drawing/2014/main" val="20006"/>
                    </a:ext>
                  </a:extLst>
                </a:gridCol>
              </a:tblGrid>
              <a:tr h="310900">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solver</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ratio</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certified</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median t-to-tol (s)</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median fit (s)</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AP</a:t>
                      </a:r>
                      <a:endParaRPr sz="1500"/>
                    </a:p>
                  </a:txBody>
                  <a:tcPr marL="54875" marR="36575" marT="18300" marB="18300">
                    <a:solidFill>
                      <a:srgbClr val="A02337"/>
                    </a:solidFill>
                  </a:tcPr>
                </a:tc>
                <a:tc>
                  <a:txBody>
                    <a:bodyPr/>
                    <a:lstStyle/>
                    <a:p>
                      <a:pPr marL="0" marR="0" lvl="0" indent="0" algn="l" rtl="0">
                        <a:lnSpc>
                          <a:spcPct val="100000"/>
                        </a:lnSpc>
                        <a:spcBef>
                          <a:spcPts val="0"/>
                        </a:spcBef>
                        <a:spcAft>
                          <a:spcPts val="0"/>
                        </a:spcAft>
                        <a:buNone/>
                      </a:pPr>
                      <a:r>
                        <a:rPr lang="en-US" sz="1100" b="1" u="none" strike="noStrike" cap="none">
                          <a:solidFill>
                            <a:srgbClr val="FFFFFF"/>
                          </a:solidFill>
                          <a:latin typeface="Calibri"/>
                          <a:ea typeface="Calibri"/>
                          <a:cs typeface="Calibri"/>
                          <a:sym typeface="Calibri"/>
                        </a:rPr>
                        <a:t>cost / example</a:t>
                      </a:r>
                      <a:endParaRPr sz="1500"/>
                    </a:p>
                  </a:txBody>
                  <a:tcPr marL="54875" marR="36575" marT="18300" marB="18300">
                    <a:solidFill>
                      <a:srgbClr val="A02337"/>
                    </a:solidFill>
                  </a:tcPr>
                </a:tc>
                <a:extLst>
                  <a:ext uri="{0D108BD9-81ED-4DB2-BD59-A6C34878D82A}">
                    <a16:rowId xmlns:a16="http://schemas.microsoft.com/office/drawing/2014/main" val="10000"/>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SMO</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10:1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n/a</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1363</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0.75 ± 0.05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0.00394</a:t>
                      </a:r>
                      <a:endParaRPr sz="1500"/>
                    </a:p>
                  </a:txBody>
                  <a:tcPr marL="54875" marR="36575" marT="18300" marB="18300">
                    <a:solidFill>
                      <a:srgbClr val="FFFFFF"/>
                    </a:solidFill>
                  </a:tcPr>
                </a:tc>
                <a:extLst>
                  <a:ext uri="{0D108BD9-81ED-4DB2-BD59-A6C34878D82A}">
                    <a16:rowId xmlns:a16="http://schemas.microsoft.com/office/drawing/2014/main" val="10001"/>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ADMM</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10:1</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44</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411</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0.75 ± 0.05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0.00380</a:t>
                      </a:r>
                      <a:endParaRPr sz="1500"/>
                    </a:p>
                  </a:txBody>
                  <a:tcPr marL="54875" marR="36575" marT="18300" marB="18300">
                    <a:solidFill>
                      <a:srgbClr val="F2F4F6"/>
                    </a:solidFill>
                  </a:tcPr>
                </a:tc>
                <a:extLst>
                  <a:ext uri="{0D108BD9-81ED-4DB2-BD59-A6C34878D82A}">
                    <a16:rowId xmlns:a16="http://schemas.microsoft.com/office/drawing/2014/main" val="10002"/>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PA-ADMM</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10:1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48</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500</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0.75 ± 0.05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0.00385</a:t>
                      </a:r>
                      <a:endParaRPr sz="1500"/>
                    </a:p>
                  </a:txBody>
                  <a:tcPr marL="54875" marR="36575" marT="18300" marB="18300">
                    <a:solidFill>
                      <a:srgbClr val="FFFFFF"/>
                    </a:solidFill>
                  </a:tcPr>
                </a:tc>
                <a:extLst>
                  <a:ext uri="{0D108BD9-81ED-4DB2-BD59-A6C34878D82A}">
                    <a16:rowId xmlns:a16="http://schemas.microsoft.com/office/drawing/2014/main" val="10003"/>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SMO</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20:1</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n/a</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1373</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0.00681</a:t>
                      </a:r>
                      <a:endParaRPr sz="1500"/>
                    </a:p>
                  </a:txBody>
                  <a:tcPr marL="54875" marR="36575" marT="18300" marB="18300">
                    <a:solidFill>
                      <a:srgbClr val="F2F4F6"/>
                    </a:solidFill>
                  </a:tcPr>
                </a:tc>
                <a:extLst>
                  <a:ext uri="{0D108BD9-81ED-4DB2-BD59-A6C34878D82A}">
                    <a16:rowId xmlns:a16="http://schemas.microsoft.com/office/drawing/2014/main" val="10004"/>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ADMM</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20:1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3/5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43</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360</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0.00648</a:t>
                      </a:r>
                      <a:endParaRPr sz="1500"/>
                    </a:p>
                  </a:txBody>
                  <a:tcPr marL="54875" marR="36575" marT="18300" marB="18300">
                    <a:solidFill>
                      <a:srgbClr val="FFFFFF"/>
                    </a:solidFill>
                  </a:tcPr>
                </a:tc>
                <a:extLst>
                  <a:ext uri="{0D108BD9-81ED-4DB2-BD59-A6C34878D82A}">
                    <a16:rowId xmlns:a16="http://schemas.microsoft.com/office/drawing/2014/main" val="10005"/>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PA-ADMM</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20:1</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49</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444</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0.00651</a:t>
                      </a:r>
                      <a:endParaRPr sz="1500"/>
                    </a:p>
                  </a:txBody>
                  <a:tcPr marL="54875" marR="36575" marT="18300" marB="18300">
                    <a:solidFill>
                      <a:srgbClr val="F2F4F6"/>
                    </a:solidFill>
                  </a:tcPr>
                </a:tc>
                <a:extLst>
                  <a:ext uri="{0D108BD9-81ED-4DB2-BD59-A6C34878D82A}">
                    <a16:rowId xmlns:a16="http://schemas.microsoft.com/office/drawing/2014/main" val="10006"/>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SMO</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50:1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n/a</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1431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0.01462</a:t>
                      </a:r>
                      <a:endParaRPr sz="1500"/>
                    </a:p>
                  </a:txBody>
                  <a:tcPr marL="54875" marR="36575" marT="18300" marB="18300">
                    <a:solidFill>
                      <a:srgbClr val="FFFFFF"/>
                    </a:solidFill>
                  </a:tcPr>
                </a:tc>
                <a:extLst>
                  <a:ext uri="{0D108BD9-81ED-4DB2-BD59-A6C34878D82A}">
                    <a16:rowId xmlns:a16="http://schemas.microsoft.com/office/drawing/2014/main" val="10007"/>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ADMM</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50:1</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102</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565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2F4F6"/>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0.01462</a:t>
                      </a:r>
                      <a:endParaRPr sz="1500"/>
                    </a:p>
                  </a:txBody>
                  <a:tcPr marL="54875" marR="36575" marT="18300" marB="18300">
                    <a:solidFill>
                      <a:srgbClr val="F2F4F6"/>
                    </a:solidFill>
                  </a:tcPr>
                </a:tc>
                <a:extLst>
                  <a:ext uri="{0D108BD9-81ED-4DB2-BD59-A6C34878D82A}">
                    <a16:rowId xmlns:a16="http://schemas.microsoft.com/office/drawing/2014/main" val="10008"/>
                  </a:ext>
                </a:extLst>
              </a:tr>
              <a:tr h="310900">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PA-ADMM</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50:1</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3/5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75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425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0.76 ± 0.05</a:t>
                      </a:r>
                      <a:endParaRPr sz="1500"/>
                    </a:p>
                  </a:txBody>
                  <a:tcPr marL="54875" marR="36575" marT="18300" marB="18300">
                    <a:solidFill>
                      <a:srgbClr val="FFFFFF"/>
                    </a:solidFill>
                  </a:tcPr>
                </a:tc>
                <a:tc>
                  <a:txBody>
                    <a:bodyPr/>
                    <a:lstStyle/>
                    <a:p>
                      <a:pPr marL="0" marR="0" lvl="0" indent="0" algn="l" rtl="0">
                        <a:lnSpc>
                          <a:spcPct val="100000"/>
                        </a:lnSpc>
                        <a:spcBef>
                          <a:spcPts val="0"/>
                        </a:spcBef>
                        <a:spcAft>
                          <a:spcPts val="0"/>
                        </a:spcAft>
                        <a:buNone/>
                      </a:pPr>
                      <a:r>
                        <a:rPr lang="en-US" sz="1100" b="0" u="none" strike="noStrike" cap="none">
                          <a:solidFill>
                            <a:srgbClr val="182B3A"/>
                          </a:solidFill>
                          <a:latin typeface="Calibri"/>
                          <a:ea typeface="Calibri"/>
                          <a:cs typeface="Calibri"/>
                          <a:sym typeface="Calibri"/>
                        </a:rPr>
                        <a:t>0.01484</a:t>
                      </a:r>
                      <a:endParaRPr sz="1500"/>
                    </a:p>
                  </a:txBody>
                  <a:tcPr marL="54875" marR="36575" marT="18300" marB="18300">
                    <a:solidFill>
                      <a:srgbClr val="FFFFFF"/>
                    </a:solidFill>
                  </a:tcPr>
                </a:tc>
                <a:extLst>
                  <a:ext uri="{0D108BD9-81ED-4DB2-BD59-A6C34878D82A}">
                    <a16:rowId xmlns:a16="http://schemas.microsoft.com/office/drawing/2014/main" val="10009"/>
                  </a:ext>
                </a:extLst>
              </a:tr>
            </a:tbl>
          </a:graphicData>
        </a:graphic>
      </p:graphicFrame>
      <p:sp>
        <p:nvSpPr>
          <p:cNvPr id="1077" name="Google Shape;1077;p83"/>
          <p:cNvSpPr txBox="1"/>
          <p:nvPr/>
        </p:nvSpPr>
        <p:spPr>
          <a:xfrm>
            <a:off x="533400" y="4705350"/>
            <a:ext cx="10609500" cy="93354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200" b="1" i="0" u="none" strike="noStrike" cap="none">
                <a:solidFill>
                  <a:srgbClr val="182B3A"/>
                </a:solidFill>
                <a:latin typeface="Calibri"/>
                <a:ea typeface="Calibri"/>
                <a:cs typeface="Calibri"/>
                <a:sym typeface="Calibri"/>
              </a:rPr>
              <a:t>Setting  </a:t>
            </a:r>
            <a:r>
              <a:rPr lang="en-US" sz="1200" b="0" i="0" u="none" strike="noStrike" cap="none">
                <a:solidFill>
                  <a:srgbClr val="526574"/>
                </a:solidFill>
                <a:latin typeface="Calibri"/>
                <a:ea typeface="Calibri"/>
                <a:cs typeface="Calibri"/>
                <a:sym typeface="Calibri"/>
              </a:rPr>
              <a:t>198,608 training rows, 42,559 validation and 42,559 test rows (71 frauds) · C = 1 · tolerance 0.1% of the group-best objective · five seeds × three cost ratios = 15 runs per solver · 90 minutes per fit, single thread.</a:t>
            </a:r>
            <a:endParaRPr sz="1500"/>
          </a:p>
          <a:p>
            <a:pPr marL="0" marR="0" lvl="0" indent="0" algn="l" rtl="0">
              <a:lnSpc>
                <a:spcPct val="100000"/>
              </a:lnSpc>
              <a:spcBef>
                <a:spcPts val="800"/>
              </a:spcBef>
              <a:spcAft>
                <a:spcPts val="0"/>
              </a:spcAft>
              <a:buNone/>
            </a:pPr>
            <a:r>
              <a:rPr lang="en-US" sz="1200" b="1" i="0" u="none" strike="noStrike" cap="none">
                <a:solidFill>
                  <a:srgbClr val="182B3A"/>
                </a:solidFill>
                <a:latin typeface="Calibri"/>
                <a:ea typeface="Calibri"/>
                <a:cs typeface="Calibri"/>
                <a:sym typeface="Calibri"/>
              </a:rPr>
              <a:t>Columns  </a:t>
            </a:r>
            <a:r>
              <a:rPr lang="en-US" sz="1200" b="0" i="0" u="none" strike="noStrike" cap="none">
                <a:solidFill>
                  <a:srgbClr val="526574"/>
                </a:solidFill>
                <a:latin typeface="Calibri"/>
                <a:ea typeface="Calibri"/>
                <a:cs typeface="Calibri"/>
                <a:sym typeface="Calibri"/>
              </a:rPr>
              <a:t>t-to-tol = seconds to the first checkpoint within 0.1%; fit = total time to the solver's own stop; certified = that run met its own certificate; all 15 ADMM-family runs reached the 0.1% target.</a:t>
            </a:r>
            <a:endParaRPr sz="15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84"/>
          <p:cNvSpPr txBox="1">
            <a:spLocks noGrp="1"/>
          </p:cNvSpPr>
          <p:nvPr>
            <p:ph type="title"/>
          </p:nvPr>
        </p:nvSpPr>
        <p:spPr>
          <a:xfrm>
            <a:off x="446625" y="-2700"/>
            <a:ext cx="10663200" cy="7824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Performance under the deployment cost model</a:t>
            </a:r>
            <a:endParaRPr/>
          </a:p>
        </p:txBody>
      </p:sp>
      <p:sp>
        <p:nvSpPr>
          <p:cNvPr id="1084" name="Google Shape;1084;p84"/>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MAIN RESULTS · QUALITY</a:t>
            </a:r>
            <a:endParaRPr sz="1500"/>
          </a:p>
        </p:txBody>
      </p:sp>
      <p:sp>
        <p:nvSpPr>
          <p:cNvPr id="1085" name="Google Shape;1085;p84"/>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86" name="Google Shape;1086;p84"/>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Detection quality is set by the data, not by which solver you pick</a:t>
            </a:r>
            <a:endParaRPr sz="1500"/>
          </a:p>
        </p:txBody>
      </p:sp>
      <p:sp>
        <p:nvSpPr>
          <p:cNvPr id="1087" name="Google Shape;1087;p84"/>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088" name="Google Shape;1088;p84"/>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results/tables/main_full_pr_auc.csv · recall_at_fpr · cost_per_example</a:t>
            </a:r>
            <a:endParaRPr sz="1500"/>
          </a:p>
        </p:txBody>
      </p:sp>
      <p:sp>
        <p:nvSpPr>
          <p:cNvPr id="1089" name="Google Shape;1089;p84"/>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07</a:t>
            </a:r>
            <a:endParaRPr sz="1500"/>
          </a:p>
        </p:txBody>
      </p:sp>
      <p:sp>
        <p:nvSpPr>
          <p:cNvPr id="1090" name="Google Shape;1090;p84"/>
          <p:cNvSpPr txBox="1"/>
          <p:nvPr/>
        </p:nvSpPr>
        <p:spPr>
          <a:xfrm>
            <a:off x="530352" y="4069080"/>
            <a:ext cx="10607100" cy="8335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Largest gap between any two of the three target-reaching solvers: 0.004 in AP, 0.011 in recall, 0.0002 in cost per example — all inside the seed-to-seed spread of 0.05 in AP.</a:t>
            </a:r>
            <a:endParaRPr sz="1500"/>
          </a:p>
          <a:p>
            <a:pPr marL="0" marR="0" lvl="0" indent="0" algn="l" rtl="0">
              <a:lnSpc>
                <a:spcPct val="100000"/>
              </a:lnSpc>
              <a:spcBef>
                <a:spcPts val="1100"/>
              </a:spcBef>
              <a:spcAft>
                <a:spcPts val="0"/>
              </a:spcAft>
              <a:buNone/>
            </a:pPr>
            <a:r>
              <a:rPr lang="en-US" sz="1300" b="0" i="0" u="none" strike="noStrike" cap="none">
                <a:solidFill>
                  <a:srgbClr val="526574"/>
                </a:solidFill>
                <a:latin typeface="Calibri"/>
                <a:ea typeface="Calibri"/>
                <a:cs typeface="Calibri"/>
                <a:sym typeface="Calibri"/>
              </a:rPr>
              <a:t>Cost rises with the ratio because the threshold is re-tuned for it: that is a deployment choice, not a solver defect.</a:t>
            </a:r>
            <a:endParaRPr sz="1500"/>
          </a:p>
        </p:txBody>
      </p:sp>
      <p:graphicFrame>
        <p:nvGraphicFramePr>
          <p:cNvPr id="1091" name="Google Shape;1091;p84"/>
          <p:cNvGraphicFramePr/>
          <p:nvPr>
            <p:extLst>
              <p:ext uri="{D42A27DB-BD31-4B8C-83A1-F6EECF244321}">
                <p14:modId xmlns:p14="http://schemas.microsoft.com/office/powerpoint/2010/main" val="3385793290"/>
              </p:ext>
            </p:extLst>
          </p:nvPr>
        </p:nvGraphicFramePr>
        <p:xfrm>
          <a:off x="533400" y="1714500"/>
          <a:ext cx="3000000" cy="3000000"/>
        </p:xfrm>
        <a:graphic>
          <a:graphicData uri="http://schemas.openxmlformats.org/drawingml/2006/table">
            <a:tbl>
              <a:tblPr>
                <a:noFill/>
                <a:tableStyleId>{5C22544A-7EE6-4342-B048-85BDC9FD1C3A}</a:tableStyleId>
              </a:tblPr>
              <a:tblGrid>
                <a:gridCol w="20955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gridCol w="2705100">
                  <a:extLst>
                    <a:ext uri="{9D8B030D-6E8A-4147-A177-3AD203B41FA5}">
                      <a16:colId xmlns:a16="http://schemas.microsoft.com/office/drawing/2014/main" val="20003"/>
                    </a:ext>
                  </a:extLst>
                </a:gridCol>
              </a:tblGrid>
              <a:tr h="419100">
                <a:tc>
                  <a:txBody>
                    <a:bodyPr/>
                    <a:lstStyle/>
                    <a:p>
                      <a:pPr marL="0" marR="0" lvl="0" indent="0" algn="l" rtl="0">
                        <a:lnSpc>
                          <a:spcPct val="100000"/>
                        </a:lnSpc>
                        <a:spcBef>
                          <a:spcPts val="0"/>
                        </a:spcBef>
                        <a:spcAft>
                          <a:spcPts val="0"/>
                        </a:spcAft>
                        <a:buNone/>
                      </a:pPr>
                      <a:r>
                        <a:rPr lang="en-US" sz="1300" b="1" u="none" strike="noStrike" cap="none">
                          <a:solidFill>
                            <a:srgbClr val="FFFFFF"/>
                          </a:solidFill>
                        </a:rPr>
                        <a:t>Cost ratio</a:t>
                      </a:r>
                      <a:endParaRPr sz="1500"/>
                    </a:p>
                  </a:txBody>
                  <a:tcPr marL="91475" marR="91475" marT="45725" marB="45725" anchor="ctr">
                    <a:solidFill>
                      <a:srgbClr val="A02337"/>
                    </a:solidFill>
                  </a:tcPr>
                </a:tc>
                <a:tc>
                  <a:txBody>
                    <a:bodyPr/>
                    <a:lstStyle/>
                    <a:p>
                      <a:pPr marL="0" marR="0" lvl="0" indent="0" algn="l" rtl="0">
                        <a:lnSpc>
                          <a:spcPct val="100000"/>
                        </a:lnSpc>
                        <a:spcBef>
                          <a:spcPts val="0"/>
                        </a:spcBef>
                        <a:spcAft>
                          <a:spcPts val="0"/>
                        </a:spcAft>
                        <a:buNone/>
                      </a:pPr>
                      <a:r>
                        <a:rPr lang="en-US" sz="1300" b="1" u="none" strike="noStrike" cap="none">
                          <a:solidFill>
                            <a:srgbClr val="FFFFFF"/>
                          </a:solidFill>
                        </a:rPr>
                        <a:t>AP</a:t>
                      </a:r>
                      <a:endParaRPr sz="1500"/>
                    </a:p>
                  </a:txBody>
                  <a:tcPr marL="91475" marR="91475" marT="45725" marB="45725" anchor="ctr">
                    <a:solidFill>
                      <a:srgbClr val="A02337"/>
                    </a:solidFill>
                  </a:tcPr>
                </a:tc>
                <a:tc>
                  <a:txBody>
                    <a:bodyPr/>
                    <a:lstStyle/>
                    <a:p>
                      <a:pPr marL="0" marR="0" lvl="0" indent="0" algn="l" rtl="0">
                        <a:lnSpc>
                          <a:spcPct val="100000"/>
                        </a:lnSpc>
                        <a:spcBef>
                          <a:spcPts val="0"/>
                        </a:spcBef>
                        <a:spcAft>
                          <a:spcPts val="0"/>
                        </a:spcAft>
                        <a:buNone/>
                      </a:pPr>
                      <a:r>
                        <a:rPr lang="en-US" sz="1300" b="1" u="none" strike="noStrike" cap="none">
                          <a:solidFill>
                            <a:srgbClr val="FFFFFF"/>
                          </a:solidFill>
                        </a:rPr>
                        <a:t>Recall at 1% FPR</a:t>
                      </a:r>
                      <a:endParaRPr sz="1500"/>
                    </a:p>
                  </a:txBody>
                  <a:tcPr marL="91475" marR="91475" marT="45725" marB="45725" anchor="ctr">
                    <a:solidFill>
                      <a:srgbClr val="A02337"/>
                    </a:solidFill>
                  </a:tcPr>
                </a:tc>
                <a:tc>
                  <a:txBody>
                    <a:bodyPr/>
                    <a:lstStyle/>
                    <a:p>
                      <a:pPr marL="0" marR="0" lvl="0" indent="0" algn="l" rtl="0">
                        <a:lnSpc>
                          <a:spcPct val="100000"/>
                        </a:lnSpc>
                        <a:spcBef>
                          <a:spcPts val="0"/>
                        </a:spcBef>
                        <a:spcAft>
                          <a:spcPts val="0"/>
                        </a:spcAft>
                        <a:buNone/>
                      </a:pPr>
                      <a:r>
                        <a:rPr lang="en-US" sz="1300" b="1" u="none" strike="noStrike" cap="none">
                          <a:solidFill>
                            <a:srgbClr val="FFFFFF"/>
                          </a:solidFill>
                        </a:rPr>
                        <a:t>Cost per example</a:t>
                      </a:r>
                      <a:endParaRPr sz="1500"/>
                    </a:p>
                  </a:txBody>
                  <a:tcPr marL="91475" marR="91475" marT="45725" marB="45725" anchor="ctr">
                    <a:solidFill>
                      <a:srgbClr val="A02337"/>
                    </a:solidFill>
                  </a:tcPr>
                </a:tc>
                <a:extLst>
                  <a:ext uri="{0D108BD9-81ED-4DB2-BD59-A6C34878D82A}">
                    <a16:rowId xmlns:a16="http://schemas.microsoft.com/office/drawing/2014/main" val="10000"/>
                  </a:ext>
                </a:extLst>
              </a:tr>
              <a:tr h="533400">
                <a:tc>
                  <a:txBody>
                    <a:bodyPr/>
                    <a:lstStyle/>
                    <a:p>
                      <a:pPr marL="0" marR="0" lvl="0" indent="0" algn="l" rtl="0">
                        <a:lnSpc>
                          <a:spcPct val="100000"/>
                        </a:lnSpc>
                        <a:spcBef>
                          <a:spcPts val="0"/>
                        </a:spcBef>
                        <a:spcAft>
                          <a:spcPts val="0"/>
                        </a:spcAft>
                        <a:buNone/>
                      </a:pPr>
                      <a:r>
                        <a:rPr lang="en-US" sz="1600" u="none" strike="noStrike" cap="none">
                          <a:solidFill>
                            <a:srgbClr val="262626"/>
                          </a:solidFill>
                        </a:rPr>
                        <a:t>10 : 1</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0.751</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0.868</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0.0039</a:t>
                      </a:r>
                      <a:endParaRPr sz="1500"/>
                    </a:p>
                  </a:txBody>
                  <a:tcPr marL="91475" marR="91475" marT="45725" marB="45725" anchor="ctr">
                    <a:solidFill>
                      <a:srgbClr val="FFFFFF"/>
                    </a:solidFill>
                  </a:tcPr>
                </a:tc>
                <a:extLst>
                  <a:ext uri="{0D108BD9-81ED-4DB2-BD59-A6C34878D82A}">
                    <a16:rowId xmlns:a16="http://schemas.microsoft.com/office/drawing/2014/main" val="10001"/>
                  </a:ext>
                </a:extLst>
              </a:tr>
              <a:tr h="533400">
                <a:tc>
                  <a:txBody>
                    <a:bodyPr/>
                    <a:lstStyle/>
                    <a:p>
                      <a:pPr marL="0" marR="0" lvl="0" indent="0" algn="l" rtl="0">
                        <a:lnSpc>
                          <a:spcPct val="100000"/>
                        </a:lnSpc>
                        <a:spcBef>
                          <a:spcPts val="0"/>
                        </a:spcBef>
                        <a:spcAft>
                          <a:spcPts val="0"/>
                        </a:spcAft>
                        <a:buNone/>
                      </a:pPr>
                      <a:r>
                        <a:rPr lang="en-US" sz="1600" u="none" strike="noStrike" cap="none">
                          <a:solidFill>
                            <a:srgbClr val="262626"/>
                          </a:solidFill>
                        </a:rPr>
                        <a:t>20 : 1</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0.759</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0.873</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0.0066</a:t>
                      </a:r>
                      <a:endParaRPr sz="1500"/>
                    </a:p>
                  </a:txBody>
                  <a:tcPr marL="91475" marR="91475" marT="45725" marB="45725" anchor="ctr">
                    <a:solidFill>
                      <a:srgbClr val="FFFFFF"/>
                    </a:solidFill>
                  </a:tcPr>
                </a:tc>
                <a:extLst>
                  <a:ext uri="{0D108BD9-81ED-4DB2-BD59-A6C34878D82A}">
                    <a16:rowId xmlns:a16="http://schemas.microsoft.com/office/drawing/2014/main" val="10002"/>
                  </a:ext>
                </a:extLst>
              </a:tr>
              <a:tr h="533400">
                <a:tc>
                  <a:txBody>
                    <a:bodyPr/>
                    <a:lstStyle/>
                    <a:p>
                      <a:pPr marL="0" marR="0" lvl="0" indent="0" algn="l" rtl="0">
                        <a:lnSpc>
                          <a:spcPct val="100000"/>
                        </a:lnSpc>
                        <a:spcBef>
                          <a:spcPts val="0"/>
                        </a:spcBef>
                        <a:spcAft>
                          <a:spcPts val="0"/>
                        </a:spcAft>
                        <a:buNone/>
                      </a:pPr>
                      <a:r>
                        <a:rPr lang="en-US" sz="1600" u="none" strike="noStrike" cap="none">
                          <a:solidFill>
                            <a:srgbClr val="262626"/>
                          </a:solidFill>
                        </a:rPr>
                        <a:t>50 : 1</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0.763</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u="none" strike="noStrike" cap="none">
                          <a:solidFill>
                            <a:srgbClr val="262626"/>
                          </a:solidFill>
                        </a:rPr>
                        <a:t>0.868</a:t>
                      </a:r>
                      <a:endParaRPr sz="1500"/>
                    </a:p>
                  </a:txBody>
                  <a:tcPr marL="91475" marR="91475" marT="45725" marB="45725" anchor="ctr">
                    <a:solidFill>
                      <a:srgbClr val="FFFFFF"/>
                    </a:solidFill>
                  </a:tcPr>
                </a:tc>
                <a:tc>
                  <a:txBody>
                    <a:bodyPr/>
                    <a:lstStyle/>
                    <a:p>
                      <a:pPr marL="0" marR="0" lvl="0" indent="0" algn="l" rtl="0">
                        <a:lnSpc>
                          <a:spcPct val="100000"/>
                        </a:lnSpc>
                        <a:spcBef>
                          <a:spcPts val="0"/>
                        </a:spcBef>
                        <a:spcAft>
                          <a:spcPts val="0"/>
                        </a:spcAft>
                        <a:buNone/>
                      </a:pPr>
                      <a:r>
                        <a:rPr lang="en-US" sz="1600" b="1" u="none" strike="noStrike" cap="none">
                          <a:solidFill>
                            <a:srgbClr val="A02337"/>
                          </a:solidFill>
                        </a:rPr>
                        <a:t>0.0147</a:t>
                      </a:r>
                      <a:endParaRPr sz="1500"/>
                    </a:p>
                  </a:txBody>
                  <a:tcPr marL="91475" marR="91475" marT="45725" marB="45725"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96"/>
        <p:cNvGrpSpPr/>
        <p:nvPr/>
      </p:nvGrpSpPr>
      <p:grpSpPr>
        <a:xfrm>
          <a:off x="0" y="0"/>
          <a:ext cx="0" cy="0"/>
          <a:chOff x="0" y="0"/>
          <a:chExt cx="0" cy="0"/>
        </a:xfrm>
      </p:grpSpPr>
      <p:sp>
        <p:nvSpPr>
          <p:cNvPr id="1097" name="Google Shape;1097;p85"/>
          <p:cNvSpPr txBox="1">
            <a:spLocks noGrp="1"/>
          </p:cNvSpPr>
          <p:nvPr>
            <p:ph type="title"/>
          </p:nvPr>
        </p:nvSpPr>
        <p:spPr>
          <a:xfrm>
            <a:off x="389825" y="15075"/>
            <a:ext cx="10753500" cy="796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lt1"/>
              </a:buClr>
              <a:buSzPts val="3200"/>
              <a:buFont typeface="Calibri"/>
              <a:buNone/>
            </a:pPr>
            <a:r>
              <a:rPr lang="en-US" sz="3200">
                <a:solidFill>
                  <a:srgbClr val="FFFFFF"/>
                </a:solidFill>
                <a:latin typeface="Calibri"/>
                <a:ea typeface="Calibri"/>
                <a:cs typeface="Calibri"/>
                <a:sym typeface="Calibri"/>
              </a:rPr>
              <a:t>What we can and cannot claim</a:t>
            </a:r>
            <a:endParaRPr/>
          </a:p>
        </p:txBody>
      </p:sp>
      <p:sp>
        <p:nvSpPr>
          <p:cNvPr id="1098" name="Google Shape;1098;p85"/>
          <p:cNvSpPr txBox="1"/>
          <p:nvPr/>
        </p:nvSpPr>
        <p:spPr>
          <a:xfrm>
            <a:off x="530352" y="1014984"/>
            <a:ext cx="104151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1" i="0" u="none" strike="noStrike" cap="none">
                <a:solidFill>
                  <a:srgbClr val="A02337"/>
                </a:solidFill>
                <a:latin typeface="Calibri"/>
                <a:ea typeface="Calibri"/>
                <a:cs typeface="Calibri"/>
                <a:sym typeface="Calibri"/>
              </a:rPr>
              <a:t>PART IV  /  FINDINGS</a:t>
            </a:r>
            <a:endParaRPr sz="1500"/>
          </a:p>
        </p:txBody>
      </p:sp>
      <p:sp>
        <p:nvSpPr>
          <p:cNvPr id="1099" name="Google Shape;1099;p85"/>
          <p:cNvSpPr/>
          <p:nvPr/>
        </p:nvSpPr>
        <p:spPr>
          <a:xfrm>
            <a:off x="530352" y="5650992"/>
            <a:ext cx="25500" cy="447900"/>
          </a:xfrm>
          <a:prstGeom prst="rect">
            <a:avLst/>
          </a:prstGeom>
          <a:solidFill>
            <a:srgbClr val="A023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100" name="Google Shape;1100;p85"/>
          <p:cNvSpPr txBox="1"/>
          <p:nvPr/>
        </p:nvSpPr>
        <p:spPr>
          <a:xfrm>
            <a:off x="685800" y="5687568"/>
            <a:ext cx="108723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A02337"/>
                </a:solidFill>
                <a:latin typeface="Calibri"/>
                <a:ea typeface="Calibri"/>
                <a:cs typeface="Calibri"/>
                <a:sym typeface="Calibri"/>
              </a:rPr>
              <a:t>Claim reliability and cost-aware ranking; do not claim a speed winner yet</a:t>
            </a:r>
            <a:endParaRPr sz="1500"/>
          </a:p>
        </p:txBody>
      </p:sp>
      <p:sp>
        <p:nvSpPr>
          <p:cNvPr id="1101" name="Google Shape;1101;p85"/>
          <p:cNvSpPr/>
          <p:nvPr/>
        </p:nvSpPr>
        <p:spPr>
          <a:xfrm>
            <a:off x="530352" y="6336792"/>
            <a:ext cx="11128500" cy="12900"/>
          </a:xfrm>
          <a:prstGeom prst="rect">
            <a:avLst/>
          </a:prstGeom>
          <a:solidFill>
            <a:srgbClr val="C9D2D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1102" name="Google Shape;1102;p85"/>
          <p:cNvSpPr txBox="1"/>
          <p:nvPr/>
        </p:nvSpPr>
        <p:spPr>
          <a:xfrm>
            <a:off x="530352" y="6446520"/>
            <a:ext cx="103512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rgbClr val="526574"/>
                </a:solidFill>
                <a:latin typeface="Calibri"/>
                <a:ea typeface="Calibri"/>
                <a:cs typeface="Calibri"/>
                <a:sym typeface="Calibri"/>
              </a:rPr>
              <a:t>Full data · 5 seeds · paired Wilcoxon signed-rank · thresholds fixed on validation</a:t>
            </a:r>
            <a:endParaRPr sz="1500"/>
          </a:p>
        </p:txBody>
      </p:sp>
      <p:sp>
        <p:nvSpPr>
          <p:cNvPr id="1103" name="Google Shape;1103;p85"/>
          <p:cNvSpPr txBox="1"/>
          <p:nvPr/>
        </p:nvSpPr>
        <p:spPr>
          <a:xfrm>
            <a:off x="11109960" y="6419088"/>
            <a:ext cx="566700" cy="261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100" b="0" i="0" u="none" strike="noStrike" cap="none">
                <a:solidFill>
                  <a:srgbClr val="526574"/>
                </a:solidFill>
                <a:latin typeface="Calibri"/>
                <a:ea typeface="Calibri"/>
                <a:cs typeface="Calibri"/>
                <a:sym typeface="Calibri"/>
              </a:rPr>
              <a:t>IV · 08</a:t>
            </a:r>
            <a:endParaRPr sz="1500"/>
          </a:p>
        </p:txBody>
      </p:sp>
      <p:sp>
        <p:nvSpPr>
          <p:cNvPr id="1104" name="Google Shape;1104;p85"/>
          <p:cNvSpPr txBox="1"/>
          <p:nvPr/>
        </p:nvSpPr>
        <p:spPr>
          <a:xfrm>
            <a:off x="552450" y="1571625"/>
            <a:ext cx="6381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A02337"/>
                </a:solidFill>
                <a:latin typeface="Calibri"/>
                <a:ea typeface="Calibri"/>
                <a:cs typeface="Calibri"/>
                <a:sym typeface="Calibri"/>
              </a:rPr>
              <a:t>01</a:t>
            </a:r>
            <a:endParaRPr sz="1500"/>
          </a:p>
        </p:txBody>
      </p:sp>
      <p:sp>
        <p:nvSpPr>
          <p:cNvPr id="1105" name="Google Shape;1105;p85"/>
          <p:cNvSpPr txBox="1"/>
          <p:nvPr/>
        </p:nvSpPr>
        <p:spPr>
          <a:xfrm>
            <a:off x="1280160" y="1572768"/>
            <a:ext cx="102411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182B3A"/>
                </a:solidFill>
                <a:latin typeface="Calibri"/>
                <a:ea typeface="Calibri"/>
                <a:cs typeface="Calibri"/>
                <a:sym typeface="Calibri"/>
              </a:rPr>
              <a:t>Objective values agree across solvers</a:t>
            </a:r>
            <a:endParaRPr sz="1500"/>
          </a:p>
        </p:txBody>
      </p:sp>
      <p:sp>
        <p:nvSpPr>
          <p:cNvPr id="1106" name="Google Shape;1106;p85"/>
          <p:cNvSpPr txBox="1"/>
          <p:nvPr/>
        </p:nvSpPr>
        <p:spPr>
          <a:xfrm>
            <a:off x="1280160" y="1901952"/>
            <a:ext cx="10241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At fixed C = 1 the three certified solvers stop at 5.0832–5.0836 on the same QP — a relative spread of 7.7e-5.</a:t>
            </a:r>
            <a:endParaRPr sz="1500"/>
          </a:p>
        </p:txBody>
      </p:sp>
      <p:sp>
        <p:nvSpPr>
          <p:cNvPr id="1107" name="Google Shape;1107;p85"/>
          <p:cNvSpPr txBox="1"/>
          <p:nvPr/>
        </p:nvSpPr>
        <p:spPr>
          <a:xfrm>
            <a:off x="552450" y="2505075"/>
            <a:ext cx="6381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A02337"/>
                </a:solidFill>
                <a:latin typeface="Calibri"/>
                <a:ea typeface="Calibri"/>
                <a:cs typeface="Calibri"/>
                <a:sym typeface="Calibri"/>
              </a:rPr>
              <a:t>02</a:t>
            </a:r>
            <a:endParaRPr sz="1500"/>
          </a:p>
        </p:txBody>
      </p:sp>
      <p:sp>
        <p:nvSpPr>
          <p:cNvPr id="1108" name="Google Shape;1108;p85"/>
          <p:cNvSpPr txBox="1"/>
          <p:nvPr/>
        </p:nvSpPr>
        <p:spPr>
          <a:xfrm>
            <a:off x="1280160" y="2505456"/>
            <a:ext cx="102411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182B3A"/>
                </a:solidFill>
                <a:latin typeface="Calibri"/>
                <a:ea typeface="Calibri"/>
                <a:cs typeface="Calibri"/>
                <a:sym typeface="Calibri"/>
              </a:rPr>
              <a:t>No speed winner at 10 : 1 and 20 : 1</a:t>
            </a:r>
            <a:endParaRPr sz="1500"/>
          </a:p>
        </p:txBody>
      </p:sp>
      <p:sp>
        <p:nvSpPr>
          <p:cNvPr id="1109" name="Google Shape;1109;p85"/>
          <p:cNvSpPr txBox="1"/>
          <p:nvPr/>
        </p:nvSpPr>
        <p:spPr>
          <a:xfrm>
            <a:off x="1280160" y="2834640"/>
            <a:ext cx="10241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44 vs 48 s and 43 vs 49 s: the seed intervals overlap and the paired test gives p = 1.00 and p = 0.44. Only 50 : 1 separates them, 75 s against 102 s.</a:t>
            </a:r>
            <a:endParaRPr sz="1500"/>
          </a:p>
        </p:txBody>
      </p:sp>
      <p:sp>
        <p:nvSpPr>
          <p:cNvPr id="1110" name="Google Shape;1110;p85"/>
          <p:cNvSpPr txBox="1"/>
          <p:nvPr/>
        </p:nvSpPr>
        <p:spPr>
          <a:xfrm>
            <a:off x="552450" y="3438525"/>
            <a:ext cx="6381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A02337"/>
                </a:solidFill>
                <a:latin typeface="Calibri"/>
                <a:ea typeface="Calibri"/>
                <a:cs typeface="Calibri"/>
                <a:sym typeface="Calibri"/>
              </a:rPr>
              <a:t>03</a:t>
            </a:r>
            <a:endParaRPr sz="1500"/>
          </a:p>
        </p:txBody>
      </p:sp>
      <p:sp>
        <p:nvSpPr>
          <p:cNvPr id="1111" name="Google Shape;1111;p85"/>
          <p:cNvSpPr txBox="1"/>
          <p:nvPr/>
        </p:nvSpPr>
        <p:spPr>
          <a:xfrm>
            <a:off x="1280160" y="3438144"/>
            <a:ext cx="102411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182B3A"/>
                </a:solidFill>
                <a:latin typeface="Calibri"/>
                <a:ea typeface="Calibri"/>
                <a:cs typeface="Calibri"/>
                <a:sym typeface="Calibri"/>
              </a:rPr>
              <a:t>Reliability is where the methods differ</a:t>
            </a:r>
            <a:endParaRPr sz="1500"/>
          </a:p>
        </p:txBody>
      </p:sp>
      <p:sp>
        <p:nvSpPr>
          <p:cNvPr id="1112" name="Google Shape;1112;p85"/>
          <p:cNvSpPr txBox="1"/>
          <p:nvPr/>
        </p:nvSpPr>
        <p:spPr>
          <a:xfrm>
            <a:off x="1280160" y="3767328"/>
            <a:ext cx="10241100" cy="292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At 50 : 1 the ADMM baseline certified 0 of 5 seeds while PA-ADMM certified 3 of 5; over all three ratios it is 7 of 15 against 12 of 15.</a:t>
            </a:r>
            <a:endParaRPr sz="1500"/>
          </a:p>
        </p:txBody>
      </p:sp>
      <p:sp>
        <p:nvSpPr>
          <p:cNvPr id="1113" name="Google Shape;1113;p85"/>
          <p:cNvSpPr txBox="1"/>
          <p:nvPr/>
        </p:nvSpPr>
        <p:spPr>
          <a:xfrm>
            <a:off x="552450" y="4371975"/>
            <a:ext cx="638100" cy="4464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300" b="1" i="0" u="none" strike="noStrike" cap="none">
                <a:solidFill>
                  <a:srgbClr val="A02337"/>
                </a:solidFill>
                <a:latin typeface="Calibri"/>
                <a:ea typeface="Calibri"/>
                <a:cs typeface="Calibri"/>
                <a:sym typeface="Calibri"/>
              </a:rPr>
              <a:t>04</a:t>
            </a:r>
            <a:endParaRPr sz="1500"/>
          </a:p>
        </p:txBody>
      </p:sp>
      <p:sp>
        <p:nvSpPr>
          <p:cNvPr id="1114" name="Google Shape;1114;p85"/>
          <p:cNvSpPr txBox="1"/>
          <p:nvPr/>
        </p:nvSpPr>
        <p:spPr>
          <a:xfrm>
            <a:off x="1280160" y="4370832"/>
            <a:ext cx="10241100" cy="35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700" b="1" i="0" u="none" strike="noStrike" cap="none">
                <a:solidFill>
                  <a:srgbClr val="182B3A"/>
                </a:solidFill>
                <a:latin typeface="Calibri"/>
                <a:ea typeface="Calibri"/>
                <a:cs typeface="Calibri"/>
                <a:sym typeface="Calibri"/>
              </a:rPr>
              <a:t>Limits we state openly</a:t>
            </a:r>
            <a:endParaRPr sz="1500"/>
          </a:p>
        </p:txBody>
      </p:sp>
      <p:sp>
        <p:nvSpPr>
          <p:cNvPr id="1115" name="Google Shape;1115;p85"/>
          <p:cNvSpPr txBox="1"/>
          <p:nvPr/>
        </p:nvSpPr>
        <p:spPr>
          <a:xfrm>
            <a:off x="1280160" y="4700016"/>
            <a:ext cx="10241100" cy="4926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300" b="0" i="0" u="none" strike="noStrike" cap="none">
                <a:solidFill>
                  <a:srgbClr val="526574"/>
                </a:solidFill>
                <a:latin typeface="Calibri"/>
                <a:ea typeface="Calibri"/>
                <a:cs typeface="Calibri"/>
                <a:sym typeface="Calibri"/>
              </a:rPr>
              <a:t>Quality numbers rest on 71 test frauds per seed; SMO stops at its own 100k-update cap rather than a timeout; and there is no interior-point baseline in this part.</a:t>
            </a:r>
            <a:endParaRPr sz="15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
      <a:dk1>
        <a:srgbClr val="000000"/>
      </a:dk1>
      <a:lt1>
        <a:srgbClr val="FFFFFF"/>
      </a:lt1>
      <a:dk2>
        <a:srgbClr val="505046"/>
      </a:dk2>
      <a:lt2>
        <a:srgbClr val="EEECE1"/>
      </a:lt2>
      <a:accent1>
        <a:srgbClr val="AB0634"/>
      </a:accent1>
      <a:accent2>
        <a:srgbClr val="7E0634"/>
      </a:accent2>
      <a:accent3>
        <a:srgbClr val="680634"/>
      </a:accent3>
      <a:accent4>
        <a:srgbClr val="717073"/>
      </a:accent4>
      <a:accent5>
        <a:srgbClr val="464646"/>
      </a:accent5>
      <a:accent6>
        <a:srgbClr val="1E1E1E"/>
      </a:accent6>
      <a:hlink>
        <a:srgbClr val="AB0634"/>
      </a:hlink>
      <a:folHlink>
        <a:srgbClr val="7170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ustom 1">
      <a:dk1>
        <a:srgbClr val="000000"/>
      </a:dk1>
      <a:lt1>
        <a:srgbClr val="FFFFFF"/>
      </a:lt1>
      <a:dk2>
        <a:srgbClr val="505046"/>
      </a:dk2>
      <a:lt2>
        <a:srgbClr val="EEECE1"/>
      </a:lt2>
      <a:accent1>
        <a:srgbClr val="AB0634"/>
      </a:accent1>
      <a:accent2>
        <a:srgbClr val="7E0634"/>
      </a:accent2>
      <a:accent3>
        <a:srgbClr val="680634"/>
      </a:accent3>
      <a:accent4>
        <a:srgbClr val="717073"/>
      </a:accent4>
      <a:accent5>
        <a:srgbClr val="464646"/>
      </a:accent5>
      <a:accent6>
        <a:srgbClr val="1E1E1E"/>
      </a:accent6>
      <a:hlink>
        <a:srgbClr val="AB0634"/>
      </a:hlink>
      <a:folHlink>
        <a:srgbClr val="71707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10233</Words>
  <Application>Microsoft Office PowerPoint</Application>
  <PresentationFormat>Widescreen</PresentationFormat>
  <Paragraphs>837</Paragraphs>
  <Slides>37</Slides>
  <Notes>37</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37</vt:i4>
      </vt:variant>
    </vt:vector>
  </HeadingPairs>
  <TitlesOfParts>
    <vt:vector size="43" baseType="lpstr">
      <vt:lpstr>Cambria Math</vt:lpstr>
      <vt:lpstr>Calibri</vt:lpstr>
      <vt:lpstr>Arial</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Sequential Minimal Optimization（SMO）</vt:lpstr>
      <vt:lpstr>SMO trains an SVM classifier</vt:lpstr>
      <vt:lpstr>The SMO training loop</vt:lpstr>
      <vt:lpstr>The original SVM training problem</vt:lpstr>
      <vt:lpstr>Where the dual conditions come from</vt:lpstr>
      <vt:lpstr>Rewriting the problem with dual coefficients</vt:lpstr>
      <vt:lpstr>Why a step changes two coefficients</vt:lpstr>
      <vt:lpstr>The legal interval for this pair</vt:lpstr>
      <vt:lpstr>The best legal value</vt:lpstr>
      <vt:lpstr>Recovering the classifier</vt:lpstr>
      <vt:lpstr>Repeating the pair update over all samples</vt:lpstr>
      <vt:lpstr>The stopping check</vt:lpstr>
      <vt:lpstr>The complete SMO process</vt:lpstr>
      <vt:lpstr>ADMM and PA-ADMM</vt:lpstr>
      <vt:lpstr>ADMM and PA-ADMM</vt:lpstr>
      <vt:lpstr>Split global rules from samplewise margins</vt:lpstr>
      <vt:lpstr>ADMM alternates three simple updates</vt:lpstr>
      <vt:lpstr>The hinge step has a closed-form solution</vt:lpstr>
      <vt:lpstr>PA-ADMM adds a warm start and two controls</vt:lpstr>
      <vt:lpstr>Adaptive ρ balances two residuals</vt:lpstr>
      <vt:lpstr>Over-relaxation extrapolates the model margin</vt:lpstr>
      <vt:lpstr>Method summary</vt:lpstr>
      <vt:lpstr>Evaluation, Experiments and Results</vt:lpstr>
      <vt:lpstr>The data behind every number</vt:lpstr>
      <vt:lpstr>How the comparison is made fair</vt:lpstr>
      <vt:lpstr>Correctness first: solvers agree on one QP</vt:lpstr>
      <vt:lpstr>The experiment matrix we ran</vt:lpstr>
      <vt:lpstr>Full data at a glance</vt:lpstr>
      <vt:lpstr>Performance under the deployment cost model</vt:lpstr>
      <vt:lpstr>What we can and cannot claim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LI, Songtao0506 [Student]</cp:lastModifiedBy>
  <cp:revision>2</cp:revision>
  <dcterms:modified xsi:type="dcterms:W3CDTF">2026-10-31T06:54:55Z</dcterms:modified>
</cp:coreProperties>
</file>